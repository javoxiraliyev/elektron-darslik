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18.03.2024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18.03.2024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18.03.2024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18.03.2024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18.03.2024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18.03.2024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a:t>
            </a:r>
            <a:r>
              <a:rPr lang="en-US" sz="2400" b="1" dirty="0">
                <a:latin typeface="Times New Roman" pitchFamily="18" charset="0"/>
                <a:cs typeface="Times New Roman" pitchFamily="18" charset="0"/>
              </a:rPr>
              <a:t>9</a:t>
            </a:r>
            <a:r>
              <a:rPr lang="en-US" sz="2400" b="1"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18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1800" dirty="0">
                <a:solidFill>
                  <a:schemeClr val="tx1"/>
                </a:solidFill>
                <a:latin typeface="Times New Roman" pitchFamily="18" charset="0"/>
                <a:cs typeface="Times New Roman" pitchFamily="18" charset="0"/>
              </a:rPr>
              <a:t>Tarmoq xavfsizligini dasturlash</a:t>
            </a:r>
            <a:endParaRPr lang="ru-RU" sz="18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Ma’lumotlarni uzatish tarmoqlarida axborot ximoyasini ta’minlash.</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Aloqa kanallarida ma’lumotlarni ximoyalash usullari.</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7658" y="116632"/>
            <a:ext cx="8928992" cy="6186309"/>
          </a:xfrm>
          <a:prstGeom prst="rect">
            <a:avLst/>
          </a:prstGeom>
        </p:spPr>
        <p:txBody>
          <a:bodyPr wrap="square">
            <a:spAutoFit/>
          </a:bodyPr>
          <a:lstStyle/>
          <a:p>
            <a:pPr algn="ctr"/>
            <a:r>
              <a:rPr lang="uz-Cyrl-UZ" sz="2200" b="1" dirty="0">
                <a:latin typeface="Times New Roman" pitchFamily="18" charset="0"/>
                <a:cs typeface="Times New Roman" pitchFamily="18" charset="0"/>
              </a:rPr>
              <a:t>Ma’lumotlarni uzatish tarmoqlarida axborot ximoyasini ta’minlash</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Ma’lumotlarni </a:t>
            </a:r>
            <a:r>
              <a:rPr lang="uz-Cyrl-UZ" sz="2200" dirty="0">
                <a:latin typeface="Times New Roman" pitchFamily="18" charset="0"/>
                <a:cs typeface="Times New Roman" pitchFamily="18" charset="0"/>
              </a:rPr>
              <a:t>uzatish tarmoqlarida axborot ximoyasini ta’minlash masalasi ma’lumotlar uzatish tarmog‘ining muayyan arxitekturasini amalga oshiruvchi va uning barqaror ishlashini ta’minlovchi apparat-dasturiy vositalari bilan bog‘liq holda yechilishi lozim.</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Ma’lumotlarni </a:t>
            </a:r>
            <a:r>
              <a:rPr lang="uz-Cyrl-UZ" sz="2200" dirty="0">
                <a:latin typeface="Times New Roman" pitchFamily="18" charset="0"/>
                <a:cs typeface="Times New Roman" pitchFamily="18" charset="0"/>
              </a:rPr>
              <a:t>uzatish tarmoqlarida axborot xavfsizligini ta’minlashga quyidagi talablar qo‘yiladi: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ma’lumotlarni uzatish tarmoqlarida axborot xavfsizligiga bo‘ladigan ma’lum taxdidlardan ximoyalash xizmati va mexanizmlarini belgilovchi funksional talablar;</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axborot xavfsizligiga bo‘ladigan ma’lum taxdidlardan ximoyalash mexanizmini ma’lumotlarni uzatish tarmog‘i  arxitekturasiga qay tarzda joriy etilishi lozimligini belgilovchi arxitekturaviy talablar;</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boshqarishning qanday funksiyalari ishlab chiqilishi va ular qay tarzda   ma’lumotlarni   uzatish   tarmog‘iga   joriy   etilishini   belgilovchi boshqarish (ma’murlash) talablari.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Funksional </a:t>
            </a:r>
            <a:r>
              <a:rPr lang="uz-Cyrl-UZ" sz="2200" dirty="0">
                <a:latin typeface="Times New Roman" pitchFamily="18" charset="0"/>
                <a:cs typeface="Times New Roman" pitchFamily="18" charset="0"/>
              </a:rPr>
              <a:t>talablar. Ma’lumotlarni uzatish tarmog‘i komponentlariga va arxitekturasiga real ta’sir etuvchi umumiy funksional talablar quyidagilar</a:t>
            </a:r>
            <a:r>
              <a:rPr lang="uz-Cyrl-UZ" sz="2200" dirty="0" smtClean="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658414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1485" y="116632"/>
            <a:ext cx="8856984" cy="6555641"/>
          </a:xfrm>
          <a:prstGeom prst="rect">
            <a:avLst/>
          </a:prstGeom>
        </p:spPr>
        <p:txBody>
          <a:bodyPr wrap="square">
            <a:spAutoFit/>
          </a:bodyPr>
          <a:lstStyle/>
          <a:p>
            <a:pPr algn="just"/>
            <a:r>
              <a:rPr lang="uz-Cyrl-UZ" sz="2000" dirty="0">
                <a:latin typeface="Times New Roman" pitchFamily="18" charset="0"/>
                <a:cs typeface="Times New Roman" pitchFamily="18" charset="0"/>
              </a:rPr>
              <a:t>- foydalanuvchini autentifikatsiyalash. Ma’lumotlarni uzatish tarmog‘ida axborot xavfsizligini ta’minlovchi tizim axborotni (ma’lumotlarni) uzatish jarayonida ishtirok etuvchi komponentining (ob’ekt, sub’ekt va foydalanuvchining) xaqiqiyligini aniqlash imkoniyatini ta’minlashi lozim;</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nazoratlanuvchi foydalanish. Ma’lumotlarni uzatish tarmog‘ida axborot xavfsizligini ta’minlovchi tizim tarmoq sub’ektlari va foydalanuvchilarining ruxsat etilmagan axborot resurslaridan foydalana olmasliklarini kafolatlashi lozim;</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konfidensiallikni   ta’minlash.   Konfidensiallikni   ta’minlash xizmati asosan ma’lumotlarni uzatish tarmog‘ini axborot muxitini ochish, axborotdan ruxsatsiz foydalanish va o‘g‘irlash imkoniyatlaridan ximoyalash uchun zarur xisoblanadi;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ma’lumotlar   yaxlitligini   ta’minlash.   Ma’lumotlarni   uzatish tarmog‘ida axborot xavfsizligini ta’minlovchi tizim tarkibida foydalanuvchi va boshqarish axboroti bo‘lgan ma’lumotlarning saqlanish va uzatilish yaxlitligini kafolatlashi lozim. Ma’lumotlarning bo‘zilishi, soxtalashtirilishi,  kechiktirilishi,  ruxsatsiz  qaytalanishi  axborot  uzatilishininig blokirovka kilinishiga olib kelishi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qatiy xisob-kitob. Ma’lumotlarni uzatish tarmog‘i resurslaridan foydalanuvchi xar qanday sub’ekt bajargan xar qanday amallari uchun javob berishi lozim. Ma’lumotlarni uzatish tarmog‘i ustida kilingan barcha xarakatlar va tarmoqda sodir bo‘lgan barcha xodisalar xususidagi axborotning saqlanish imkoniyati ta’minlanishi lozim;</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949533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81996" y="116632"/>
            <a:ext cx="8928992" cy="5940088"/>
          </a:xfrm>
          <a:prstGeom prst="rect">
            <a:avLst/>
          </a:prstGeom>
        </p:spPr>
        <p:txBody>
          <a:bodyPr wrap="square">
            <a:spAutoFit/>
          </a:bodyPr>
          <a:lstStyle/>
          <a:p>
            <a:pPr algn="just"/>
            <a:r>
              <a:rPr lang="uz-Cyrl-UZ" dirty="0"/>
              <a:t>-	</a:t>
            </a:r>
            <a:r>
              <a:rPr lang="uz-Cyrl-UZ" sz="2000" dirty="0">
                <a:latin typeface="Times New Roman" pitchFamily="18" charset="0"/>
                <a:cs typeface="Times New Roman" pitchFamily="18" charset="0"/>
              </a:rPr>
              <a:t>xavfni bildiruvchi signalni generatsiyalash. Ma’lumotlarni uzatish tarmog‘i tarmoq, axborot xavfsizligi ob’ektlari tomonidan xavfsizlikning bo‘zilishi xususidagi signalni generatsiyalash imkonini ta’minlashi lozim;</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audit.   Audit  tizimni  boshqarishning  samaradorligini  baholash hamda axborot xavfsizligining bo‘zilishini aniqlash maqsadida tizimli yozuvlarni   va   amallarni   mustaqil   taxlillash   va   tadqiq etish   sifatida qurilishi lozim;</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tiklash. Ma’lumotlarni uzatish tarmog‘ida axborot xavfsizligini ta’minlash tizimi  xavfsizlikning bo‘zilishini tiklash  qobiliyatiga ega bo‘lishi lozim. Xar doim, qachon axborot xavfsizligini bo‘zishga urinish sodir bo‘lganida, tizim ushbu urinish xususidagi axborotni shunday ishlashi lozimki, ushbu urinish ma’lumotlarni uzatish tarmog‘ining utkazish qobiliyatini va foydalanuvchanligini jiddiy pasayishiga olib kelmasin;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moslanuvchanlik.   Ma’lumotlarni  uzatish   tarmog‘ida   axborot   xavfsizligini  ta’minlash   tizimiga   qo‘yiladigan   muxim   konseptual   talab moslanuvchanlik talabi, ya’ni aloqa tarmog‘ining to‘zilmasi, texnologiyasi va ishlash sharoiti o‘zgarganida moslashuv qobiliyati talabidir.</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Arxitekturaviy talablar. Ma’lumotlarni uzatish tarmog‘ida axborot xavfsizligini ta’minlash tizimi axborot xavfsizligining turli siyosatini madadlashi, ya’ni moslanuvchan bo‘lishi lozim. Tizimga quyidagi asosiy xizmatlar kiritilishi mumkin</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389572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928992" cy="621708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Bu </a:t>
            </a:r>
            <a:r>
              <a:rPr lang="uz-Cyrl-UZ" sz="2000" dirty="0">
                <a:latin typeface="Times New Roman" pitchFamily="18" charset="0"/>
                <a:cs typeface="Times New Roman" pitchFamily="18" charset="0"/>
              </a:rPr>
              <a:t>xizmatlarning xar biri axborot xavfsizligini ta’minlash bo‘yicha masalalarni mustaqil tarzda u yoki bu ximoya mexanizmlaridan foydalanib yechishi mumkin. Bunda ximoyaning bitta mexanizmi axborot xavfsizligining turli xizmatlarida qo‘llanilishi mumkin.</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Boshqarish </a:t>
            </a:r>
            <a:r>
              <a:rPr lang="uz-Cyrl-UZ" sz="2000" dirty="0">
                <a:latin typeface="Times New Roman" pitchFamily="18" charset="0"/>
                <a:cs typeface="Times New Roman" pitchFamily="18" charset="0"/>
              </a:rPr>
              <a:t>(ma’murlash) talablari. Ma’lumotlarni uzatish tarmog‘ida axborot xavfsizligini ma’murlash xizmati ximoyaning texnik vositalarini to‘ldiruvchi ximoya choralarining ma’lum kompleksini o‘z ichiga oladi. Bu ximoya choralari buzg‘unchining tarmoq, axborot xavfsizligiga tahdidni kuchaytirishga qaratilgan u yoki bu ta’sirni o‘tkazishini qiyinlashtirish maqsadida mavjud ximoya tizimiga operativ tarzda o‘zgartirishlar kiritishga imkon yaratadi.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Ma’murlash xizmatining asosiy vazifalari quyidagilar:</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ximoya xizmati va mexanizmiga zarur axborotni tarqatish;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ximoya  xizmati  va mexanizmining ishlashi  xususidagi  axborotni yig‘ish va taxlillash;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ximoyalanuvchi ob’ektlarni aniqlash;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xizmat funksiyalarini samarali amalga oshirish maqsadida ximoya mexanizmlarini kombinatsiyalash;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ma’lumotlarni uzatish tarmog‘ining ishonchli va barqaror ishlashini ta’minlash xizmatlariga javobgar boshka ma’murlar bilan uzaro aloqa;</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ma’lumotlarni uzatuvchi tarmoqning bo‘zilgan ishlash jarayonini tiklash.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242773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928992"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Xavfsizlik </a:t>
            </a:r>
            <a:r>
              <a:rPr lang="uz-Cyrl-UZ" sz="2000" dirty="0">
                <a:latin typeface="Times New Roman" pitchFamily="18" charset="0"/>
                <a:cs typeface="Times New Roman" pitchFamily="18" charset="0"/>
              </a:rPr>
              <a:t>ma’muri ma’murlash xizmatining muxim elementi xisoblanadi. Axborot xavfsizligining xar qanday vositalaridan foydalanilmasin, ma’lumotlarni uzatish tarmog‘ida axborot xavfsizligini ta’minlash sifati ma’murning qobiliyatiga, uning tirishishiga, texnik jixozlanganligiga bog‘liq.</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Ta’kidlash lozimki, birorta xam real ximoyalangan ma’lumotlarni uzatish tarmoq uchun mutlaq ximoyalangan bo‘lmaydi. Shunga qaramasdan ximoyaning adekvat choralari buzg‘unchi ta’siri samarasini (zarar keltirish xarajatining kutilayotgan zarar o‘lchamiga nisbatini) anchagina pasaytiradi.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Ma’lumot </a:t>
            </a:r>
            <a:r>
              <a:rPr lang="uz-Cyrl-UZ" sz="2000" dirty="0">
                <a:latin typeface="Times New Roman" pitchFamily="18" charset="0"/>
                <a:cs typeface="Times New Roman" pitchFamily="18" charset="0"/>
              </a:rPr>
              <a:t>uzatish tizimi tushunchasi Ma’lumot uzatish tizimi 2 guruxga bo‘linadi: 1. Ma’lumot uzatish xizmatlari. 2. Ma’lumot uzatish tarmoqlari. Ma’lumki har-xil turdagi axborotlarni (ovozli, matn, ma’lumotlar, grafika, tasvir) uzatish uchun iste’molchilarga taqdim etiladigan hizmatlar to‘plami ma’lumot uzatish hizmati deyiladi.Xozirgi kunda ma’lumot uzatish xizmatlariga quyidagilar kiradi: 1. </a:t>
            </a:r>
            <a:r>
              <a:rPr lang="en-US" sz="2000" dirty="0" err="1">
                <a:latin typeface="Times New Roman" pitchFamily="18" charset="0"/>
                <a:cs typeface="Times New Roman" pitchFamily="18" charset="0"/>
              </a:rPr>
              <a:t>Telegraf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a:t>
            </a:r>
            <a:r>
              <a:rPr lang="en-US" sz="2000" dirty="0">
                <a:latin typeface="Times New Roman" pitchFamily="18" charset="0"/>
                <a:cs typeface="Times New Roman" pitchFamily="18" charset="0"/>
              </a:rPr>
              <a:t>; 2. </a:t>
            </a:r>
            <a:r>
              <a:rPr lang="en-US" sz="2000" dirty="0" err="1">
                <a:latin typeface="Times New Roman" pitchFamily="18" charset="0"/>
                <a:cs typeface="Times New Roman" pitchFamily="18" charset="0"/>
              </a:rPr>
              <a:t>Telematik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Telegraf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xizmatlari</a:t>
            </a:r>
            <a:r>
              <a:rPr lang="en-US" sz="2000" dirty="0">
                <a:latin typeface="Times New Roman" pitchFamily="18" charset="0"/>
                <a:cs typeface="Times New Roman" pitchFamily="18" charset="0"/>
              </a:rPr>
              <a:t>: 1. </a:t>
            </a:r>
            <a:r>
              <a:rPr lang="en-US" sz="2000" dirty="0" err="1">
                <a:latin typeface="Times New Roman" pitchFamily="18" charset="0"/>
                <a:cs typeface="Times New Roman" pitchFamily="18" charset="0"/>
              </a:rPr>
              <a:t>Umumiy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telegrammalarni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a:t>
            </a:r>
            <a:r>
              <a:rPr lang="en-US" sz="2000" dirty="0">
                <a:latin typeface="Times New Roman" pitchFamily="18" charset="0"/>
                <a:cs typeface="Times New Roman" pitchFamily="18" charset="0"/>
              </a:rPr>
              <a:t>; 2. </a:t>
            </a:r>
            <a:r>
              <a:rPr lang="en-US" sz="2000" dirty="0" err="1">
                <a:latin typeface="Times New Roman" pitchFamily="18" charset="0"/>
                <a:cs typeface="Times New Roman" pitchFamily="18" charset="0"/>
              </a:rPr>
              <a:t>Abonentlik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telegraflash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a:t>
            </a:r>
            <a:r>
              <a:rPr lang="en-US" sz="2000" dirty="0">
                <a:latin typeface="Times New Roman" pitchFamily="18" charset="0"/>
                <a:cs typeface="Times New Roman" pitchFamily="18" charset="0"/>
              </a:rPr>
              <a:t>; 3. </a:t>
            </a:r>
            <a:r>
              <a:rPr lang="en-US" sz="2000" dirty="0" err="1">
                <a:latin typeface="Times New Roman" pitchFamily="18" charset="0"/>
                <a:cs typeface="Times New Roman" pitchFamily="18" charset="0"/>
              </a:rPr>
              <a:t>Teleks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tarmog‘ida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har-xil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taqsimlashni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ta’minlovchi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texnik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talablarini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qo‘yadi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tarmoqlari</a:t>
            </a:r>
            <a:r>
              <a:rPr lang="en-US" sz="2000" dirty="0">
                <a:latin typeface="Times New Roman" pitchFamily="18" charset="0"/>
                <a:cs typeface="Times New Roman" pitchFamily="18" charset="0"/>
              </a:rPr>
              <a:t> deb -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yetkazib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imkoniyatlarini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ta’minlovchi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texnik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to‘plami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tushuniladi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kiradi</a:t>
            </a:r>
            <a:r>
              <a:rPr lang="en-US" sz="2000" dirty="0">
                <a:latin typeface="Times New Roman" pitchFamily="18" charset="0"/>
                <a:cs typeface="Times New Roman" pitchFamily="18" charset="0"/>
              </a:rPr>
              <a:t>: - terminal </a:t>
            </a:r>
            <a:r>
              <a:rPr lang="en-US" sz="2000" dirty="0" err="1">
                <a:latin typeface="Times New Roman" pitchFamily="18" charset="0"/>
                <a:cs typeface="Times New Roman" pitchFamily="18" charset="0"/>
              </a:rPr>
              <a:t>qurilmalar</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kommutatsiya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vositalari</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tizimlari</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aloqa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kanallari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198209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33909"/>
            <a:ext cx="9144000" cy="6524863"/>
          </a:xfrm>
          <a:prstGeom prst="rect">
            <a:avLst/>
          </a:prstGeom>
        </p:spPr>
        <p:txBody>
          <a:bodyPr wrap="square">
            <a:spAutoFit/>
          </a:bodyPr>
          <a:lstStyle/>
          <a:p>
            <a:pPr algn="just"/>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Ma’lumot</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tafsilotlari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quyidagilardan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aniqliligi</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yetkazib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vaqti</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mo‘ljallangan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ko‘rsatilgan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manzilga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yetkazib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ishonchliligi</a:t>
            </a:r>
            <a:r>
              <a:rPr lang="en-US" sz="1900" dirty="0">
                <a:latin typeface="Times New Roman" pitchFamily="18" charset="0"/>
                <a:cs typeface="Times New Roman" pitchFamily="18" charset="0"/>
              </a:rPr>
              <a:t>. ITU (</a:t>
            </a:r>
            <a:r>
              <a:rPr lang="en-US" sz="1900" dirty="0" err="1">
                <a:latin typeface="Times New Roman" pitchFamily="18" charset="0"/>
                <a:cs typeface="Times New Roman" pitchFamily="18" charset="0"/>
              </a:rPr>
              <a:t>xalqaro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elektraloqa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ittifoqi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binoan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hisoblovchi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qurilmalarda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ishlov</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deb </a:t>
            </a:r>
            <a:r>
              <a:rPr lang="en-US" sz="1900" dirty="0" err="1">
                <a:latin typeface="Times New Roman" pitchFamily="18" charset="0"/>
                <a:cs typeface="Times New Roman" pitchFamily="18" charset="0"/>
              </a:rPr>
              <a:t>ta’riflanadi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Hozirgi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uzatishni</a:t>
            </a:r>
            <a:r>
              <a:rPr lang="en-US" sz="1900" dirty="0">
                <a:latin typeface="Times New Roman" pitchFamily="18" charset="0"/>
                <a:cs typeface="Times New Roman" pitchFamily="18" charset="0"/>
              </a:rPr>
              <a:t> 2 ta </a:t>
            </a:r>
            <a:r>
              <a:rPr lang="en-US" sz="1900" dirty="0" err="1">
                <a:latin typeface="Times New Roman" pitchFamily="18" charset="0"/>
                <a:cs typeface="Times New Roman" pitchFamily="18" charset="0"/>
              </a:rPr>
              <a:t>tushunchasi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mavjud</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quyidagilar</a:t>
            </a:r>
            <a:r>
              <a:rPr lang="en-US" sz="1900" dirty="0">
                <a:latin typeface="Times New Roman" pitchFamily="18" charset="0"/>
                <a:cs typeface="Times New Roman" pitchFamily="18" charset="0"/>
              </a:rPr>
              <a:t>: 1. Tor </a:t>
            </a:r>
            <a:r>
              <a:rPr lang="en-US" sz="1900" dirty="0" err="1">
                <a:latin typeface="Times New Roman" pitchFamily="18" charset="0"/>
                <a:cs typeface="Times New Roman" pitchFamily="18" charset="0"/>
              </a:rPr>
              <a:t>ma’noda</a:t>
            </a:r>
            <a:r>
              <a:rPr lang="en-US" sz="1900" dirty="0">
                <a:latin typeface="Times New Roman" pitchFamily="18" charset="0"/>
                <a:cs typeface="Times New Roman" pitchFamily="18" charset="0"/>
              </a:rPr>
              <a:t>; 2. </a:t>
            </a:r>
            <a:r>
              <a:rPr lang="en-US" sz="1900" dirty="0" err="1">
                <a:latin typeface="Times New Roman" pitchFamily="18" charset="0"/>
                <a:cs typeface="Times New Roman" pitchFamily="18" charset="0"/>
              </a:rPr>
              <a:t>Keng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ma’noda</a:t>
            </a:r>
            <a:r>
              <a:rPr lang="en-US" sz="1900" dirty="0">
                <a:latin typeface="Times New Roman" pitchFamily="18" charset="0"/>
                <a:cs typeface="Times New Roman" pitchFamily="18" charset="0"/>
              </a:rPr>
              <a:t>. Tor </a:t>
            </a:r>
            <a:r>
              <a:rPr lang="en-US" sz="1900" dirty="0" err="1">
                <a:latin typeface="Times New Roman" pitchFamily="18" charset="0"/>
                <a:cs typeface="Times New Roman" pitchFamily="18" charset="0"/>
              </a:rPr>
              <a:t>ma’noda</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ikkilik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signallari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vositalari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yordamida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ishlov</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elektraloqa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vositalari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ko‘chirishdan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ma’noda</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raqamli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signallarga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aylantirilgan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barcha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jumladan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nutq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video </a:t>
            </a:r>
            <a:r>
              <a:rPr lang="en-US" sz="1900" dirty="0" err="1">
                <a:latin typeface="Times New Roman" pitchFamily="18" charset="0"/>
                <a:cs typeface="Times New Roman" pitchFamily="18" charset="0"/>
              </a:rPr>
              <a:t>signallarini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Ma’lumotlarni</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xizmatlarining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quyidagilardan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 1. X25 </a:t>
            </a:r>
            <a:r>
              <a:rPr lang="en-US" sz="1900" dirty="0" err="1">
                <a:latin typeface="Times New Roman" pitchFamily="18" charset="0"/>
                <a:cs typeface="Times New Roman" pitchFamily="18" charset="0"/>
              </a:rPr>
              <a:t>protokoli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kommutatsiyalab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xizmati</a:t>
            </a:r>
            <a:r>
              <a:rPr lang="en-US" sz="1900" dirty="0">
                <a:latin typeface="Times New Roman" pitchFamily="18" charset="0"/>
                <a:cs typeface="Times New Roman" pitchFamily="18" charset="0"/>
              </a:rPr>
              <a:t>; 2. IP </a:t>
            </a:r>
            <a:r>
              <a:rPr lang="en-US" sz="1900" dirty="0" err="1">
                <a:latin typeface="Times New Roman" pitchFamily="18" charset="0"/>
                <a:cs typeface="Times New Roman" pitchFamily="18" charset="0"/>
              </a:rPr>
              <a:t>protokoli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kommutatsiyalab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xizmati</a:t>
            </a:r>
            <a:r>
              <a:rPr lang="en-US" sz="1900" dirty="0">
                <a:latin typeface="Times New Roman" pitchFamily="18" charset="0"/>
                <a:cs typeface="Times New Roman" pitchFamily="18" charset="0"/>
              </a:rPr>
              <a:t>; 3. X.36 (Frame </a:t>
            </a:r>
            <a:r>
              <a:rPr lang="en-US" sz="1900" dirty="0" err="1">
                <a:latin typeface="Times New Roman" pitchFamily="18" charset="0"/>
                <a:cs typeface="Times New Roman" pitchFamily="18" charset="0"/>
              </a:rPr>
              <a:t>Relau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protokoli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kadrlarni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efirga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manbai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kanali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Qabul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iste’molchisi</a:t>
            </a:r>
            <a:r>
              <a:rPr lang="en-US" sz="1900" dirty="0">
                <a:latin typeface="Times New Roman" pitchFamily="18" charset="0"/>
                <a:cs typeface="Times New Roman" pitchFamily="18" charset="0"/>
              </a:rPr>
              <a:t> signal + </a:t>
            </a:r>
            <a:r>
              <a:rPr lang="en-US" sz="1900" dirty="0" err="1">
                <a:latin typeface="Times New Roman" pitchFamily="18" charset="0"/>
                <a:cs typeface="Times New Roman" pitchFamily="18" charset="0"/>
              </a:rPr>
              <a:t>xalaqitlar</a:t>
            </a:r>
            <a:r>
              <a:rPr lang="en-US" sz="1900" dirty="0">
                <a:latin typeface="Times New Roman" pitchFamily="18" charset="0"/>
                <a:cs typeface="Times New Roman" pitchFamily="18" charset="0"/>
              </a:rPr>
              <a:t> signal + </a:t>
            </a:r>
            <a:r>
              <a:rPr lang="en-US" sz="1900" dirty="0" err="1">
                <a:latin typeface="Times New Roman" pitchFamily="18" charset="0"/>
                <a:cs typeface="Times New Roman" pitchFamily="18" charset="0"/>
              </a:rPr>
              <a:t>xalaqitlar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Xabarlar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Xabarlar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Xalaqitlar</a:t>
            </a:r>
            <a:r>
              <a:rPr lang="en-US" sz="1900" dirty="0">
                <a:latin typeface="Times New Roman" pitchFamily="18" charset="0"/>
                <a:cs typeface="Times New Roman" pitchFamily="18" charset="0"/>
              </a:rPr>
              <a:t> 11 4. </a:t>
            </a:r>
            <a:r>
              <a:rPr lang="en-US" sz="1900" dirty="0" err="1">
                <a:latin typeface="Times New Roman" pitchFamily="18" charset="0"/>
                <a:cs typeface="Times New Roman" pitchFamily="18" charset="0"/>
              </a:rPr>
              <a:t>Kommutatsiyalanmaydigan</a:t>
            </a:r>
            <a:r>
              <a:rPr lang="en-US" sz="1900" dirty="0">
                <a:latin typeface="Times New Roman" pitchFamily="18" charset="0"/>
                <a:cs typeface="Times New Roman" pitchFamily="18" charset="0"/>
              </a:rPr>
              <a:t> (analog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raqamli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kanalli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talablari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quyidagilardan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 1. </a:t>
            </a:r>
            <a:r>
              <a:rPr lang="en-US" sz="1900" dirty="0" err="1">
                <a:latin typeface="Times New Roman" pitchFamily="18" charset="0"/>
                <a:cs typeface="Times New Roman" pitchFamily="18" charset="0"/>
              </a:rPr>
              <a:t>Ma’lum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xajmdagi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2.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ko‘rsatilgan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manzilga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3.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belgilangan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4.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Bunda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puxtaligi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to‘lovlar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xaqidagi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ruxsat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etilmagan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bajarilishidan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himoyalanish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ta’minlanishi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207091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8636"/>
            <a:ext cx="9144000" cy="6555641"/>
          </a:xfrm>
          <a:prstGeom prst="rect">
            <a:avLst/>
          </a:prstGeom>
        </p:spPr>
        <p:txBody>
          <a:bodyPr wrap="square">
            <a:spAutoFit/>
          </a:bodyPr>
          <a:lstStyle/>
          <a:p>
            <a:pPr lvl="1" algn="ctr"/>
            <a:r>
              <a:rPr lang="uz-Cyrl-UZ" sz="2000" b="1" dirty="0">
                <a:latin typeface="Times New Roman" pitchFamily="18" charset="0"/>
                <a:cs typeface="Times New Roman" pitchFamily="18" charset="0"/>
              </a:rPr>
              <a:t>Aloqa kanallarida ma’lumotlarni ximoyalash usullari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Ma’lumotlarni </a:t>
            </a:r>
            <a:r>
              <a:rPr lang="uz-Cyrl-UZ" sz="2000" dirty="0">
                <a:latin typeface="Times New Roman" pitchFamily="18" charset="0"/>
                <a:cs typeface="Times New Roman" pitchFamily="18" charset="0"/>
              </a:rPr>
              <a:t>uzatishni ximoyalash masalasini yechish usullarining uchta asosiy guruhi mavjud: kanalga mo‘ljallangan ximoyalash usullari, chekkalararo ximoyalash usullari va ulanishga mo‘ljallangan ximoyalash usullari. Birinchisi har bir kanal uchun mustaqil ravishda ma’lumotlar oqimini ximoyalashni ta’minlasa, ikkinchisi har bir xabarni, uni manbadan adresatgacha uzatishda umumiy ximoyalashni ta’minlaydi. Uchinchi usul ikkinchi usulning bir turi xisoblanadi.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Kanalga </a:t>
            </a:r>
            <a:r>
              <a:rPr lang="uz-Cyrl-UZ" sz="2000" dirty="0">
                <a:latin typeface="Times New Roman" pitchFamily="18" charset="0"/>
                <a:cs typeface="Times New Roman" pitchFamily="18" charset="0"/>
              </a:rPr>
              <a:t>mo‘ljallangan usullar manba va adresatga bog‘liq bo‘lmagan holda, alohida uzellar orasidagi alohida aloqa kanali bo‘yicha uzatilayotgan xabarlar oqimini ximoyalashni ta’minlaydi. Bu xil ximoyani ta’minlashda buzg‘unchining uzelga (paketni kommutatsiyalovchi markazga) qaraganda kanalga ta’sir etish qulayligi faraz qilinadi. Undan tashqari, ma’lumotlarni uzatish tarmog‘idagi uzellarni foydalanuvchi terminallarini ximoyalagandek ximoyalash mumkin emas yoki iqtisod nuqtai nazaridan foydasiz. Ushbu guruh, usullarining kamchiligi-qism tarmoq uzellaridan birining ochilishi tarmoq orqali o‘tayotgan xabarlar oqimining talaygina qismini ochilishiga olib kelishi mumkin.</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Terminallar </a:t>
            </a:r>
            <a:r>
              <a:rPr lang="uz-Cyrl-UZ" sz="2000" dirty="0">
                <a:latin typeface="Times New Roman" pitchFamily="18" charset="0"/>
                <a:cs typeface="Times New Roman" pitchFamily="18" charset="0"/>
              </a:rPr>
              <a:t>va tarmoqlar o‘rtasidagi aloqa kanallarini kanalga mo‘ljallangan ximoyalash xarajatlari bevosita daxldor taraflar tomonidan qoplansada, ma’lumotlarni uzatish qism tarmoq ichidagi kanalga mo‘ljallangan ximoyalash usullarining umumiy narxi qism tarmoqdan foydalanuvchilarning barchasi o‘rtasida xisoblab chiqilishi mumkin.</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705188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618" y="0"/>
            <a:ext cx="9077439" cy="6247864"/>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Chekkalararo </a:t>
            </a:r>
            <a:r>
              <a:rPr lang="uz-Cyrl-UZ" sz="2000" dirty="0">
                <a:latin typeface="Times New Roman" pitchFamily="18" charset="0"/>
                <a:cs typeface="Times New Roman" pitchFamily="18" charset="0"/>
              </a:rPr>
              <a:t>ximoyalash usullari xabarlarni manba uzellari va qabul qiluvchi orasida uzatish jarayonida shunday ximoyalaydiki, manba va adresat orasidagi aloqa kanallaridan birining ochilishi xabarlar oqimining ochilishiga olib kelmaydi. Ushbu usullarning asosiy afzalligi - ulardan foydalanish masalasi alohida foydalanuvchilar orasida, boshka foydalanuvchilarni jalb etmasdan, yechilishi mumkin.</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Ulanishga </a:t>
            </a:r>
            <a:r>
              <a:rPr lang="uz-Cyrl-UZ" sz="2000" dirty="0">
                <a:latin typeface="Times New Roman" pitchFamily="18" charset="0"/>
                <a:cs typeface="Times New Roman" pitchFamily="18" charset="0"/>
              </a:rPr>
              <a:t>mo‘ljallangan usullar. Aksariyat qo‘llanish sohalarida ma’lumotlarni uzatish tarmog‘ini manbadan adresatgacha ulanishni yoki virtual kanalni o‘rnatish uchun foydalanuvchiga taqdim etiluvchi muhit sifatida tasavvur etish mumkin. Bunday tasavvur etishda ximoya ulanishga mo‘lljallanishi faraz qilinadi, ya’ni, har bir ulanish yoki virtual kanal alohida himoyalanadi. Shunday qilib, ulanishga mo‘ljallangan usullar chekkalararo ximoyalash usullarining bir turi xisoblanadi. Ulanishga mo‘ljallangan usullar turli sharoitlarda umumiy ximoyaning yuqori darajasini ta’minlaydi va ximoyaga qo‘yiladigan talablar xususidagi foydalanuvchining idrokiga mos keladi. Chunki, ulanishga mo‘ljallangan axborot konfidensialligini ximoyalash usullari asbob-uskunani ximoyalashni, masalan, faqat xabarlar manbaida va qabul qiluvchida axborotdan ruxsatsiz foydalanishdan ximoyalashni ko‘zda tutadi. Ayni vaqtda ximoyalashning kanalga mo‘ljallangan usullari ruxsatsiz   foydalanishdan   ximoyalashning ma’lumotlarni uzatish tarmog‘idagi xar bir uzeli tomonidan ta’minlanishini talab etishi mumkin, ammo, ba’zida ikkala usulni qo‘llaganda ximoyalashning tejamli darajasiga erishiladi.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71060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295" y="4763"/>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Ma’lumotlarni </a:t>
            </a:r>
            <a:r>
              <a:rPr lang="uz-Cyrl-UZ" sz="2000" dirty="0">
                <a:latin typeface="Times New Roman" pitchFamily="18" charset="0"/>
                <a:cs typeface="Times New Roman" pitchFamily="18" charset="0"/>
              </a:rPr>
              <a:t>uzatishni ximoyalashning u yoki bu usulidan foydalanishdagi asosiy vazifalar quyidagilar:</a:t>
            </a:r>
            <a:endParaRPr lang="ru-RU" sz="2000" dirty="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xabarlar </a:t>
            </a:r>
            <a:r>
              <a:rPr lang="uz-Cyrl-UZ" sz="2000" dirty="0">
                <a:latin typeface="Times New Roman" pitchFamily="18" charset="0"/>
                <a:cs typeface="Times New Roman" pitchFamily="18" charset="0"/>
              </a:rPr>
              <a:t>mazmunining fosh qilinishini oldini olish;</a:t>
            </a:r>
            <a:endParaRPr lang="ru-RU" sz="2000" dirty="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xabarlar </a:t>
            </a:r>
            <a:r>
              <a:rPr lang="uz-Cyrl-UZ" sz="2000" dirty="0">
                <a:latin typeface="Times New Roman" pitchFamily="18" charset="0"/>
                <a:cs typeface="Times New Roman" pitchFamily="18" charset="0"/>
              </a:rPr>
              <a:t>oqimining taxlillanishini oldini olish;</a:t>
            </a:r>
            <a:endParaRPr lang="ru-RU" sz="2000" dirty="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xabarlar </a:t>
            </a:r>
            <a:r>
              <a:rPr lang="uz-Cyrl-UZ" sz="2000" dirty="0">
                <a:latin typeface="Times New Roman" pitchFamily="18" charset="0"/>
                <a:cs typeface="Times New Roman" pitchFamily="18" charset="0"/>
              </a:rPr>
              <a:t>oqimi xaqiqiyligini bo‘zilganligini aniqlash;</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Axborot </a:t>
            </a:r>
            <a:r>
              <a:rPr lang="uz-Cyrl-UZ" sz="2000" dirty="0">
                <a:latin typeface="Times New Roman" pitchFamily="18" charset="0"/>
                <a:cs typeface="Times New Roman" pitchFamily="18" charset="0"/>
              </a:rPr>
              <a:t>tizimlari yoki ma’lumotlarni uzatish tarmoqlarida axborot xavfsizligini ta’minlash maqsadida ma’lumotlarni uzatishni ximoyalash usullaridan nafakat buzg‘unchi ta’siri okibatlarini aniqlashni, balki, agar oqibatlar vaqtincha xarakterga ega bo‘lganida, o‘zilgan (bo‘zilgan) uzatish jarayonini avtomatik tarzda tiklashni talab etish kerak.</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Xozirda </a:t>
            </a:r>
            <a:r>
              <a:rPr lang="uz-Cyrl-UZ" sz="2000" dirty="0">
                <a:latin typeface="Times New Roman" pitchFamily="18" charset="0"/>
                <a:cs typeface="Times New Roman" pitchFamily="18" charset="0"/>
              </a:rPr>
              <a:t>yuqorida keltirilgan vazifalarning bajarilishini ta’minlovchi ximoyalashning standartlashtirilgan mexanizmlari mavjud emas. Xar bir muayyan xolda ma’lumotlarni uzatish xavfsizligi masalalari axborotlarni kriptografik o‘zgartirish usullari, axborotlarni halallarga bardosh kodlash usullari, xabarlarning xaqiqiyligini ta’minlovchi usullar, tizimlar ishlashining ishonchliligini, yashovchanligini va barqarorligini ta’minlovchi usullarga asoslangan ximoyalashning turli mexanizmlarini birgalikda ishlatish orqali hal etiladi.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Xabarlar </a:t>
            </a:r>
            <a:r>
              <a:rPr lang="uz-Cyrl-UZ" sz="2000" dirty="0">
                <a:latin typeface="Times New Roman" pitchFamily="18" charset="0"/>
                <a:cs typeface="Times New Roman" pitchFamily="18" charset="0"/>
              </a:rPr>
              <a:t>mazmunining fosh qilinishini oldini olishda ximoyalashning kanalga mo‘ljallangan hamda ulanishga mo‘ljallangan usullaridan foydalanish mumkin</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Yuqorida </a:t>
            </a:r>
            <a:r>
              <a:rPr lang="uz-Cyrl-UZ" sz="2000" dirty="0">
                <a:latin typeface="Times New Roman" pitchFamily="18" charset="0"/>
                <a:cs typeface="Times New Roman" pitchFamily="18" charset="0"/>
              </a:rPr>
              <a:t>aytib o‘tilganidek, kanalli shifrlash aloqa tarmog‘ining har bir kanalida mustaqil tarzda bajarilishi mumkin. Kanalli shifrlashda, odatda, oqimli shifrlash ishlatiladi va uzellar orasida shifrlangan matn bitlarining uzluksiz oqimi madadlanadi.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094697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296" y="81887"/>
            <a:ext cx="9048466"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Ammo </a:t>
            </a:r>
            <a:r>
              <a:rPr lang="uz-Cyrl-UZ" sz="2000" dirty="0">
                <a:latin typeface="Times New Roman" pitchFamily="18" charset="0"/>
                <a:cs typeface="Times New Roman" pitchFamily="18" charset="0"/>
              </a:rPr>
              <a:t>ma’lumotlar faqat kanalda (kanallar orqali ulangan uzellarda emas) shifrlanishi sababli barcha oraliq uzellar ximoyalanishi lozim. Buning ustiga uzellarni nafaqat fizik ximoyalanishi, balki bu uzellarning apparat-dasturiy vositalari tomonidan uzellar orqali o‘tuvchi xar bir ulanishdagi axborotni yakkalashi kafolatlanishi zarur.</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Chekkalararo shifrlashda marshrutizatorda ishlanuvchi xar bir xabar (sarlavxaning ba’zi ma’lumotlari bundan istisno) yo‘l boshida shifrlanadi va belgilangan joyga yetmaguncha rasshifrovka qilinmaydi. Xar bir ulanish uchun o‘zining kaliti ishlatilishi mumkin.</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Xabarlar </a:t>
            </a:r>
            <a:r>
              <a:rPr lang="uz-Cyrl-UZ" sz="2000" dirty="0">
                <a:latin typeface="Times New Roman" pitchFamily="18" charset="0"/>
                <a:cs typeface="Times New Roman" pitchFamily="18" charset="0"/>
              </a:rPr>
              <a:t>oqimini taxlillanishidan ximoyalash, odatda, turli sinflarga mansub xabarlar uzunligi va chastotasining qiymatlarini, manba adreslarini va xabarlar oqimi adreslarini berkitishga yo‘naltirilgan. Agar kanalli shifrlash ishlatilsa, uzellar orasida ma’lumotlar uzatilganida shifrlangan matn bitlarining uzluksiz oqimi o‘rnatilishi mumkin. Bu esa chastota qiymatlarini va ulanishning davomligini berkitishga imkon beradi. Bunday yondashishda tarmoqning samarali o‘tkazish qobiliyati pasaymaydi, chunki xech qanday qo‘shimcha axborot talab etilmaydi. Ammo, uzel ochilsa bu uzel orqali o‘tuvchi xabarlarning butun oqimi taxlillash mavzuiga aylanadi.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Ximoyalashning chekkalararo usullaridan foydalanilganda uzatiluvchi xabarlarning haqiqiy chastotasi va uzunligini berkitish uchun turli uzunlikdagi “bo‘sh” xabarlar generatsiyalanishi, xaqiqiy xabar esa bo‘sh simvollar bilan to‘ldirilishi mumkin. Qabul qiluvchi begona kengayishlarni va “bo‘sh” xabarlarni aniqlashda xabardagi shifrlangan hoshiyadan foydalanishi mumkin</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372709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36607"/>
            <a:ext cx="9021170" cy="6801862"/>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Aksariyat </a:t>
            </a:r>
            <a:r>
              <a:rPr lang="uz-Cyrl-UZ" sz="2000" dirty="0">
                <a:latin typeface="Times New Roman" pitchFamily="18" charset="0"/>
                <a:cs typeface="Times New Roman" pitchFamily="18" charset="0"/>
              </a:rPr>
              <a:t>ilovalarda oqimni taxlillash orqali axborotni chiqarib olish ikkinchi darajali xavf sifatida talqin kilinishi va maxsus qarshi choralar qurilmasligi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Xabarlar satxida xaqiqiylikni tasdiqlash xabarlarni kechiktirish, ularni yo‘q qilish, almashtirib qo‘yish yoki qaytalash kabi ta’sirlardan himoyalashni ta’minlamaydi. Shunga qaramasdan, bunday taxdidlardan himoyalashning turli usullari mavjud:</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xabarlarni nomerlash. Xar bir xabarni nomerlab, nomerni xabar tarkibiga     kiritib,     demak,      shifrlab     uzatish     orqali     xabarning xaqiqiyligiga ishonch xosil qilish mumkin. Tarmoqning xar bir ob’ekti u bilan aloqada buluvchi ob’ektlarning xar biri uchun alohida sanagichlarga (schyotchiklarga)     ega     bo‘lishi    lozimligi     bu    muolajaning    kamchiligi xisoblanadi.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vaqtni belgilash. Qabul qiluvchi xar bir uzatilgan xabarning kuni va vaqtini bilgan holda uning adekvatligini tekshirishi mumkin. Bunday belgilashning intervali va anikligi shunday tanlanishi lozimki, bir tomondan xatoli xabarlar,  ikkinchi tomondan uzatish kanaliga xos bo‘lgan tabiiy kechikish aniqlanishi mumkin bo‘lsin.</a:t>
            </a:r>
            <a:endParaRPr lang="ru-RU" sz="2000" dirty="0">
              <a:latin typeface="Times New Roman" pitchFamily="18" charset="0"/>
              <a:cs typeface="Times New Roman" pitchFamily="18" charset="0"/>
            </a:endParaRPr>
          </a:p>
          <a:p>
            <a:pPr marL="342900" indent="-342900" algn="just">
              <a:buFontTx/>
              <a:buChar char="-"/>
            </a:pPr>
            <a:r>
              <a:rPr lang="uz-Cyrl-UZ" sz="2000" dirty="0" smtClean="0">
                <a:latin typeface="Times New Roman" pitchFamily="18" charset="0"/>
                <a:cs typeface="Times New Roman" pitchFamily="18" charset="0"/>
              </a:rPr>
              <a:t>tasodifiy </a:t>
            </a:r>
            <a:r>
              <a:rPr lang="uz-Cyrl-UZ" sz="2000" dirty="0">
                <a:latin typeface="Times New Roman" pitchFamily="18" charset="0"/>
                <a:cs typeface="Times New Roman" pitchFamily="18" charset="0"/>
              </a:rPr>
              <a:t>sonlardan foydalanish. Vaqtning real masshtabida ikki tomonlama    aloqa    ishlatilganida    qabul    qiluvchi    jo‘natuvchiga    xabar jo‘natilmasdan oldin tasodifiy son yuboradi. Jo‘natuvchi bu sonni shifrlangan xabarga shunday o‘rnatadiki, qabul qiluvchi uni tekshirishi mumkin bo‘lsin. Shu tarzda yolg‘on xabarlar chikarib tashlanishi mumkin</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marL="342900" indent="-342900" algn="just">
              <a:buFontTx/>
              <a:buChar char="-"/>
            </a:pPr>
            <a:r>
              <a:rPr lang="uz-Cyrl-UZ" sz="2000" dirty="0" smtClean="0">
                <a:latin typeface="Times New Roman" pitchFamily="18" charset="0"/>
                <a:cs typeface="Times New Roman" pitchFamily="18" charset="0"/>
              </a:rPr>
              <a:t>	xar   </a:t>
            </a:r>
            <a:r>
              <a:rPr lang="uz-Cyrl-UZ" sz="2000" dirty="0">
                <a:latin typeface="Times New Roman" pitchFamily="18" charset="0"/>
                <a:cs typeface="Times New Roman" pitchFamily="18" charset="0"/>
              </a:rPr>
              <a:t>bir  ulanish  uchun   alohida  kalitdan   foydalanish. Natijada olingan xabarda ulanishning oshkor bo‘lmagan identifikatsiyalanishi amalga oshiriladi.</a:t>
            </a:r>
            <a:endParaRPr lang="ru-RU" sz="2000" dirty="0">
              <a:latin typeface="Times New Roman" pitchFamily="18" charset="0"/>
              <a:cs typeface="Times New Roman" pitchFamily="18" charset="0"/>
            </a:endParaRPr>
          </a:p>
          <a:p>
            <a:pPr marL="342900" indent="-342900" algn="just">
              <a:buFontTx/>
              <a:buChar char="-"/>
            </a:pP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228378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5534" y="37112"/>
            <a:ext cx="9034818"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Xabarlar </a:t>
            </a:r>
            <a:r>
              <a:rPr lang="uz-Cyrl-UZ" sz="2000" dirty="0">
                <a:latin typeface="Times New Roman" pitchFamily="18" charset="0"/>
                <a:cs typeface="Times New Roman" pitchFamily="18" charset="0"/>
              </a:rPr>
              <a:t>oqimi o‘zilishini aniqlash masalasini “so‘rov-javob” protokolidan foydalanib hal etish mumkin. Bunday protokolning tarkibida ulanishning vaqtinchalik yaxlitligini va maqomini o‘rnatuvchi xabarlar juftini almashish muolajasi bo‘ladi. Ulanishning xar bir chekkasida “xabar-so‘rov” uzatishni vaqti-vaqti bilan ishga tushiruvchi taymer ishlatiladi va “xabar-so‘rov” uzatishga ulanishning boshqa chekkasidan javob olinadi. Xar bir “xabar-so‘rov”da peredatchik axboroti mavjud bo‘lib, bu axborot ulanishdagi xabar yo‘qotilishini aniqlashga imkon beradi.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Yolg‘on ulanishni aniqlash uchun xar bir chekkadagi “ulanishga javob-gar”ning xaqiqiyligini va ulanishning vaqtinchalik yaxlitligini tekshirishga ishonchli asosni ta’minlovchi qarshi choralar ishlab chiqilgan.</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Ulanish </a:t>
            </a:r>
            <a:r>
              <a:rPr lang="uz-Cyrl-UZ" sz="2000" dirty="0">
                <a:latin typeface="Times New Roman" pitchFamily="18" charset="0"/>
                <a:cs typeface="Times New Roman" pitchFamily="18" charset="0"/>
              </a:rPr>
              <a:t>boshlanishi vaqtida xar bir chekkada ulanishga javobgarning xaqiqiyligini tekshirish keyingi xabarlar oqimining xaqiqiyligi xususida karor qabul qilishga asos xisoblanadi.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Ulanishning </a:t>
            </a:r>
            <a:r>
              <a:rPr lang="uz-Cyrl-UZ" sz="2000" dirty="0">
                <a:latin typeface="Times New Roman" pitchFamily="18" charset="0"/>
                <a:cs typeface="Times New Roman" pitchFamily="18" charset="0"/>
              </a:rPr>
              <a:t>vaqtinchalik yaxlitligini tekshirish buzg‘unchining oldingi qonuniy ulanish yozuvidan foydalanib, foydalanuvchini xato fikrga solishidan yoki adashtirishidan, ma’lumotlar uzatish jarayonini bo‘zishidan ximoyalaydi</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Himoya </a:t>
            </a:r>
            <a:r>
              <a:rPr lang="uz-Cyrl-UZ" sz="2000" dirty="0">
                <a:latin typeface="Times New Roman" pitchFamily="18" charset="0"/>
                <a:cs typeface="Times New Roman" pitchFamily="18" charset="0"/>
              </a:rPr>
              <a:t>mexanizmlari Amaliyotda ishlatiladigan ximoya mexanizmlarining aksariyati kriptografiya usullariga asoslangan. Shifrlash yoki shifrlashga yaqin axborotni o‘zgartirishlar malumotlarni ximoyalash usullari xisoblanadi. Himoya xizmati Amaliyotda qo‘llaniladigan ximoya vazifalari to‘plamlaridan biriga quyidagilar kiradi: konfidensiallik, autentifikatsiyalash, yaxlitlik, yolg‘onning mumkin emasligi, foydalanuvchanlik, foydalanuvchanlikni boshqarish.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63191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95534"/>
            <a:ext cx="9007522"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Konfidensiallik </a:t>
            </a:r>
            <a:r>
              <a:rPr lang="uz-Cyrl-UZ" sz="2000" dirty="0">
                <a:latin typeface="Times New Roman" pitchFamily="18" charset="0"/>
                <a:cs typeface="Times New Roman" pitchFamily="18" charset="0"/>
              </a:rPr>
              <a:t>malumotlar oqimini passiv xujumlardan ximoya kilishga xizmat kiladi. Axborotlar mazmunining muximliligiga karab ximoyaning bir necha satxlari o‘rnatilishi mumkin. Keng manodagi himoya xizmati ixtiyoriy ikkita foydalanuvchi o‘rtasida uzatiluvchi barcha malumotlarni malum vakt mobaynida ximoyasini taminlashi lozim. Masalan, agar ikki tizim o‘rtasida virtual aloka o‘rnatilgan bo‘lsa bunday keng manodagi ximoya foydalanuvchilar malumotlari uzatilgandagi xar kanday yukolishlarga to‘siq bo‘la oladi. Tor manodagi ximoya xizmati aloxida axborotni yoki xatto axborotning aloxida kismini ximoyasini taminlay oladi. Ammo bunday choralarning samarasi keng manodagi himoya xizmatiga nisbatan kam, ularni amalga oshirish esa bazida murakkab va qimmat bo‘lishi mumkin. </a:t>
            </a:r>
            <a:r>
              <a:rPr lang="en-US" sz="2000" dirty="0" err="1">
                <a:latin typeface="Times New Roman" pitchFamily="18" charset="0"/>
                <a:cs typeface="Times New Roman" pitchFamily="18" charset="0"/>
              </a:rPr>
              <a:t>Konfidensiallikning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jihati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oqimini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analitik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tadqiq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qilinishidan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himoyalashdir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Analiik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tadqiq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deganda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tavsifiga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taalluqli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manbaini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adresatni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uzatiladigan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chastotani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o‘lchamini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x. </a:t>
            </a:r>
            <a:r>
              <a:rPr lang="en-US" sz="2000" dirty="0" err="1">
                <a:latin typeface="Times New Roman" pitchFamily="18" charset="0"/>
                <a:cs typeface="Times New Roman" pitchFamily="18" charset="0"/>
              </a:rPr>
              <a:t>buzg‘unchi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tushuniladi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manbaini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identifikatsiyalashga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mo‘ljallangan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to‘g‘risida</a:t>
            </a:r>
            <a:r>
              <a:rPr lang="en-US" sz="2000" dirty="0">
                <a:latin typeface="Times New Roman" pitchFamily="18" charset="0"/>
                <a:cs typeface="Times New Roman" pitchFamily="18" charset="0"/>
              </a:rPr>
              <a:t> signal </a:t>
            </a:r>
            <a:r>
              <a:rPr lang="en-US" sz="2000" dirty="0" err="1">
                <a:latin typeface="Times New Roman" pitchFamily="18" charset="0"/>
                <a:cs typeface="Times New Roman" pitchFamily="18" charset="0"/>
              </a:rPr>
              <a:t>berilganida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vazifasi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signalning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manbai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haqiqatan</a:t>
            </a:r>
            <a:r>
              <a:rPr lang="en-US" sz="2000" dirty="0">
                <a:latin typeface="Times New Roman" pitchFamily="18" charset="0"/>
                <a:cs typeface="Times New Roman" pitchFamily="18" charset="0"/>
              </a:rPr>
              <a:t> ham signal </a:t>
            </a:r>
            <a:r>
              <a:rPr lang="en-US" sz="2000" dirty="0" err="1">
                <a:latin typeface="Times New Roman" pitchFamily="18" charset="0"/>
                <a:cs typeface="Times New Roman" pitchFamily="18" charset="0"/>
              </a:rPr>
              <a:t>uzatuvchi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ekanligini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tekshirishdan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iborat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interaktiv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terminal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bosh </a:t>
            </a:r>
            <a:r>
              <a:rPr lang="en-US" sz="2000" dirty="0" err="1">
                <a:latin typeface="Times New Roman" pitchFamily="18" charset="0"/>
                <a:cs typeface="Times New Roman" pitchFamily="18" charset="0"/>
              </a:rPr>
              <a:t>uzelga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servis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jihatini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ajratish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Birinchidan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o‘rnatilishida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ishtirok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etuvchilarning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ekanliklariga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kafolat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lozim</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453052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188640"/>
            <a:ext cx="8712968" cy="6524863"/>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Ikkinchidan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keyingi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almashinuvida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vositalar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oqimiga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qandaydir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uchinchi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tomonning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aralashishiga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yul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qo‘ymasligi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lozim</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Bu </a:t>
            </a:r>
            <a:r>
              <a:rPr lang="en-US" sz="2200" dirty="0" err="1">
                <a:latin typeface="Times New Roman" pitchFamily="18" charset="0"/>
                <a:cs typeface="Times New Roman" pitchFamily="18" charset="0"/>
              </a:rPr>
              <a:t>ochiq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shifrmatn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o‘zgartirish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teskari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o‘zgartirish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jarayonlaridir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yopiq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o‘zgartirish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jarayoni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teskarisi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esa</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qayta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deb </a:t>
            </a:r>
            <a:r>
              <a:rPr lang="en-US" sz="2200" dirty="0" err="1">
                <a:latin typeface="Times New Roman" pitchFamily="18" charset="0"/>
                <a:cs typeface="Times New Roman" pitchFamily="18" charset="0"/>
              </a:rPr>
              <a:t>ataladi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usullarining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shifrlarning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ko‘plab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turlari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mavjud</a:t>
            </a:r>
            <a:r>
              <a:rPr lang="en-US" sz="2200" dirty="0">
                <a:latin typeface="Times New Roman" pitchFamily="18" charset="0"/>
                <a:cs typeface="Times New Roman" pitchFamily="18" charset="0"/>
              </a:rPr>
              <a:t>. Bu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algoritmiga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mos</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ravishda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yopiq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orqaga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qaytmaydigan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o‘zgartirishlar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to‘plamidir</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Zamonaviy</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usullariga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quyidagi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talablar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qo‘yiladi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kripto-chidamlilik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kriptotahlil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qilishga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qarshi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shunday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kalitlarini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to‘liq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tanlab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masalasini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yechish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amalga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oshirilishi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kriptochidamlilik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algoritmining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maxfiyligi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emas</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balki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kalitning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maxfiyligi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ta’minlanadi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shifrmatn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o‘zi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xajmi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bo‘yicha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boshlang‘ich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ko‘payib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masligi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xatoliklari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to‘siqlarga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uchrashiga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yo‘qolishlariga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kelmasligi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vaqti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katta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bo‘lmasligi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narxi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berkitiladigan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narxi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moslashtirilishi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4228998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260648"/>
            <a:ext cx="8784976" cy="4154984"/>
          </a:xfrm>
          <a:prstGeom prst="rect">
            <a:avLst/>
          </a:prstGeom>
        </p:spPr>
        <p:txBody>
          <a:bodyPr wrap="square">
            <a:spAutoFit/>
          </a:bodyPr>
          <a:lstStyle/>
          <a:p>
            <a:pPr algn="ctr"/>
            <a:r>
              <a:rPr lang="uz-Cyrl-UZ" sz="2200" b="1" dirty="0">
                <a:latin typeface="Times New Roman" pitchFamily="18" charset="0"/>
                <a:cs typeface="Times New Roman" pitchFamily="18" charset="0"/>
              </a:rPr>
              <a:t>Nazorat savollari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Ma’lumotlarni uzatish tarmoqlarida axborot ximoyasini ta’minlash.</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Konfidensiallikni   ta’minlash.</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Ma’lumotlar yaxlitligini ta’minlash.</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Xavfni bildiruvchi signalni generatsiyalash.</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Aloqa kanallarida ma’lumotlarni ximoyalash usullari.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shifrlash xizmati;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Foydalanuvchilarni va xabarlarni autentifikatsiyalash xizmati;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Foydalanishni boshqarish xizmati;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Xabarlar yaxlitligini ta’minlash xizmati;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Foydalanuvchanlikni ta’minlash xizmati;</a:t>
            </a:r>
            <a:endParaRPr lang="ru-RU" sz="2200" dirty="0">
              <a:latin typeface="Times New Roman" pitchFamily="18" charset="0"/>
              <a:cs typeface="Times New Roman" pitchFamily="18" charset="0"/>
            </a:endParaRPr>
          </a:p>
          <a:p>
            <a:pPr marL="457200" lvl="0" indent="-457200">
              <a:buFont typeface="+mj-lt"/>
              <a:buAutoNum type="arabicPeriod"/>
            </a:pPr>
            <a:r>
              <a:rPr lang="uz-Cyrl-UZ" sz="2200" dirty="0">
                <a:latin typeface="Times New Roman" pitchFamily="18" charset="0"/>
                <a:cs typeface="Times New Roman" pitchFamily="18" charset="0"/>
              </a:rPr>
              <a:t>Yetkazilganlikni tasdiqlash xizmati;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16632373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190</Words>
  <Application>Microsoft Office PowerPoint</Application>
  <PresentationFormat>Экран (4:3)</PresentationFormat>
  <Paragraphs>85</Paragraphs>
  <Slides>18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18</vt:i4>
      </vt:variant>
    </vt:vector>
  </HeadingPairs>
  <TitlesOfParts>
    <vt:vector size="19"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37</cp:revision>
  <dcterms:created xsi:type="dcterms:W3CDTF">2020-02-10T04:46:41Z</dcterms:created>
  <dcterms:modified xsi:type="dcterms:W3CDTF">2024-03-18T05:26:14Z</dcterms:modified>
</cp:coreProperties>
</file>