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276" r:id="rId3"/>
    <p:sldId id="295" r:id="rId4"/>
    <p:sldId id="296" r:id="rId5"/>
    <p:sldId id="297" r:id="rId6"/>
    <p:sldId id="298" r:id="rId7"/>
    <p:sldId id="299" r:id="rId8"/>
    <p:sldId id="300" r:id="rId9"/>
    <p:sldId id="301" r:id="rId10"/>
    <p:sldId id="302" r:id="rId11"/>
    <p:sldId id="303" r:id="rId12"/>
    <p:sldId id="304" r:id="rId13"/>
    <p:sldId id="305" r:id="rId14"/>
    <p:sldId id="306" r:id="rId15"/>
    <p:sldId id="307" r:id="rId16"/>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CC006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2814" y="-9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01.04.2024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712048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01.04.2024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272742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A2F1B533-5871-489F-8DF7-633441D17A15}" type="datetimeFigureOut">
              <a:rPr lang="ru-RU" smtClean="0"/>
              <a:t>01.04.2024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12760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A2F1B533-5871-489F-8DF7-633441D17A15}" type="datetimeFigureOut">
              <a:rPr lang="ru-RU" smtClean="0"/>
              <a:t>01.04.2024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982013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A2F1B533-5871-489F-8DF7-633441D17A15}" type="datetimeFigureOut">
              <a:rPr lang="ru-RU" smtClean="0"/>
              <a:t>01.04.2024</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215616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A2F1B533-5871-489F-8DF7-633441D17A15}" type="datetimeFigureOut">
              <a:rPr lang="ru-RU" smtClean="0"/>
              <a:t>01.04.2024</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596097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A2F1B533-5871-489F-8DF7-633441D17A15}" type="datetimeFigureOut">
              <a:rPr lang="ru-RU" smtClean="0"/>
              <a:t>01.04.2024</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935233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01.04.2024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025572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01.04.2024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807767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01.04.2024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696135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01.04.2024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133829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accent1">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F1B533-5871-489F-8DF7-633441D17A15}" type="datetimeFigureOut">
              <a:rPr lang="ru-RU" smtClean="0"/>
              <a:t>01.04.2024</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E3C97E-C3BB-4CA0-80D7-A16D20B07B21}" type="slidenum">
              <a:rPr lang="ru-RU" smtClean="0"/>
              <a:t>‹#›</a:t>
            </a:fld>
            <a:endParaRPr lang="ru-RU"/>
          </a:p>
        </p:txBody>
      </p:sp>
    </p:spTree>
    <p:extLst>
      <p:ext uri="{BB962C8B-B14F-4D97-AF65-F5344CB8AC3E}">
        <p14:creationId xmlns:p14="http://schemas.microsoft.com/office/powerpoint/2010/main" val="5924311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Заголовок 1"/>
          <p:cNvSpPr txBox="1">
            <a:spLocks/>
          </p:cNvSpPr>
          <p:nvPr/>
        </p:nvSpPr>
        <p:spPr>
          <a:xfrm>
            <a:off x="0" y="188640"/>
            <a:ext cx="9144000" cy="216024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800" b="1" dirty="0" smtClean="0">
                <a:latin typeface="Times New Roman" pitchFamily="18" charset="0"/>
                <a:cs typeface="Times New Roman" pitchFamily="18" charset="0"/>
              </a:rPr>
              <a:t>O‘ZBEKISTON RESPUBLIKASI AXBOROT TEXNOLOGIYALARI VA KOMMUNIKATSIYALARINI RIVOJLANTIRISH VAZIRLIGI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tt-RU" sz="1800" b="1" dirty="0" smtClean="0">
                <a:latin typeface="Times New Roman" pitchFamily="18" charset="0"/>
                <a:cs typeface="Times New Roman" pitchFamily="18" charset="0"/>
              </a:rPr>
              <a:t>MUXAMMAD AL-XORAZMIY NOMIDAGI </a:t>
            </a:r>
            <a:r>
              <a:rPr lang="en-US" sz="1800" b="1" dirty="0" smtClean="0">
                <a:latin typeface="Times New Roman" pitchFamily="18" charset="0"/>
                <a:cs typeface="Times New Roman" pitchFamily="18" charset="0"/>
              </a:rPr>
              <a:t>TOSHKENT AXBOROT TEXNOLOGIYALARI UNIVERSITETI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SAMAR</a:t>
            </a:r>
            <a:r>
              <a:rPr lang="uz-Cyrl-UZ" sz="1800" b="1" dirty="0" smtClean="0">
                <a:latin typeface="Times New Roman" pitchFamily="18" charset="0"/>
                <a:cs typeface="Times New Roman" pitchFamily="18" charset="0"/>
              </a:rPr>
              <a:t>Q</a:t>
            </a:r>
            <a:r>
              <a:rPr lang="en-US" sz="1800" b="1" dirty="0" smtClean="0">
                <a:latin typeface="Times New Roman" pitchFamily="18" charset="0"/>
                <a:cs typeface="Times New Roman" pitchFamily="18" charset="0"/>
              </a:rPr>
              <a:t>AND FILIALI </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TELEKOMMUNIKATSIYA </a:t>
            </a:r>
            <a:r>
              <a:rPr lang="uz-Cyrl-UZ" sz="1800" b="1" dirty="0" smtClean="0">
                <a:latin typeface="Times New Roman" pitchFamily="18" charset="0"/>
                <a:cs typeface="Times New Roman" pitchFamily="18" charset="0"/>
              </a:rPr>
              <a:t>TEXNOLOGIYALARI </a:t>
            </a:r>
            <a:r>
              <a:rPr lang="en-US" sz="1800" b="1" dirty="0" smtClean="0">
                <a:latin typeface="Times New Roman" pitchFamily="18" charset="0"/>
                <a:cs typeface="Times New Roman" pitchFamily="18" charset="0"/>
              </a:rPr>
              <a:t>VA KASB TA’LIM </a:t>
            </a:r>
            <a:r>
              <a:rPr lang="uz-Cyrl-UZ" sz="1800" b="1" dirty="0" smtClean="0">
                <a:latin typeface="Times New Roman" pitchFamily="18" charset="0"/>
                <a:cs typeface="Times New Roman" pitchFamily="18" charset="0"/>
              </a:rPr>
              <a:t>FAKULTETI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uz-Cyrl-UZ" sz="1800" b="1" dirty="0" smtClean="0">
                <a:latin typeface="Times New Roman" pitchFamily="18" charset="0"/>
                <a:cs typeface="Times New Roman" pitchFamily="18" charset="0"/>
              </a:rPr>
              <a:t>«TELEKOMMUNIKATSIYA INJINIRINGI» KAFEDRASI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endParaRPr lang="ru-RU" sz="1800" dirty="0">
              <a:latin typeface="Times New Roman" pitchFamily="18" charset="0"/>
              <a:cs typeface="Times New Roman" pitchFamily="18" charset="0"/>
            </a:endParaRPr>
          </a:p>
        </p:txBody>
      </p:sp>
      <p:sp>
        <p:nvSpPr>
          <p:cNvPr id="6" name="Подзаголовок 2"/>
          <p:cNvSpPr txBox="1">
            <a:spLocks/>
          </p:cNvSpPr>
          <p:nvPr/>
        </p:nvSpPr>
        <p:spPr>
          <a:xfrm>
            <a:off x="1007604" y="2204864"/>
            <a:ext cx="7128792" cy="64807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Tarmoqni</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dasturlash</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asoslari</a:t>
            </a:r>
            <a:r>
              <a:rPr lang="en-US" sz="2400" b="1" dirty="0" smtClean="0">
                <a:latin typeface="Times New Roman" pitchFamily="18" charset="0"/>
                <a:cs typeface="Times New Roman" pitchFamily="18" charset="0"/>
              </a:rPr>
              <a:t>”</a:t>
            </a:r>
          </a:p>
          <a:p>
            <a:pPr marL="0" indent="0" algn="ctr">
              <a:buNone/>
            </a:pPr>
            <a:r>
              <a:rPr lang="en-US" sz="2400" b="1" dirty="0" err="1" smtClean="0">
                <a:latin typeface="Times New Roman" pitchFamily="18" charset="0"/>
                <a:cs typeface="Times New Roman" pitchFamily="18" charset="0"/>
              </a:rPr>
              <a:t>fanidan</a:t>
            </a:r>
            <a:r>
              <a:rPr lang="en-US" sz="2400" b="1" smtClean="0">
                <a:latin typeface="Times New Roman" pitchFamily="18" charset="0"/>
                <a:cs typeface="Times New Roman" pitchFamily="18" charset="0"/>
              </a:rPr>
              <a:t> 13– </a:t>
            </a:r>
            <a:r>
              <a:rPr lang="en-US" sz="2400" b="1" dirty="0" err="1" smtClean="0">
                <a:latin typeface="Times New Roman" pitchFamily="18" charset="0"/>
                <a:cs typeface="Times New Roman" pitchFamily="18" charset="0"/>
              </a:rPr>
              <a:t>ma’ruza</a:t>
            </a:r>
            <a:endParaRPr lang="ru-RU" sz="2400" b="1" dirty="0">
              <a:latin typeface="Times New Roman" pitchFamily="18" charset="0"/>
              <a:cs typeface="Times New Roman" pitchFamily="18" charset="0"/>
            </a:endParaRPr>
          </a:p>
        </p:txBody>
      </p:sp>
      <p:sp>
        <p:nvSpPr>
          <p:cNvPr id="7" name="Подзаголовок 2"/>
          <p:cNvSpPr txBox="1">
            <a:spLocks/>
          </p:cNvSpPr>
          <p:nvPr/>
        </p:nvSpPr>
        <p:spPr>
          <a:xfrm>
            <a:off x="307975" y="3140968"/>
            <a:ext cx="8724033" cy="936104"/>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sz="1800" dirty="0" smtClean="0">
              <a:solidFill>
                <a:srgbClr val="FF66CC"/>
              </a:solidFill>
              <a:latin typeface="Times New Roman" pitchFamily="18" charset="0"/>
              <a:cs typeface="Times New Roman" pitchFamily="18" charset="0"/>
            </a:endParaRPr>
          </a:p>
          <a:p>
            <a:r>
              <a:rPr lang="en-US" sz="2000" dirty="0" err="1" smtClean="0">
                <a:solidFill>
                  <a:schemeClr val="tx1"/>
                </a:solidFill>
                <a:latin typeface="Times New Roman" pitchFamily="18" charset="0"/>
                <a:cs typeface="Times New Roman" pitchFamily="18" charset="0"/>
              </a:rPr>
              <a:t>Mavzu</a:t>
            </a:r>
            <a:r>
              <a:rPr lang="en-US" sz="1800" dirty="0" smtClean="0">
                <a:solidFill>
                  <a:schemeClr val="tx1"/>
                </a:solidFill>
                <a:latin typeface="Times New Roman" pitchFamily="18" charset="0"/>
                <a:cs typeface="Times New Roman" pitchFamily="18" charset="0"/>
              </a:rPr>
              <a:t>: </a:t>
            </a:r>
            <a:r>
              <a:rPr lang="uz-Cyrl-UZ" sz="2000" dirty="0">
                <a:solidFill>
                  <a:schemeClr val="tx1"/>
                </a:solidFill>
                <a:latin typeface="Times New Roman" pitchFamily="18" charset="0"/>
                <a:cs typeface="Times New Roman" pitchFamily="18" charset="0"/>
              </a:rPr>
              <a:t>Tarmoqda klient-server nazariyasi asosida tizimlar dasturlarini loyihalash va yaratish</a:t>
            </a:r>
            <a:endParaRPr lang="ru-RU" sz="2000" dirty="0">
              <a:solidFill>
                <a:schemeClr val="tx1"/>
              </a:solidFill>
              <a:latin typeface="Times New Roman" pitchFamily="18" charset="0"/>
              <a:cs typeface="Times New Roman" pitchFamily="18" charset="0"/>
            </a:endParaRPr>
          </a:p>
          <a:p>
            <a:endParaRPr lang="ru-RU" sz="2000" dirty="0">
              <a:solidFill>
                <a:schemeClr val="tx1"/>
              </a:solidFill>
              <a:latin typeface="Times New Roman" pitchFamily="18" charset="0"/>
              <a:cs typeface="Times New Roman" pitchFamily="18" charset="0"/>
            </a:endParaRPr>
          </a:p>
        </p:txBody>
      </p:sp>
      <p:sp>
        <p:nvSpPr>
          <p:cNvPr id="8" name="Прямоугольник 7"/>
          <p:cNvSpPr/>
          <p:nvPr/>
        </p:nvSpPr>
        <p:spPr>
          <a:xfrm>
            <a:off x="3707904" y="6237312"/>
            <a:ext cx="2412071" cy="461665"/>
          </a:xfrm>
          <a:prstGeom prst="rect">
            <a:avLst/>
          </a:prstGeom>
        </p:spPr>
        <p:txBody>
          <a:bodyPr wrap="none">
            <a:spAutoFit/>
          </a:bodyPr>
          <a:lstStyle/>
          <a:p>
            <a:r>
              <a:rPr lang="uz-Cyrl-UZ" sz="2400" b="1" dirty="0" smtClean="0">
                <a:latin typeface="Times New Roman" pitchFamily="18" charset="0"/>
                <a:cs typeface="Times New Roman" pitchFamily="18" charset="0"/>
              </a:rPr>
              <a:t>Samarqand </a:t>
            </a:r>
            <a:r>
              <a:rPr lang="en-US" sz="2400" b="1" dirty="0" smtClean="0">
                <a:latin typeface="Times New Roman" pitchFamily="18" charset="0"/>
                <a:cs typeface="Times New Roman" pitchFamily="18" charset="0"/>
              </a:rPr>
              <a:t>202</a:t>
            </a:r>
            <a:r>
              <a:rPr lang="ru-RU" sz="2400" b="1" smtClean="0">
                <a:latin typeface="Times New Roman" pitchFamily="18" charset="0"/>
                <a:cs typeface="Times New Roman" pitchFamily="18" charset="0"/>
              </a:rPr>
              <a:t>4</a:t>
            </a:r>
            <a:endParaRPr lang="ru-RU" sz="2400" dirty="0">
              <a:latin typeface="Times New Roman" pitchFamily="18" charset="0"/>
              <a:cs typeface="Times New Roman" pitchFamily="18" charset="0"/>
            </a:endParaRPr>
          </a:p>
        </p:txBody>
      </p:sp>
      <p:sp>
        <p:nvSpPr>
          <p:cNvPr id="9" name="AutoShape 2" descr="Картинки по запросу &quot;INTERNET&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0" name="Picture 2" descr="C:\Users\User\Desktop\1024px-Applications-internet.svg.pn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9537" y="3933055"/>
            <a:ext cx="3180321" cy="2924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82730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Рисунок 3"/>
          <p:cNvPicPr/>
          <p:nvPr/>
        </p:nvPicPr>
        <p:blipFill>
          <a:blip r:embed="rId2"/>
          <a:stretch>
            <a:fillRect/>
          </a:stretch>
        </p:blipFill>
        <p:spPr>
          <a:xfrm>
            <a:off x="460" y="21277"/>
            <a:ext cx="9143540" cy="6836723"/>
          </a:xfrm>
          <a:prstGeom prst="rect">
            <a:avLst/>
          </a:prstGeom>
        </p:spPr>
      </p:pic>
    </p:spTree>
    <p:extLst>
      <p:ext uri="{BB962C8B-B14F-4D97-AF65-F5344CB8AC3E}">
        <p14:creationId xmlns:p14="http://schemas.microsoft.com/office/powerpoint/2010/main" val="13996428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88640"/>
            <a:ext cx="8229600" cy="576064"/>
          </a:xfrm>
        </p:spPr>
        <p:txBody>
          <a:bodyPr>
            <a:normAutofit fontScale="90000"/>
          </a:bodyPr>
          <a:lstStyle/>
          <a:p>
            <a:r>
              <a:rPr lang="en-US" sz="2600" dirty="0" err="1" smtClean="0">
                <a:latin typeface="Times New Roman" pitchFamily="18" charset="0"/>
                <a:cs typeface="Times New Roman" pitchFamily="18" charset="0"/>
              </a:rPr>
              <a:t>Reja</a:t>
            </a:r>
            <a:r>
              <a:rPr lang="en-US" dirty="0" smtClean="0"/>
              <a:t>:</a:t>
            </a:r>
            <a:endParaRPr lang="ru-RU" dirty="0"/>
          </a:p>
        </p:txBody>
      </p:sp>
      <p:sp>
        <p:nvSpPr>
          <p:cNvPr id="3" name="Объект 2"/>
          <p:cNvSpPr>
            <a:spLocks noGrp="1"/>
          </p:cNvSpPr>
          <p:nvPr>
            <p:ph idx="1"/>
          </p:nvPr>
        </p:nvSpPr>
        <p:spPr>
          <a:xfrm>
            <a:off x="215008" y="836712"/>
            <a:ext cx="8928992" cy="1872208"/>
          </a:xfrm>
        </p:spPr>
        <p:txBody>
          <a:bodyPr>
            <a:normAutofit/>
          </a:bodyPr>
          <a:lstStyle/>
          <a:p>
            <a:pPr marL="457200" lvl="0" indent="-457200">
              <a:buFont typeface="+mj-lt"/>
              <a:buAutoNum type="arabicPeriod"/>
            </a:pPr>
            <a:r>
              <a:rPr lang="uz-Cyrl-UZ" sz="2400" dirty="0">
                <a:latin typeface="Times New Roman" pitchFamily="18" charset="0"/>
                <a:cs typeface="Times New Roman" pitchFamily="18" charset="0"/>
              </a:rPr>
              <a:t>Telekommunikatsiya tarmoq qurilmalarining tuzilish prinsiplari.</a:t>
            </a:r>
            <a:endParaRPr lang="ru-RU" sz="2400" dirty="0">
              <a:latin typeface="Times New Roman" pitchFamily="18" charset="0"/>
              <a:cs typeface="Times New Roman" pitchFamily="18" charset="0"/>
            </a:endParaRPr>
          </a:p>
          <a:p>
            <a:pPr marL="457200" lvl="0" indent="-457200">
              <a:buFont typeface="+mj-lt"/>
              <a:buAutoNum type="arabicPeriod"/>
            </a:pPr>
            <a:r>
              <a:rPr lang="uz-Cyrl-UZ" sz="2400" dirty="0">
                <a:latin typeface="Times New Roman" pitchFamily="18" charset="0"/>
                <a:cs typeface="Times New Roman" pitchFamily="18" charset="0"/>
              </a:rPr>
              <a:t>Tarmoq qurilmalarining dasturiy ta’minotini loyihalash va yaratish.</a:t>
            </a:r>
            <a:endParaRPr lang="ru-RU" sz="2400" dirty="0">
              <a:latin typeface="Times New Roman" pitchFamily="18" charset="0"/>
              <a:cs typeface="Times New Roman" pitchFamily="18" charset="0"/>
            </a:endParaRPr>
          </a:p>
        </p:txBody>
      </p:sp>
      <p:pic>
        <p:nvPicPr>
          <p:cNvPr id="5122" name="Picture 2" descr="Картинки по запросу &quot;INTERNET&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08920"/>
            <a:ext cx="9144000" cy="4149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2264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0943" y="10657"/>
            <a:ext cx="9103057" cy="6555641"/>
          </a:xfrm>
          <a:prstGeom prst="rect">
            <a:avLst/>
          </a:prstGeom>
        </p:spPr>
        <p:txBody>
          <a:bodyPr wrap="square">
            <a:spAutoFit/>
          </a:bodyPr>
          <a:lstStyle/>
          <a:p>
            <a:pPr lvl="2" algn="ctr"/>
            <a:r>
              <a:rPr lang="uz-Cyrl-UZ" sz="2100" b="1" dirty="0">
                <a:latin typeface="Times New Roman" pitchFamily="18" charset="0"/>
                <a:cs typeface="Times New Roman" pitchFamily="18" charset="0"/>
              </a:rPr>
              <a:t>Telekommunikatsiya tarmoq qurilmalarining tuzilish prinsiplari.</a:t>
            </a:r>
            <a:endParaRPr lang="ru-RU" sz="2100" dirty="0">
              <a:latin typeface="Times New Roman" pitchFamily="18" charset="0"/>
              <a:cs typeface="Times New Roman" pitchFamily="18" charset="0"/>
            </a:endParaRPr>
          </a:p>
          <a:p>
            <a:pPr algn="just"/>
            <a:r>
              <a:rPr lang="uz-Cyrl-UZ" sz="2100" dirty="0">
                <a:latin typeface="Times New Roman" pitchFamily="18" charset="0"/>
                <a:cs typeface="Times New Roman" pitchFamily="18" charset="0"/>
              </a:rPr>
              <a:t>Kommunikatsion qurilmalarning eng oddiysi bo‘lgan </a:t>
            </a:r>
            <a:r>
              <a:rPr lang="uz-Cyrl-UZ" sz="2100" i="1" dirty="0">
                <a:latin typeface="Times New Roman" pitchFamily="18" charset="0"/>
                <a:cs typeface="Times New Roman" pitchFamily="18" charset="0"/>
              </a:rPr>
              <a:t>tak­rorlovchi (repeater)</a:t>
            </a:r>
            <a:r>
              <a:rPr lang="uz-Cyrl-UZ" sz="2100" dirty="0">
                <a:latin typeface="Times New Roman" pitchFamily="18" charset="0"/>
                <a:cs typeface="Times New Roman" pitchFamily="18" charset="0"/>
              </a:rPr>
              <a:t>, lokal kompyuter tarmog‘ining uzunligini oshirish maqsadida tarmoqning har-xil segmenntlarini fizik bog‘lashni amalga oshi­radi.Takrorlovchi tarmoqning bir segmen­tidan kelgan signallarni, uning boshqa segmentlariga uzatib beradi. Takrorlovchi yordamida tarmoqning aloqa chizig‘i uzunligini oshirish, uzatilayotgan signalni sifatini yax­shilash bilan amalga oshiriladi, bunda signalning quvvati, am­plitudasi va shaklini tik­lash kabi vazifalar bajariladi. </a:t>
            </a:r>
            <a:endParaRPr lang="ru-RU" sz="2100" dirty="0">
              <a:latin typeface="Times New Roman" pitchFamily="18" charset="0"/>
              <a:cs typeface="Times New Roman" pitchFamily="18" charset="0"/>
            </a:endParaRPr>
          </a:p>
          <a:p>
            <a:pPr algn="just"/>
            <a:r>
              <a:rPr lang="uz-Cyrl-UZ" sz="2100" dirty="0">
                <a:latin typeface="Times New Roman" pitchFamily="18" charset="0"/>
                <a:cs typeface="Times New Roman" pitchFamily="18" charset="0"/>
              </a:rPr>
              <a:t>Portlari soni ikkitadan ko‘p bo‘lgan (6 ta, 8 ta yoki 16 ta) va bir nechta seg­mentlarni o‘zaro bog‘laydigan takrorlovchi – konsentrator</a:t>
            </a:r>
            <a:r>
              <a:rPr lang="uz-Cyrl-UZ" sz="2100" b="1" dirty="0">
                <a:latin typeface="Times New Roman" pitchFamily="18" charset="0"/>
                <a:cs typeface="Times New Roman" pitchFamily="18" charset="0"/>
              </a:rPr>
              <a:t> </a:t>
            </a:r>
            <a:r>
              <a:rPr lang="uz-Cyrl-UZ" sz="2100" dirty="0">
                <a:latin typeface="Times New Roman" pitchFamily="18" charset="0"/>
                <a:cs typeface="Times New Roman" pitchFamily="18" charset="0"/>
              </a:rPr>
              <a:t>yoki xab deb ata­ladi. Konsentratorlar lokal kompyuter tarmoqlarining barcha asosiy texno­logiyalari tarkibida qo‘llaniladi. Bu texnologiya­lar quyidagshilardir: se­tey - Ethernet, ArcNet, Token Ring, FDDI, Fast Ethernet, Gigabit Ethernet, l00VG-AnyLAN.</a:t>
            </a:r>
            <a:endParaRPr lang="ru-RU" sz="2100" dirty="0">
              <a:latin typeface="Times New Roman" pitchFamily="18" charset="0"/>
              <a:cs typeface="Times New Roman" pitchFamily="18" charset="0"/>
            </a:endParaRPr>
          </a:p>
          <a:p>
            <a:pPr algn="just"/>
            <a:r>
              <a:rPr lang="uz-Cyrl-UZ" sz="2100" dirty="0">
                <a:latin typeface="Times New Roman" pitchFamily="18" charset="0"/>
                <a:cs typeface="Times New Roman" pitchFamily="18" charset="0"/>
              </a:rPr>
              <a:t>Har qanday texnologiyaga tegishli bo‘lgan konsentratorlar­ning ishlashida o‘xshash tomonlari mavjud, bu ularning bir portlariga kelgan signallarni boshqa portlprida takrorlash­laridir. Biroq ular signallarni qaysi port­larida takrorlash­lariga qarab bir-birlaridan ajralib turadilar. Masalan Ethernet konsentratori (1.1-rasm, a) bir portiga kelgan signal­larni o‘zining boshqa barcha portlarida takrorlab beradi. Token Ring konsentra­tori (1.1- rasm, b) esa bir portiga kelgan sig­nalni o‘zining halqa bo‘yicha keyin ulangan kompyuteriga bora­digan portidagina takrorlab beradi.</a:t>
            </a:r>
            <a:endParaRPr lang="ru-RU" sz="2100" dirty="0">
              <a:latin typeface="Times New Roman" pitchFamily="18" charset="0"/>
              <a:cs typeface="Times New Roman" pitchFamily="18" charset="0"/>
            </a:endParaRPr>
          </a:p>
        </p:txBody>
      </p:sp>
    </p:spTree>
    <p:extLst>
      <p:ext uri="{BB962C8B-B14F-4D97-AF65-F5344CB8AC3E}">
        <p14:creationId xmlns:p14="http://schemas.microsoft.com/office/powerpoint/2010/main" val="1431208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descr="Описание: h1d15"/>
          <p:cNvPicPr/>
          <p:nvPr/>
        </p:nvPicPr>
        <p:blipFill>
          <a:blip r:embed="rId2"/>
          <a:srcRect/>
          <a:stretch>
            <a:fillRect/>
          </a:stretch>
        </p:blipFill>
        <p:spPr bwMode="auto">
          <a:xfrm>
            <a:off x="395536" y="116632"/>
            <a:ext cx="8568952" cy="2695575"/>
          </a:xfrm>
          <a:prstGeom prst="rect">
            <a:avLst/>
          </a:prstGeom>
          <a:noFill/>
          <a:ln w="9525">
            <a:noFill/>
            <a:miter lim="800000"/>
            <a:headEnd/>
            <a:tailEnd/>
          </a:ln>
        </p:spPr>
      </p:pic>
      <p:sp>
        <p:nvSpPr>
          <p:cNvPr id="5" name="Прямоугольник 4"/>
          <p:cNvSpPr/>
          <p:nvPr/>
        </p:nvSpPr>
        <p:spPr>
          <a:xfrm>
            <a:off x="1331640" y="2754405"/>
            <a:ext cx="6120680" cy="400110"/>
          </a:xfrm>
          <a:prstGeom prst="rect">
            <a:avLst/>
          </a:prstGeom>
        </p:spPr>
        <p:txBody>
          <a:bodyPr wrap="square">
            <a:spAutoFit/>
          </a:bodyPr>
          <a:lstStyle/>
          <a:p>
            <a:pPr algn="ctr"/>
            <a:r>
              <a:rPr lang="uz-Cyrl-UZ" sz="2000" dirty="0">
                <a:latin typeface="Times New Roman" pitchFamily="18" charset="0"/>
                <a:cs typeface="Times New Roman" pitchFamily="18" charset="0"/>
              </a:rPr>
              <a:t>Rasm 1.1.</a:t>
            </a:r>
            <a:r>
              <a:rPr lang="uz-Cyrl-UZ" sz="2000" b="1" dirty="0">
                <a:latin typeface="Times New Roman" pitchFamily="18" charset="0"/>
                <a:cs typeface="Times New Roman" pitchFamily="18" charset="0"/>
              </a:rPr>
              <a:t> </a:t>
            </a:r>
            <a:r>
              <a:rPr lang="uz-Cyrl-UZ" sz="2000" dirty="0">
                <a:latin typeface="Times New Roman" pitchFamily="18" charset="0"/>
                <a:cs typeface="Times New Roman" pitchFamily="18" charset="0"/>
              </a:rPr>
              <a:t>Har-xil texnologiyalarning konsentratorlari</a:t>
            </a:r>
            <a:endParaRPr lang="ru-RU" sz="2000" dirty="0">
              <a:latin typeface="Times New Roman" pitchFamily="18" charset="0"/>
              <a:cs typeface="Times New Roman" pitchFamily="18" charset="0"/>
            </a:endParaRPr>
          </a:p>
        </p:txBody>
      </p:sp>
      <p:sp>
        <p:nvSpPr>
          <p:cNvPr id="6" name="Прямоугольник 5"/>
          <p:cNvSpPr/>
          <p:nvPr/>
        </p:nvSpPr>
        <p:spPr>
          <a:xfrm>
            <a:off x="132853" y="3284984"/>
            <a:ext cx="8856984" cy="3000821"/>
          </a:xfrm>
          <a:prstGeom prst="rect">
            <a:avLst/>
          </a:prstGeom>
        </p:spPr>
        <p:txBody>
          <a:bodyPr wrap="square">
            <a:spAutoFit/>
          </a:bodyPr>
          <a:lstStyle/>
          <a:p>
            <a:pPr algn="just"/>
            <a:r>
              <a:rPr lang="en-US" sz="2100" dirty="0" smtClean="0">
                <a:latin typeface="Times New Roman" pitchFamily="18" charset="0"/>
                <a:cs typeface="Times New Roman" pitchFamily="18" charset="0"/>
              </a:rPr>
              <a:t>	</a:t>
            </a:r>
            <a:r>
              <a:rPr lang="uz-Cyrl-UZ" sz="2100" dirty="0" smtClean="0">
                <a:latin typeface="Times New Roman" pitchFamily="18" charset="0"/>
                <a:cs typeface="Times New Roman" pitchFamily="18" charset="0"/>
              </a:rPr>
              <a:t>Konsentratorlar </a:t>
            </a:r>
            <a:r>
              <a:rPr lang="uz-Cyrl-UZ" sz="2100" dirty="0">
                <a:latin typeface="Times New Roman" pitchFamily="18" charset="0"/>
                <a:cs typeface="Times New Roman" pitchFamily="18" charset="0"/>
              </a:rPr>
              <a:t>har doim tarmoqning fizik topologiyasini o‘zgartiradi, ammo uning mantiqiy topologiyasi esa o‘zgarmay qolaveradi.</a:t>
            </a:r>
            <a:endParaRPr lang="ru-RU" sz="2100" dirty="0">
              <a:latin typeface="Times New Roman" pitchFamily="18" charset="0"/>
              <a:cs typeface="Times New Roman" pitchFamily="18" charset="0"/>
            </a:endParaRPr>
          </a:p>
          <a:p>
            <a:pPr algn="just"/>
            <a:r>
              <a:rPr lang="uz-Cyrl-UZ" sz="2100" dirty="0">
                <a:latin typeface="Times New Roman" pitchFamily="18" charset="0"/>
                <a:cs typeface="Times New Roman" pitchFamily="18" charset="0"/>
              </a:rPr>
              <a:t>Fizik topologiya deganda, kabellarning bo‘laklari yordamida hosil qilingagan bog‘lanishlar shakli (konfiguratsiyasi), mantiqiy topologiya de­ganda esa tarmoqda mavjud kompyuter­lar orasidagi axborotlar oqimi yo‘llariningning shakli (kon­figuratsiyasi) tushuniladi.</a:t>
            </a:r>
            <a:endParaRPr lang="ru-RU" sz="2100" dirty="0">
              <a:latin typeface="Times New Roman" pitchFamily="18" charset="0"/>
              <a:cs typeface="Times New Roman" pitchFamily="18" charset="0"/>
            </a:endParaRPr>
          </a:p>
          <a:p>
            <a:pPr algn="just"/>
            <a:r>
              <a:rPr lang="en-US" sz="2100" dirty="0" smtClean="0">
                <a:latin typeface="Times New Roman" pitchFamily="18" charset="0"/>
                <a:cs typeface="Times New Roman" pitchFamily="18" charset="0"/>
              </a:rPr>
              <a:t>	</a:t>
            </a:r>
            <a:r>
              <a:rPr lang="uz-Cyrl-UZ" sz="2100" dirty="0" smtClean="0">
                <a:latin typeface="Times New Roman" pitchFamily="18" charset="0"/>
                <a:cs typeface="Times New Roman" pitchFamily="18" charset="0"/>
              </a:rPr>
              <a:t>Tarmoqlarni </a:t>
            </a:r>
            <a:r>
              <a:rPr lang="uz-Cyrl-UZ" sz="2100" dirty="0">
                <a:latin typeface="Times New Roman" pitchFamily="18" charset="0"/>
                <a:cs typeface="Times New Roman" pitchFamily="18" charset="0"/>
              </a:rPr>
              <a:t>konsentratorlar yordamida fizik strukturalash, tarmoqlarning uzunligini (yoki diametrini) oshirish imkoni bilan birga, ularning ishonchliligini ham oshirish imkonini ham beradi. </a:t>
            </a:r>
            <a:endParaRPr lang="ru-RU" sz="2100" dirty="0">
              <a:latin typeface="Times New Roman" pitchFamily="18" charset="0"/>
              <a:cs typeface="Times New Roman" pitchFamily="18" charset="0"/>
            </a:endParaRPr>
          </a:p>
        </p:txBody>
      </p:sp>
    </p:spTree>
    <p:extLst>
      <p:ext uri="{BB962C8B-B14F-4D97-AF65-F5344CB8AC3E}">
        <p14:creationId xmlns:p14="http://schemas.microsoft.com/office/powerpoint/2010/main" val="3972677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3" y="8636"/>
            <a:ext cx="8981905" cy="6555641"/>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Tarmoqni </a:t>
            </a:r>
            <a:r>
              <a:rPr lang="uz-Cyrl-UZ" sz="2000" dirty="0">
                <a:latin typeface="Times New Roman" pitchFamily="18" charset="0"/>
                <a:cs typeface="Times New Roman" pitchFamily="18" charset="0"/>
              </a:rPr>
              <a:t>fizik strukturalash ko‘pgina jihatlardan foydali bo‘lsada , o‘rtacha va katta o‘lchamlardagi tarmoqlarni qurishni esa mantiqiy strukturalashsiz</a:t>
            </a:r>
            <a:r>
              <a:rPr lang="uz-Cyrl-UZ" sz="2000" b="1" dirty="0">
                <a:latin typeface="Times New Roman" pitchFamily="18" charset="0"/>
                <a:cs typeface="Times New Roman" pitchFamily="18" charset="0"/>
              </a:rPr>
              <a:t> </a:t>
            </a:r>
            <a:r>
              <a:rPr lang="uz-Cyrl-UZ" sz="2000" dirty="0">
                <a:latin typeface="Times New Roman" pitchFamily="18" charset="0"/>
                <a:cs typeface="Times New Roman" pitchFamily="18" charset="0"/>
              </a:rPr>
              <a:t>amalga oshirib bo‘lmaydi. Ne­gaki tarmoqning har-xil segmentlari orasida uzatilayotgan tra­fikni taqsimlash  muammosini, fizik struktura­lash yordamida hal qilish mumkin emas. Katta tarmoqlarda axborotlar oqimining bir tekis bo‘lmasligi tabiiy holdir. Katta tarmoq ko‘pgina ishchi guruxlarining, bo‘limlarning, korxona filial­larining va boshqa administ­rativ tuzilmalarining nisbatan kichikroq tarmoq osti tarmoqlaridan (sub­net) iborat bo‘ladi.</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Biror-bir </a:t>
            </a:r>
            <a:r>
              <a:rPr lang="uz-Cyrl-UZ" sz="2000" dirty="0">
                <a:latin typeface="Times New Roman" pitchFamily="18" charset="0"/>
                <a:cs typeface="Times New Roman" pitchFamily="18" charset="0"/>
              </a:rPr>
              <a:t>segment kompyuterlari uchun yuborilgan ma’lu­motlarni, ya’ni </a:t>
            </a:r>
            <a:r>
              <a:rPr lang="uz-Cyrl-UZ" sz="2000" i="1" dirty="0">
                <a:latin typeface="Times New Roman" pitchFamily="18" charset="0"/>
                <a:cs typeface="Times New Roman" pitchFamily="18" charset="0"/>
              </a:rPr>
              <a:t>trafikni,</a:t>
            </a:r>
            <a:r>
              <a:rPr lang="uz-Cyrl-UZ" sz="2000" dirty="0">
                <a:latin typeface="Times New Roman" pitchFamily="18" charset="0"/>
                <a:cs typeface="Times New Roman" pitchFamily="18" charset="0"/>
              </a:rPr>
              <a:t> faqatgina shu segment chegarasida­gina tarqatish  (uzatish) – tra­fikni </a:t>
            </a:r>
            <a:r>
              <a:rPr lang="uz-Cyrl-UZ" sz="2000" i="1" dirty="0">
                <a:latin typeface="Times New Roman" pitchFamily="18" charset="0"/>
                <a:cs typeface="Times New Roman" pitchFamily="18" charset="0"/>
              </a:rPr>
              <a:t>lokalizatsiyalash</a:t>
            </a:r>
            <a:r>
              <a:rPr lang="uz-Cyrl-UZ" sz="2000" dirty="0">
                <a:latin typeface="Times New Roman" pitchFamily="18" charset="0"/>
                <a:cs typeface="Times New Roman" pitchFamily="18" charset="0"/>
              </a:rPr>
              <a:t> deb ata­ladi. Tarmoqni </a:t>
            </a:r>
            <a:r>
              <a:rPr lang="uz-Cyrl-UZ" sz="2000" i="1" dirty="0">
                <a:latin typeface="Times New Roman" pitchFamily="18" charset="0"/>
                <a:cs typeface="Times New Roman" pitchFamily="18" charset="0"/>
              </a:rPr>
              <a:t>mantiqiy strukturalash</a:t>
            </a:r>
            <a:r>
              <a:rPr lang="uz-Cyrl-UZ" sz="2000" dirty="0">
                <a:latin typeface="Times New Roman" pitchFamily="18" charset="0"/>
                <a:cs typeface="Times New Roman" pitchFamily="18" charset="0"/>
              </a:rPr>
              <a:t> de­ganda esa – tarmoqni lokalizatsiyalangan trafikli segmentlarga ajratish (bo‘lish) tushuniladi.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Tarmoqni mantiqiy strukturalash uchun quyidagi kommunika­tsion qurilmalar ishlatiladi: ko‘priklar kommutatorlar, mar­shrutizatorlar va shlyuzlar.</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a:t>
            </a:r>
            <a:r>
              <a:rPr lang="en-US" sz="2000" i="1" dirty="0" smtClean="0">
                <a:latin typeface="Times New Roman" pitchFamily="18" charset="0"/>
                <a:cs typeface="Times New Roman" pitchFamily="18" charset="0"/>
              </a:rPr>
              <a:t>	</a:t>
            </a:r>
            <a:r>
              <a:rPr lang="uz-Cyrl-UZ" sz="2000" i="1" dirty="0" smtClean="0">
                <a:latin typeface="Times New Roman" pitchFamily="18" charset="0"/>
                <a:cs typeface="Times New Roman" pitchFamily="18" charset="0"/>
              </a:rPr>
              <a:t>Ko‘prik</a:t>
            </a:r>
            <a:r>
              <a:rPr lang="uz-Cyrl-UZ" sz="2000" dirty="0" smtClean="0">
                <a:latin typeface="Times New Roman" pitchFamily="18" charset="0"/>
                <a:cs typeface="Times New Roman" pitchFamily="18" charset="0"/>
              </a:rPr>
              <a:t> </a:t>
            </a:r>
            <a:r>
              <a:rPr lang="uz-Cyrl-UZ" sz="2000" i="1" dirty="0">
                <a:latin typeface="Times New Roman" pitchFamily="18" charset="0"/>
                <a:cs typeface="Times New Roman" pitchFamily="18" charset="0"/>
              </a:rPr>
              <a:t>(bridge) – </a:t>
            </a:r>
            <a:r>
              <a:rPr lang="uz-Cyrl-UZ" sz="2000" dirty="0">
                <a:latin typeface="Times New Roman" pitchFamily="18" charset="0"/>
                <a:cs typeface="Times New Roman" pitchFamily="18" charset="0"/>
              </a:rPr>
              <a:t>tarmoqda barcha kompyuterlar tomonidan birgalikda foydalaniladigan ma’lumotlar uzatish muhitini mantiqiy segmentlarga ajratadi. Ko‘prik bir segmentdan boshqa segmentga axborotni uzatish kerak bo‘lsagina uzatadi, ya’ni ax­borotyuborilayotgan kompyuterning adresi o‘sha segmentga te­gishli bo‘lsagina axborot ko‘prikdan o‘tadi, aks holda esa o‘tmaydi. 1.2-rasmda yuqorida keltirilgan tarmoqdagi markaziy konsentrator o‘rniga ko‘prik qo‘yilib hosil qilingan tarmoq keltirilgan.</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01874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descr="Описание: h1d18"/>
          <p:cNvPicPr/>
          <p:nvPr/>
        </p:nvPicPr>
        <p:blipFill>
          <a:blip r:embed="rId2"/>
          <a:srcRect/>
          <a:stretch>
            <a:fillRect/>
          </a:stretch>
        </p:blipFill>
        <p:spPr bwMode="auto">
          <a:xfrm>
            <a:off x="107504" y="10520"/>
            <a:ext cx="8928992" cy="3058440"/>
          </a:xfrm>
          <a:prstGeom prst="rect">
            <a:avLst/>
          </a:prstGeom>
          <a:noFill/>
          <a:ln w="9525">
            <a:noFill/>
            <a:miter lim="800000"/>
            <a:headEnd/>
            <a:tailEnd/>
          </a:ln>
        </p:spPr>
      </p:pic>
      <p:sp>
        <p:nvSpPr>
          <p:cNvPr id="5" name="Прямоугольник 4"/>
          <p:cNvSpPr/>
          <p:nvPr/>
        </p:nvSpPr>
        <p:spPr>
          <a:xfrm>
            <a:off x="683568" y="3105835"/>
            <a:ext cx="7920880" cy="400110"/>
          </a:xfrm>
          <a:prstGeom prst="rect">
            <a:avLst/>
          </a:prstGeom>
        </p:spPr>
        <p:txBody>
          <a:bodyPr wrap="square">
            <a:spAutoFit/>
          </a:bodyPr>
          <a:lstStyle/>
          <a:p>
            <a:pPr algn="ctr"/>
            <a:r>
              <a:rPr lang="uz-Cyrl-UZ" sz="2000" dirty="0">
                <a:latin typeface="Times New Roman" pitchFamily="18" charset="0"/>
                <a:cs typeface="Times New Roman" pitchFamily="18" charset="0"/>
              </a:rPr>
              <a:t>Rasm 1.2. Ko‘prik yordamida qurilgan tarmoqning mantiqiy strukturasi</a:t>
            </a:r>
            <a:endParaRPr lang="ru-RU" sz="2000" dirty="0">
              <a:latin typeface="Times New Roman" pitchFamily="18" charset="0"/>
              <a:cs typeface="Times New Roman" pitchFamily="18" charset="0"/>
            </a:endParaRPr>
          </a:p>
        </p:txBody>
      </p:sp>
      <p:sp>
        <p:nvSpPr>
          <p:cNvPr id="6" name="Прямоугольник 5"/>
          <p:cNvSpPr/>
          <p:nvPr/>
        </p:nvSpPr>
        <p:spPr>
          <a:xfrm>
            <a:off x="179512" y="3645024"/>
            <a:ext cx="8928992" cy="3170099"/>
          </a:xfrm>
          <a:prstGeom prst="rect">
            <a:avLst/>
          </a:prstGeom>
        </p:spPr>
        <p:txBody>
          <a:bodyPr wrap="square">
            <a:spAutoFit/>
          </a:bodyPr>
          <a:lstStyle/>
          <a:p>
            <a:pPr algn="just"/>
            <a:r>
              <a:rPr lang="en-US" sz="2000" i="1" dirty="0" smtClean="0">
                <a:latin typeface="Times New Roman" pitchFamily="18" charset="0"/>
                <a:cs typeface="Times New Roman" pitchFamily="18" charset="0"/>
              </a:rPr>
              <a:t>	</a:t>
            </a:r>
            <a:r>
              <a:rPr lang="uz-Cyrl-UZ" sz="2000" i="1" dirty="0" smtClean="0">
                <a:latin typeface="Times New Roman" pitchFamily="18" charset="0"/>
                <a:cs typeface="Times New Roman" pitchFamily="18" charset="0"/>
              </a:rPr>
              <a:t>Kommutator </a:t>
            </a:r>
            <a:r>
              <a:rPr lang="uz-Cyrl-UZ" sz="2000" i="1" dirty="0">
                <a:latin typeface="Times New Roman" pitchFamily="18" charset="0"/>
                <a:cs typeface="Times New Roman" pitchFamily="18" charset="0"/>
              </a:rPr>
              <a:t>(switch, switching hub)-</a:t>
            </a:r>
            <a:r>
              <a:rPr lang="uz-Cyrl-UZ" sz="2000" dirty="0">
                <a:latin typeface="Times New Roman" pitchFamily="18" charset="0"/>
                <a:cs typeface="Times New Roman" pitchFamily="18" charset="0"/>
              </a:rPr>
              <a:t> ma’lumotlarni (kadr­larni) ishlash tamoili bo‘yicha ko‘prikdan farq qilmaydi. Kom­mutatorning ko‘prikdan farqli joyi shuki, u o‘ziga xos kommu­nikatsion multiprotsessor bo‘lib, uning har bir porti ko‘prik singari ma’lumotlarni ishlash algoritmi aso­sida mustaqil ishlaydigan maxsuslashtirilgan protsessorlar bilan ta’min­langan</a:t>
            </a:r>
            <a:r>
              <a:rPr lang="uz-Cyrl-UZ" sz="2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Kommutator </a:t>
            </a:r>
            <a:r>
              <a:rPr lang="uz-Cyrl-UZ" sz="2000" dirty="0">
                <a:latin typeface="Times New Roman" pitchFamily="18" charset="0"/>
                <a:cs typeface="Times New Roman" pitchFamily="18" charset="0"/>
              </a:rPr>
              <a:t>tomonidan kadrlarni parallel uzatish</a:t>
            </a:r>
            <a:r>
              <a:rPr lang="uz-Cyrl-UZ" sz="2000" dirty="0" smtClean="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a:p>
            <a:pPr algn="just"/>
            <a:r>
              <a:rPr lang="en-US" sz="2000" i="1" dirty="0" smtClean="0">
                <a:latin typeface="Times New Roman" pitchFamily="18" charset="0"/>
                <a:cs typeface="Times New Roman" pitchFamily="18" charset="0"/>
              </a:rPr>
              <a:t>	</a:t>
            </a:r>
            <a:r>
              <a:rPr lang="uz-Cyrl-UZ" sz="2000" i="1" dirty="0" smtClean="0">
                <a:latin typeface="Times New Roman" pitchFamily="18" charset="0"/>
                <a:cs typeface="Times New Roman" pitchFamily="18" charset="0"/>
              </a:rPr>
              <a:t>Marshrutizator </a:t>
            </a:r>
            <a:r>
              <a:rPr lang="uz-Cyrl-UZ" sz="2000" i="1" dirty="0">
                <a:latin typeface="Times New Roman" pitchFamily="18" charset="0"/>
                <a:cs typeface="Times New Roman" pitchFamily="18" charset="0"/>
              </a:rPr>
              <a:t>(router)- </a:t>
            </a:r>
            <a:r>
              <a:rPr lang="uz-Cyrl-UZ" sz="2000" dirty="0">
                <a:latin typeface="Times New Roman" pitchFamily="18" charset="0"/>
                <a:cs typeface="Times New Roman" pitchFamily="18" charset="0"/>
              </a:rPr>
              <a:t>bu qurilma katta tarmoqlar tarki­bidagi tarmoq osti tarmoqlari</a:t>
            </a:r>
            <a:r>
              <a:rPr lang="uz-Cyrl-UZ" sz="2000" i="1" dirty="0">
                <a:latin typeface="Times New Roman" pitchFamily="18" charset="0"/>
                <a:cs typeface="Times New Roman" pitchFamily="18" charset="0"/>
              </a:rPr>
              <a:t> (subnet)</a:t>
            </a:r>
            <a:r>
              <a:rPr lang="uz-Cyrl-UZ" sz="2000" dirty="0">
                <a:latin typeface="Times New Roman" pitchFamily="18" charset="0"/>
                <a:cs typeface="Times New Roman" pitchFamily="18" charset="0"/>
              </a:rPr>
              <a:t> ichida va ular orasida uzatilayotgan axborotni, ko‘priklarga nisbatan yana ham ishonchliroq himoya qila oladi. Negaki mar­shrutizatorlar tar­kibiy raqamli adreslar asosida tarmoqni mantiqiy seg­ment­larga ajratadi. </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47316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7689" y="-9056"/>
            <a:ext cx="9144000" cy="6863417"/>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Bu </a:t>
            </a:r>
            <a:r>
              <a:rPr lang="uz-Cyrl-UZ" sz="2000" dirty="0">
                <a:latin typeface="Times New Roman" pitchFamily="18" charset="0"/>
                <a:cs typeface="Times New Roman" pitchFamily="18" charset="0"/>
              </a:rPr>
              <a:t>adreslarda tarmoqning nomeri degan qismi bo‘ladi. Adresining ana shu qismi bir-xil bo‘lgan kompyuter­lar, bir tarmoq osti tarmoqqa tegishli bo‘ladi. Bundan tashqari marshrutizator quyidagi vazifa­larni bajarishi mumkin:</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 har-xil texnologiyali tarmoq osti tarmoqlarni bir tarmoqqa birlashti­rish, masalan Ethtrnet va X.25;</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 axborotlarni uzatishda nisbatan qisqa yo‘llarni – marshrut­larni tanlash.</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Shlyuz (gateway) – bu qurilmalarni ishlatishdan asosiy maqsad sistemali va amaliy dasturiy ta’minoti turlicha bo‘lgan tarmoq osti tarmoqlarni, bir tarmoqqa birlashtirish hisoblanadi.</a:t>
            </a:r>
            <a:endParaRPr lang="ru-RU" sz="2000" dirty="0">
              <a:latin typeface="Times New Roman" pitchFamily="18" charset="0"/>
              <a:cs typeface="Times New Roman" pitchFamily="18" charset="0"/>
            </a:endParaRPr>
          </a:p>
          <a:p>
            <a:pPr lvl="0" algn="ctr"/>
            <a:r>
              <a:rPr lang="uz-Cyrl-UZ" sz="2000" b="1" dirty="0">
                <a:latin typeface="Times New Roman" pitchFamily="18" charset="0"/>
                <a:cs typeface="Times New Roman" pitchFamily="18" charset="0"/>
              </a:rPr>
              <a:t>Tarmoq qurilmalarining dasturiy ta’minotini loyihalash va yaratish</a:t>
            </a:r>
            <a:r>
              <a:rPr lang="uz-Cyrl-UZ" sz="2000" b="1" dirty="0" smtClean="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Java </a:t>
            </a:r>
            <a:r>
              <a:rPr lang="uz-Cyrl-UZ" sz="2000" dirty="0">
                <a:latin typeface="Times New Roman" pitchFamily="18" charset="0"/>
                <a:cs typeface="Times New Roman" pitchFamily="18" charset="0"/>
              </a:rPr>
              <a:t>tarmoqda o‘zaro aloqada ishlaydigan klient/server ilovalarini yaratish imkoniyatini ta’minlash uchun tarmoqda dasturlash tili sifatida ishlab chiqilgan. Java tarmoq resurslariga tezlik bilan ruxsat olish imkonini beruvchi tarmoq klasslarining keng kutubxonasini ta’minlaydi.</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Java </a:t>
            </a:r>
            <a:r>
              <a:rPr lang="uz-Cyrl-UZ" sz="2000" dirty="0">
                <a:latin typeface="Times New Roman" pitchFamily="18" charset="0"/>
                <a:cs typeface="Times New Roman" pitchFamily="18" charset="0"/>
              </a:rPr>
              <a:t>ning asosiy tarmoq imkoniyatlari java.net paketining klass va interfeyslarida amalga oshiriladi va ular vositasida Java ilovalarga ulanishni ma’lumotlar oqimi sifatida ko‘rish imkonini beruvchi oqimli o‘zaro aloqani ta’minlaydi. java.net paketining klass va interfeyslari, shuningdek, Internet orqali audio va video ma’lumotlarni uzatish uchun qo‘llaniladigan axborotlarning alohida paketlarini uzatish asosida kommunikatsiyalarni taqdim etadi. Ushbu mavzuda soketlarni yaratish va boshqarish, shuningdek, ilovalarning o‘zaro aloqasini paket va ma’lumotlar oqimlarini uzatish asosida tashkillashtirish metodlari ko‘rib chiqiladi.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040178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8636"/>
            <a:ext cx="9144000" cy="6863417"/>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Tarmoqni </a:t>
            </a:r>
            <a:r>
              <a:rPr lang="uz-Cyrl-UZ" sz="2000" dirty="0">
                <a:latin typeface="Times New Roman" pitchFamily="18" charset="0"/>
                <a:cs typeface="Times New Roman" pitchFamily="18" charset="0"/>
              </a:rPr>
              <a:t>ko‘rib chiqish, tabiiyki, klient/server o‘zaro aloqasining ikki tomonlariga ham taalluqli bo‘ladi. Umumiy holatda klient ba’zi amallarni bajarishni so‘raydi, server esa so‘rovni bajaradi va klientga javobni shakllantiradi. So‘rov-javob umumiy modeli veb-brauzer va veb-serverlar o‘rtasida amalga oshiriladi. Foydalanuvchi brauzerda ko‘rish uchun saytni tanlaganida (klient ilovasi), so‘rovga muvofiq veb-serverga uzatiladi. Server odatda klientga muvofiq shakllantirilgan HTML-sahifalarni uzatish bilan javob beradi.</a:t>
            </a:r>
            <a:endParaRPr lang="ru-RU" sz="2000" dirty="0">
              <a:latin typeface="Times New Roman" pitchFamily="18" charset="0"/>
              <a:cs typeface="Times New Roman" pitchFamily="18" charset="0"/>
            </a:endParaRPr>
          </a:p>
          <a:p>
            <a:pPr algn="ctr"/>
            <a:r>
              <a:rPr lang="uz-Cyrl-UZ" sz="2000" b="1" dirty="0">
                <a:latin typeface="Times New Roman" pitchFamily="18" charset="0"/>
                <a:cs typeface="Times New Roman" pitchFamily="18" charset="0"/>
              </a:rPr>
              <a:t>Klient/server arxitekturasi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Lokal </a:t>
            </a:r>
            <a:r>
              <a:rPr lang="uz-Cyrl-UZ" sz="2000" dirty="0">
                <a:latin typeface="Times New Roman" pitchFamily="18" charset="0"/>
                <a:cs typeface="Times New Roman" pitchFamily="18" charset="0"/>
              </a:rPr>
              <a:t>yoki global tarmoqqa ulangan har qanday kompyuter va server xost deb nomlanadi (host – xo‘jayin.) Klient/server modeli ma’lumotlarni taqdim qilish bosqichidan qayta ishlash va saqlashni ajratishga mo‘ljallangan ilovalarni ishlab chiqish arxitekturasidan iborat bo‘ladi. Klient xostlari xizmat ko‘rsatishni so‘rovini yuboradi va server xosti ushbu so‘rovnomalarga xizmat ko‘rsatilishini ta’minlaydi. So‘rovnoma klientdan serverga tarmoq orqali uzatiladi, qayta ishlash serverda bajariladi va ushbu jarayon klientdan yopiq tarzda amalga oshiriladi. Bunda bitta server bir nechta klientlarga xizmat ko‘rsatishi mumkin.</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Server </a:t>
            </a:r>
            <a:r>
              <a:rPr lang="uz-Cyrl-UZ" sz="2000" dirty="0">
                <a:latin typeface="Times New Roman" pitchFamily="18" charset="0"/>
                <a:cs typeface="Times New Roman" pitchFamily="18" charset="0"/>
              </a:rPr>
              <a:t>va klient qurilmaning alohida komponentlari bo‘lishi shart emas, ular bir yoki bir necha turli xil mashinalarda ishlovchi dasturlarda amalga oshirilishi mumkin. Klient/server ilovasining server qismi bir necha foydalanuvchilar o‘rtasida taqsimlangan resurslarni boshqaradi va ular boshqa klientlar bilan serverga ruxsat oladilar. </a:t>
            </a:r>
            <a:r>
              <a:rPr lang="en-US" sz="2000" dirty="0">
                <a:latin typeface="Times New Roman" pitchFamily="18" charset="0"/>
                <a:cs typeface="Times New Roman" pitchFamily="18" charset="0"/>
              </a:rPr>
              <a:t>Agar port </a:t>
            </a:r>
            <a:r>
              <a:rPr lang="en-US" sz="2000" dirty="0" err="1">
                <a:latin typeface="Times New Roman" pitchFamily="18" charset="0"/>
                <a:cs typeface="Times New Roman" pitchFamily="18" charset="0"/>
              </a:rPr>
              <a:t>raqami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ko‘rsatilmagan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bo‘lsa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servis</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uchun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belgilangan</a:t>
            </a:r>
            <a:r>
              <a:rPr lang="en-US" sz="2000" dirty="0">
                <a:latin typeface="Times New Roman" pitchFamily="18" charset="0"/>
                <a:cs typeface="Times New Roman" pitchFamily="18" charset="0"/>
              </a:rPr>
              <a:t> port </a:t>
            </a:r>
            <a:r>
              <a:rPr lang="en-US" sz="2000" dirty="0" err="1">
                <a:latin typeface="Times New Roman" pitchFamily="18" charset="0"/>
                <a:cs typeface="Times New Roman" pitchFamily="18" charset="0"/>
              </a:rPr>
              <a:t>raqami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ishlatiladi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Ushbu</a:t>
            </a:r>
            <a:r>
              <a:rPr lang="en-US" sz="2000" dirty="0">
                <a:latin typeface="Times New Roman" pitchFamily="18" charset="0"/>
                <a:cs typeface="Times New Roman" pitchFamily="18" charset="0"/>
              </a:rPr>
              <a:t> port </a:t>
            </a:r>
            <a:r>
              <a:rPr lang="en-US" sz="2000" dirty="0" err="1">
                <a:latin typeface="Times New Roman" pitchFamily="18" charset="0"/>
                <a:cs typeface="Times New Roman" pitchFamily="18" charset="0"/>
              </a:rPr>
              <a:t>raqamlarining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namunalari</a:t>
            </a:r>
            <a:r>
              <a:rPr lang="en-US" sz="2000" dirty="0">
                <a:latin typeface="Times New Roman" pitchFamily="18" charset="0"/>
                <a:cs typeface="Times New Roman" pitchFamily="18" charset="0"/>
              </a:rPr>
              <a:t> 1-jadvalda </a:t>
            </a:r>
            <a:r>
              <a:rPr lang="en-US" sz="2000" dirty="0" err="1">
                <a:latin typeface="Times New Roman" pitchFamily="18" charset="0"/>
                <a:cs typeface="Times New Roman" pitchFamily="18" charset="0"/>
              </a:rPr>
              <a:t>keltirilgan</a:t>
            </a:r>
            <a:r>
              <a:rPr lang="en-US" sz="2000"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585619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3648" y="0"/>
            <a:ext cx="9089409" cy="7109639"/>
          </a:xfrm>
          <a:prstGeom prst="rect">
            <a:avLst/>
          </a:prstGeom>
        </p:spPr>
        <p:txBody>
          <a:bodyPr wrap="square">
            <a:spAutoFit/>
          </a:bodyPr>
          <a:lstStyle/>
          <a:p>
            <a:pPr algn="just"/>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Soketlar</a:t>
            </a:r>
            <a:r>
              <a:rPr lang="en-US" sz="1900" dirty="0" smtClean="0">
                <a:latin typeface="Times New Roman" pitchFamily="18" charset="0"/>
                <a:cs typeface="Times New Roman" pitchFamily="18" charset="0"/>
              </a:rPr>
              <a:t> </a:t>
            </a:r>
            <a:r>
              <a:rPr lang="en-US" sz="1900" dirty="0" err="1">
                <a:latin typeface="Times New Roman" pitchFamily="18" charset="0"/>
                <a:cs typeface="Times New Roman" pitchFamily="18" charset="0"/>
              </a:rPr>
              <a:t>Ilovalarning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klient</a:t>
            </a:r>
            <a:r>
              <a:rPr lang="en-US" sz="1900" dirty="0">
                <a:latin typeface="Times New Roman" pitchFamily="18" charset="0"/>
                <a:cs typeface="Times New Roman" pitchFamily="18" charset="0"/>
              </a:rPr>
              <a:t>/server </a:t>
            </a:r>
            <a:r>
              <a:rPr lang="en-US" sz="1900" dirty="0" err="1">
                <a:latin typeface="Times New Roman" pitchFamily="18" charset="0"/>
                <a:cs typeface="Times New Roman" pitchFamily="18" charset="0"/>
              </a:rPr>
              <a:t>arxitekturasida</a:t>
            </a:r>
            <a:r>
              <a:rPr lang="en-US" sz="1900" dirty="0">
                <a:latin typeface="Times New Roman" pitchFamily="18" charset="0"/>
                <a:cs typeface="Times New Roman" pitchFamily="18" charset="0"/>
              </a:rPr>
              <a:t> server </a:t>
            </a:r>
            <a:r>
              <a:rPr lang="en-US" sz="1900" dirty="0" err="1">
                <a:latin typeface="Times New Roman" pitchFamily="18" charset="0"/>
                <a:cs typeface="Times New Roman" pitchFamily="18" charset="0"/>
              </a:rPr>
              <a:t>xosti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ma’lumotlar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bazasi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so‘rovlarini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qayta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ishlash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kabi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xizmatlarni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ta’minlaydi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Bunda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klient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server </a:t>
            </a:r>
            <a:r>
              <a:rPr lang="en-US" sz="1900" dirty="0" err="1">
                <a:latin typeface="Times New Roman" pitchFamily="18" charset="0"/>
                <a:cs typeface="Times New Roman" pitchFamily="18" charset="0"/>
              </a:rPr>
              <a:t>o‘rtasidagi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o‘zaro</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aloqa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ishonchli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bo‘lishi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ma’lumotlar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yo‘qotilmasligi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shuningdek</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klientga</a:t>
            </a:r>
            <a:r>
              <a:rPr lang="en-US" sz="1900" dirty="0">
                <a:latin typeface="Times New Roman" pitchFamily="18" charset="0"/>
                <a:cs typeface="Times New Roman" pitchFamily="18" charset="0"/>
              </a:rPr>
              <a:t> server </a:t>
            </a:r>
            <a:r>
              <a:rPr lang="en-US" sz="1900" dirty="0" err="1">
                <a:latin typeface="Times New Roman" pitchFamily="18" charset="0"/>
                <a:cs typeface="Times New Roman" pitchFamily="18" charset="0"/>
              </a:rPr>
              <a:t>tomonidan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yuborilgan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ma’lumotlar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tartibli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yetkazilishi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lozim</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Ta’kidlanganidek</a:t>
            </a:r>
            <a:r>
              <a:rPr lang="en-US" sz="1900" dirty="0">
                <a:latin typeface="Times New Roman" pitchFamily="18" charset="0"/>
                <a:cs typeface="Times New Roman" pitchFamily="18" charset="0"/>
              </a:rPr>
              <a:t>, TCP </a:t>
            </a:r>
            <a:r>
              <a:rPr lang="en-US" sz="1900" dirty="0" err="1">
                <a:latin typeface="Times New Roman" pitchFamily="18" charset="0"/>
                <a:cs typeface="Times New Roman" pitchFamily="18" charset="0"/>
              </a:rPr>
              <a:t>klient</a:t>
            </a:r>
            <a:r>
              <a:rPr lang="en-US" sz="1900" dirty="0">
                <a:latin typeface="Times New Roman" pitchFamily="18" charset="0"/>
                <a:cs typeface="Times New Roman" pitchFamily="18" charset="0"/>
              </a:rPr>
              <a:t>/server </a:t>
            </a:r>
            <a:r>
              <a:rPr lang="en-US" sz="1900" dirty="0" err="1">
                <a:latin typeface="Times New Roman" pitchFamily="18" charset="0"/>
                <a:cs typeface="Times New Roman" pitchFamily="18" charset="0"/>
              </a:rPr>
              <a:t>ilovalari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uchun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nuqta-nuqta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ishonchli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ulanish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kanalini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ta’minlaydi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yordamida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klient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server </a:t>
            </a:r>
            <a:r>
              <a:rPr lang="en-US" sz="1900" dirty="0" err="1">
                <a:latin typeface="Times New Roman" pitchFamily="18" charset="0"/>
                <a:cs typeface="Times New Roman" pitchFamily="18" charset="0"/>
              </a:rPr>
              <a:t>dasturlari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ulanish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o‘ranatadilar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soketlarni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o‘zaro</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bog‘la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ydilar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Soketlar</a:t>
            </a:r>
            <a:r>
              <a:rPr lang="en-US" sz="1900" dirty="0">
                <a:latin typeface="Times New Roman" pitchFamily="18" charset="0"/>
                <a:cs typeface="Times New Roman" pitchFamily="18" charset="0"/>
              </a:rPr>
              <a:t> – </a:t>
            </a:r>
            <a:r>
              <a:rPr lang="en-US" sz="1900" dirty="0" err="1">
                <a:latin typeface="Times New Roman" pitchFamily="18" charset="0"/>
                <a:cs typeface="Times New Roman" pitchFamily="18" charset="0"/>
              </a:rPr>
              <a:t>jarayonlar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o‘rtasida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axborotlar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almashinuvini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ta’minlash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uchun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dasturiy</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interfeys</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nomidir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O‘zaro</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aloqada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bo‘lgan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jarayonlar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bitta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kompyuterda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shuningdek</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tarmoq</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orqali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ulangan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necha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xostlarda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bajarilishi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mumkin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Soketlar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tarmoq</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orqali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o‘rnatilgan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ilovalar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o‘rtasidagi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aloqa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kanalini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boshqarish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uchun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ishlatiladi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Har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bir</a:t>
            </a:r>
            <a:r>
              <a:rPr lang="en-US" sz="1900" dirty="0">
                <a:latin typeface="Times New Roman" pitchFamily="18" charset="0"/>
                <a:cs typeface="Times New Roman" pitchFamily="18" charset="0"/>
              </a:rPr>
              <a:t> TCP-</a:t>
            </a:r>
            <a:r>
              <a:rPr lang="en-US" sz="1900" dirty="0" err="1">
                <a:latin typeface="Times New Roman" pitchFamily="18" charset="0"/>
                <a:cs typeface="Times New Roman" pitchFamily="18" charset="0"/>
              </a:rPr>
              <a:t>ulanish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ikkita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oxirgi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nuqtalari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bilan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identifikatsiya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qilinishi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mumkin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Shu</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tarzda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klient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serverning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ko‘plab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ulanishlari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ta’minlanishi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mumkin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Soket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yaratilganidan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keyin</a:t>
            </a:r>
            <a:r>
              <a:rPr lang="en-US" sz="1900" dirty="0">
                <a:latin typeface="Times New Roman" pitchFamily="18" charset="0"/>
                <a:cs typeface="Times New Roman" pitchFamily="18" charset="0"/>
              </a:rPr>
              <a:t>, u </a:t>
            </a:r>
            <a:r>
              <a:rPr lang="en-US" sz="1900" dirty="0" err="1">
                <a:latin typeface="Times New Roman" pitchFamily="18" charset="0"/>
                <a:cs typeface="Times New Roman" pitchFamily="18" charset="0"/>
              </a:rPr>
              <a:t>orqali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klient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server </a:t>
            </a:r>
            <a:r>
              <a:rPr lang="en-US" sz="1900" dirty="0" err="1">
                <a:latin typeface="Times New Roman" pitchFamily="18" charset="0"/>
                <a:cs typeface="Times New Roman" pitchFamily="18" charset="0"/>
              </a:rPr>
              <a:t>o‘rtasidagi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keyingi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o‘zaro</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aloqa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bajariladi</a:t>
            </a:r>
            <a:r>
              <a:rPr lang="en-US" sz="1900" dirty="0">
                <a:latin typeface="Times New Roman" pitchFamily="18" charset="0"/>
                <a:cs typeface="Times New Roman" pitchFamily="18" charset="0"/>
              </a:rPr>
              <a:t>. C# da </a:t>
            </a:r>
            <a:r>
              <a:rPr lang="en-US" sz="1900" dirty="0" err="1">
                <a:latin typeface="Times New Roman" pitchFamily="18" charset="0"/>
                <a:cs typeface="Times New Roman" pitchFamily="18" charset="0"/>
              </a:rPr>
              <a:t>tarmoq</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soketlar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bilan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ishlash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Tarmoq</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orqali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ma’lumot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almashinuvida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soketlar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ishlatiladi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Bunda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ikkita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soket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yuboruvchining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oluvchining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soketlari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bo‘ladi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Soket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deganda</a:t>
            </a:r>
            <a:r>
              <a:rPr lang="en-US" sz="1900" dirty="0">
                <a:latin typeface="Times New Roman" pitchFamily="18" charset="0"/>
                <a:cs typeface="Times New Roman" pitchFamily="18" charset="0"/>
              </a:rPr>
              <a:t>, IP-</a:t>
            </a:r>
            <a:r>
              <a:rPr lang="en-US" sz="1900" dirty="0" err="1">
                <a:latin typeface="Times New Roman" pitchFamily="18" charset="0"/>
                <a:cs typeface="Times New Roman" pitchFamily="18" charset="0"/>
              </a:rPr>
              <a:t>manzil</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undagi</a:t>
            </a:r>
            <a:r>
              <a:rPr lang="en-US" sz="1900" dirty="0">
                <a:latin typeface="Times New Roman" pitchFamily="18" charset="0"/>
                <a:cs typeface="Times New Roman" pitchFamily="18" charset="0"/>
              </a:rPr>
              <a:t> port </a:t>
            </a:r>
            <a:r>
              <a:rPr lang="en-US" sz="1900" dirty="0" err="1">
                <a:latin typeface="Times New Roman" pitchFamily="18" charset="0"/>
                <a:cs typeface="Times New Roman" pitchFamily="18" charset="0"/>
              </a:rPr>
              <a:t>tushuniladi</a:t>
            </a:r>
            <a:r>
              <a:rPr lang="en-US" sz="1900" dirty="0">
                <a:latin typeface="Times New Roman" pitchFamily="18" charset="0"/>
                <a:cs typeface="Times New Roman" pitchFamily="18" charset="0"/>
              </a:rPr>
              <a:t>. IPv4 </a:t>
            </a:r>
            <a:r>
              <a:rPr lang="en-US" sz="1900" dirty="0" err="1">
                <a:latin typeface="Times New Roman" pitchFamily="18" charset="0"/>
                <a:cs typeface="Times New Roman" pitchFamily="18" charset="0"/>
              </a:rPr>
              <a:t>protokolidagi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manzil</a:t>
            </a:r>
            <a:r>
              <a:rPr lang="en-US" sz="1900" dirty="0">
                <a:latin typeface="Times New Roman" pitchFamily="18" charset="0"/>
                <a:cs typeface="Times New Roman" pitchFamily="18" charset="0"/>
              </a:rPr>
              <a:t> 4-oktetga </a:t>
            </a:r>
            <a:r>
              <a:rPr lang="en-US" sz="1900" dirty="0" err="1">
                <a:latin typeface="Times New Roman" pitchFamily="18" charset="0"/>
                <a:cs typeface="Times New Roman" pitchFamily="18" charset="0"/>
              </a:rPr>
              <a:t>bo‘lingan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biri</a:t>
            </a:r>
            <a:r>
              <a:rPr lang="en-US" sz="1900" dirty="0">
                <a:latin typeface="Times New Roman" pitchFamily="18" charset="0"/>
                <a:cs typeface="Times New Roman" pitchFamily="18" charset="0"/>
              </a:rPr>
              <a:t> 8-bit </a:t>
            </a:r>
            <a:r>
              <a:rPr lang="en-US" sz="1900" dirty="0" err="1">
                <a:latin typeface="Times New Roman" pitchFamily="18" charset="0"/>
                <a:cs typeface="Times New Roman" pitchFamily="18" charset="0"/>
              </a:rPr>
              <a:t>bo‘lgan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xammasi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bo‘lib</a:t>
            </a:r>
            <a:r>
              <a:rPr lang="en-US" sz="1900" dirty="0">
                <a:latin typeface="Times New Roman" pitchFamily="18" charset="0"/>
                <a:cs typeface="Times New Roman" pitchFamily="18" charset="0"/>
              </a:rPr>
              <a:t> 32 </a:t>
            </a:r>
            <a:r>
              <a:rPr lang="en-US" sz="1900" dirty="0" err="1">
                <a:latin typeface="Times New Roman" pitchFamily="18" charset="0"/>
                <a:cs typeface="Times New Roman" pitchFamily="18" charset="0"/>
              </a:rPr>
              <a:t>bitlik</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sondan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iborat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bo‘ladi</a:t>
            </a:r>
            <a:r>
              <a:rPr lang="en-US" sz="1900" dirty="0" smtClean="0">
                <a:latin typeface="Times New Roman" pitchFamily="18" charset="0"/>
                <a:cs typeface="Times New Roman" pitchFamily="18" charset="0"/>
              </a:rPr>
              <a:t>. </a:t>
            </a:r>
            <a:r>
              <a:rPr lang="uz-Cyrl-UZ" sz="1900" dirty="0">
                <a:latin typeface="Times New Roman" pitchFamily="18" charset="0"/>
                <a:cs typeface="Times New Roman" pitchFamily="18" charset="0"/>
              </a:rPr>
              <a:t>Tarmoqni dasturlashda soketlar.</a:t>
            </a:r>
            <a:r>
              <a:rPr lang="uz-Cyrl-UZ" sz="1900" b="1" dirty="0">
                <a:latin typeface="Times New Roman" pitchFamily="18" charset="0"/>
                <a:cs typeface="Times New Roman" pitchFamily="18" charset="0"/>
              </a:rPr>
              <a:t> </a:t>
            </a:r>
            <a:endParaRPr lang="en-US" sz="1900" b="1" dirty="0" smtClean="0">
              <a:latin typeface="Times New Roman" pitchFamily="18" charset="0"/>
              <a:cs typeface="Times New Roman" pitchFamily="18" charset="0"/>
            </a:endParaRPr>
          </a:p>
          <a:p>
            <a:pPr algn="just"/>
            <a:r>
              <a:rPr lang="en-US" sz="1900" b="1" dirty="0">
                <a:latin typeface="Times New Roman" pitchFamily="18" charset="0"/>
                <a:cs typeface="Times New Roman" pitchFamily="18" charset="0"/>
              </a:rPr>
              <a:t>	</a:t>
            </a:r>
            <a:r>
              <a:rPr lang="uz-Cyrl-UZ" sz="1900" dirty="0" smtClean="0">
                <a:latin typeface="Times New Roman" pitchFamily="18" charset="0"/>
                <a:cs typeface="Times New Roman" pitchFamily="18" charset="0"/>
              </a:rPr>
              <a:t>Tarmoqdagi </a:t>
            </a:r>
            <a:r>
              <a:rPr lang="uz-Cyrl-UZ" sz="1900" dirty="0">
                <a:latin typeface="Times New Roman" pitchFamily="18" charset="0"/>
                <a:cs typeface="Times New Roman" pitchFamily="18" charset="0"/>
              </a:rPr>
              <a:t>o‘zaro aloqaga ilovalarga tarmoqdagi ulanishlarni fayllar sifatida ko‘rish imkonini beruvchi soketlar tushunchasi asosida qaraladi va dastur, xuddi fayldek, soketdan o‘qishi va soketga yozishi mumkin bo‘ladi. Socket so‘zi o‘zbek tiliga tarjima qilinganida “in” ma’nosini bildiradi. Ushbu nom apparaturadagi in (raz’emlar) lardan kelib chiqqan. Soket ulanishning oxirgi nuqtasini aniqlovchi dasturiy konstruksiya (ob’ekt) dan iborat bo‘ladi.</a:t>
            </a:r>
            <a:endParaRPr lang="ru-RU" sz="1900" dirty="0">
              <a:latin typeface="Times New Roman" pitchFamily="18" charset="0"/>
              <a:cs typeface="Times New Roman" pitchFamily="18" charset="0"/>
            </a:endParaRPr>
          </a:p>
          <a:p>
            <a:pPr algn="just"/>
            <a:endParaRPr lang="ru-RU" sz="1900" dirty="0">
              <a:latin typeface="Times New Roman" pitchFamily="18" charset="0"/>
              <a:cs typeface="Times New Roman" pitchFamily="18" charset="0"/>
            </a:endParaRPr>
          </a:p>
        </p:txBody>
      </p:sp>
    </p:spTree>
    <p:extLst>
      <p:ext uri="{BB962C8B-B14F-4D97-AF65-F5344CB8AC3E}">
        <p14:creationId xmlns:p14="http://schemas.microsoft.com/office/powerpoint/2010/main" val="2904434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4771" y="24305"/>
            <a:ext cx="8928992" cy="6817251"/>
          </a:xfrm>
          <a:prstGeom prst="rect">
            <a:avLst/>
          </a:prstGeom>
        </p:spPr>
        <p:txBody>
          <a:bodyPr wrap="square">
            <a:spAutoFit/>
          </a:bodyPr>
          <a:lstStyle/>
          <a:p>
            <a:pPr algn="just"/>
            <a:r>
              <a:rPr lang="en-US" sz="1900" dirty="0" smtClean="0">
                <a:latin typeface="Times New Roman" pitchFamily="18" charset="0"/>
                <a:cs typeface="Times New Roman" pitchFamily="18" charset="0"/>
              </a:rPr>
              <a:t>	</a:t>
            </a:r>
            <a:r>
              <a:rPr lang="uz-Cyrl-UZ" sz="1900" dirty="0" smtClean="0">
                <a:latin typeface="Times New Roman" pitchFamily="18" charset="0"/>
                <a:cs typeface="Times New Roman" pitchFamily="18" charset="0"/>
              </a:rPr>
              <a:t>Dasturlarning </a:t>
            </a:r>
            <a:r>
              <a:rPr lang="uz-Cyrl-UZ" sz="1900" dirty="0">
                <a:latin typeface="Times New Roman" pitchFamily="18" charset="0"/>
                <a:cs typeface="Times New Roman" pitchFamily="18" charset="0"/>
              </a:rPr>
              <a:t>o‘zaro aloqasiga mo‘ljallangan ikki mexanizm mavjud – bu datagrammalar soketi bo‘lib, foydalanuvchi datagramma protokoli (User Datagram Protocol – UDP) dan ulanishni o‘rnatmasdan foydalanadi va uzatishni boshqarish protokoli/tarmoqlararo protokol (Transmission Control Protocol/Internet Protocol – TCP/IP) dan foydalanuvchi ulanishni o‘rnatuvchi soketlar.</a:t>
            </a:r>
            <a:endParaRPr lang="ru-RU" sz="1900" dirty="0">
              <a:latin typeface="Times New Roman" pitchFamily="18" charset="0"/>
              <a:cs typeface="Times New Roman" pitchFamily="18" charset="0"/>
            </a:endParaRPr>
          </a:p>
          <a:p>
            <a:pPr algn="just"/>
            <a:r>
              <a:rPr lang="uz-Cyrl-UZ" sz="1900" dirty="0">
                <a:latin typeface="Times New Roman" pitchFamily="18" charset="0"/>
                <a:cs typeface="Times New Roman" pitchFamily="18" charset="0"/>
              </a:rPr>
              <a:t>Datagramma – tarmoq bo‘ylab yuborilgan ma’lumotlar paketi bo‘lib, uning qabul qilinish vaqti va tarkibi kafolatlanmagan bo‘ladi. Shuningdek, paketlarning yetkazilish tartibi ham kafolatlanmaydi. UDP paketini qandaydir adres bo‘yicha uzatishda uning qabul qilinishi to‘g‘risida, shuningdek, ushbu adres bo‘yicha, umuman paketlarni qabul qiluvchi foydalanuvchining bo‘lishi ham kafolatlanmaydi</a:t>
            </a:r>
            <a:r>
              <a:rPr lang="uz-Cyrl-UZ" sz="1900" dirty="0" smtClean="0">
                <a:latin typeface="Times New Roman" pitchFamily="18" charset="0"/>
                <a:cs typeface="Times New Roman" pitchFamily="18" charset="0"/>
              </a:rPr>
              <a:t>.</a:t>
            </a:r>
            <a:r>
              <a:rPr lang="en-US" sz="1900" dirty="0" smtClean="0">
                <a:latin typeface="Times New Roman" pitchFamily="18" charset="0"/>
                <a:cs typeface="Times New Roman" pitchFamily="18" charset="0"/>
              </a:rPr>
              <a:t> </a:t>
            </a:r>
            <a:r>
              <a:rPr lang="uz-Cyrl-UZ" sz="1900" dirty="0" smtClean="0">
                <a:latin typeface="Times New Roman" pitchFamily="18" charset="0"/>
                <a:cs typeface="Times New Roman" pitchFamily="18" charset="0"/>
              </a:rPr>
              <a:t>Xuddi </a:t>
            </a:r>
            <a:r>
              <a:rPr lang="uz-Cyrl-UZ" sz="1900" dirty="0">
                <a:latin typeface="Times New Roman" pitchFamily="18" charset="0"/>
                <a:cs typeface="Times New Roman" pitchFamily="18" charset="0"/>
              </a:rPr>
              <a:t>shuningdek, datagramma qabul qilinganida, ularning tarmoq bo‘ylab yetib kelishida shikastlanmaganligi yoki uzatuvchining datagramma qabul qilinganligining tasdiqlanishini kutayotganligi to‘g‘risida kafolat bo‘lmaydi. UDP dan foydalanish paketlarning yo‘qolishi yoki dubllanishi (dublirovaniye) ga olib kelishi mumkin, bu esa xatolarni tekshirish va ma’lumotlarni uzatish ishonchliligini ta’minlash bilan bog‘liq bo‘lgan qo‘shimcha muammolarga sabab bo‘lishi mumkin. Agar foydalanuvchiga optimal unumdorlikka erishish zarur bo‘lsa va axborotning butunliligini tekshirish xarajatlarini qisqartirishga tayyor bo‘lsa, UDP paketlari juda qo‘l kelishi mumkin</a:t>
            </a:r>
            <a:r>
              <a:rPr lang="uz-Cyrl-UZ" sz="1900" dirty="0" smtClean="0">
                <a:latin typeface="Times New Roman" pitchFamily="18" charset="0"/>
                <a:cs typeface="Times New Roman" pitchFamily="18" charset="0"/>
              </a:rPr>
              <a:t>.</a:t>
            </a:r>
            <a:r>
              <a:rPr lang="en-US" sz="1900" dirty="0" smtClean="0">
                <a:latin typeface="Times New Roman" pitchFamily="18" charset="0"/>
                <a:cs typeface="Times New Roman" pitchFamily="18" charset="0"/>
              </a:rPr>
              <a:t> </a:t>
            </a:r>
            <a:r>
              <a:rPr lang="uz-Cyrl-UZ" sz="1900" dirty="0">
                <a:latin typeface="Times New Roman" pitchFamily="18" charset="0"/>
                <a:cs typeface="Times New Roman" pitchFamily="18" charset="0"/>
              </a:rPr>
              <a:t>Oqimli soketlardan foydalanishda dastur boshqa soket bilan aloqa o‘rnatadi, ma’lumotlar oqimi dasturlar orasidan oqib o‘tadi hamda oqim soketlari ulanish o‘rnatish asosida xizmat ko‘rsatishni ta’minlaydi. TCP/IP Internet tugunlari orasidagi nuqta-nuqta ikki yo‘nalishli ulanishlarni o‘rnatish asosidagi oqimli protokol bo‘lib, ushbu protokol bo‘yicha kompyuterlar o‘rtasidagi o‘zaro aloqa ma’lumotlarni ishonchli uzatishni amalga oshirishga mo‘ljallangan. </a:t>
            </a:r>
            <a:endParaRPr lang="ru-RU" sz="1900" dirty="0">
              <a:latin typeface="Times New Roman" pitchFamily="18" charset="0"/>
              <a:cs typeface="Times New Roman" pitchFamily="18" charset="0"/>
            </a:endParaRPr>
          </a:p>
        </p:txBody>
      </p:sp>
    </p:spTree>
    <p:extLst>
      <p:ext uri="{BB962C8B-B14F-4D97-AF65-F5344CB8AC3E}">
        <p14:creationId xmlns:p14="http://schemas.microsoft.com/office/powerpoint/2010/main" val="3745882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0"/>
            <a:ext cx="9036496" cy="6555641"/>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Uzatish </a:t>
            </a:r>
            <a:r>
              <a:rPr lang="uz-Cyrl-UZ" sz="2000" dirty="0">
                <a:latin typeface="Times New Roman" pitchFamily="18" charset="0"/>
                <a:cs typeface="Times New Roman" pitchFamily="18" charset="0"/>
              </a:rPr>
              <a:t>kanali bo‘ylab uzatilgan barcha ma’lumotlar uzatilgan tartibda qabul qilinadi. Datagramma soketlaridan farqli ravishda TCP/IP soketlari klient va server o‘rtasida yuqori ishonchlilikka ega bo‘lgan mustahkam ulanishlarni o‘rnatish imkonini beradi.</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Ilovalarning </a:t>
            </a:r>
            <a:r>
              <a:rPr lang="uz-Cyrl-UZ" sz="2000" dirty="0">
                <a:latin typeface="Times New Roman" pitchFamily="18" charset="0"/>
                <a:cs typeface="Times New Roman" pitchFamily="18" charset="0"/>
              </a:rPr>
              <a:t>klient/server arxitekturasida server xosti ma’lumotlar bazasi so‘rovlarini qayta ishlash kabi xizmatlarni ta’minlaydi. Bunda klient va server o‘rtasidagi o‘zaro aloqa ishonchli bo‘lishi, ma’lumotlar yo‘qotilmasligi, shuningdek, klientga server tomonidan yuborilgan ma’lumotlar tartibli yetkazilishi lozim.</a:t>
            </a:r>
            <a:endParaRPr lang="ru-RU" sz="2000" dirty="0">
              <a:latin typeface="Times New Roman" pitchFamily="18" charset="0"/>
              <a:cs typeface="Times New Roman" pitchFamily="18" charset="0"/>
            </a:endParaRPr>
          </a:p>
          <a:p>
            <a:pPr algn="just"/>
            <a:endParaRPr lang="en-US" sz="2000" b="1" dirty="0" smtClean="0">
              <a:latin typeface="Times New Roman" pitchFamily="18" charset="0"/>
              <a:cs typeface="Times New Roman" pitchFamily="18" charset="0"/>
            </a:endParaRPr>
          </a:p>
          <a:p>
            <a:pPr algn="ctr"/>
            <a:r>
              <a:rPr lang="uz-Cyrl-UZ" sz="2000" b="1" dirty="0">
                <a:latin typeface="Times New Roman" pitchFamily="18" charset="0"/>
                <a:cs typeface="Times New Roman" pitchFamily="18" charset="0"/>
              </a:rPr>
              <a:t>Oddiy klient-server munosabatlarini o‘rganish</a:t>
            </a:r>
            <a:endParaRPr lang="ru-RU" sz="2000" dirty="0">
              <a:latin typeface="Times New Roman" pitchFamily="18" charset="0"/>
              <a:cs typeface="Times New Roman" pitchFamily="18" charset="0"/>
            </a:endParaRPr>
          </a:p>
          <a:p>
            <a:pPr algn="just"/>
            <a:r>
              <a:rPr lang="uz-Cyrl-UZ"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Java </a:t>
            </a:r>
            <a:r>
              <a:rPr lang="uz-Cyrl-UZ" sz="2000" dirty="0">
                <a:latin typeface="Times New Roman" pitchFamily="18" charset="0"/>
                <a:cs typeface="Times New Roman" pitchFamily="18" charset="0"/>
              </a:rPr>
              <a:t>tarmoqda o‘zaro aloqada ishlaydigan klient/server ilovalarini yaratish imkoniyatini ta’minlash uchun tarmoqda dasturlash tili sifatida ishlab chiqilgan. Java tarmoq resurslariga tezlik bilan ruxsat olish imkonini beruvchi tarmoq klasslarining keng kutubxonasini ta’minlaydi. Java ning asosiy tarmoq imkoniyatlari java.net paketining klass va interfeyslarida amalga oshiriladi va ular vositasida Java ilovalarga ulanishni ma’lumotlar oqimi sifatida ko‘rish imkonini beruvchi oqimli o‘zaro aloqani ta’minlaydi. java.net paketining klass va interfeyslari, shuningdek, Internet orqali audio va video ma’lumotlarni uzatish uchun qo‘llaniladigan axborotlarning alohida paketlarini uzatish asosida kommunikatsiyalarni taqdim etadi. Ushbu bo‘limda soketlarni yaratish va boshqarish, shuningdek, ilovalarning o‘zaro aloqasini paket va ma’lumotlar oqimlarini uzatish asosida tashkillashtirish metodlari ko‘rib chiqiladi. </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564875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0"/>
            <a:ext cx="9103057" cy="6817251"/>
          </a:xfrm>
          <a:prstGeom prst="rect">
            <a:avLst/>
          </a:prstGeom>
        </p:spPr>
        <p:txBody>
          <a:bodyPr wrap="square">
            <a:spAutoFit/>
          </a:bodyPr>
          <a:lstStyle/>
          <a:p>
            <a:pPr algn="just"/>
            <a:r>
              <a:rPr lang="en-US" sz="1900" dirty="0" smtClean="0">
                <a:latin typeface="Times New Roman" pitchFamily="18" charset="0"/>
                <a:cs typeface="Times New Roman" pitchFamily="18" charset="0"/>
              </a:rPr>
              <a:t>	</a:t>
            </a:r>
            <a:r>
              <a:rPr lang="uz-Cyrl-UZ" sz="1900" dirty="0" smtClean="0">
                <a:latin typeface="Times New Roman" pitchFamily="18" charset="0"/>
                <a:cs typeface="Times New Roman" pitchFamily="18" charset="0"/>
              </a:rPr>
              <a:t>Tarmoqni </a:t>
            </a:r>
            <a:r>
              <a:rPr lang="uz-Cyrl-UZ" sz="1900" dirty="0">
                <a:latin typeface="Times New Roman" pitchFamily="18" charset="0"/>
                <a:cs typeface="Times New Roman" pitchFamily="18" charset="0"/>
              </a:rPr>
              <a:t>ko‘rib chiqish, tabiiyki, klient/server o‘zaro aloqasining ikki tomonlariga ham taalluqli bo‘ladi. Umumiy holatda klient ba’zi amallarni bajarishni so‘raydi, server esa so‘rovni bajaradi va klientga javobni shakllantiradi. </a:t>
            </a:r>
            <a:r>
              <a:rPr lang="en-US" sz="1900" dirty="0" err="1">
                <a:latin typeface="Times New Roman" pitchFamily="18" charset="0"/>
                <a:cs typeface="Times New Roman" pitchFamily="18" charset="0"/>
              </a:rPr>
              <a:t>So‘rov-javob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umumiy</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modeli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veb-brauzer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veb-serverlar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o‘rtasida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amalga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oshiriladi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Foydalanuvchi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brauzerda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ko‘rish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uchun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saytni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tanlaganida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klient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ilovasi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so‘rovga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muvofiq</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veb-serverga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uzatiladi</a:t>
            </a:r>
            <a:r>
              <a:rPr lang="en-US" sz="1900" dirty="0">
                <a:latin typeface="Times New Roman" pitchFamily="18" charset="0"/>
                <a:cs typeface="Times New Roman" pitchFamily="18" charset="0"/>
              </a:rPr>
              <a:t>. Server </a:t>
            </a:r>
            <a:r>
              <a:rPr lang="en-US" sz="1900" dirty="0" err="1">
                <a:latin typeface="Times New Roman" pitchFamily="18" charset="0"/>
                <a:cs typeface="Times New Roman" pitchFamily="18" charset="0"/>
              </a:rPr>
              <a:t>odatda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klientga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muvofiq</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shakllantirilgan</a:t>
            </a:r>
            <a:r>
              <a:rPr lang="en-US" sz="1900" dirty="0">
                <a:latin typeface="Times New Roman" pitchFamily="18" charset="0"/>
                <a:cs typeface="Times New Roman" pitchFamily="18" charset="0"/>
              </a:rPr>
              <a:t> HTML-</a:t>
            </a:r>
            <a:r>
              <a:rPr lang="en-US" sz="1900" dirty="0" err="1">
                <a:latin typeface="Times New Roman" pitchFamily="18" charset="0"/>
                <a:cs typeface="Times New Roman" pitchFamily="18" charset="0"/>
              </a:rPr>
              <a:t>sahifalarni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uzatish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bilan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javob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beradi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Tarmoqdagi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o‘zaro</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aloqaga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ilovalarga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tarmoqdagi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ulanishlarni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fayllar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sifatida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ko‘rish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imkonini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beruvchi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soketlar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tushunchasi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asosida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qaraladi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dastur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xuddi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fayldek</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soketdan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o‘qishi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soketga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yozishi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mumkin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bo‘ladi</a:t>
            </a:r>
            <a:r>
              <a:rPr lang="en-US" sz="1900" dirty="0">
                <a:latin typeface="Times New Roman" pitchFamily="18" charset="0"/>
                <a:cs typeface="Times New Roman" pitchFamily="18" charset="0"/>
              </a:rPr>
              <a:t>. Socket </a:t>
            </a:r>
            <a:r>
              <a:rPr lang="en-US" sz="1900" dirty="0" err="1">
                <a:latin typeface="Times New Roman" pitchFamily="18" charset="0"/>
                <a:cs typeface="Times New Roman" pitchFamily="18" charset="0"/>
              </a:rPr>
              <a:t>so‘zi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o‘zbek</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tiliga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tarjima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qilinganida</a:t>
            </a:r>
            <a:r>
              <a:rPr lang="en-US" sz="1900" dirty="0">
                <a:latin typeface="Times New Roman" pitchFamily="18" charset="0"/>
                <a:cs typeface="Times New Roman" pitchFamily="18" charset="0"/>
              </a:rPr>
              <a:t> “in” </a:t>
            </a:r>
            <a:r>
              <a:rPr lang="en-US" sz="1900" dirty="0" err="1">
                <a:latin typeface="Times New Roman" pitchFamily="18" charset="0"/>
                <a:cs typeface="Times New Roman" pitchFamily="18" charset="0"/>
              </a:rPr>
              <a:t>ma’nosini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bildiradi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Ushbu</a:t>
            </a:r>
            <a:r>
              <a:rPr lang="en-US" sz="1900" dirty="0">
                <a:latin typeface="Times New Roman" pitchFamily="18" charset="0"/>
                <a:cs typeface="Times New Roman" pitchFamily="18" charset="0"/>
              </a:rPr>
              <a:t> nom </a:t>
            </a:r>
            <a:r>
              <a:rPr lang="en-US" sz="1900" dirty="0" err="1">
                <a:latin typeface="Times New Roman" pitchFamily="18" charset="0"/>
                <a:cs typeface="Times New Roman" pitchFamily="18" charset="0"/>
              </a:rPr>
              <a:t>apparaturadagi</a:t>
            </a:r>
            <a:r>
              <a:rPr lang="en-US" sz="1900" dirty="0">
                <a:latin typeface="Times New Roman" pitchFamily="18" charset="0"/>
                <a:cs typeface="Times New Roman" pitchFamily="18" charset="0"/>
              </a:rPr>
              <a:t> in (</a:t>
            </a:r>
            <a:r>
              <a:rPr lang="en-US" sz="1900" dirty="0" err="1">
                <a:latin typeface="Times New Roman" pitchFamily="18" charset="0"/>
                <a:cs typeface="Times New Roman" pitchFamily="18" charset="0"/>
              </a:rPr>
              <a:t>raz’emlar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lardan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kelib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chiqqan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Soket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ulanishning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oxirgi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nuqtasini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aniqlovchi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dasturiy</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konstruksiya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ob’ekt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iborat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bo‘ladi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Dasturlarning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o‘zaro</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aloqasiga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mo‘ljallangan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ikki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mexanizm</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mavjud</a:t>
            </a:r>
            <a:r>
              <a:rPr lang="en-US" sz="1900" dirty="0">
                <a:latin typeface="Times New Roman" pitchFamily="18" charset="0"/>
                <a:cs typeface="Times New Roman" pitchFamily="18" charset="0"/>
              </a:rPr>
              <a:t> – </a:t>
            </a:r>
            <a:r>
              <a:rPr lang="en-US" sz="1900" dirty="0" err="1">
                <a:latin typeface="Times New Roman" pitchFamily="18" charset="0"/>
                <a:cs typeface="Times New Roman" pitchFamily="18" charset="0"/>
              </a:rPr>
              <a:t>bu</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datagrammalar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soketi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bo‘lib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foydalanuvchi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datagramma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protokoli</a:t>
            </a:r>
            <a:r>
              <a:rPr lang="en-US" sz="1900" dirty="0">
                <a:latin typeface="Times New Roman" pitchFamily="18" charset="0"/>
                <a:cs typeface="Times New Roman" pitchFamily="18" charset="0"/>
              </a:rPr>
              <a:t> (User Datagram Protocol – UDP) </a:t>
            </a:r>
            <a:r>
              <a:rPr lang="en-US" sz="1900" dirty="0" err="1">
                <a:latin typeface="Times New Roman" pitchFamily="18" charset="0"/>
                <a:cs typeface="Times New Roman" pitchFamily="18" charset="0"/>
              </a:rPr>
              <a:t>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ulanishni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o‘rnatmasdan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foydalanadi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uzatishni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boshqarish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protokoli</a:t>
            </a:r>
            <a:r>
              <a:rPr lang="en-US" sz="1900" dirty="0">
                <a:latin typeface="Times New Roman" pitchFamily="18" charset="0"/>
                <a:cs typeface="Times New Roman" pitchFamily="18" charset="0"/>
              </a:rPr>
              <a:t>/</a:t>
            </a:r>
            <a:r>
              <a:rPr lang="en-US" sz="1900" dirty="0" err="1">
                <a:latin typeface="Times New Roman" pitchFamily="18" charset="0"/>
                <a:cs typeface="Times New Roman" pitchFamily="18" charset="0"/>
              </a:rPr>
              <a:t>tarmoqlararo</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protokol</a:t>
            </a:r>
            <a:r>
              <a:rPr lang="en-US" sz="1900" dirty="0">
                <a:latin typeface="Times New Roman" pitchFamily="18" charset="0"/>
                <a:cs typeface="Times New Roman" pitchFamily="18" charset="0"/>
              </a:rPr>
              <a:t> (Transmission Control Protocol/Internet Protocol – TCP/IP) </a:t>
            </a:r>
            <a:r>
              <a:rPr lang="en-US" sz="1900" dirty="0" err="1">
                <a:latin typeface="Times New Roman" pitchFamily="18" charset="0"/>
                <a:cs typeface="Times New Roman" pitchFamily="18" charset="0"/>
              </a:rPr>
              <a:t>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foydalanuvchi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ulanishni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o‘rnatuvchi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soketlar</a:t>
            </a:r>
            <a:r>
              <a:rPr lang="en-US" sz="1900" dirty="0" smtClean="0">
                <a:latin typeface="Times New Roman" pitchFamily="18" charset="0"/>
                <a:cs typeface="Times New Roman" pitchFamily="18" charset="0"/>
              </a:rPr>
              <a:t>. </a:t>
            </a:r>
            <a:r>
              <a:rPr lang="en-US" sz="1900" dirty="0" err="1">
                <a:latin typeface="Times New Roman" pitchFamily="18" charset="0"/>
                <a:cs typeface="Times New Roman" pitchFamily="18" charset="0"/>
              </a:rPr>
              <a:t>Datagramma</a:t>
            </a:r>
            <a:r>
              <a:rPr lang="en-US" sz="1900" dirty="0">
                <a:latin typeface="Times New Roman" pitchFamily="18" charset="0"/>
                <a:cs typeface="Times New Roman" pitchFamily="18" charset="0"/>
              </a:rPr>
              <a:t> – </a:t>
            </a:r>
            <a:r>
              <a:rPr lang="en-US" sz="1900" dirty="0" err="1">
                <a:latin typeface="Times New Roman" pitchFamily="18" charset="0"/>
                <a:cs typeface="Times New Roman" pitchFamily="18" charset="0"/>
              </a:rPr>
              <a:t>tarmoq</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bo‘ylab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yuborilgan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ma’lumotlar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paketi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bo‘lib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qabul</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qilinish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vaqti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tarkibi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kafolatlanmagan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bo‘ladi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Shuningdek</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paketlarning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yetkazilish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tartibi</a:t>
            </a:r>
            <a:r>
              <a:rPr lang="en-US" sz="1900" dirty="0">
                <a:latin typeface="Times New Roman" pitchFamily="18" charset="0"/>
                <a:cs typeface="Times New Roman" pitchFamily="18" charset="0"/>
              </a:rPr>
              <a:t> ham </a:t>
            </a:r>
            <a:r>
              <a:rPr lang="en-US" sz="1900" dirty="0" err="1">
                <a:latin typeface="Times New Roman" pitchFamily="18" charset="0"/>
                <a:cs typeface="Times New Roman" pitchFamily="18" charset="0"/>
              </a:rPr>
              <a:t>kafolatlanmaydi</a:t>
            </a:r>
            <a:r>
              <a:rPr lang="en-US" sz="1900" dirty="0">
                <a:latin typeface="Times New Roman" pitchFamily="18" charset="0"/>
                <a:cs typeface="Times New Roman" pitchFamily="18" charset="0"/>
              </a:rPr>
              <a:t>. UDP </a:t>
            </a:r>
            <a:r>
              <a:rPr lang="en-US" sz="1900" dirty="0" err="1">
                <a:latin typeface="Times New Roman" pitchFamily="18" charset="0"/>
                <a:cs typeface="Times New Roman" pitchFamily="18" charset="0"/>
              </a:rPr>
              <a:t>paketini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qandaydir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adres</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bo‘yicha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uzatishda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qabul</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qilinishi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to‘g‘risida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shuningdek</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ushbu</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adres</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bo‘yicha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umuman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paketlarni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qabul</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qiluvchi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foydalanuvchining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bo‘lishi</a:t>
            </a:r>
            <a:r>
              <a:rPr lang="en-US" sz="1900" dirty="0">
                <a:latin typeface="Times New Roman" pitchFamily="18" charset="0"/>
                <a:cs typeface="Times New Roman" pitchFamily="18" charset="0"/>
              </a:rPr>
              <a:t> ham </a:t>
            </a:r>
            <a:r>
              <a:rPr lang="en-US" sz="1900" dirty="0" err="1">
                <a:latin typeface="Times New Roman" pitchFamily="18" charset="0"/>
                <a:cs typeface="Times New Roman" pitchFamily="18" charset="0"/>
              </a:rPr>
              <a:t>kafolatlanmaydi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Xuddi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shuningdek</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datagramma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qabul</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qilinganida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ularning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tarmoq</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bo‘ylab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yetib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kelishida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shikastlanmaganligi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yoki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uzatuvchining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datagramma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qabul</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qilinganligining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tasdiqlanishini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kutayotganligi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to‘g‘risida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kafolat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bo‘lmaydi</a:t>
            </a:r>
            <a:r>
              <a:rPr lang="en-US" sz="1900" dirty="0">
                <a:latin typeface="Times New Roman" pitchFamily="18" charset="0"/>
                <a:cs typeface="Times New Roman" pitchFamily="18" charset="0"/>
              </a:rPr>
              <a:t>. </a:t>
            </a:r>
            <a:endParaRPr lang="ru-RU" sz="1900" dirty="0">
              <a:latin typeface="Times New Roman" pitchFamily="18" charset="0"/>
              <a:cs typeface="Times New Roman" pitchFamily="18" charset="0"/>
            </a:endParaRPr>
          </a:p>
        </p:txBody>
      </p:sp>
    </p:spTree>
    <p:extLst>
      <p:ext uri="{BB962C8B-B14F-4D97-AF65-F5344CB8AC3E}">
        <p14:creationId xmlns:p14="http://schemas.microsoft.com/office/powerpoint/2010/main" val="1178455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0943" y="0"/>
            <a:ext cx="8980227" cy="5940088"/>
          </a:xfrm>
          <a:prstGeom prst="rect">
            <a:avLst/>
          </a:prstGeom>
        </p:spPr>
        <p:txBody>
          <a:bodyPr wrap="square">
            <a:spAutoFit/>
          </a:bodyPr>
          <a:lstStyle/>
          <a:p>
            <a:pPr algn="just"/>
            <a:r>
              <a:rPr lang="en-US" sz="2000" dirty="0" smtClean="0">
                <a:latin typeface="Times New Roman" pitchFamily="18" charset="0"/>
                <a:cs typeface="Times New Roman" pitchFamily="18" charset="0"/>
              </a:rPr>
              <a:t>	UDP </a:t>
            </a:r>
            <a:r>
              <a:rPr lang="en-US" sz="2000" dirty="0" err="1">
                <a:latin typeface="Times New Roman" pitchFamily="18" charset="0"/>
                <a:cs typeface="Times New Roman" pitchFamily="18" charset="0"/>
              </a:rPr>
              <a:t>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paketlarning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yo‘qolishi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yoki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dubllanishi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dublirovaniye</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olib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kelishi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esa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xatolarni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tekshirish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ma’lumotlarni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uzatish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ishonchliligini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ta’minlash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bog‘liq</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qo‘shimcha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muammolarga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sabab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 Agar </a:t>
            </a:r>
            <a:r>
              <a:rPr lang="en-US" sz="2000" dirty="0" err="1">
                <a:latin typeface="Times New Roman" pitchFamily="18" charset="0"/>
                <a:cs typeface="Times New Roman" pitchFamily="18" charset="0"/>
              </a:rPr>
              <a:t>foydalanuvchiga</a:t>
            </a:r>
            <a:r>
              <a:rPr lang="en-US" sz="2000" dirty="0">
                <a:latin typeface="Times New Roman" pitchFamily="18" charset="0"/>
                <a:cs typeface="Times New Roman" pitchFamily="18" charset="0"/>
              </a:rPr>
              <a:t> optimal </a:t>
            </a:r>
            <a:r>
              <a:rPr lang="en-US" sz="2000" dirty="0" err="1">
                <a:latin typeface="Times New Roman" pitchFamily="18" charset="0"/>
                <a:cs typeface="Times New Roman" pitchFamily="18" charset="0"/>
              </a:rPr>
              <a:t>unumdorlikka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erishish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zarur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bo‘lsa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axborotning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butunliligini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tekshirish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xarajatlarini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qisqartirishga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tayyor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bo‘lsa</a:t>
            </a:r>
            <a:r>
              <a:rPr lang="en-US" sz="2000" dirty="0">
                <a:latin typeface="Times New Roman" pitchFamily="18" charset="0"/>
                <a:cs typeface="Times New Roman" pitchFamily="18" charset="0"/>
              </a:rPr>
              <a:t>, UDP </a:t>
            </a:r>
            <a:r>
              <a:rPr lang="en-US" sz="2000" dirty="0" err="1">
                <a:latin typeface="Times New Roman" pitchFamily="18" charset="0"/>
                <a:cs typeface="Times New Roman" pitchFamily="18" charset="0"/>
              </a:rPr>
              <a:t>paketlari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juda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qo‘l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kelishi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Oqimli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soketlardan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foydalanishda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dastur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boshqa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soket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aloqa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o‘rnatadi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ma’lumotlar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oqimi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dasturlar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orasidan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oqib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o‘tadi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hamda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oqim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soketlari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ulanish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o‘rnatish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asosida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xizmat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ko‘rsatishni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ta’minlaydi</a:t>
            </a:r>
            <a:r>
              <a:rPr lang="en-US" sz="2000" dirty="0">
                <a:latin typeface="Times New Roman" pitchFamily="18" charset="0"/>
                <a:cs typeface="Times New Roman" pitchFamily="18" charset="0"/>
              </a:rPr>
              <a:t>. TCP/IP Internet </a:t>
            </a:r>
            <a:r>
              <a:rPr lang="en-US" sz="2000" dirty="0" err="1">
                <a:latin typeface="Times New Roman" pitchFamily="18" charset="0"/>
                <a:cs typeface="Times New Roman" pitchFamily="18" charset="0"/>
              </a:rPr>
              <a:t>tugunlari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orasidagi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nuqta-nuqta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ikki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yo‘nalishli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ulanishlarni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o‘rnatish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asosidagi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oqimli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protokol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bo‘lib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ushbu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protokol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bo‘yicha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kompyuterlar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o‘rtasidagi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o‘zaro</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aloqa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ma’lumotlarni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ishonchli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uzatishni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amalga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oshirishga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mo‘ljallangan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Uzatish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kanali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bo‘ylab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uzatilgan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barcha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ma’lumotlar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uzatilgan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tartibda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qabul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qilinadi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Datagramma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soketlaridan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farqli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ravishda</a:t>
            </a:r>
            <a:r>
              <a:rPr lang="en-US" sz="2000" dirty="0">
                <a:latin typeface="Times New Roman" pitchFamily="18" charset="0"/>
                <a:cs typeface="Times New Roman" pitchFamily="18" charset="0"/>
              </a:rPr>
              <a:t> TCP/IP </a:t>
            </a:r>
            <a:r>
              <a:rPr lang="en-US" sz="2000" dirty="0" err="1">
                <a:latin typeface="Times New Roman" pitchFamily="18" charset="0"/>
                <a:cs typeface="Times New Roman" pitchFamily="18" charset="0"/>
              </a:rPr>
              <a:t>soketlari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klient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server </a:t>
            </a:r>
            <a:r>
              <a:rPr lang="en-US" sz="2000" dirty="0" err="1">
                <a:latin typeface="Times New Roman" pitchFamily="18" charset="0"/>
                <a:cs typeface="Times New Roman" pitchFamily="18" charset="0"/>
              </a:rPr>
              <a:t>o‘rtasida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yuqori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ishonchlilikka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mustahkam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ulanishlarni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o‘rnatish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imkonini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beradi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Soketlar  jarayonlar o‘rtasida axborotlar almashinuvini ta’minlash uchun dasturiy interfeys nomidir. O‘zaro aloqada bo‘lgan jarayonlar bitta kompyuterda, shuningdek, tarmoq orqali ulangan bir necha xostlarda bajarilishi mumkin. Soketlar tarmoq orqali o‘rnatilgan ilovalar o‘rtasidagi aloqa kanalini boshqarish uchun ishlatiladi. Shu tarzda, klient va serverning ko‘plab ulanishlari ta’minlanishi mumkin. </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954140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116632"/>
            <a:ext cx="8856984" cy="3785652"/>
          </a:xfrm>
          <a:prstGeom prst="rect">
            <a:avLst/>
          </a:prstGeom>
        </p:spPr>
        <p:txBody>
          <a:bodyPr wrap="square">
            <a:spAutoFit/>
          </a:bodyPr>
          <a:lstStyle/>
          <a:p>
            <a:pPr algn="ctr"/>
            <a:r>
              <a:rPr lang="uz-Cyrl-UZ" sz="2000" b="1" dirty="0">
                <a:latin typeface="Times New Roman" pitchFamily="18" charset="0"/>
                <a:cs typeface="Times New Roman" pitchFamily="18" charset="0"/>
              </a:rPr>
              <a:t>Nazorat savollari</a:t>
            </a:r>
            <a:endParaRPr lang="ru-RU" sz="2000" dirty="0">
              <a:latin typeface="Times New Roman" pitchFamily="18" charset="0"/>
              <a:cs typeface="Times New Roman" pitchFamily="18" charset="0"/>
            </a:endParaRPr>
          </a:p>
          <a:p>
            <a:pPr algn="just"/>
            <a:r>
              <a:rPr lang="uz-Latn-UZ" sz="2000" b="1"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pPr marL="457200" lvl="0" indent="-457200" algn="just">
              <a:buFont typeface="+mj-lt"/>
              <a:buAutoNum type="arabicPeriod"/>
            </a:pPr>
            <a:r>
              <a:rPr lang="uz-Cyrl-UZ" sz="2000" dirty="0">
                <a:latin typeface="Times New Roman" pitchFamily="18" charset="0"/>
                <a:cs typeface="Times New Roman" pitchFamily="18" charset="0"/>
              </a:rPr>
              <a:t>Repeater nima?</a:t>
            </a:r>
            <a:endParaRPr lang="ru-RU" sz="2000" dirty="0">
              <a:latin typeface="Times New Roman" pitchFamily="18" charset="0"/>
              <a:cs typeface="Times New Roman" pitchFamily="18" charset="0"/>
            </a:endParaRPr>
          </a:p>
          <a:p>
            <a:pPr marL="457200" lvl="0" indent="-457200" algn="just">
              <a:buFont typeface="+mj-lt"/>
              <a:buAutoNum type="arabicPeriod"/>
            </a:pPr>
            <a:r>
              <a:rPr lang="uz-Cyrl-UZ" sz="2000" dirty="0">
                <a:latin typeface="Times New Roman" pitchFamily="18" charset="0"/>
                <a:cs typeface="Times New Roman" pitchFamily="18" charset="0"/>
              </a:rPr>
              <a:t>Bridge nima?</a:t>
            </a:r>
            <a:endParaRPr lang="ru-RU" sz="2000" dirty="0">
              <a:latin typeface="Times New Roman" pitchFamily="18" charset="0"/>
              <a:cs typeface="Times New Roman" pitchFamily="18" charset="0"/>
            </a:endParaRPr>
          </a:p>
          <a:p>
            <a:pPr marL="457200" lvl="0" indent="-457200" algn="just">
              <a:buFont typeface="+mj-lt"/>
              <a:buAutoNum type="arabicPeriod"/>
            </a:pPr>
            <a:r>
              <a:rPr lang="uz-Cyrl-UZ" sz="2000" dirty="0">
                <a:latin typeface="Times New Roman" pitchFamily="18" charset="0"/>
                <a:cs typeface="Times New Roman" pitchFamily="18" charset="0"/>
              </a:rPr>
              <a:t>Kommutator nima?</a:t>
            </a:r>
            <a:endParaRPr lang="ru-RU" sz="2000" dirty="0">
              <a:latin typeface="Times New Roman" pitchFamily="18" charset="0"/>
              <a:cs typeface="Times New Roman" pitchFamily="18" charset="0"/>
            </a:endParaRPr>
          </a:p>
          <a:p>
            <a:pPr marL="457200" lvl="0" indent="-457200" algn="just">
              <a:buFont typeface="+mj-lt"/>
              <a:buAutoNum type="arabicPeriod"/>
            </a:pPr>
            <a:r>
              <a:rPr lang="uz-Cyrl-UZ" sz="2000" dirty="0">
                <a:latin typeface="Times New Roman" pitchFamily="18" charset="0"/>
                <a:cs typeface="Times New Roman" pitchFamily="18" charset="0"/>
              </a:rPr>
              <a:t>Marshrutizator nima?</a:t>
            </a:r>
            <a:endParaRPr lang="ru-RU" sz="2000" dirty="0">
              <a:latin typeface="Times New Roman" pitchFamily="18" charset="0"/>
              <a:cs typeface="Times New Roman" pitchFamily="18" charset="0"/>
            </a:endParaRPr>
          </a:p>
          <a:p>
            <a:pPr marL="457200" lvl="0" indent="-457200" algn="just">
              <a:buFont typeface="+mj-lt"/>
              <a:buAutoNum type="arabicPeriod"/>
            </a:pPr>
            <a:r>
              <a:rPr lang="uz-Cyrl-UZ" sz="2000" dirty="0">
                <a:latin typeface="Times New Roman" pitchFamily="18" charset="0"/>
                <a:cs typeface="Times New Roman" pitchFamily="18" charset="0"/>
              </a:rPr>
              <a:t>Shlyuz nima?</a:t>
            </a:r>
            <a:endParaRPr lang="ru-RU" sz="2000" dirty="0">
              <a:latin typeface="Times New Roman" pitchFamily="18" charset="0"/>
              <a:cs typeface="Times New Roman" pitchFamily="18" charset="0"/>
            </a:endParaRPr>
          </a:p>
          <a:p>
            <a:pPr marL="457200" lvl="0" indent="-457200" algn="just">
              <a:buFont typeface="+mj-lt"/>
              <a:buAutoNum type="arabicPeriod"/>
            </a:pPr>
            <a:r>
              <a:rPr lang="uz-Cyrl-UZ" sz="2000" dirty="0">
                <a:latin typeface="Times New Roman" pitchFamily="18" charset="0"/>
                <a:cs typeface="Times New Roman" pitchFamily="18" charset="0"/>
              </a:rPr>
              <a:t>Repeater bilan Bridge farqi nimada.</a:t>
            </a:r>
            <a:endParaRPr lang="ru-RU" sz="2000" dirty="0">
              <a:latin typeface="Times New Roman" pitchFamily="18" charset="0"/>
              <a:cs typeface="Times New Roman" pitchFamily="18" charset="0"/>
            </a:endParaRPr>
          </a:p>
          <a:p>
            <a:pPr marL="457200" lvl="0" indent="-457200" algn="just">
              <a:buFont typeface="+mj-lt"/>
              <a:buAutoNum type="arabicPeriod"/>
            </a:pPr>
            <a:r>
              <a:rPr lang="uz-Cyrl-UZ" sz="2000" dirty="0">
                <a:latin typeface="Times New Roman" pitchFamily="18" charset="0"/>
                <a:cs typeface="Times New Roman" pitchFamily="18" charset="0"/>
              </a:rPr>
              <a:t>Kommutator Repeater farqi.</a:t>
            </a:r>
            <a:endParaRPr lang="ru-RU" sz="2000" dirty="0">
              <a:latin typeface="Times New Roman" pitchFamily="18" charset="0"/>
              <a:cs typeface="Times New Roman" pitchFamily="18" charset="0"/>
            </a:endParaRPr>
          </a:p>
          <a:p>
            <a:pPr marL="457200" lvl="0" indent="-457200" algn="just">
              <a:buFont typeface="+mj-lt"/>
              <a:buAutoNum type="arabicPeriod"/>
            </a:pPr>
            <a:r>
              <a:rPr lang="uz-Cyrl-UZ" sz="2000" dirty="0">
                <a:latin typeface="Times New Roman" pitchFamily="18" charset="0"/>
                <a:cs typeface="Times New Roman" pitchFamily="18" charset="0"/>
              </a:rPr>
              <a:t>Marshrutizator bilan Shlyuz farqi nimada.</a:t>
            </a:r>
            <a:endParaRPr lang="ru-RU" sz="2000" dirty="0">
              <a:latin typeface="Times New Roman" pitchFamily="18" charset="0"/>
              <a:cs typeface="Times New Roman" pitchFamily="18" charset="0"/>
            </a:endParaRPr>
          </a:p>
          <a:p>
            <a:pPr marL="457200" lvl="0" indent="-457200" algn="just">
              <a:buFont typeface="+mj-lt"/>
              <a:buAutoNum type="arabicPeriod"/>
            </a:pPr>
            <a:r>
              <a:rPr lang="uz-Latn-UZ" sz="2000" dirty="0">
                <a:latin typeface="Times New Roman" pitchFamily="18" charset="0"/>
                <a:cs typeface="Times New Roman" pitchFamily="18" charset="0"/>
              </a:rPr>
              <a:t>Oddiy klient-server munosabatlarini o‘rganish</a:t>
            </a:r>
            <a:endParaRPr lang="ru-RU" sz="2000" dirty="0">
              <a:latin typeface="Times New Roman" pitchFamily="18" charset="0"/>
              <a:cs typeface="Times New Roman" pitchFamily="18" charset="0"/>
            </a:endParaRPr>
          </a:p>
          <a:p>
            <a:pPr marL="457200" indent="-457200" algn="just">
              <a:buFont typeface="+mj-lt"/>
              <a:buAutoNum type="arabicPeriod"/>
            </a:pPr>
            <a:r>
              <a:rPr lang="en-US" sz="2000" dirty="0">
                <a:latin typeface="Times New Roman" pitchFamily="18" charset="0"/>
                <a:cs typeface="Times New Roman" pitchFamily="18" charset="0"/>
              </a:rPr>
              <a:t> </a:t>
            </a:r>
            <a:r>
              <a:rPr lang="en-US" sz="2000" dirty="0" err="1" smtClean="0">
                <a:latin typeface="Times New Roman" pitchFamily="18" charset="0"/>
                <a:cs typeface="Times New Roman" pitchFamily="18" charset="0"/>
              </a:rPr>
              <a:t>Klient</a:t>
            </a:r>
            <a:r>
              <a:rPr lang="en-US" sz="2000" dirty="0" smtClean="0">
                <a:latin typeface="Times New Roman" pitchFamily="18" charset="0"/>
                <a:cs typeface="Times New Roman" pitchFamily="18" charset="0"/>
              </a:rPr>
              <a:t>/server </a:t>
            </a:r>
            <a:r>
              <a:rPr lang="en-US" sz="2000" dirty="0" err="1">
                <a:latin typeface="Times New Roman" pitchFamily="18" charset="0"/>
                <a:cs typeface="Times New Roman" pitchFamily="18" charset="0"/>
              </a:rPr>
              <a:t>arxitekturasi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964038963"/>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422</TotalTime>
  <Words>271</Words>
  <Application>Microsoft Office PowerPoint</Application>
  <PresentationFormat>Экран (4:3)</PresentationFormat>
  <Paragraphs>59</Paragraphs>
  <Slides>15</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15</vt:i4>
      </vt:variant>
    </vt:vector>
  </HeadingPairs>
  <TitlesOfParts>
    <vt:vector size="16" baseType="lpstr">
      <vt:lpstr>Тема Office</vt:lpstr>
      <vt:lpstr>Презентация PowerPoint</vt:lpstr>
      <vt:lpstr>Презентация PowerPoint</vt:lpstr>
      <vt:lpstr>Reja:</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SPecialiST RePack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Пользователь</dc:creator>
  <cp:lastModifiedBy>UltraPC</cp:lastModifiedBy>
  <cp:revision>47</cp:revision>
  <dcterms:created xsi:type="dcterms:W3CDTF">2020-02-10T04:46:41Z</dcterms:created>
  <dcterms:modified xsi:type="dcterms:W3CDTF">2024-04-01T05:40:54Z</dcterms:modified>
</cp:coreProperties>
</file>