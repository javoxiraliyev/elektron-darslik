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11.03.2024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11.03.2024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11.03.2024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11.03.2024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11.03.2024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11.03.2024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11.03.2024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7 </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648072"/>
          </a:xfrm>
          <a:prstGeom prst="rect">
            <a:avLst/>
          </a:prstGeom>
        </p:spPr>
        <p:txBody>
          <a:bodyPr vert="horz" lIns="91440" tIns="45720" rIns="91440" bIns="45720" rtlCol="0">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2400" dirty="0" smtClean="0">
              <a:solidFill>
                <a:srgbClr val="FF66CC"/>
              </a:solidFill>
              <a:latin typeface="Times New Roman" pitchFamily="18" charset="0"/>
              <a:cs typeface="Times New Roman" pitchFamily="18" charset="0"/>
            </a:endParaRPr>
          </a:p>
          <a:p>
            <a:r>
              <a:rPr lang="en-US" dirty="0" err="1" smtClean="0">
                <a:solidFill>
                  <a:schemeClr val="tx1"/>
                </a:solidFill>
                <a:latin typeface="Times New Roman" pitchFamily="18" charset="0"/>
                <a:cs typeface="Times New Roman" pitchFamily="18" charset="0"/>
              </a:rPr>
              <a:t>Mavzu</a:t>
            </a:r>
            <a:r>
              <a:rPr lang="en-US" dirty="0" smtClean="0">
                <a:solidFill>
                  <a:schemeClr val="tx1"/>
                </a:solidFill>
                <a:latin typeface="Times New Roman" pitchFamily="18" charset="0"/>
                <a:cs typeface="Times New Roman" pitchFamily="18" charset="0"/>
              </a:rPr>
              <a:t>: </a:t>
            </a:r>
            <a:r>
              <a:rPr lang="uz-Cyrl-UZ" dirty="0">
                <a:solidFill>
                  <a:schemeClr val="tx1"/>
                </a:solidFill>
                <a:latin typeface="Times New Roman" pitchFamily="18" charset="0"/>
                <a:cs typeface="Times New Roman" pitchFamily="18" charset="0"/>
              </a:rPr>
              <a:t>Tarmoqda marshrutizatsiyani dasturlash</a:t>
            </a:r>
            <a:endParaRPr lang="ru-RU" dirty="0">
              <a:solidFill>
                <a:schemeClr val="tx1"/>
              </a:solidFill>
              <a:latin typeface="Times New Roman" pitchFamily="18" charset="0"/>
              <a:cs typeface="Times New Roman" pitchFamily="18" charset="0"/>
            </a:endParaRPr>
          </a:p>
          <a:p>
            <a:endParaRPr lang="ru-RU" sz="24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t>Oddiy marshrutizatsiya algoritmi</a:t>
            </a:r>
            <a:endParaRPr lang="ru-RU" sz="2400" dirty="0"/>
          </a:p>
          <a:p>
            <a:pPr marL="457200" lvl="0" indent="-457200">
              <a:buFont typeface="+mj-lt"/>
              <a:buAutoNum type="arabicPeriod"/>
            </a:pPr>
            <a:r>
              <a:rPr lang="uz-Cyrl-UZ" sz="2400" dirty="0"/>
              <a:t>Belgilangan marshrutizatsiya</a:t>
            </a:r>
            <a:endParaRPr lang="ru-RU" sz="2400" dirty="0"/>
          </a:p>
          <a:p>
            <a:pPr marL="457200" lvl="0" indent="-457200">
              <a:buFont typeface="+mj-lt"/>
              <a:buAutoNum type="arabicPeriod"/>
            </a:pPr>
            <a:r>
              <a:rPr lang="uz-Cyrl-UZ" sz="2400" dirty="0"/>
              <a:t>Adaptiv marshrutizatsiya</a:t>
            </a:r>
            <a:endParaRPr lang="ru-RU" sz="2400" dirty="0"/>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7750" y="116632"/>
            <a:ext cx="8928992" cy="6555641"/>
          </a:xfrm>
          <a:prstGeom prst="rect">
            <a:avLst/>
          </a:prstGeom>
        </p:spPr>
        <p:txBody>
          <a:bodyPr wrap="square">
            <a:spAutoFit/>
          </a:bodyPr>
          <a:lstStyle/>
          <a:p>
            <a:pPr lvl="0" algn="ctr"/>
            <a:r>
              <a:rPr lang="uz-Cyrl-UZ" sz="2000" b="1" dirty="0">
                <a:latin typeface="Times New Roman" pitchFamily="18" charset="0"/>
                <a:cs typeface="Times New Roman" pitchFamily="18" charset="0"/>
              </a:rPr>
              <a:t>Oddiy marshrutizatsiya </a:t>
            </a:r>
            <a:r>
              <a:rPr lang="uz-Cyrl-UZ" sz="2000" b="1" dirty="0" smtClean="0">
                <a:latin typeface="Times New Roman" pitchFamily="18" charset="0"/>
                <a:cs typeface="Times New Roman" pitchFamily="18" charset="0"/>
              </a:rPr>
              <a:t>algoritmi</a:t>
            </a:r>
            <a:endParaRPr lang="en-US" sz="2000" b="1" dirty="0" smtClean="0">
              <a:latin typeface="Times New Roman" pitchFamily="18" charset="0"/>
              <a:cs typeface="Times New Roman" pitchFamily="18" charset="0"/>
            </a:endParaRPr>
          </a:p>
          <a:p>
            <a:pPr lvl="0" algn="ct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Oddiy  marshrutizatsiya algoritmi quyidagilardan iborat:</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Tasodifiy kanallarni tanlash;</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Tugundagi kichik kutish vaqti bo‘yicha kanallarni tanlash;</a:t>
            </a:r>
            <a:endParaRPr lang="ru-RU" sz="2000" dirty="0">
              <a:latin typeface="Times New Roman" pitchFamily="18" charset="0"/>
              <a:cs typeface="Times New Roman" pitchFamily="18" charset="0"/>
            </a:endParaRPr>
          </a:p>
          <a:p>
            <a:pPr lvl="0" algn="just"/>
            <a:r>
              <a:rPr lang="uz-Cyrl-UZ" sz="2000" dirty="0">
                <a:latin typeface="Times New Roman" pitchFamily="18" charset="0"/>
                <a:cs typeface="Times New Roman" pitchFamily="18" charset="0"/>
              </a:rPr>
              <a:t>Lovinali marshrutizatsiya.</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Tasodifiy kanallarni tanlash. Tugun, tasodifiy marshrutizatsiyaning qoidasiga muvofiq, qabul qilingan paket adresga tushmaganligini aniqlagandan so‘ng, paketni uzatish uchun tasodifan xar qanday bo‘sh kanal tanlanadi. Tabiiyki, paketni uzatish uchun tanlangan kanal endigina qabul qilingan kanal bundan mustasnodir. Yuqorida keltirilgan jarayon davom etaveradi, qachonki paket adresatga kelib tushmaguncha. Ushbu uslub bo‘yicha kanallar orqali uzatilayotgan paketlar tarmoqda aylanib yuradi. Biroq bu  uslubda  tarmoqlararo davomiy  ehtiyot  chorasi  sezirarli  yetishmovchiliklar mavjuddir: adresatga  paketlarni yetkazish uchun  kafolat  yo‘qligi. Shunday  bo‘lsa ham  tasodifiy mashrutizatsiya uslubi  o‘zining  tarmoq  tapologiyasiga bog‘liq emasligi nihoyatda  diqqat  e’tiborni jalb qiladi. </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Tugundagi kichik kutish vaqti bo‘yicha kanallarni tanlash (tez uzatish uslubi). Ushbu uslub bo‘yicha tugunga kelib tushgan paket, adresatga kelib tushmaganligi aniqlanganidan so‘ng, paketni keyingi tugunga uzatish uchun tugundan chiquvchi kanallarni uzatishdagi kutish vaqti eng kichigi tanlanadi. Kutish vaqti tugagandan so‘ng paket shu kanal orqali keyingi tugunga uzatiladi.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059050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3411"/>
            <a:ext cx="8856984" cy="6186309"/>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Bu </a:t>
            </a:r>
            <a:r>
              <a:rPr lang="uz-Cyrl-UZ" sz="2200" dirty="0">
                <a:latin typeface="Times New Roman" pitchFamily="18" charset="0"/>
                <a:cs typeface="Times New Roman" pitchFamily="18" charset="0"/>
              </a:rPr>
              <a:t>jarayon davom etaveradi, qachonki paket adresatga yetib bormaguncha. Ushbu uslubda paketni  qabul qilgandan so‘ng, uni  qo‘shni tugunga  uzatish orqali  imkon  qadar tezroq  undan  xolos  bo‘lishiga  harakat qiladi. Bu xolat esa xuddi  qaynoq  narsa ushlab  olgan odamning xolatini eslatadi.  Ushbu uslubda “ping-pong” effekti sodir bo‘ladi.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Lovinali </a:t>
            </a:r>
            <a:r>
              <a:rPr lang="uz-Cyrl-UZ" sz="2200" dirty="0">
                <a:latin typeface="Times New Roman" pitchFamily="18" charset="0"/>
                <a:cs typeface="Times New Roman" pitchFamily="18" charset="0"/>
              </a:rPr>
              <a:t>marshrutizatsiya. Mashrutizatsiyaning  boshqa bir oddiy turi, qaysiki  faqtgina  tarmoq  tapologiyasi haqidagi ma’lumotlariga ehtiyoj yo‘qligi lovinali marshrutizatsiyasiga taluqliydir. Lovinali marshrutizatsiyani asosiy ma’nosi quyidagidan iborat. Paket tugunga kelib tushgandan so‘ng, qancha chiquvchi kanallar bo‘lsa, kelib tushgan paketdan shuncha nusha olinadi va paket kelib tushgan kanaldan tashqari boshqa kanallar orqali uzatiladi. Paketlarni   tugunlar orqali uzatilishi ketma – ketligining  sonini  chegaralandi, bu chegaralinish soni –paketni eng minimal uzatilish yo‘lidagi tugunlar sonidan yuqori bo‘ladi.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Marshrutizatsiyaning </a:t>
            </a:r>
            <a:r>
              <a:rPr lang="uz-Cyrl-UZ" sz="2200" dirty="0">
                <a:latin typeface="Times New Roman" pitchFamily="18" charset="0"/>
                <a:cs typeface="Times New Roman" pitchFamily="18" charset="0"/>
              </a:rPr>
              <a:t>bu uslubi bo‘yicha paketlar adresatga eng qisqa yo‘l bilan yetkaziladi. Ushbu uslubni asosiy afzalligi eng qisqa yo‘l bilan yetkazishdan tashqari, topologiyaga bog‘liq emasligidir. Ushbu uslub yuklama ozligida uning samadorligi yuqori bo‘ladi.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650830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20261"/>
            <a:ext cx="8928992" cy="6863417"/>
          </a:xfrm>
          <a:prstGeom prst="rect">
            <a:avLst/>
          </a:prstGeom>
        </p:spPr>
        <p:txBody>
          <a:bodyPr wrap="square">
            <a:spAutoFit/>
          </a:bodyPr>
          <a:lstStyle/>
          <a:p>
            <a:pPr lvl="0" algn="ctr"/>
            <a:r>
              <a:rPr lang="uz-Cyrl-UZ" sz="2000" b="1" dirty="0">
                <a:latin typeface="Times New Roman" pitchFamily="18" charset="0"/>
                <a:cs typeface="Times New Roman" pitchFamily="18" charset="0"/>
              </a:rPr>
              <a:t>Belgilangan marshrutizatsiya</a:t>
            </a:r>
            <a:endParaRPr lang="ru-RU" sz="2000" dirty="0">
              <a:latin typeface="Times New Roman" pitchFamily="18" charset="0"/>
              <a:cs typeface="Times New Roman" pitchFamily="18" charset="0"/>
            </a:endParaRPr>
          </a:p>
          <a:p>
            <a:pPr algn="just"/>
            <a:r>
              <a:rPr lang="ru-RU" sz="2000" dirty="0" err="1">
                <a:latin typeface="Times New Roman" pitchFamily="18" charset="0"/>
                <a:cs typeface="Times New Roman" pitchFamily="18" charset="0"/>
              </a:rPr>
              <a:t>Routing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algoritmlari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manbadan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qabul</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qiluvchiga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paketlarning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eng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yaxshi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yo‘lini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aniqlash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uchun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ishlatiladi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va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qanday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marshrutlash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protokolining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asosidir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Yo‘nalish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algoritmlarini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shakllantirish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uchun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tarmoq</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grafika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sifatida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qaraladi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Bunday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holda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marshrutizatorlar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tugunlar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va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marshrutlar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o‘rtasidagi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jismoniy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chiziqlar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mos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keladigan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grafikning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qirralari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Jadvalning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yo‘nalishi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o‘ziga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xos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raqamga</a:t>
            </a:r>
            <a:r>
              <a:rPr lang="ru-RU" sz="2000" dirty="0">
                <a:latin typeface="Times New Roman" pitchFamily="18" charset="0"/>
                <a:cs typeface="Times New Roman" pitchFamily="18" charset="0"/>
              </a:rPr>
              <a:t> - </a:t>
            </a:r>
            <a:r>
              <a:rPr lang="ru-RU" sz="2000" dirty="0" err="1">
                <a:latin typeface="Times New Roman" pitchFamily="18" charset="0"/>
                <a:cs typeface="Times New Roman" pitchFamily="18" charset="0"/>
              </a:rPr>
              <a:t>chiziqning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jismoniy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uzunligiga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chiziq</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bo‘yicha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ma’lumotlarni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uzatish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tezligiga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yoki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chiziqning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narxiga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bog‘liq</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ravishda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sarflanadi</a:t>
            </a:r>
            <a:r>
              <a:rPr lang="ru-RU"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Routing </a:t>
            </a:r>
            <a:r>
              <a:rPr lang="uz-Cyrl-UZ" sz="2000" dirty="0">
                <a:latin typeface="Times New Roman" pitchFamily="18" charset="0"/>
                <a:cs typeface="Times New Roman" pitchFamily="18" charset="0"/>
              </a:rPr>
              <a:t>algoritmlari manbadan qabul qiluvchiga paketlarning eng yaxshi yo‘lini aniqlash uchun ishlatiladi va har qanday marshrutlash protokolining asosidir. Yo‘nalish algoritmlarini shakllantirish uchun tarmoq grafika sifatida qaraladi. Bunday holda, marshrutizatorlar tugunlar va marshrutlar o‘rtasidagi jismoniy chiziqlar mos keladigan grafikning qirralari. Jadvalning har bir yo‘nalishi o‘ziga xos raqamga - chiziqning jismoniy uzunligiga, chiziq bo‘yicha ma’lumotlarni uzatish tezligiga yoki chiziqning narxiga bog‘liq ravishda sarflanadi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Tarmoqda </a:t>
            </a:r>
            <a:r>
              <a:rPr lang="uz-Cyrl-UZ" sz="2000" dirty="0">
                <a:latin typeface="Times New Roman" pitchFamily="18" charset="0"/>
                <a:cs typeface="Times New Roman" pitchFamily="18" charset="0"/>
              </a:rPr>
              <a:t>rouming boshqaruv markazi (RCC) mavjud bo‘lib, ular o‘z qo‘shnilari haqidagi barcha tugunlardan, navbatning uzunligi va chiziq yukidan ma’lumot oladi. KKH funktsiyalari axborot to‘plash, har bir tugun uchun optimal marshrutlarni hisoblash, marshrutlash jadvallarini tuzish va ularni tugunlarga yuborish. Moslashuvchan algoritmlar bilan bog‘liq algoritm va bog‘lanishni davlat tahliliga asoslangan. Bu "sizning qo‘shnilaringiz kim ekanligi haqida dunyoga aytgin" deb ifodalash mumkin. Dastlab, tugun faqat qo‘shnilarini va ular bilan bog‘laydigan ulanishlar metrikasini biladi.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90161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636"/>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Qo‘shni </a:t>
            </a:r>
            <a:r>
              <a:rPr lang="uz-Cyrl-UZ" sz="2000" dirty="0">
                <a:latin typeface="Times New Roman" pitchFamily="18" charset="0"/>
                <a:cs typeface="Times New Roman" pitchFamily="18" charset="0"/>
              </a:rPr>
              <a:t>tugunlar bilan axborot almashinuvi jarayonida tugun faqatgina tarmoq topologiyasi haqida ma’lumot oladi, faqat sodir bo‘lgan o‘zgarishlar haqida ma’lumot almashiladi. Natijada, har bir tugun butun tarmoq topologiyasini biladi. U ilk bor 1979 yilda ARPANYeTda ishlatilgan va masofaviy vektor algoritmini o‘zgartirgan. O‘tish sabablari quyidagilardir</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kanallar </a:t>
            </a:r>
            <a:r>
              <a:rPr lang="uz-Cyrl-UZ" sz="2000" dirty="0">
                <a:latin typeface="Times New Roman" pitchFamily="18" charset="0"/>
                <a:cs typeface="Times New Roman" pitchFamily="18" charset="0"/>
              </a:rPr>
              <a:t>hajmini oshirish va masofaviy vektor algoritmida uning </a:t>
            </a:r>
            <a:r>
              <a:rPr lang="uz-Cyrl-UZ" sz="2000" dirty="0" smtClean="0">
                <a:latin typeface="Times New Roman" pitchFamily="18" charset="0"/>
                <a:cs typeface="Times New Roman" pitchFamily="18" charset="0"/>
              </a:rPr>
              <a:t>etishmasligi</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Vektor </a:t>
            </a:r>
            <a:r>
              <a:rPr lang="uz-Cyrl-UZ" sz="2000" dirty="0">
                <a:latin typeface="Times New Roman" pitchFamily="18" charset="0"/>
                <a:cs typeface="Times New Roman" pitchFamily="18" charset="0"/>
              </a:rPr>
              <a:t>algoritmining "sekinlik bilan </a:t>
            </a:r>
            <a:r>
              <a:rPr lang="uz-Cyrl-UZ" sz="2000" dirty="0" smtClean="0">
                <a:latin typeface="Times New Roman" pitchFamily="18" charset="0"/>
                <a:cs typeface="Times New Roman" pitchFamily="18" charset="0"/>
              </a:rPr>
              <a:t>hisoblash</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Marshrutizatsiyaning </a:t>
            </a:r>
            <a:r>
              <a:rPr lang="uz-Cyrl-UZ" sz="2000" dirty="0">
                <a:latin typeface="Times New Roman" pitchFamily="18" charset="0"/>
                <a:cs typeface="Times New Roman" pitchFamily="18" charset="0"/>
              </a:rPr>
              <a:t>barcha oddiy turlaridan biri, ehtimol, ayniqsa oddiy va ravshan belgilangan marshrutizatsiya hisoblanadi. Bu uslubda  mutaxassis yoki markaziy tarmoqni boshqaruvchi tomonidan har bir tugunga olindan tayyorlangan (statistika yo‘li bilan tayyorlangan) marshrutizatsiya jadvalini joylashtiradi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Marshrutizatsiya </a:t>
            </a:r>
            <a:r>
              <a:rPr lang="uz-Cyrl-UZ" sz="2000" dirty="0">
                <a:latin typeface="Times New Roman" pitchFamily="18" charset="0"/>
                <a:cs typeface="Times New Roman" pitchFamily="18" charset="0"/>
              </a:rPr>
              <a:t>jadvalida adresat va uzatuvchi orasidan barcha juft manbalar o‘rtasida eng qisqa yo‘lini aniqlash mumkin (marshrutizatsiya jadvali tuzilgan davrda). Ko‘rish mumkinki, yuklama past bo‘lgan tarmoqda bu marshrutizatsiya juda yaxshi natijalarni beradi. Tarmoqda paketlarni kutish qiymatlari minimal ko‘rinishda bo‘ladi. Biroq tarmoqda yuklamani jadal sur’atlar bilan oshishi bu uslubning samaradorligini tezda pasaytiradi. Buning natijasida, qisqa yo‘lni ko‘rsatuvchi marshrutizatsiya jadvali, tarmoq imkoniyatlarini noaniq ishlatilishiga olib keladi. Ba’zi kanallar va tugunlar yuqori yuklamada ishlashi va shu vaqtning o‘zida boshqa kanallar va tugunlar past yuklamada ishlashi mumkin. Marshutizatsiya jadvali ma’lum vaqt oralig‘ida o‘zgartirilib boriladi. O‘zgartirilgan marshrutizatsiya jadvali xamma tugunlarga tarqatiladi. Ushbu uslubning asosiy afzalligi bu uning soddaligidir. Tarmoqda ayrim kanallar va tugunlar yuqori yuklamada ishlasa, shu vaqtda boshqa kanallar va tugunlar past yuklamada ishlaydi.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146681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524863"/>
          </a:xfrm>
          <a:prstGeom prst="rect">
            <a:avLst/>
          </a:prstGeom>
        </p:spPr>
        <p:txBody>
          <a:bodyPr wrap="square">
            <a:spAutoFit/>
          </a:bodyPr>
          <a:lstStyle/>
          <a:p>
            <a:pPr lvl="0" algn="ctr"/>
            <a:r>
              <a:rPr lang="uz-Cyrl-UZ" sz="2000" b="1" dirty="0">
                <a:latin typeface="Times New Roman" pitchFamily="18" charset="0"/>
                <a:cs typeface="Times New Roman" pitchFamily="18" charset="0"/>
              </a:rPr>
              <a:t>Adaptiv marshrutizatsiya</a:t>
            </a:r>
            <a:endParaRPr lang="ru-RU" sz="2000" dirty="0">
              <a:latin typeface="Times New Roman" pitchFamily="18" charset="0"/>
              <a:cs typeface="Times New Roman" pitchFamily="18" charset="0"/>
            </a:endParaRPr>
          </a:p>
          <a:p>
            <a:pPr algn="just"/>
            <a:r>
              <a:rPr lang="uz-Cyrl-UZ" sz="1900" dirty="0">
                <a:latin typeface="Times New Roman" pitchFamily="18" charset="0"/>
                <a:cs typeface="Times New Roman" pitchFamily="18" charset="0"/>
              </a:rPr>
              <a:t>Adaptiv </a:t>
            </a:r>
            <a:r>
              <a:rPr lang="ru-RU" sz="1900" dirty="0" err="1">
                <a:latin typeface="Times New Roman" pitchFamily="18" charset="0"/>
                <a:cs typeface="Times New Roman" pitchFamily="18" charset="0"/>
              </a:rPr>
              <a:t>marshrutizatsiya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deb</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ataladigan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dinamik</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marshrutlash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marshrutlar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o‘zgaruvchan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sharoitlarga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javoban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tizim</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orqali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o‘tadigan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yo‘lni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o‘zgartirish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uchun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marshrutlar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o‘z</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yo‘nalishlarini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tavsiflaydigan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tizimning</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imkoniyatlarini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tasvirlaydi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Adaptiv</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marshrutlash</a:t>
            </a:r>
            <a:r>
              <a:rPr lang="ru-RU" sz="1900" dirty="0">
                <a:latin typeface="Times New Roman" pitchFamily="18" charset="0"/>
                <a:cs typeface="Times New Roman" pitchFamily="18" charset="0"/>
              </a:rPr>
              <a:t> - </a:t>
            </a:r>
            <a:r>
              <a:rPr lang="ru-RU" sz="1900" dirty="0" err="1">
                <a:latin typeface="Times New Roman" pitchFamily="18" charset="0"/>
                <a:cs typeface="Times New Roman" pitchFamily="18" charset="0"/>
              </a:rPr>
              <a:t>manba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nuqtasidan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maqsadli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nuqtaga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erkin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yo‘lni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topish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har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qanday</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vaqtda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o‘zgarishi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mumkin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bo‘lgan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tugunlar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tarmog‘i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orqali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amalga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oshiriladi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Kompyuter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tarmoqlarida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adaptiv</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yo‘l-yo‘riqlar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algoritmlari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ma’lumot</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paketlari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tarmoqning</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bir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nuqtasidan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boshqasiga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hatto</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ular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orasidagi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bir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yoki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bir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nechta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tugunlar</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etishmayotganligiga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ishonch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hosil</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qilish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uchun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ishlatiladi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Adaptiv</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yo‘l-yo‘riq</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kontseptsiyasi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shuningdek</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global</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joylashuvni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aniqlash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tizimlarida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harakatlanish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yo‘nalishini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ta’minlash</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uchun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dasturiy</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ta’minotdan</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foydalanadi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va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sun’iy</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aql</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kabi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boshqa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ilovalarda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ham</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qo‘llanilishi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mumkin</a:t>
            </a:r>
            <a:r>
              <a:rPr lang="ru-RU"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butun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dunyo</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moslashtirilgan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yo‘l-yo‘riqning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qulay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namunasi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tugunlardan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tugungacha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serverdan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serverga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o‘tadi</a:t>
            </a:r>
            <a:r>
              <a:rPr lang="en-US" sz="1900" dirty="0">
                <a:latin typeface="Times New Roman" pitchFamily="18" charset="0"/>
                <a:cs typeface="Times New Roman" pitchFamily="18" charset="0"/>
              </a:rPr>
              <a:t>. Internet </a:t>
            </a:r>
            <a:r>
              <a:rPr lang="en-US" sz="1900" dirty="0" err="1">
                <a:latin typeface="Times New Roman" pitchFamily="18" charset="0"/>
                <a:cs typeface="Times New Roman" pitchFamily="18" charset="0"/>
              </a:rPr>
              <a:t>dinamik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maxsus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marshrutlash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algoritmlarini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oshiradi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degani</a:t>
            </a:r>
            <a:r>
              <a:rPr lang="en-US" sz="1900" dirty="0">
                <a:latin typeface="Times New Roman" pitchFamily="18" charset="0"/>
                <a:cs typeface="Times New Roman" pitchFamily="18" charset="0"/>
              </a:rPr>
              <a:t>, agar </a:t>
            </a:r>
            <a:r>
              <a:rPr lang="en-US" sz="1900" dirty="0" err="1">
                <a:latin typeface="Times New Roman" pitchFamily="18" charset="0"/>
                <a:cs typeface="Times New Roman" pitchFamily="18" charset="0"/>
              </a:rPr>
              <a:t>ikki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shahar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o‘rtasida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nechta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yo‘q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qolsa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algoritmlar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barcha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mavjud</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tugunlar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shahardan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boshqasiga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yangi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yo‘lni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topadi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Moslashtirilgan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yo‘l-yo‘riqlarni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ishlatmaydigan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sobit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yo‘nalish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tanilgan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marshrutni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o‘zgartirish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jo‘natadigan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ko‘plab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yo‘llarga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ega</a:t>
            </a:r>
            <a:r>
              <a:rPr lang="en-US" sz="1900" dirty="0">
                <a:latin typeface="Times New Roman" pitchFamily="18" charset="0"/>
                <a:cs typeface="Times New Roman" pitchFamily="18" charset="0"/>
              </a:rPr>
              <a:t>, agar administrator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yo‘riqchiga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qayta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o‘tkazmasa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Ruxsat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marshrut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o‘zlarining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afzalliklariga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chunki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ba’zida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masofalarda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tezroq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ammo </a:t>
            </a:r>
            <a:r>
              <a:rPr lang="en-US" sz="1900" dirty="0" err="1">
                <a:latin typeface="Times New Roman" pitchFamily="18" charset="0"/>
                <a:cs typeface="Times New Roman" pitchFamily="18" charset="0"/>
              </a:rPr>
              <a:t>ular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zaiflikka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ega</a:t>
            </a:r>
            <a:r>
              <a:rPr lang="en-US" sz="1900" dirty="0">
                <a:latin typeface="Times New Roman" pitchFamily="18" charset="0"/>
                <a:cs typeface="Times New Roman" pitchFamily="18" charset="0"/>
              </a:rPr>
              <a:t>, agar </a:t>
            </a:r>
            <a:r>
              <a:rPr lang="en-US" sz="1900" dirty="0" err="1">
                <a:latin typeface="Times New Roman" pitchFamily="18" charset="0"/>
                <a:cs typeface="Times New Roman" pitchFamily="18" charset="0"/>
              </a:rPr>
              <a:t>muhim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tugun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xavf</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paketni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topshira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olmaydi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1582382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8636"/>
            <a:ext cx="8856984"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Hatto</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dinamik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ravishda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yo‘naltiriladigan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a:t>
            </a:r>
            <a:r>
              <a:rPr lang="en-US" sz="2000" dirty="0">
                <a:latin typeface="Times New Roman" pitchFamily="18" charset="0"/>
                <a:cs typeface="Times New Roman" pitchFamily="18" charset="0"/>
              </a:rPr>
              <a:t> ham,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qisqa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qisqa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birinchi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topilmaydi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qo‘llagan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qaysi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yo‘nalishlarning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hayotiy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qaysi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tezkor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ekanligini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aniqlash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harakatlanayotganda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topografiyasini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yig‘adi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holatiga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Shtat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tugunda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moslashtirilgan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marshrutizatsiya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maqsadlar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adaptiv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rouming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chiqilgan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O‘rtacha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tizimga</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Internetdagi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magistrallar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kabi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yirik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qayta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yo‘naltirish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Yonaltiruvchi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ma’lumoti</a:t>
            </a:r>
            <a:r>
              <a:rPr lang="en-US" sz="2000" dirty="0">
                <a:latin typeface="Times New Roman" pitchFamily="18" charset="0"/>
                <a:cs typeface="Times New Roman" pitchFamily="18" charset="0"/>
              </a:rPr>
              <a:t> (RIP) </a:t>
            </a:r>
            <a:r>
              <a:rPr lang="en-US" sz="2000" dirty="0" err="1">
                <a:latin typeface="Times New Roman" pitchFamily="18" charset="0"/>
                <a:cs typeface="Times New Roman" pitchFamily="18" charset="0"/>
              </a:rPr>
              <a:t>qisqa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masofalar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ideal. </a:t>
            </a:r>
            <a:r>
              <a:rPr lang="en-US" sz="2000" dirty="0" err="1">
                <a:latin typeface="Times New Roman" pitchFamily="18" charset="0"/>
                <a:cs typeface="Times New Roman" pitchFamily="18" charset="0"/>
              </a:rPr>
              <a:t>Ba’zi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eksperimental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holatini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bilmasdan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paketli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harakatning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samaradorligini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tugunidan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ikkinchisiga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topish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tushunchalar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shuningdek</a:t>
            </a:r>
            <a:r>
              <a:rPr lang="en-US" sz="2000" dirty="0">
                <a:latin typeface="Times New Roman" pitchFamily="18" charset="0"/>
                <a:cs typeface="Times New Roman" pitchFamily="18" charset="0"/>
              </a:rPr>
              <a:t>, global </a:t>
            </a:r>
            <a:r>
              <a:rPr lang="en-US" sz="2000" dirty="0" err="1">
                <a:latin typeface="Times New Roman" pitchFamily="18" charset="0"/>
                <a:cs typeface="Times New Roman" pitchFamily="18" charset="0"/>
              </a:rPr>
              <a:t>joylashtirish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kabi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ilovalarda</a:t>
            </a:r>
            <a:r>
              <a:rPr lang="en-US" sz="2000" dirty="0">
                <a:latin typeface="Times New Roman" pitchFamily="18" charset="0"/>
                <a:cs typeface="Times New Roman" pitchFamily="18" charset="0"/>
              </a:rPr>
              <a:t> ham </a:t>
            </a:r>
            <a:r>
              <a:rPr lang="en-US" sz="2000" dirty="0" err="1">
                <a:latin typeface="Times New Roman" pitchFamily="18" charset="0"/>
                <a:cs typeface="Times New Roman" pitchFamily="18" charset="0"/>
              </a:rPr>
              <a:t>qo‘llanilishi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ko‘chalari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haqida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ikkinchisiga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samarali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marshrutni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jihatdan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ifodalash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Haqiqiy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tugunga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shahar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ko‘chasiga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belgilanadigan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kursni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qurishga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imkon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vazn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qo‘shishingiz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Adaptiv marshrutizatsiyalar, xozirgi kunda mavjud tarmoqda ishlatilib kelayotganligi xamda paketlarni tarmoqda uzatish uchun marshrutlarini aniqlash bu ma’lumot tarmoqning xolatiga qarab aniqlanganligi inobatga olib Adaptiv marshrutizatsiyalar quyidagilarga bo‘linadi: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463721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 y="253"/>
            <a:ext cx="9144001" cy="6863417"/>
          </a:xfrm>
          <a:prstGeom prst="rect">
            <a:avLst/>
          </a:prstGeom>
        </p:spPr>
        <p:txBody>
          <a:bodyPr wrap="square">
            <a:spAutoFit/>
          </a:bodyPr>
          <a:lstStyle/>
          <a:p>
            <a:pPr marL="342900" lvl="0" indent="-342900" algn="just">
              <a:buFont typeface="Arial" pitchFamily="34" charset="0"/>
              <a:buChar char="•"/>
            </a:pPr>
            <a:r>
              <a:rPr lang="uz-Cyrl-UZ" sz="2000" dirty="0">
                <a:latin typeface="Times New Roman" pitchFamily="18" charset="0"/>
                <a:cs typeface="Times New Roman" pitchFamily="18" charset="0"/>
              </a:rPr>
              <a:t>Lokal adaptiv marshrutizatsilash;</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Tarqatilgan adaptiv marshrutizatsiya;</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Markazlashgan adaptiv marshrutizatsiya.</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Lokal </a:t>
            </a:r>
            <a:r>
              <a:rPr lang="uz-Cyrl-UZ" sz="2000" dirty="0">
                <a:latin typeface="Times New Roman" pitchFamily="18" charset="0"/>
                <a:cs typeface="Times New Roman" pitchFamily="18" charset="0"/>
              </a:rPr>
              <a:t>adaptiv marshrutizatsiya. Ishlab chiqarish va rivojlantirish nuqtai nazaridan adaptiv marshrutizatsiyaning boshqa uslublariga nisbatan lokal adaptiv marshrutizatsiya odiy hisoblanadi, qaysiki marshrutizatsiya jadvali faqatgina shu tugunga va unga qo‘shni bo‘lgan tugunlarga ta’luqli ma’lumotlar asosida quriladi. Qaror qabul qilishda zarur bo‘lgan ma’lumotlar, marshrutizatsiya jadvalida tarmoqlarni oldindan yuklanishini (nagrujennost) o‘zida ifoda etadi, chiqish kanallarini  o‘tuvchi axborotilar uchun uning xolatini (ochiq yoki yopiq) va paketlar navbatining uzunligi, har bir kanallar uchun uzatishni kutuvchi vaqtini o‘z ichiga oladi. </a:t>
            </a:r>
            <a:r>
              <a:rPr lang="uz-Cyrl-UZ" sz="2000" dirty="0" smtClean="0">
                <a:latin typeface="Times New Roman" pitchFamily="18" charset="0"/>
                <a:cs typeface="Times New Roman" pitchFamily="18" charset="0"/>
              </a:rPr>
              <a:t>Lokal </a:t>
            </a:r>
            <a:r>
              <a:rPr lang="uz-Cyrl-UZ" sz="2000" dirty="0">
                <a:latin typeface="Times New Roman" pitchFamily="18" charset="0"/>
                <a:cs typeface="Times New Roman" pitchFamily="18" charset="0"/>
              </a:rPr>
              <a:t>adaptiv marshrutizatsiya uslubi orqali marshrutizatsiya jadvalini xosil qilishda asosan kanallarni xolati, tarmoq topologiyasi, kutish vaqtlarini inobatga olgan xolda tuziladi. Bu tuzilishlar juda ko‘p xisoblashlar natijasida amalga oshiriladi.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Markazlashmagan (raspredelennaya) adaptiv marshrutizatsiya. Ushbu uslubning asosiy maqsadi, bu tarmoqda uzatilayotgan paketlar uchun eng qisqa yo‘lni tanlash. Buning uchun xar bir tugun tarmoqdagi barcha tugunlar uchun ushbu tugundagi xolatini inobatga olgan xolda eng qisqa marshrutini tanlab matritsa marshrutizatsiyani tayyorlaydi va xar bir tugunga tarqatadi.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 </a:t>
            </a:r>
            <a:r>
              <a:rPr lang="uz-Cyrl-UZ" sz="2000" dirty="0">
                <a:latin typeface="Times New Roman" pitchFamily="18" charset="0"/>
                <a:cs typeface="Times New Roman" pitchFamily="18" charset="0"/>
              </a:rPr>
              <a:t>ishga tushirilishidan oldin kutish vaqti, marshrutizatsiya jadvallari asosan tarmoq topologiyasini inobatga olgan xolda tuziladi, so‘ngra tarmoqning real xolati uchun, o‘lchov ishlarini amalga oshirib  o‘zgartiriladi.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968044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38408"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Xar </a:t>
            </a:r>
            <a:r>
              <a:rPr lang="uz-Cyrl-UZ" sz="2000" dirty="0">
                <a:latin typeface="Times New Roman" pitchFamily="18" charset="0"/>
                <a:cs typeface="Times New Roman" pitchFamily="18" charset="0"/>
              </a:rPr>
              <a:t>bir tugun o‘zning real xolatidan kelib chiqib kutish vaqtini hisoblab boshqa tugunlarga uzatadi. Boshqa tugunlar xam o‘z navbatida, kutish vaqtlarini hisoblab, boshqa tugunlarga uzatadilar. Kutish vaqlari almashinuvi tugagandan so‘ng, xar bir tugun tarmoqdagi tugunlar xolatini inobatga olgan xolda o‘zida kutish vaqti bo‘yicha qayta xisoblab mashrutizatsiya jadvalini tuzadi. </a:t>
            </a:r>
            <a:r>
              <a:rPr lang="uz-Cyrl-UZ" sz="2000" dirty="0" smtClean="0">
                <a:latin typeface="Times New Roman" pitchFamily="18" charset="0"/>
                <a:cs typeface="Times New Roman" pitchFamily="18" charset="0"/>
              </a:rPr>
              <a:t>Tarmoqda </a:t>
            </a:r>
            <a:r>
              <a:rPr lang="uz-Cyrl-UZ" sz="2000" dirty="0">
                <a:latin typeface="Times New Roman" pitchFamily="18" charset="0"/>
                <a:cs typeface="Times New Roman" pitchFamily="18" charset="0"/>
              </a:rPr>
              <a:t>tugunlar orasidagi kutish vaqtlari bo‘yicha tuzilgan marshutizatsiya jadvallarini almashinuvi o‘z navbatida yordamchi (slujebniy) yuklamani oshishiga sabab bo‘ldi. Tarmoqda tugunlar orasidagi kutish vaqtlari bo‘yicha tuzilgan marshutizatsiya jadvallarini almashinuvi 2-3 sekund orasida amalga oshirildi. Bu o‘z navbatida, tarmoqda tugunlar orasidagi kutish vaqtlari bo‘yicha tuzilgan marshutizatsiya jadvallarini almashinuvi kanallarning o‘tkazuvchanlik qobiliyatlarini 50foiz band etdi. Shu sabali tarmoqda sinxron ravishda tugunlararo marshutizatsiya jadvallarini almashinuvi to‘xtatilib, asinxorn almashinuviga o‘tilishi taklif etildi. Asinxron almashinuv bu asosan qaysi tugunda “ko‘proq o‘zgarish” sodir bo‘lgan bo‘lsa, shu tugun boshqa tugunlarga o‘zgarish natijalarini uzatadi. Buning natijasida tarmoqdagi kanallarning o‘tkazuvchanlik qobiliyatlarini yordamchi yuklamalar tomonidan band etilishi keskish kamaytiradi. Ushbu uslub tarmoqda o‘z qo‘llanishini topmadi. Bu yerda “ko‘proq o‘zgarish”ni aniqlash mushkil masala </a:t>
            </a:r>
            <a:r>
              <a:rPr lang="uz-Cyrl-UZ" sz="2000" dirty="0" smtClean="0">
                <a:latin typeface="Times New Roman" pitchFamily="18" charset="0"/>
                <a:cs typeface="Times New Roman" pitchFamily="18" charset="0"/>
              </a:rPr>
              <a:t>xisoblanadi.</a:t>
            </a:r>
            <a:r>
              <a:rPr lang="en-US" sz="2000" dirty="0" smtClean="0">
                <a:latin typeface="Times New Roman" pitchFamily="18" charset="0"/>
                <a:cs typeface="Times New Roman" pitchFamily="18" charset="0"/>
              </a:rPr>
              <a:t> </a:t>
            </a:r>
          </a:p>
          <a:p>
            <a:pPr algn="just"/>
            <a:r>
              <a:rPr lang="en-US" sz="2000" dirty="0">
                <a:latin typeface="Times New Roman" pitchFamily="18" charset="0"/>
                <a:cs typeface="Times New Roman" pitchFamily="18" charset="0"/>
              </a:rPr>
              <a:t>	</a:t>
            </a:r>
            <a:r>
              <a:rPr lang="uz-Cyrl-UZ" sz="2000" dirty="0" smtClean="0">
                <a:latin typeface="Times New Roman" pitchFamily="18" charset="0"/>
                <a:cs typeface="Times New Roman" pitchFamily="18" charset="0"/>
              </a:rPr>
              <a:t>Asinxron </a:t>
            </a:r>
            <a:r>
              <a:rPr lang="uz-Cyrl-UZ" sz="2000" dirty="0">
                <a:latin typeface="Times New Roman" pitchFamily="18" charset="0"/>
                <a:cs typeface="Times New Roman" pitchFamily="18" charset="0"/>
              </a:rPr>
              <a:t>usul katta foyda berishi mumkinligiga qaramay, u ARPA tarmog‘iga joriy etilmadi. Amalga oshirilgan yagona o‘rganish shundan iborat bo‘ldiki, o‘tkazish polosasi tor bo‘lgan kanallar bo‘yicha kutilib qolishlar jadvallarini almashish chastotasi kamaydi, bu xizmat trafiki ulushini kamaytirishning yetarlicha oqilona vositasi bo‘ladi.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269705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3374" y="116632"/>
            <a:ext cx="8928992" cy="6247864"/>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Tarmoqning </a:t>
            </a:r>
            <a:r>
              <a:rPr lang="uz-Cyrl-UZ" sz="2000" dirty="0">
                <a:latin typeface="Times New Roman" pitchFamily="18" charset="0"/>
                <a:cs typeface="Times New Roman" pitchFamily="18" charset="0"/>
              </a:rPr>
              <a:t>xolati to‘g‘risidagi axborotni yangilashning sinxron rejimi (tarkibi)da tarmoqning uzoqlashgan uchastkalarida yuz berayotgan xodisalarga tugunlarning moslashish tezligi muqarrar juda kichik bo‘ladi. Masalan, ARPA tarmog‘ida Shimoliy Amerika qiy’asi orqali eng uzun        liniyalardan biri bo‘yicha marshrut (yo‘nalishi) axborotining tarqalish vaqti tugundan -tugungacha uzatish 2/3 s bo‘lib, bir necha sekundga yetadi. Shuning uchun tarmoq tugunlarini uning biror komponentidagi nosozlik to‘g‘risida xabardor qilish uchun, u yo‘nalishlar tizimini ancha qayta qurishni talab qilgani sababli, juda ko‘p vaqt talab etiladi. Yangi yo‘nalishlar ishlab chiqilmaguncha, tugunlar trafikni eski yo‘llar bo‘yicha jo‘natadi, bu tarmoqning nosoz komponenti atrofida ortiqcha yuklanishini vujudga  keltirishi mumkin. Bu mulohozalar asinxron uslub(rejim) foydasiga yana bir dalil bo‘lib, bunda marshritlarni (yo‘nalishlarni) qayta qurish sinxron uslub uchun, xos bo‘lgan har bir bo‘g‘inda majburiy 2/3 sekundni mavjudligi, asinxron uslublarda esa- sezilarli o‘zgarishini ma’lum bo‘lishi bilan darxol marshrutizatsiya jadvallariga o‘zgartirilishlar kirititlishi yuz beradi.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Tugunlar </a:t>
            </a:r>
            <a:r>
              <a:rPr lang="uz-Cyrl-UZ" sz="2000" dirty="0">
                <a:latin typeface="Times New Roman" pitchFamily="18" charset="0"/>
                <a:cs typeface="Times New Roman" pitchFamily="18" charset="0"/>
              </a:rPr>
              <a:t>orasidagi minimal kutilishlar jadvallarini almashtirish yo‘li bilan marshrutlarni  boshqarish jarayoni kutilishlarini kamaytirishga moslashishning xaqiqatan xam yaxshi qobiliyati bilan ifodalanadi, biroq ikkinchi tomondan u kutilishni ortishiga sekinroq ta’sir ko‘rsatadi: boshqacha aytganda, “yaxshi xabarlarga” tez moslashish, “yomon xabarlarga” skin moslashish yuz beradi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532522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6836" y="116631"/>
            <a:ext cx="8928992" cy="6555641"/>
          </a:xfrm>
          <a:prstGeom prst="rect">
            <a:avLst/>
          </a:prstGeom>
        </p:spPr>
        <p:txBody>
          <a:bodyPr wrap="square">
            <a:spAutoFit/>
          </a:bodyPr>
          <a:lstStyle/>
          <a:p>
            <a:pPr algn="just"/>
            <a:r>
              <a:rPr lang="uz-Cyrl-UZ" sz="2000" dirty="0">
                <a:latin typeface="Times New Roman" pitchFamily="18" charset="0"/>
                <a:cs typeface="Times New Roman" pitchFamily="18" charset="0"/>
              </a:rPr>
              <a:t>Markazlashgan adaptiv marshrutizatsiya.</a:t>
            </a:r>
            <a:r>
              <a:rPr lang="uz-Cyrl-UZ" sz="2000" b="1" dirty="0">
                <a:latin typeface="Times New Roman" pitchFamily="18" charset="0"/>
                <a:cs typeface="Times New Roman" pitchFamily="18" charset="0"/>
              </a:rPr>
              <a:t> </a:t>
            </a:r>
            <a:r>
              <a:rPr lang="uz-Cyrl-UZ" sz="2000" dirty="0">
                <a:latin typeface="Times New Roman" pitchFamily="18" charset="0"/>
                <a:cs typeface="Times New Roman" pitchFamily="18" charset="0"/>
              </a:rPr>
              <a:t>Shu paytgacha muxokama qilingan marshrutlashtirishning adaptiv algoritmlari o‘z ishlari uchun yoki maxaliy axborotdan, yoki qo‘shni tugunlar bilan almashuv jarayonida olingan axborotdan foydalanadi. Biz bunday turdagi algoritmlar tarmoqdagi uzoq joylashgan hodisalarga juda sekin moslashishini, bu marshrut  axborotining tarmoq bo‘ylab tarqalish tezligi kichik ekanligi oqibatida yuz berishini ta’qidlab o‘tgan edik. Shuning uchun axborotlarni ishlab chiquvchilar o‘z qarorlarini butun tarmoq xolati to‘g‘risidagi axborotga asoslangan usullarni izlashdi. Butun tarmoq xolati to‘g‘risidagi tushunchani shakllantirish usullaridan biri, tarmoqda marshrutlashtirish markazini tashkil etishdir, shunda tarmoq markazlashgan adaptiv marshrutlashtirishi prinsipi bo‘yicha faoliyat ko‘rsatadi. Bunday marshrutlashtirishda tarmoqning xar bir bo‘g‘ini o‘zining xolati to‘g‘risida xabar tayyorlab turadi, unda navbatlarning joriy uzunliklari, traktlarining ish qobiliyati va x.k. lar to‘g‘risida axborot bo‘ladi, bu xabarlar tarmoqning marshrutlashtirish markaziga uzatiladi. Bunday xabarlar yig‘indisidan markaziy bog‘lama tarmoq holatining global manzarasini tuzadi, undan foydalanib u tarmoqda trafik uchun eng yaxshi yo‘nalishlarni (marshrutlarni) aniqlab berish mumkin. Bu yo‘nalishlar marshrutlashtirish jadvallari ko‘rinishida rasmiylashtirilib, tarmoqning barcha tugunlariga tarqatiladi. Tarmoqning xolati to‘g‘risidagi axborotni to‘plash uchun, boshqaruvchi markaz boshqarish ko‘rsatmalarini tarqatish usuliga bog‘liq holda tarmoqdagi marshrutlash tartibi sinxron va asinxron bo‘lishi mumkin.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66259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4496" y="0"/>
            <a:ext cx="9036496"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Sinxron </a:t>
            </a:r>
            <a:r>
              <a:rPr lang="uz-Cyrl-UZ" sz="2000" dirty="0">
                <a:latin typeface="Times New Roman" pitchFamily="18" charset="0"/>
                <a:cs typeface="Times New Roman" pitchFamily="18" charset="0"/>
              </a:rPr>
              <a:t>tartibda marshrutlashtirish maqsadlari uchun uzatiladigan xizmatchi axborotning hajmi haddan tashqari katta bo‘lishi mumkin, ayniqsa pog‘onali  topologiyali  tarmoqlar uchun va bu mashrutlashtirish uchun katta xarajatlar sarflashga olib keladi. Asinxron tartibda xizmatchi axborotlar oqimi ancha kam bo‘lganda. </a:t>
            </a:r>
            <a:r>
              <a:rPr lang="uz-Cyrl-UZ" sz="2000" dirty="0" smtClean="0">
                <a:latin typeface="Times New Roman" pitchFamily="18" charset="0"/>
                <a:cs typeface="Times New Roman" pitchFamily="18" charset="0"/>
              </a:rPr>
              <a:t>Markaz </a:t>
            </a:r>
            <a:r>
              <a:rPr lang="uz-Cyrl-UZ" sz="2000" dirty="0">
                <a:latin typeface="Times New Roman" pitchFamily="18" charset="0"/>
                <a:cs typeface="Times New Roman" pitchFamily="18" charset="0"/>
              </a:rPr>
              <a:t>marshrutlarini hisob-kitob qilishni tugatgandan so‘ng, bu o‘z-o‘zidan ko‘p vaqtni talab qilishi mumkin, marshrutlashtirishning yangilangan jadvallarini tarmoqning barcha tugunlariga qayta jo‘natish ham ancha vaqt olishi mumkin. Shunday qilib, marshrutizalashtirish markazi qisman eskirgan axborot asosida harakat qiladi va tugunlarga boshqaruvchi farmoyishlar chiqaradi, ular esa tarmoq tugunlarida olingan vaqtda yana ham eskirgan bo‘ladi. Trafik oqimlari juda tez o‘zgaradigan tarmoq uchun bu turdagi marshrutlashtirish algoritmi yetarlicha samarali bo‘lishini aytish qiyin. </a:t>
            </a:r>
            <a:r>
              <a:rPr lang="uz-Cyrl-UZ" sz="2000" dirty="0" smtClean="0">
                <a:latin typeface="Times New Roman" pitchFamily="18" charset="0"/>
                <a:cs typeface="Times New Roman" pitchFamily="18" charset="0"/>
              </a:rPr>
              <a:t>Markaziy </a:t>
            </a:r>
            <a:r>
              <a:rPr lang="uz-Cyrl-UZ" sz="2000" dirty="0">
                <a:latin typeface="Times New Roman" pitchFamily="18" charset="0"/>
                <a:cs typeface="Times New Roman" pitchFamily="18" charset="0"/>
              </a:rPr>
              <a:t>boshqaruvchi tugunining mavjudligi tarmoqda marshrutlashtirishni boshqarishning yo‘qotilishiga olib kelishi mumkin. Masalan, markaziy tugun ishdan chiqganda yoki undan tarmoq qismi izolyatsiya (ajratilganda) langanda, bu holda tugunlar markazdan olingan oxirgi marshrutlashtirish jadvallaridan foydalanishda davom etishlari kerak. Boshqaruvchi markazdan voz kechishdan ximoya qiluvchi choralardan biri tarmoqning turli qismlarida marshrutlashtirishning qo‘shimcha zaxira markazlarini kiritishdan iborat bo‘lib, ularning xar biri boshqaruvchi markaz ishdan chiqib qolganda tarmoqni boshqarishni o‘z zimmasiga o‘tkazishi mumkin bo‘lsin. Boshqarishning yordamchi markazga o‘tishini aniqlash, boshqarishni asosiy boshqaruvchi markazga uning ish qobiliyati tiklanganidan so‘ng yoki aloqa liniyalari tiklangandan so‘ng qayta o‘tkazish ishlari amalga oshiriladi.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016147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8856984" cy="4524315"/>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pPr algn="just"/>
            <a:r>
              <a:rPr lang="uz-Cyrl-UZ"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Oddiy marshrutizatsiya algoritmi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Belgilangan marshrutizatsiya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Adaptiv marshrutizatsiya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Tasodifiy kanallarni tanlash</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Tugundagi kichik kutish vaqti bo‘yicha kanallarni tanlash;</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Lovinali marshrutizatsiya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Lokal adaptiv marshrutizatsilash</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Tarqatilgan adaptiv marshrutizatsiya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Markazlashgan adaptiv marshrutizatsiya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Marshrutizatsiyaning oddiy turlari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93619963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870</Words>
  <Application>Microsoft Office PowerPoint</Application>
  <PresentationFormat>Экран (4:3)</PresentationFormat>
  <Paragraphs>52</Paragraphs>
  <Slides>15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15</vt:i4>
      </vt:variant>
    </vt:vector>
  </HeadingPairs>
  <TitlesOfParts>
    <vt:vector size="16"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31</cp:revision>
  <dcterms:created xsi:type="dcterms:W3CDTF">2020-02-10T04:46:41Z</dcterms:created>
  <dcterms:modified xsi:type="dcterms:W3CDTF">2024-03-11T05:30:31Z</dcterms:modified>
</cp:coreProperties>
</file>