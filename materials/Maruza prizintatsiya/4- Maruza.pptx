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13" r:id="rId12"/>
    <p:sldId id="312" r:id="rId1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07.10.2021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07.10.2021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07.10.2021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talaba@tuit.uz"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4</a:t>
            </a:r>
            <a:r>
              <a:rPr lang="en-US" sz="2400" b="1"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dirty="0" err="1" smtClean="0">
                <a:solidFill>
                  <a:schemeClr val="tx1"/>
                </a:solidFill>
                <a:latin typeface="Times New Roman" pitchFamily="18" charset="0"/>
                <a:cs typeface="Times New Roman" pitchFamily="18" charset="0"/>
              </a:rPr>
              <a:t>Mavzu</a:t>
            </a:r>
            <a:r>
              <a:rPr lang="en-US" dirty="0" smtClean="0">
                <a:solidFill>
                  <a:schemeClr val="tx1"/>
                </a:solidFill>
                <a:latin typeface="Times New Roman" pitchFamily="18" charset="0"/>
                <a:cs typeface="Times New Roman" pitchFamily="18" charset="0"/>
              </a:rPr>
              <a:t>: </a:t>
            </a:r>
            <a:r>
              <a:rPr lang="uz-Cyrl-UZ" dirty="0">
                <a:solidFill>
                  <a:schemeClr val="tx1"/>
                </a:solidFill>
                <a:latin typeface="Times New Roman" pitchFamily="18" charset="0"/>
                <a:cs typeface="Times New Roman" pitchFamily="18" charset="0"/>
              </a:rPr>
              <a:t>Elektron pochta tarmoq dasturini yaratish asoslari.</a:t>
            </a:r>
            <a:endParaRPr lang="ru-RU" dirty="0">
              <a:solidFill>
                <a:schemeClr val="tx1"/>
              </a:solidFill>
              <a:latin typeface="Times New Roman" pitchFamily="18" charset="0"/>
              <a:cs typeface="Times New Roman" pitchFamily="18" charset="0"/>
            </a:endParaRPr>
          </a:p>
          <a:p>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smtClean="0">
                <a:latin typeface="Times New Roman" pitchFamily="18" charset="0"/>
                <a:cs typeface="Times New Roman" pitchFamily="18" charset="0"/>
              </a:rPr>
              <a:t>2021</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t>Elektron pochta: xabarlar uzatish xizmatining asosiy tushunchalari, xususiyatlari va afzalliklari</a:t>
            </a:r>
            <a:endParaRPr lang="ru-RU" sz="2400" dirty="0"/>
          </a:p>
          <a:p>
            <a:pPr marL="457200" lvl="0" indent="-457200">
              <a:buFont typeface="+mj-lt"/>
              <a:buAutoNum type="arabicPeriod"/>
            </a:pPr>
            <a:r>
              <a:rPr lang="uz-Cyrl-UZ" sz="2400" dirty="0"/>
              <a:t>Internetda elektron pochta xizmatlarini tashkillashtirish</a:t>
            </a:r>
            <a:endParaRPr lang="ru-RU" sz="2400" dirty="0"/>
          </a:p>
          <a:p>
            <a:pPr marL="457200" lvl="0" indent="-457200">
              <a:buFont typeface="+mj-lt"/>
              <a:buAutoNum type="arabicPeriod"/>
            </a:pPr>
            <a:r>
              <a:rPr lang="uz-Cyrl-UZ" sz="2400" dirty="0"/>
              <a:t>Elektron pochta protokollari</a:t>
            </a: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3246"/>
            <a:ext cx="9144000" cy="6555641"/>
          </a:xfrm>
          <a:prstGeom prst="rect">
            <a:avLst/>
          </a:prstGeom>
        </p:spPr>
        <p:txBody>
          <a:bodyPr wrap="square">
            <a:spAutoFit/>
          </a:bodyPr>
          <a:lstStyle/>
          <a:p>
            <a:pPr algn="ctr"/>
            <a:r>
              <a:rPr lang="uz-Cyrl-UZ" sz="2000" i="1" dirty="0">
                <a:latin typeface="Times New Roman" pitchFamily="18" charset="0"/>
                <a:cs typeface="Times New Roman" pitchFamily="18" charset="0"/>
              </a:rPr>
              <a:t>1. Elektron pochta: xabarlar uzatish xizmatining asosiy tushunchalari, xususiyatlari va afzalliklari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Elektron </a:t>
            </a:r>
            <a:r>
              <a:rPr lang="uz-Cyrl-UZ" sz="2000" dirty="0">
                <a:latin typeface="Times New Roman" pitchFamily="18" charset="0"/>
                <a:cs typeface="Times New Roman" pitchFamily="18" charset="0"/>
              </a:rPr>
              <a:t>pochta servisi - In</a:t>
            </a:r>
            <a:r>
              <a:rPr lang="en-US" sz="2000" dirty="0" err="1">
                <a:latin typeface="Times New Roman" pitchFamily="18" charset="0"/>
                <a:cs typeface="Times New Roman" pitchFamily="18" charset="0"/>
              </a:rPr>
              <a:t>ternetda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qadimiy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oddiy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taqqoslash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U ham </a:t>
            </a:r>
            <a:r>
              <a:rPr lang="en-US" sz="2000" dirty="0" err="1">
                <a:latin typeface="Times New Roman" pitchFamily="18" charset="0"/>
                <a:cs typeface="Times New Roman" pitchFamily="18" charset="0"/>
              </a:rPr>
              <a:t>yozma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xabarlarni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afzalliklarga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egaki</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xabarlarni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istalgan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jo‘natishi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Xaqiqatan</a:t>
            </a:r>
            <a:r>
              <a:rPr lang="en-US" sz="2000" dirty="0">
                <a:latin typeface="Times New Roman" pitchFamily="18" charset="0"/>
                <a:cs typeface="Times New Roman" pitchFamily="18" charset="0"/>
              </a:rPr>
              <a:t> ham E-mail </a:t>
            </a:r>
            <a:r>
              <a:rPr lang="en-US" sz="2000" dirty="0" err="1">
                <a:latin typeface="Times New Roman" pitchFamily="18" charset="0"/>
                <a:cs typeface="Times New Roman" pitchFamily="18" charset="0"/>
              </a:rPr>
              <a:t>yuborayotib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odatdagi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kabi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qaerga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kimga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yuborilayotgani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teskari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faqat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nomlar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albatta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kopirka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jo‘natishingiz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keyingi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oddiy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jo‘natishni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eslatadi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bog‘lanasiz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odatda</a:t>
            </a:r>
            <a:r>
              <a:rPr lang="en-US" sz="2000" dirty="0">
                <a:latin typeface="Times New Roman" pitchFamily="18" charset="0"/>
                <a:cs typeface="Times New Roman" pitchFamily="18" charset="0"/>
              </a:rPr>
              <a:t> POP3 - Post Office Protocol -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r>
              <a:rPr lang="en-US" sz="2000" dirty="0">
                <a:latin typeface="Times New Roman" pitchFamily="18" charset="0"/>
                <a:cs typeface="Times New Roman" pitchFamily="18" charset="0"/>
              </a:rPr>
              <a:t>, 3-versiya)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jo‘natasiz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borasiz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Keyin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yetkazib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qiladi</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yerdan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Odatda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jo‘natilgan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zaxoti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idishida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saqlanadi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oddiy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nisbatan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kuchliroq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egiluvchandir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xabarlarni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shunchaki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yetkazishga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nisbatan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xizmatlarni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kengroq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tavsiya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matndan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tashqari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ovozli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grafikli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hamda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dasturlarni</a:t>
            </a:r>
            <a:r>
              <a:rPr lang="en-US" sz="2000" dirty="0">
                <a:latin typeface="Times New Roman" pitchFamily="18" charset="0"/>
                <a:cs typeface="Times New Roman" pitchFamily="18" charset="0"/>
              </a:rPr>
              <a:t> ham </a:t>
            </a:r>
            <a:r>
              <a:rPr lang="en-US" sz="2000" dirty="0" err="1">
                <a:latin typeface="Times New Roman" pitchFamily="18" charset="0"/>
                <a:cs typeface="Times New Roman" pitchFamily="18" charset="0"/>
              </a:rPr>
              <a:t>o‘zida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afzalligi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yetkazib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berishidir</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249712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247864"/>
          </a:xfrm>
          <a:prstGeom prst="rect">
            <a:avLst/>
          </a:prstGeom>
        </p:spPr>
        <p:txBody>
          <a:bodyPr wrap="square">
            <a:spAutoFit/>
          </a:bodyPr>
          <a:lstStyle/>
          <a:p>
            <a:pPr algn="ctr"/>
            <a:r>
              <a:rPr lang="en-US" sz="2000" i="1" dirty="0">
                <a:latin typeface="Times New Roman" pitchFamily="18" charset="0"/>
                <a:cs typeface="Times New Roman" pitchFamily="18" charset="0"/>
              </a:rPr>
              <a:t>1.2. </a:t>
            </a:r>
            <a:r>
              <a:rPr lang="en-US" sz="2000" i="1" dirty="0" err="1">
                <a:latin typeface="Times New Roman" pitchFamily="18" charset="0"/>
                <a:cs typeface="Times New Roman" pitchFamily="18" charset="0"/>
              </a:rPr>
              <a:t>Internetda</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e</a:t>
            </a:r>
            <a:r>
              <a:rPr lang="en-US" sz="2000" i="1" dirty="0" err="1">
                <a:latin typeface="Times New Roman" pitchFamily="18" charset="0"/>
                <a:cs typeface="Times New Roman" pitchFamily="18" charset="0"/>
              </a:rPr>
              <a:t>lektron</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pochta xizmatlarini tashkillashtirish</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Elektron</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 </a:t>
            </a:r>
            <a:r>
              <a:rPr lang="uz-Cyrl-UZ" sz="2000" dirty="0">
                <a:latin typeface="Times New Roman" pitchFamily="18" charset="0"/>
                <a:cs typeface="Times New Roman" pitchFamily="18" charset="0"/>
              </a:rPr>
              <a:t>internet va korporativ tarmoqlarda eng ko‘p qo‘llaniluvchi aloqa xizmatlaridan biri hisoblanadi. U shunchaki xabarlar almashish usuli bo‘lib qolmay, bugungi kunda biznes jarayonlarida elektron dokumentlar almashishni ta’minlovchi, axborotlarni taqsimlovchi asosiy kommunikatsiya vositasi hisoblanadi. Elektron pochta xizmatining asosiy bajaradigan vazifalari quyidagilar hisoblanadi:</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Ichki va tashqi tizimlar o‘rtasida axborot almashishni ta’minlaydi;</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Elektron hujjat almashish tizimlarining komponenti hisoblanadi;</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Korporativ ilovalarning transport protokolini tashkillashtiriladi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Elektron tijorat infrastrukturasini tashkillashtirish vositasi hisoblanadi;</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Bugungi kunda eng keng taralgan sotsial axborot almashish xizmati hisoblanadi.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Yuqorida </a:t>
            </a:r>
            <a:r>
              <a:rPr lang="uz-Cyrl-UZ" sz="2000" dirty="0">
                <a:latin typeface="Times New Roman" pitchFamily="18" charset="0"/>
                <a:cs typeface="Times New Roman" pitchFamily="18" charset="0"/>
              </a:rPr>
              <a:t>keltirilgan funksiyalari sababli elektron pochta bugungi kunda muxim vazifani ta’minlaydi – yagona informatsion muhitni ta’minlaydi. Birinchi navbatda elektron pochta umumiy kommunikatsion infrastruktura yaratishni ta’minlaydi. Shuningdek, odamlar, alohida kompaniya bo‘limlari va turli organizatsiyalar o‘rtasida xabarlar va ma’lumotlar almashishni osonlashtiradi.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Elektron </a:t>
            </a:r>
            <a:r>
              <a:rPr lang="uz-Cyrl-UZ" sz="2000" dirty="0">
                <a:latin typeface="Times New Roman" pitchFamily="18" charset="0"/>
                <a:cs typeface="Times New Roman" pitchFamily="18" charset="0"/>
              </a:rPr>
              <a:t>pochta dastlab alohida kishilar o‘rtasida ma’lumot almashishni ta’minlagan bo‘lsa, bugungi kunda elektron ko‘rinishda hujjatlar almashishga o‘tishda ish samaradorligini oshirish va vaqtni tejash kabi yangi imkoniyatlarni ta’minlamoqda.</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049738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34584"/>
            <a:ext cx="9144000" cy="3724096"/>
          </a:xfrm>
          <a:prstGeom prst="rect">
            <a:avLst/>
          </a:prstGeom>
        </p:spPr>
        <p:txBody>
          <a:bodyPr wrap="square">
            <a:spAutoFit/>
          </a:bodyPr>
          <a:lstStyle/>
          <a:p>
            <a:pPr algn="just"/>
            <a:r>
              <a:rPr lang="uz-Cyrl-UZ" sz="2000" dirty="0">
                <a:latin typeface="Times New Roman" pitchFamily="18" charset="0"/>
                <a:cs typeface="Times New Roman" pitchFamily="18" charset="0"/>
              </a:rPr>
              <a:t>Elektron pochta adresi quyidagi ko‘rinishda bo‘ladi: </a:t>
            </a:r>
            <a:r>
              <a:rPr lang="uz-Cyrl-UZ" sz="2000" dirty="0" smtClean="0">
                <a:latin typeface="Times New Roman" pitchFamily="18" charset="0"/>
                <a:cs typeface="Times New Roman" pitchFamily="18" charset="0"/>
              </a:rPr>
              <a:t>elektronpochta</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pocht</a:t>
            </a:r>
            <a:r>
              <a:rPr lang="uz-Cyrl-UZ" sz="2000" dirty="0">
                <a:latin typeface="Times New Roman" pitchFamily="18" charset="0"/>
                <a:cs typeface="Times New Roman" pitchFamily="18" charset="0"/>
              </a:rPr>
              <a:t>a</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domen</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hlinkClick r:id="rId2"/>
              </a:rPr>
              <a:t>talaba@tuit.uz</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Bu </a:t>
            </a:r>
            <a:r>
              <a:rPr lang="uz-Cyrl-UZ" sz="2000" dirty="0">
                <a:latin typeface="Times New Roman" pitchFamily="18" charset="0"/>
                <a:cs typeface="Times New Roman" pitchFamily="18" charset="0"/>
              </a:rPr>
              <a:t>yerda, </a:t>
            </a:r>
            <a:r>
              <a:rPr lang="en-US" sz="2000" dirty="0" err="1">
                <a:latin typeface="Times New Roman" pitchFamily="18" charset="0"/>
                <a:cs typeface="Times New Roman" pitchFamily="18" charset="0"/>
              </a:rPr>
              <a:t>pocht</a:t>
            </a:r>
            <a:r>
              <a:rPr lang="uz-Cyrl-UZ" sz="2000" dirty="0">
                <a:latin typeface="Times New Roman" pitchFamily="18" charset="0"/>
                <a:cs typeface="Times New Roman" pitchFamily="18" charset="0"/>
              </a:rPr>
              <a:t>a.</a:t>
            </a:r>
            <a:r>
              <a:rPr lang="en-US" sz="2000" dirty="0" err="1">
                <a:latin typeface="Times New Roman" pitchFamily="18" charset="0"/>
                <a:cs typeface="Times New Roman" pitchFamily="18" charset="0"/>
              </a:rPr>
              <a:t>domen</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 domen nomi, elektronpochta </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foydalanuvchi ismi, identifikatori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Pochta adresi bitta odamga, guruxga yoki tashkilotga tegishli bo‘lishi mumkin</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Elektron pochta tizimlarida asosiy rolni uch turdagi dasturlar o‘ynaydi</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en-US" sz="2000" dirty="0">
                <a:latin typeface="Times New Roman" pitchFamily="18" charset="0"/>
                <a:cs typeface="Times New Roman" pitchFamily="18" charset="0"/>
              </a:rPr>
              <a:t>Transport</a:t>
            </a:r>
            <a:r>
              <a:rPr lang="uz-Cyrl-UZ" sz="2000" dirty="0">
                <a:latin typeface="Times New Roman" pitchFamily="18" charset="0"/>
                <a:cs typeface="Times New Roman" pitchFamily="18" charset="0"/>
              </a:rPr>
              <a:t>  agentlari</a:t>
            </a:r>
            <a:r>
              <a:rPr lang="en-US" sz="2000" dirty="0">
                <a:latin typeface="Times New Roman" pitchFamily="18" charset="0"/>
                <a:cs typeface="Times New Roman" pitchFamily="18" charset="0"/>
              </a:rPr>
              <a:t> (MTA - Mail Transport Agent), </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Yetkazib berish agentlari</a:t>
            </a:r>
            <a:r>
              <a:rPr lang="en-US" sz="2000" dirty="0">
                <a:latin typeface="Times New Roman" pitchFamily="18" charset="0"/>
                <a:cs typeface="Times New Roman" pitchFamily="18" charset="0"/>
              </a:rPr>
              <a:t> (MDA - Mail Delivery Agent), </a:t>
            </a:r>
            <a:endParaRPr lang="ru-RU" sz="2000" dirty="0">
              <a:latin typeface="Times New Roman" pitchFamily="18" charset="0"/>
              <a:cs typeface="Times New Roman" pitchFamily="18" charset="0"/>
            </a:endParaRPr>
          </a:p>
          <a:p>
            <a:pPr marL="342900" lvl="0" indent="-342900" algn="just">
              <a:buFont typeface="Wingdings" pitchFamily="2" charset="2"/>
              <a:buChar char="Ø"/>
            </a:pPr>
            <a:r>
              <a:rPr lang="uz-Cyrl-UZ" sz="2000" dirty="0">
                <a:latin typeface="Times New Roman" pitchFamily="18" charset="0"/>
                <a:cs typeface="Times New Roman" pitchFamily="18" charset="0"/>
              </a:rPr>
              <a:t>Foydalanuvchi agentlari</a:t>
            </a:r>
            <a:r>
              <a:rPr lang="en-US" sz="2000" dirty="0">
                <a:latin typeface="Times New Roman" pitchFamily="18" charset="0"/>
                <a:cs typeface="Times New Roman" pitchFamily="18" charset="0"/>
              </a:rPr>
              <a:t> (MUA - Mail User Agent).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Elektron pochta tizimlarida ushbu dasturiy tizimlarining ishlashi va o‘zaro aloqasi </a:t>
            </a:r>
            <a:r>
              <a:rPr lang="en-US" sz="2000" dirty="0">
                <a:latin typeface="Times New Roman" pitchFamily="18" charset="0"/>
                <a:cs typeface="Times New Roman" pitchFamily="18" charset="0"/>
              </a:rPr>
              <a:t>4</a:t>
            </a:r>
            <a:r>
              <a:rPr lang="uz-Cyrl-UZ" sz="2000" dirty="0">
                <a:latin typeface="Times New Roman" pitchFamily="18" charset="0"/>
                <a:cs typeface="Times New Roman" pitchFamily="18" charset="0"/>
              </a:rPr>
              <a:t>.1</a:t>
            </a:r>
            <a:r>
              <a:rPr lang="en-US" sz="2000" dirty="0">
                <a:latin typeface="Times New Roman" pitchFamily="18" charset="0"/>
                <a:cs typeface="Times New Roman" pitchFamily="18" charset="0"/>
              </a:rPr>
              <a:t>-</a:t>
            </a:r>
            <a:r>
              <a:rPr lang="uz-Cyrl-UZ" sz="2000" dirty="0">
                <a:latin typeface="Times New Roman" pitchFamily="18" charset="0"/>
                <a:cs typeface="Times New Roman" pitchFamily="18" charset="0"/>
              </a:rPr>
              <a:t>rasmda keltirilgan. </a:t>
            </a:r>
            <a:endParaRPr lang="ru-RU" sz="2000" dirty="0">
              <a:latin typeface="Times New Roman" pitchFamily="18" charset="0"/>
              <a:cs typeface="Times New Roman" pitchFamily="18" charset="0"/>
            </a:endParaRPr>
          </a:p>
          <a:p>
            <a:endParaRPr lang="en-US" dirty="0" smtClean="0"/>
          </a:p>
          <a:p>
            <a:endParaRPr lang="ru-RU" dirty="0"/>
          </a:p>
        </p:txBody>
      </p:sp>
      <p:pic>
        <p:nvPicPr>
          <p:cNvPr id="5" name="Рисунок 4"/>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879999"/>
            <a:ext cx="4016499" cy="3790950"/>
          </a:xfrm>
          <a:prstGeom prst="rect">
            <a:avLst/>
          </a:prstGeom>
          <a:noFill/>
          <a:ln>
            <a:noFill/>
          </a:ln>
        </p:spPr>
      </p:pic>
      <p:sp>
        <p:nvSpPr>
          <p:cNvPr id="3" name="Прямоугольник 2"/>
          <p:cNvSpPr/>
          <p:nvPr/>
        </p:nvSpPr>
        <p:spPr>
          <a:xfrm>
            <a:off x="5888582" y="3286725"/>
            <a:ext cx="3347864" cy="646331"/>
          </a:xfrm>
          <a:prstGeom prst="rect">
            <a:avLst/>
          </a:prstGeom>
        </p:spPr>
        <p:txBody>
          <a:bodyPr wrap="square">
            <a:spAutoFit/>
          </a:bodyPr>
          <a:lstStyle/>
          <a:p>
            <a:pPr algn="ctr"/>
            <a:r>
              <a:rPr lang="en-US" dirty="0">
                <a:latin typeface="Times New Roman" pitchFamily="18" charset="0"/>
                <a:cs typeface="Times New Roman" pitchFamily="18" charset="0"/>
              </a:rPr>
              <a:t>4.1</a:t>
            </a:r>
            <a:r>
              <a:rPr lang="uz-Cyrl-UZ" dirty="0">
                <a:latin typeface="Times New Roman" pitchFamily="18" charset="0"/>
                <a:cs typeface="Times New Roman" pitchFamily="18" charset="0"/>
              </a:rPr>
              <a:t>-rasm</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Elektron pochta xizmatlarining tashkillashtirilishi </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4093269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9466"/>
            <a:ext cx="9144000" cy="6186309"/>
          </a:xfrm>
          <a:prstGeom prst="rect">
            <a:avLst/>
          </a:prstGeom>
        </p:spPr>
        <p:txBody>
          <a:bodyPr wrap="square">
            <a:spAutoFit/>
          </a:bodyPr>
          <a:lstStyle/>
          <a:p>
            <a:pPr algn="ctr" fontAlgn="t"/>
            <a:r>
              <a:rPr lang="uz-Cyrl-UZ" sz="2200" i="1" dirty="0">
                <a:latin typeface="Times New Roman" pitchFamily="18" charset="0"/>
                <a:cs typeface="Times New Roman" pitchFamily="18" charset="0"/>
              </a:rPr>
              <a:t>1.3. Elektron pochta </a:t>
            </a:r>
            <a:r>
              <a:rPr lang="uz-Cyrl-UZ" sz="2200" i="1" dirty="0" smtClean="0">
                <a:latin typeface="Times New Roman" pitchFamily="18" charset="0"/>
                <a:cs typeface="Times New Roman" pitchFamily="18" charset="0"/>
              </a:rPr>
              <a:t>protokollari</a:t>
            </a:r>
            <a:endParaRPr lang="en-US" sz="2200" i="1" dirty="0" smtClean="0">
              <a:latin typeface="Times New Roman" pitchFamily="18" charset="0"/>
              <a:cs typeface="Times New Roman" pitchFamily="18" charset="0"/>
            </a:endParaRPr>
          </a:p>
          <a:p>
            <a:pPr algn="ctr" fontAlgn="t"/>
            <a:endParaRPr lang="ru-RU" sz="2200" dirty="0">
              <a:latin typeface="Times New Roman" pitchFamily="18" charset="0"/>
              <a:cs typeface="Times New Roman" pitchFamily="18" charset="0"/>
            </a:endParaRPr>
          </a:p>
          <a:p>
            <a:pPr algn="ctr" fontAlgn="t"/>
            <a:r>
              <a:rPr lang="uz-Cyrl-UZ" sz="2200" i="1" dirty="0">
                <a:latin typeface="Times New Roman" pitchFamily="18" charset="0"/>
                <a:cs typeface="Times New Roman" pitchFamily="18" charset="0"/>
              </a:rPr>
              <a:t>SMTP protokoli </a:t>
            </a:r>
            <a:endParaRPr lang="ru-RU" sz="2200" dirty="0">
              <a:latin typeface="Times New Roman" pitchFamily="18" charset="0"/>
              <a:cs typeface="Times New Roman" pitchFamily="18" charset="0"/>
            </a:endParaRPr>
          </a:p>
          <a:p>
            <a:pPr algn="just" fontAlgn="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Yuqorida </a:t>
            </a:r>
            <a:r>
              <a:rPr lang="uz-Cyrl-UZ" sz="2200" dirty="0">
                <a:latin typeface="Times New Roman" pitchFamily="18" charset="0"/>
                <a:cs typeface="Times New Roman" pitchFamily="18" charset="0"/>
              </a:rPr>
              <a:t>ta’kidlab o‘tilganidek, eng ko‘p tarqalgan tarmoq xizmatlaridan biri elektron pochta (e-mail) hisoblanadi. Internetda elektron pochta xabarlarini yetkazishni ta’minlovchi TCP/IP protokoli SMTP </a:t>
            </a:r>
            <a:r>
              <a:rPr lang="en-US" sz="2200" dirty="0">
                <a:latin typeface="Times New Roman" pitchFamily="18" charset="0"/>
                <a:cs typeface="Times New Roman" pitchFamily="18" charset="0"/>
              </a:rPr>
              <a:t>-</a:t>
            </a:r>
            <a:r>
              <a:rPr lang="uz-Cyrl-UZ" sz="2200" dirty="0">
                <a:latin typeface="Times New Roman" pitchFamily="18" charset="0"/>
                <a:cs typeface="Times New Roman" pitchFamily="18" charset="0"/>
              </a:rPr>
              <a:t> Simple Mail Transfer Protocol qo‘llaniladi. Ushbu protokol turli tarmoq foydalanuvchilari orasidagi matnli ma’lumotlarni E-mail adreslar yordamida kompyuterlar orasida uzatishni ta’minlaydi. SMTP tarmoq foydalanuvchilari qaysi xududda joylashganligidan qat’iy nazar ularning pochta ma’lumotlarini yetkazishga mas’ul protokol xisoblanadi. </a:t>
            </a:r>
            <a:endParaRPr lang="ru-RU" sz="2200" dirty="0">
              <a:latin typeface="Times New Roman" pitchFamily="18" charset="0"/>
              <a:cs typeface="Times New Roman" pitchFamily="18" charset="0"/>
            </a:endParaRPr>
          </a:p>
          <a:p>
            <a:pPr algn="just" fontAlgn="t"/>
            <a:r>
              <a:rPr lang="ru-RU" sz="2200" dirty="0">
                <a:latin typeface="Times New Roman" pitchFamily="18" charset="0"/>
                <a:cs typeface="Times New Roman" pitchFamily="18" charset="0"/>
              </a:rPr>
              <a:t>SMTP</a:t>
            </a:r>
            <a:r>
              <a:rPr lang="uz-Cyrl-UZ" sz="2200" dirty="0">
                <a:latin typeface="Times New Roman" pitchFamily="18" charset="0"/>
                <a:cs typeface="Times New Roman" pitchFamily="18" charset="0"/>
              </a:rPr>
              <a:t> tizimi quyidagilarni tasdiqlaydi:</a:t>
            </a:r>
            <a:endParaRPr lang="ru-RU" sz="2200" dirty="0">
              <a:latin typeface="Times New Roman" pitchFamily="18" charset="0"/>
              <a:cs typeface="Times New Roman" pitchFamily="18" charset="0"/>
            </a:endParaRPr>
          </a:p>
          <a:p>
            <a:pPr marL="342900" lvl="0" indent="-342900" algn="just" fontAlgn="t">
              <a:buFont typeface="Wingdings" pitchFamily="2" charset="2"/>
              <a:buChar char="Ø"/>
            </a:pPr>
            <a:r>
              <a:rPr lang="uz-Cyrl-UZ" sz="2200" dirty="0">
                <a:latin typeface="Times New Roman" pitchFamily="18" charset="0"/>
                <a:cs typeface="Times New Roman" pitchFamily="18" charset="0"/>
              </a:rPr>
              <a:t>bitta xabar yoki xatni tarmoqdagi adres bo‘ylab yagona yoki bir nechta foydalanuvchiga uzatish imkoniyatini yaratadi;</a:t>
            </a:r>
            <a:endParaRPr lang="ru-RU" sz="2200" dirty="0">
              <a:latin typeface="Times New Roman" pitchFamily="18" charset="0"/>
              <a:cs typeface="Times New Roman" pitchFamily="18" charset="0"/>
            </a:endParaRPr>
          </a:p>
          <a:p>
            <a:pPr marL="342900" lvl="0" indent="-342900" algn="just" fontAlgn="t">
              <a:buFont typeface="Wingdings" pitchFamily="2" charset="2"/>
              <a:buChar char="Ø"/>
            </a:pPr>
            <a:r>
              <a:rPr lang="uz-Cyrl-UZ" sz="2200" dirty="0">
                <a:latin typeface="Times New Roman" pitchFamily="18" charset="0"/>
                <a:cs typeface="Times New Roman" pitchFamily="18" charset="0"/>
              </a:rPr>
              <a:t>Tarkibida matn, rasm, ovoz va video ma’lumotlarini jamlagan xabarlarni uzatish;</a:t>
            </a:r>
            <a:endParaRPr lang="ru-RU" sz="2200" dirty="0">
              <a:latin typeface="Times New Roman" pitchFamily="18" charset="0"/>
              <a:cs typeface="Times New Roman" pitchFamily="18" charset="0"/>
            </a:endParaRPr>
          </a:p>
          <a:p>
            <a:pPr marL="342900" lvl="0" indent="-342900" algn="just" fontAlgn="t">
              <a:buFont typeface="Wingdings" pitchFamily="2" charset="2"/>
              <a:buChar char="Ø"/>
            </a:pPr>
            <a:r>
              <a:rPr lang="uz-Cyrl-UZ" sz="2200" dirty="0">
                <a:latin typeface="Times New Roman" pitchFamily="18" charset="0"/>
                <a:cs typeface="Times New Roman" pitchFamily="18" charset="0"/>
              </a:rPr>
              <a:t>Lokal tarmoqda foydalanuvchilarga matnli xabarlarni uzatish vazifasi.</a:t>
            </a:r>
            <a:endParaRPr lang="ru-RU" sz="2200" dirty="0">
              <a:latin typeface="Times New Roman" pitchFamily="18" charset="0"/>
              <a:cs typeface="Times New Roman" pitchFamily="18" charset="0"/>
            </a:endParaRPr>
          </a:p>
          <a:p>
            <a:pPr algn="just" fontAlgn="t"/>
            <a:r>
              <a:rPr lang="en-US" sz="2200" i="1" dirty="0" smtClean="0">
                <a:latin typeface="Times New Roman" pitchFamily="18" charset="0"/>
                <a:cs typeface="Times New Roman" pitchFamily="18" charset="0"/>
              </a:rPr>
              <a:t>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041506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672916"/>
            <a:ext cx="7200800" cy="3348372"/>
          </a:xfrm>
          <a:prstGeom prst="rect">
            <a:avLst/>
          </a:prstGeom>
          <a:noFill/>
          <a:ln>
            <a:noFill/>
          </a:ln>
        </p:spPr>
      </p:pic>
      <p:sp>
        <p:nvSpPr>
          <p:cNvPr id="2" name="Прямоугольник 1"/>
          <p:cNvSpPr/>
          <p:nvPr/>
        </p:nvSpPr>
        <p:spPr>
          <a:xfrm>
            <a:off x="2525622" y="6205374"/>
            <a:ext cx="3433953" cy="400110"/>
          </a:xfrm>
          <a:prstGeom prst="rect">
            <a:avLst/>
          </a:prstGeom>
        </p:spPr>
        <p:txBody>
          <a:bodyPr wrap="none">
            <a:spAutoFit/>
          </a:bodyPr>
          <a:lstStyle/>
          <a:p>
            <a:pPr fontAlgn="t"/>
            <a:r>
              <a:rPr lang="en-US" sz="2000" dirty="0">
                <a:latin typeface="Times New Roman" pitchFamily="18" charset="0"/>
                <a:cs typeface="Times New Roman" pitchFamily="18" charset="0"/>
              </a:rPr>
              <a:t>4</a:t>
            </a:r>
            <a:r>
              <a:rPr lang="uz-Cyrl-UZ" sz="2000" dirty="0">
                <a:latin typeface="Times New Roman" pitchFamily="18" charset="0"/>
                <a:cs typeface="Times New Roman" pitchFamily="18" charset="0"/>
              </a:rPr>
              <a:t>.2-rasm. Uzatish pochta agenti</a:t>
            </a:r>
            <a:endParaRPr lang="ru-RU" sz="2000" dirty="0">
              <a:latin typeface="Times New Roman" pitchFamily="18" charset="0"/>
              <a:cs typeface="Times New Roman" pitchFamily="18" charset="0"/>
            </a:endParaRPr>
          </a:p>
        </p:txBody>
      </p:sp>
      <p:sp>
        <p:nvSpPr>
          <p:cNvPr id="3" name="Прямоугольник 2"/>
          <p:cNvSpPr/>
          <p:nvPr/>
        </p:nvSpPr>
        <p:spPr>
          <a:xfrm>
            <a:off x="107503" y="4221088"/>
            <a:ext cx="8928992" cy="400110"/>
          </a:xfrm>
          <a:prstGeom prst="rect">
            <a:avLst/>
          </a:prstGeom>
        </p:spPr>
        <p:txBody>
          <a:bodyPr wrap="square">
            <a:spAutoFit/>
          </a:bodyPr>
          <a:lstStyle/>
          <a:p>
            <a:pPr algn="just" fontAlgn="t"/>
            <a:r>
              <a:rPr lang="en-US" sz="2000" dirty="0" smtClean="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
        <p:nvSpPr>
          <p:cNvPr id="8" name="Прямоугольник 7"/>
          <p:cNvSpPr/>
          <p:nvPr/>
        </p:nvSpPr>
        <p:spPr>
          <a:xfrm>
            <a:off x="0" y="8805"/>
            <a:ext cx="9144000" cy="2554545"/>
          </a:xfrm>
          <a:prstGeom prst="rect">
            <a:avLst/>
          </a:prstGeom>
        </p:spPr>
        <p:txBody>
          <a:bodyPr wrap="square">
            <a:spAutoFit/>
          </a:bodyPr>
          <a:lstStyle/>
          <a:p>
            <a:pPr algn="just" fontAlgn="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Foydalanuvchi </a:t>
            </a:r>
            <a:r>
              <a:rPr lang="uz-Cyrl-UZ" sz="2000" i="1" dirty="0">
                <a:latin typeface="Times New Roman" pitchFamily="18" charset="0"/>
                <a:cs typeface="Times New Roman" pitchFamily="18" charset="0"/>
              </a:rPr>
              <a:t>agenti (User Agent – UA)</a:t>
            </a:r>
            <a:r>
              <a:rPr lang="uz-Cyrl-UZ" sz="2000" b="1" i="1" dirty="0">
                <a:latin typeface="Times New Roman" pitchFamily="18" charset="0"/>
                <a:cs typeface="Times New Roman" pitchFamily="18" charset="0"/>
              </a:rPr>
              <a:t> - </a:t>
            </a:r>
            <a:r>
              <a:rPr lang="uz-Cyrl-UZ" sz="2000" dirty="0">
                <a:latin typeface="Times New Roman" pitchFamily="18" charset="0"/>
                <a:cs typeface="Times New Roman" pitchFamily="18" charset="0"/>
              </a:rPr>
              <a:t>foydalanuvchi agenti ma’lumotlar uzatish jarayonida tarmoqning serveri yoki klientning kompyuteridan farqli ularoq, yuborilayotgan xabarning taxrir qilish, o‘zgartirish va uning tarkibida tez-tez takrorlanishi mumkin bo‘lgan so‘zlar va terminlarni kesh xotiraga saqlash va ishlash jarayonini nazorat qilishni boshqaradi. Ushbu agent tarmoqning sarver qismida asosiy o‘zgartirishlarni amalga oshirib, (Mail Transfer Agent) yordamida uzatish jarayonini tashkil etilishini SMTP protokoli to‘liq nazorat qiladi. Quyidagi rasmda SMTP protokolining ikki agenti orasidagi aloqa sessiyasini ko‘rib o‘tish mumkin (</a:t>
            </a:r>
            <a:r>
              <a:rPr lang="en-US" sz="2000" dirty="0">
                <a:latin typeface="Times New Roman" pitchFamily="18" charset="0"/>
                <a:cs typeface="Times New Roman" pitchFamily="18" charset="0"/>
              </a:rPr>
              <a:t>4</a:t>
            </a:r>
            <a:r>
              <a:rPr lang="uz-Cyrl-UZ" sz="2000" dirty="0">
                <a:latin typeface="Times New Roman" pitchFamily="18" charset="0"/>
                <a:cs typeface="Times New Roman" pitchFamily="18" charset="0"/>
              </a:rPr>
              <a:t>.2-rasm).</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267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348880"/>
            <a:ext cx="6480720" cy="3672408"/>
          </a:xfrm>
          <a:prstGeom prst="rect">
            <a:avLst/>
          </a:prstGeom>
          <a:noFill/>
          <a:ln>
            <a:noFill/>
          </a:ln>
        </p:spPr>
      </p:pic>
      <p:sp>
        <p:nvSpPr>
          <p:cNvPr id="2" name="Прямоугольник 1"/>
          <p:cNvSpPr/>
          <p:nvPr/>
        </p:nvSpPr>
        <p:spPr>
          <a:xfrm>
            <a:off x="2406017" y="6057867"/>
            <a:ext cx="3897221" cy="369332"/>
          </a:xfrm>
          <a:prstGeom prst="rect">
            <a:avLst/>
          </a:prstGeom>
        </p:spPr>
        <p:txBody>
          <a:bodyPr wrap="none">
            <a:spAutoFit/>
          </a:bodyPr>
          <a:lstStyle/>
          <a:p>
            <a:pPr fontAlgn="t"/>
            <a:r>
              <a:rPr lang="en-US" dirty="0">
                <a:latin typeface="Times New Roman" pitchFamily="18" charset="0"/>
                <a:cs typeface="Times New Roman" pitchFamily="18" charset="0"/>
              </a:rPr>
              <a:t>4</a:t>
            </a:r>
            <a:r>
              <a:rPr lang="uz-Cyrl-UZ" dirty="0">
                <a:latin typeface="Times New Roman" pitchFamily="18" charset="0"/>
                <a:cs typeface="Times New Roman" pitchFamily="18" charset="0"/>
              </a:rPr>
              <a:t>.3-rasm. </a:t>
            </a:r>
            <a:r>
              <a:rPr lang="en-US" dirty="0" err="1">
                <a:latin typeface="Times New Roman" pitchFamily="18" charset="0"/>
                <a:cs typeface="Times New Roman" pitchFamily="18" charset="0"/>
              </a:rPr>
              <a:t>Pochta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shlyuzining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ishlatilishi</a:t>
            </a:r>
            <a:endParaRPr lang="ru-RU" dirty="0">
              <a:latin typeface="Times New Roman" pitchFamily="18" charset="0"/>
              <a:cs typeface="Times New Roman" pitchFamily="18" charset="0"/>
            </a:endParaRPr>
          </a:p>
        </p:txBody>
      </p:sp>
      <p:sp>
        <p:nvSpPr>
          <p:cNvPr id="3" name="Прямоугольник 2"/>
          <p:cNvSpPr/>
          <p:nvPr/>
        </p:nvSpPr>
        <p:spPr>
          <a:xfrm>
            <a:off x="539552" y="289679"/>
            <a:ext cx="8424936" cy="1938992"/>
          </a:xfrm>
          <a:prstGeom prst="rect">
            <a:avLst/>
          </a:prstGeom>
        </p:spPr>
        <p:txBody>
          <a:bodyPr wrap="square">
            <a:spAutoFit/>
          </a:bodyPr>
          <a:lstStyle/>
          <a:p>
            <a:pPr algn="just" fontAlgn="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Quyidagi </a:t>
            </a:r>
            <a:r>
              <a:rPr lang="uz-Cyrl-UZ" sz="2000" dirty="0">
                <a:latin typeface="Times New Roman" pitchFamily="18" charset="0"/>
                <a:cs typeface="Times New Roman" pitchFamily="18" charset="0"/>
              </a:rPr>
              <a:t>rasmda SMTP protokolining yanada qiyinroq ishlash protsessi tasvirlangan bo‘lib, unda Internet tarmog‘i orqali turli oraliq serverlarda tranzit jarayoni keltirib o‘tilgan. Tranzit serverlar TCP/IP protokolining barcha xizmat xabarlarini qabul qilishi shart bo‘lmaydi va uzatish jarayonida faqat yo‘naltirish funktsiyasi amalga oshiriladi. Bunday holatlar uchun tarmoqda maxsus shlyuz tashkil etiladi va SMTP formatini o‘zgartirish jarayonini nazorat qiladi.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36094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9512" y="116632"/>
            <a:ext cx="8712968" cy="1323439"/>
          </a:xfrm>
          <a:prstGeom prst="rect">
            <a:avLst/>
          </a:prstGeom>
        </p:spPr>
        <p:txBody>
          <a:bodyPr wrap="square">
            <a:spAutoFit/>
          </a:bodyPr>
          <a:lstStyle/>
          <a:p>
            <a:pPr algn="just" fontAlgn="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Pochta </a:t>
            </a:r>
            <a:r>
              <a:rPr lang="uz-Cyrl-UZ" sz="2000" i="1" dirty="0">
                <a:latin typeface="Times New Roman" pitchFamily="18" charset="0"/>
                <a:cs typeface="Times New Roman" pitchFamily="18" charset="0"/>
              </a:rPr>
              <a:t>ma’lumotini jo‘natish</a:t>
            </a:r>
            <a:r>
              <a:rPr lang="uz-Cyrl-UZ" sz="2000" b="1" i="1" dirty="0">
                <a:latin typeface="Times New Roman" pitchFamily="18" charset="0"/>
                <a:cs typeface="Times New Roman" pitchFamily="18" charset="0"/>
              </a:rPr>
              <a:t> – </a:t>
            </a:r>
            <a:r>
              <a:rPr lang="uz-Cyrl-UZ" sz="2000" dirty="0">
                <a:latin typeface="Times New Roman" pitchFamily="18" charset="0"/>
                <a:cs typeface="Times New Roman" pitchFamily="18" charset="0"/>
              </a:rPr>
              <a:t>quyidagi rasmda ikki foydalanuvchilar, birinchisi alex@mail2.spez.com va ikkinchisi bob@mail3.param.ru adres bilan belgilangan tarmoq foydalanuvchilarining pochta xabarlari SMTP protokoli yordamida elektron pochta serverlari orasidagi xabar almashuvi ko‘rsatib o‘tilgan. </a:t>
            </a:r>
            <a:endParaRPr lang="ru-RU" sz="2000" dirty="0">
              <a:latin typeface="Times New Roman" pitchFamily="18" charset="0"/>
              <a:cs typeface="Times New Roman" pitchFamily="18" charset="0"/>
            </a:endParaRPr>
          </a:p>
        </p:txBody>
      </p:sp>
      <p:pic>
        <p:nvPicPr>
          <p:cNvPr id="5" name="Рисунок 4" descr="Описание: Пересылка по сети почтовых сообщений по протоколу SMTP"/>
          <p:cNvPicPr/>
          <p:nvPr/>
        </p:nvPicPr>
        <p:blipFill>
          <a:blip r:embed="rId2">
            <a:extLst>
              <a:ext uri="{28A0092B-C50C-407E-A947-70E740481C1C}">
                <a14:useLocalDpi xmlns:a14="http://schemas.microsoft.com/office/drawing/2010/main" val="0"/>
              </a:ext>
            </a:extLst>
          </a:blip>
          <a:srcRect t="858" b="3650"/>
          <a:stretch>
            <a:fillRect/>
          </a:stretch>
        </p:blipFill>
        <p:spPr bwMode="auto">
          <a:xfrm>
            <a:off x="683568" y="1440072"/>
            <a:ext cx="7776864" cy="4725232"/>
          </a:xfrm>
          <a:prstGeom prst="rect">
            <a:avLst/>
          </a:prstGeom>
          <a:noFill/>
          <a:ln>
            <a:noFill/>
          </a:ln>
        </p:spPr>
      </p:pic>
      <p:sp>
        <p:nvSpPr>
          <p:cNvPr id="3" name="Прямоугольник 2"/>
          <p:cNvSpPr/>
          <p:nvPr/>
        </p:nvSpPr>
        <p:spPr>
          <a:xfrm>
            <a:off x="0" y="6309320"/>
            <a:ext cx="9143999" cy="400110"/>
          </a:xfrm>
          <a:prstGeom prst="rect">
            <a:avLst/>
          </a:prstGeom>
        </p:spPr>
        <p:txBody>
          <a:bodyPr wrap="square">
            <a:spAutoFit/>
          </a:bodyPr>
          <a:lstStyle/>
          <a:p>
            <a:pPr fontAlgn="t"/>
            <a:r>
              <a:rPr lang="en-US" sz="2000" dirty="0">
                <a:latin typeface="Times New Roman" pitchFamily="18" charset="0"/>
                <a:cs typeface="Times New Roman" pitchFamily="18" charset="0"/>
              </a:rPr>
              <a:t>4</a:t>
            </a:r>
            <a:r>
              <a:rPr lang="uz-Cyrl-UZ" sz="2000" dirty="0" smtClean="0">
                <a:latin typeface="Times New Roman" pitchFamily="18" charset="0"/>
                <a:cs typeface="Times New Roman" pitchFamily="18" charset="0"/>
              </a:rPr>
              <a:t>.4-rasm.SMTP </a:t>
            </a:r>
            <a:r>
              <a:rPr lang="uz-Cyrl-UZ" sz="2000" dirty="0">
                <a:latin typeface="Times New Roman" pitchFamily="18" charset="0"/>
                <a:cs typeface="Times New Roman" pitchFamily="18" charset="0"/>
              </a:rPr>
              <a:t>protokoli yordamida tarmoq orqali elektron pochta </a:t>
            </a:r>
            <a:r>
              <a:rPr lang="uz-Cyrl-UZ" sz="2000" dirty="0" smtClean="0">
                <a:latin typeface="Times New Roman" pitchFamily="18" charset="0"/>
                <a:cs typeface="Times New Roman" pitchFamily="18" charset="0"/>
              </a:rPr>
              <a:t>xabarlarini</a:t>
            </a:r>
            <a:r>
              <a:rPr lang="en-US" sz="2000" dirty="0" smtClean="0">
                <a:latin typeface="Times New Roman" pitchFamily="18" charset="0"/>
                <a:cs typeface="Times New Roman" pitchFamily="18" charset="0"/>
              </a:rPr>
              <a:t> y</a:t>
            </a:r>
            <a:r>
              <a:rPr lang="uz-Cyrl-UZ" sz="2000" dirty="0" smtClean="0">
                <a:latin typeface="Times New Roman" pitchFamily="18" charset="0"/>
                <a:cs typeface="Times New Roman" pitchFamily="18" charset="0"/>
              </a:rPr>
              <a:t>uborish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20907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26296"/>
            <a:ext cx="8856984" cy="6863417"/>
          </a:xfrm>
          <a:prstGeom prst="rect">
            <a:avLst/>
          </a:prstGeom>
        </p:spPr>
        <p:txBody>
          <a:bodyPr wrap="square">
            <a:spAutoFit/>
          </a:bodyPr>
          <a:lstStyle/>
          <a:p>
            <a:pPr algn="just" fontAlgn="t"/>
            <a:r>
              <a:rPr lang="en-US" sz="2200" i="1" dirty="0" smtClean="0">
                <a:latin typeface="Times New Roman" pitchFamily="18" charset="0"/>
                <a:cs typeface="Times New Roman" pitchFamily="18" charset="0"/>
              </a:rPr>
              <a:t>	</a:t>
            </a:r>
            <a:r>
              <a:rPr lang="uz-Cyrl-UZ" sz="2200" i="1" dirty="0" smtClean="0">
                <a:latin typeface="Times New Roman" pitchFamily="18" charset="0"/>
                <a:cs typeface="Times New Roman" pitchFamily="18" charset="0"/>
              </a:rPr>
              <a:t>email </a:t>
            </a:r>
            <a:r>
              <a:rPr lang="uz-Cyrl-UZ" sz="2200" i="1" dirty="0">
                <a:latin typeface="Times New Roman" pitchFamily="18" charset="0"/>
                <a:cs typeface="Times New Roman" pitchFamily="18" charset="0"/>
              </a:rPr>
              <a:t>xabarlari konverti</a:t>
            </a:r>
            <a:r>
              <a:rPr lang="uz-Cyrl-UZ" sz="2200" dirty="0">
                <a:latin typeface="Times New Roman" pitchFamily="18" charset="0"/>
                <a:cs typeface="Times New Roman" pitchFamily="18" charset="0"/>
              </a:rPr>
              <a:t> – odatda uzatuvchi va qabul qiluvchinig mail adreslari keltirib o‘tilgan ma’lumotlar birligi xisoblanadi. </a:t>
            </a:r>
            <a:endParaRPr lang="ru-RU" sz="2200" dirty="0">
              <a:latin typeface="Times New Roman" pitchFamily="18" charset="0"/>
              <a:cs typeface="Times New Roman" pitchFamily="18" charset="0"/>
            </a:endParaRPr>
          </a:p>
          <a:p>
            <a:pPr algn="just" fontAlgn="t"/>
            <a:r>
              <a:rPr lang="uz-Cyrl-UZ" sz="2200" i="1" dirty="0">
                <a:latin typeface="Times New Roman" pitchFamily="18" charset="0"/>
                <a:cs typeface="Times New Roman" pitchFamily="18" charset="0"/>
              </a:rPr>
              <a:t>Xabar</a:t>
            </a:r>
            <a:r>
              <a:rPr lang="uz-Cyrl-UZ" sz="2200" dirty="0">
                <a:latin typeface="Times New Roman" pitchFamily="18" charset="0"/>
                <a:cs typeface="Times New Roman" pitchFamily="18" charset="0"/>
              </a:rPr>
              <a:t> – uzatilayotgayotgan matn xabarning asosiy ma’nosini tashkil etuvchi matn xabari. Xabarning sarl</a:t>
            </a:r>
            <a:r>
              <a:rPr lang="en-US" sz="2200" dirty="0">
                <a:latin typeface="Times New Roman" pitchFamily="18" charset="0"/>
                <a:cs typeface="Times New Roman" pitchFamily="18" charset="0"/>
              </a:rPr>
              <a:t>a</a:t>
            </a:r>
            <a:r>
              <a:rPr lang="uz-Cyrl-UZ" sz="2200" dirty="0">
                <a:latin typeface="Times New Roman" pitchFamily="18" charset="0"/>
                <a:cs typeface="Times New Roman" pitchFamily="18" charset="0"/>
              </a:rPr>
              <a:t>v</a:t>
            </a:r>
            <a:r>
              <a:rPr lang="en-US" sz="2200" dirty="0">
                <a:latin typeface="Times New Roman" pitchFamily="18" charset="0"/>
                <a:cs typeface="Times New Roman" pitchFamily="18" charset="0"/>
              </a:rPr>
              <a:t>h</a:t>
            </a:r>
            <a:r>
              <a:rPr lang="uz-Cyrl-UZ" sz="2200" dirty="0">
                <a:latin typeface="Times New Roman" pitchFamily="18" charset="0"/>
                <a:cs typeface="Times New Roman" pitchFamily="18" charset="0"/>
              </a:rPr>
              <a:t>asi, uzatuvchining adres ma’lumotlari va qabul qilivchining pochta adresi tashkil etadi. Xabarning asosiy qismini qabul qiluvchiga mo‘ljallangan matnli yangiliklardan iborat. </a:t>
            </a:r>
            <a:endParaRPr lang="ru-RU" sz="2200" dirty="0">
              <a:latin typeface="Times New Roman" pitchFamily="18" charset="0"/>
              <a:cs typeface="Times New Roman" pitchFamily="18" charset="0"/>
            </a:endParaRPr>
          </a:p>
          <a:p>
            <a:pPr algn="just" fontAlgn="t"/>
            <a:r>
              <a:rPr lang="en-US" sz="2200" i="1" dirty="0" smtClean="0">
                <a:latin typeface="Times New Roman" pitchFamily="18" charset="0"/>
                <a:cs typeface="Times New Roman" pitchFamily="18" charset="0"/>
              </a:rPr>
              <a:t>	</a:t>
            </a:r>
            <a:r>
              <a:rPr lang="uz-Cyrl-UZ" sz="2200" i="1" dirty="0" smtClean="0">
                <a:latin typeface="Times New Roman" pitchFamily="18" charset="0"/>
                <a:cs typeface="Times New Roman" pitchFamily="18" charset="0"/>
              </a:rPr>
              <a:t>Xabarlarni </a:t>
            </a:r>
            <a:r>
              <a:rPr lang="uz-Cyrl-UZ" sz="2200" i="1" dirty="0">
                <a:latin typeface="Times New Roman" pitchFamily="18" charset="0"/>
                <a:cs typeface="Times New Roman" pitchFamily="18" charset="0"/>
              </a:rPr>
              <a:t>tutilishi</a:t>
            </a:r>
            <a:r>
              <a:rPr lang="uz-Cyrl-UZ" sz="2200" b="1" dirty="0">
                <a:latin typeface="Times New Roman" pitchFamily="18" charset="0"/>
                <a:cs typeface="Times New Roman" pitchFamily="18" charset="0"/>
              </a:rPr>
              <a:t> – </a:t>
            </a:r>
            <a:r>
              <a:rPr lang="uz-Cyrl-UZ" sz="2200" dirty="0">
                <a:latin typeface="Times New Roman" pitchFamily="18" charset="0"/>
                <a:cs typeface="Times New Roman" pitchFamily="18" charset="0"/>
              </a:rPr>
              <a:t>SMTP boshqa ilova pog‘ona protokollardan shunisi bilan farq qiladiki, unda ma’lumotlarni uzatishda kechikishlar sodir bo‘ladi. Shunday ekan ushbu xizmatdan foydalanayotgan tarmoq foydalanuvchilari orasidagi ma’lumot almashish jarayonida o‘rtacha kechikishlar yuzaga kelish normal holat xisoblanadi. </a:t>
            </a:r>
            <a:endParaRPr lang="ru-RU" sz="2200" dirty="0">
              <a:latin typeface="Times New Roman" pitchFamily="18" charset="0"/>
              <a:cs typeface="Times New Roman" pitchFamily="18" charset="0"/>
            </a:endParaRPr>
          </a:p>
          <a:p>
            <a:pPr algn="just" fontAlgn="t"/>
            <a:r>
              <a:rPr lang="en-US" sz="2200" i="1" dirty="0" smtClean="0">
                <a:latin typeface="Times New Roman" pitchFamily="18" charset="0"/>
                <a:cs typeface="Times New Roman" pitchFamily="18" charset="0"/>
              </a:rPr>
              <a:t>	</a:t>
            </a:r>
            <a:r>
              <a:rPr lang="uz-Cyrl-UZ" sz="2200" i="1" dirty="0" smtClean="0">
                <a:latin typeface="Times New Roman" pitchFamily="18" charset="0"/>
                <a:cs typeface="Times New Roman" pitchFamily="18" charset="0"/>
              </a:rPr>
              <a:t>Uzatish </a:t>
            </a:r>
            <a:r>
              <a:rPr lang="uz-Cyrl-UZ" sz="2200" i="1" dirty="0">
                <a:latin typeface="Times New Roman" pitchFamily="18" charset="0"/>
                <a:cs typeface="Times New Roman" pitchFamily="18" charset="0"/>
              </a:rPr>
              <a:t>muxitidagi tutilishlar</a:t>
            </a:r>
            <a:r>
              <a:rPr lang="uz-Cyrl-UZ" sz="2200" b="1" i="1" dirty="0">
                <a:latin typeface="Times New Roman" pitchFamily="18" charset="0"/>
                <a:cs typeface="Times New Roman" pitchFamily="18" charset="0"/>
              </a:rPr>
              <a:t> - </a:t>
            </a:r>
            <a:r>
              <a:rPr lang="uz-Cyrl-UZ" sz="2200" b="1" dirty="0">
                <a:latin typeface="Times New Roman" pitchFamily="18" charset="0"/>
                <a:cs typeface="Times New Roman" pitchFamily="18" charset="0"/>
              </a:rPr>
              <a:t> </a:t>
            </a:r>
            <a:r>
              <a:rPr lang="uz-Cyrl-UZ" sz="2200" dirty="0">
                <a:latin typeface="Times New Roman" pitchFamily="18" charset="0"/>
                <a:cs typeface="Times New Roman" pitchFamily="18" charset="0"/>
              </a:rPr>
              <a:t>klient tomonidan ham server tomonidan ham pochta agenti ma’lumot uzatish jarayonini boshqaradi. Xabarlarni olish, uzatish va pochta qutisida saqlanadi yoki buferda saqlanish jarayonini tashkil etadi. </a:t>
            </a:r>
            <a:endParaRPr lang="ru-RU" sz="2200" dirty="0">
              <a:latin typeface="Times New Roman" pitchFamily="18" charset="0"/>
              <a:cs typeface="Times New Roman" pitchFamily="18" charset="0"/>
            </a:endParaRPr>
          </a:p>
          <a:p>
            <a:pPr algn="just" fontAlgn="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Ushbu </a:t>
            </a:r>
            <a:r>
              <a:rPr lang="uz-Cyrl-UZ" sz="2200" dirty="0">
                <a:latin typeface="Times New Roman" pitchFamily="18" charset="0"/>
                <a:cs typeface="Times New Roman" pitchFamily="18" charset="0"/>
              </a:rPr>
              <a:t>rasmda SMTP ikki marotaba ishchi holatda bo‘lganligini ko‘rishimiz mumkin. Ikki elektron pochta orasidagi uzatish jarayonida SMTP ishlasa foydalanuvchi va server orasidagi (serverdan ma’lumotni foydalanuvchiga pochta xabarlarini uzatish POP3 protokoli asosida amalga oshiriladi).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177652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067" y="188640"/>
            <a:ext cx="8928992" cy="3785652"/>
          </a:xfrm>
          <a:prstGeom prst="rect">
            <a:avLst/>
          </a:prstGeom>
        </p:spPr>
        <p:txBody>
          <a:bodyPr wrap="square">
            <a:spAutoFit/>
          </a:bodyPr>
          <a:lstStyle/>
          <a:p>
            <a:pPr algn="ctr"/>
            <a:r>
              <a:rPr lang="uz-Cyrl-UZ" sz="2000" b="1" dirty="0">
                <a:latin typeface="Times New Roman" pitchFamily="18" charset="0"/>
                <a:cs typeface="Times New Roman" pitchFamily="18" charset="0"/>
              </a:rPr>
              <a:t>Nazorat savollari</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Elektron pochta</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SMTP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POP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IMAP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endParaRPr lang="ru-RU" sz="2000" dirty="0">
              <a:latin typeface="Times New Roman" pitchFamily="18" charset="0"/>
              <a:cs typeface="Times New Roman" pitchFamily="18" charset="0"/>
            </a:endParaRPr>
          </a:p>
          <a:p>
            <a:pPr marL="457200" lvl="0" indent="-457200">
              <a:buFont typeface="+mj-lt"/>
              <a:buAutoNum type="arabicPeriod"/>
            </a:pPr>
            <a:r>
              <a:rPr lang="uz-Cyrl-UZ" sz="2000" dirty="0">
                <a:latin typeface="Times New Roman" pitchFamily="18" charset="0"/>
                <a:cs typeface="Times New Roman" pitchFamily="18" charset="0"/>
              </a:rPr>
              <a:t>MIME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endParaRPr lang="ru-RU" sz="2000" dirty="0">
              <a:latin typeface="Times New Roman" pitchFamily="18" charset="0"/>
              <a:cs typeface="Times New Roman" pitchFamily="18" charset="0"/>
            </a:endParaRPr>
          </a:p>
          <a:p>
            <a:pPr marL="457200" lvl="0" indent="-457200">
              <a:buFont typeface="+mj-lt"/>
              <a:buAutoNum type="arabicPeriod"/>
            </a:pP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sarlavxasi</a:t>
            </a:r>
            <a:endParaRPr lang="ru-RU" sz="2000" dirty="0">
              <a:latin typeface="Times New Roman" pitchFamily="18" charset="0"/>
              <a:cs typeface="Times New Roman" pitchFamily="18" charset="0"/>
            </a:endParaRPr>
          </a:p>
          <a:p>
            <a:pPr marL="457200" lvl="0" indent="-457200">
              <a:buFont typeface="+mj-lt"/>
              <a:buAutoNum type="arabicPeriod"/>
            </a:pPr>
            <a:r>
              <a:rPr lang="en-US" sz="2000" dirty="0" err="1">
                <a:latin typeface="Times New Roman" pitchFamily="18" charset="0"/>
                <a:cs typeface="Times New Roman" pitchFamily="18" charset="0"/>
              </a:rPr>
              <a:t>Elektron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pochta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kliyenti</a:t>
            </a:r>
            <a:endParaRPr lang="ru-RU" sz="2000" dirty="0">
              <a:latin typeface="Times New Roman" pitchFamily="18" charset="0"/>
              <a:cs typeface="Times New Roman" pitchFamily="18" charset="0"/>
            </a:endParaRPr>
          </a:p>
          <a:p>
            <a:pPr marL="457200" lvl="0" indent="-457200">
              <a:buFont typeface="+mj-lt"/>
              <a:buAutoNum type="arabicPeriod"/>
            </a:pPr>
            <a:r>
              <a:rPr lang="en-US" sz="2000" dirty="0">
                <a:latin typeface="Times New Roman" pitchFamily="18" charset="0"/>
                <a:cs typeface="Times New Roman" pitchFamily="18" charset="0"/>
              </a:rPr>
              <a:t>Mail Transport Agent</a:t>
            </a:r>
            <a:endParaRPr lang="ru-RU" sz="2000" dirty="0">
              <a:latin typeface="Times New Roman" pitchFamily="18" charset="0"/>
              <a:cs typeface="Times New Roman" pitchFamily="18" charset="0"/>
            </a:endParaRPr>
          </a:p>
          <a:p>
            <a:pPr marL="457200" lvl="0" indent="-457200">
              <a:buFont typeface="+mj-lt"/>
              <a:buAutoNum type="arabicPeriod"/>
            </a:pPr>
            <a:r>
              <a:rPr lang="en-US" sz="2000" dirty="0">
                <a:latin typeface="Times New Roman" pitchFamily="18" charset="0"/>
                <a:cs typeface="Times New Roman" pitchFamily="18" charset="0"/>
              </a:rPr>
              <a:t>Mail Delivery Agent</a:t>
            </a:r>
            <a:endParaRPr lang="ru-RU" sz="2000" dirty="0">
              <a:latin typeface="Times New Roman" pitchFamily="18" charset="0"/>
              <a:cs typeface="Times New Roman" pitchFamily="18" charset="0"/>
            </a:endParaRPr>
          </a:p>
          <a:p>
            <a:pPr marL="457200" lvl="0" indent="-457200">
              <a:buFont typeface="+mj-lt"/>
              <a:buAutoNum type="arabicPeriod"/>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Mail User Agent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81891491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208</Words>
  <Application>Microsoft Office PowerPoint</Application>
  <PresentationFormat>Экран (4:3)</PresentationFormat>
  <Paragraphs>63</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Пользователь</cp:lastModifiedBy>
  <cp:revision>36</cp:revision>
  <dcterms:created xsi:type="dcterms:W3CDTF">2020-02-10T04:46:41Z</dcterms:created>
  <dcterms:modified xsi:type="dcterms:W3CDTF">2021-10-07T09:06:14Z</dcterms:modified>
</cp:coreProperties>
</file>