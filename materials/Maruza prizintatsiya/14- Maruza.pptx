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76" r:id="rId3"/>
    <p:sldId id="295" r:id="rId4"/>
    <p:sldId id="296" r:id="rId5"/>
    <p:sldId id="297" r:id="rId6"/>
    <p:sldId id="298" r:id="rId7"/>
    <p:sldId id="299" r:id="rId8"/>
    <p:sldId id="300" r:id="rId9"/>
    <p:sldId id="301" r:id="rId10"/>
    <p:sldId id="302" r:id="rId11"/>
    <p:sldId id="303" r:id="rId12"/>
    <p:sldId id="304" r:id="rId13"/>
    <p:sldId id="305" r:id="rId14"/>
    <p:sldId id="306" r:id="rId15"/>
    <p:sldId id="307" r:id="rId16"/>
    <p:sldId id="308" r:id="rId17"/>
    <p:sldId id="309" r:id="rId18"/>
    <p:sldId id="310" r:id="rId19"/>
    <p:sldId id="311" r:id="rId20"/>
    <p:sldId id="312" r:id="rId21"/>
    <p:sldId id="313" r:id="rId22"/>
    <p:sldId id="314" r:id="rId23"/>
    <p:sldId id="315" r:id="rId24"/>
    <p:sldId id="316" r:id="rId25"/>
    <p:sldId id="317" r:id="rId26"/>
    <p:sldId id="318" r:id="rId27"/>
    <p:sldId id="319" r:id="rId28"/>
    <p:sldId id="320" r:id="rId29"/>
    <p:sldId id="321" r:id="rId30"/>
    <p:sldId id="322" r:id="rId31"/>
    <p:sldId id="323" r:id="rId32"/>
    <p:sldId id="324" r:id="rId33"/>
    <p:sldId id="325" r:id="rId34"/>
    <p:sldId id="326" r:id="rId35"/>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386" y="-12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07.10.2021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71204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07.10.2021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27274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2F1B533-5871-489F-8DF7-633441D17A15}" type="datetimeFigureOut">
              <a:rPr lang="ru-RU" smtClean="0"/>
              <a:t>07.10.2021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12760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A2F1B533-5871-489F-8DF7-633441D17A15}" type="datetimeFigureOut">
              <a:rPr lang="ru-RU" smtClean="0"/>
              <a:t>07.10.2021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98201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A2F1B533-5871-489F-8DF7-633441D17A15}" type="datetimeFigureOut">
              <a:rPr lang="ru-RU" smtClean="0"/>
              <a:t>07.10.2021</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21561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A2F1B533-5871-489F-8DF7-633441D17A15}" type="datetimeFigureOut">
              <a:rPr lang="ru-RU" smtClean="0"/>
              <a:t>07.10.2021</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59609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2F1B533-5871-489F-8DF7-633441D17A15}" type="datetimeFigureOut">
              <a:rPr lang="ru-RU" smtClean="0"/>
              <a:t>07.10.2021</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93523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07.10.2021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02557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07.10.2021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80776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07.10.2021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69613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07.10.2021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13382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1B533-5871-489F-8DF7-633441D17A15}" type="datetimeFigureOut">
              <a:rPr lang="ru-RU" smtClean="0"/>
              <a:t>07.10.2021</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3C97E-C3BB-4CA0-80D7-A16D20B07B21}" type="slidenum">
              <a:rPr lang="ru-RU" smtClean="0"/>
              <a:t>‹#›</a:t>
            </a:fld>
            <a:endParaRPr lang="ru-RU"/>
          </a:p>
        </p:txBody>
      </p:sp>
    </p:spTree>
    <p:extLst>
      <p:ext uri="{BB962C8B-B14F-4D97-AF65-F5344CB8AC3E}">
        <p14:creationId xmlns:p14="http://schemas.microsoft.com/office/powerpoint/2010/main" val="59243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Заголовок 1"/>
          <p:cNvSpPr txBox="1">
            <a:spLocks/>
          </p:cNvSpPr>
          <p:nvPr/>
        </p:nvSpPr>
        <p:spPr>
          <a:xfrm>
            <a:off x="0" y="188640"/>
            <a:ext cx="9144000" cy="2160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atin typeface="Times New Roman" pitchFamily="18" charset="0"/>
                <a:cs typeface="Times New Roman" pitchFamily="18" charset="0"/>
              </a:rPr>
              <a:t>O‘ZBEKISTON RESPUBLIKASI AXBOROT TEXNOLOGIYALARI VA KOMMUNIKATSIYALARINI RIVOJLANTIRISH VAZIRLIGI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tt-RU" sz="1800" b="1" dirty="0" smtClean="0">
                <a:latin typeface="Times New Roman" pitchFamily="18" charset="0"/>
                <a:cs typeface="Times New Roman" pitchFamily="18" charset="0"/>
              </a:rPr>
              <a:t>MUXAMMAD AL-XORAZMIY NOMIDAGI </a:t>
            </a:r>
            <a:r>
              <a:rPr lang="en-US" sz="1800" b="1" dirty="0" smtClean="0">
                <a:latin typeface="Times New Roman" pitchFamily="18" charset="0"/>
                <a:cs typeface="Times New Roman" pitchFamily="18" charset="0"/>
              </a:rPr>
              <a:t>TOSHKENT AXBOROT TEXNOLOGIYALARI UNIVERSITETI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SAMAR</a:t>
            </a:r>
            <a:r>
              <a:rPr lang="uz-Cyrl-UZ" sz="1800" b="1" dirty="0" smtClean="0">
                <a:latin typeface="Times New Roman" pitchFamily="18" charset="0"/>
                <a:cs typeface="Times New Roman" pitchFamily="18" charset="0"/>
              </a:rPr>
              <a:t>Q</a:t>
            </a:r>
            <a:r>
              <a:rPr lang="en-US" sz="1800" b="1" dirty="0" smtClean="0">
                <a:latin typeface="Times New Roman" pitchFamily="18" charset="0"/>
                <a:cs typeface="Times New Roman" pitchFamily="18" charset="0"/>
              </a:rPr>
              <a:t>AND FILIALI </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TELEKOMMUNIKATSIYA </a:t>
            </a:r>
            <a:r>
              <a:rPr lang="uz-Cyrl-UZ" sz="1800" b="1" dirty="0" smtClean="0">
                <a:latin typeface="Times New Roman" pitchFamily="18" charset="0"/>
                <a:cs typeface="Times New Roman" pitchFamily="18" charset="0"/>
              </a:rPr>
              <a:t>TEXNOLOGIYALARI </a:t>
            </a:r>
            <a:r>
              <a:rPr lang="en-US" sz="1800" b="1" dirty="0" smtClean="0">
                <a:latin typeface="Times New Roman" pitchFamily="18" charset="0"/>
                <a:cs typeface="Times New Roman" pitchFamily="18" charset="0"/>
              </a:rPr>
              <a:t>VA KASB TA’LIM </a:t>
            </a:r>
            <a:r>
              <a:rPr lang="uz-Cyrl-UZ" sz="1800" b="1" dirty="0" smtClean="0">
                <a:latin typeface="Times New Roman" pitchFamily="18" charset="0"/>
                <a:cs typeface="Times New Roman" pitchFamily="18" charset="0"/>
              </a:rPr>
              <a:t>FAKULTETI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uz-Cyrl-UZ" sz="1800" b="1" dirty="0" smtClean="0">
                <a:latin typeface="Times New Roman" pitchFamily="18" charset="0"/>
                <a:cs typeface="Times New Roman" pitchFamily="18" charset="0"/>
              </a:rPr>
              <a:t>«TELEKOMMUNIKATSIYA INJINIRINGI» KAFEDRASI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endParaRPr lang="ru-RU" sz="1800" dirty="0">
              <a:latin typeface="Times New Roman" pitchFamily="18" charset="0"/>
              <a:cs typeface="Times New Roman" pitchFamily="18" charset="0"/>
            </a:endParaRPr>
          </a:p>
        </p:txBody>
      </p:sp>
      <p:sp>
        <p:nvSpPr>
          <p:cNvPr id="6" name="Подзаголовок 2"/>
          <p:cNvSpPr txBox="1">
            <a:spLocks/>
          </p:cNvSpPr>
          <p:nvPr/>
        </p:nvSpPr>
        <p:spPr>
          <a:xfrm>
            <a:off x="1007604" y="2204864"/>
            <a:ext cx="7128792" cy="6480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Tarmoqni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dasturlash</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asoslari</a:t>
            </a:r>
            <a:r>
              <a:rPr lang="en-US" sz="2400" b="1" dirty="0" smtClean="0">
                <a:latin typeface="Times New Roman" pitchFamily="18" charset="0"/>
                <a:cs typeface="Times New Roman" pitchFamily="18" charset="0"/>
              </a:rPr>
              <a:t>”</a:t>
            </a:r>
          </a:p>
          <a:p>
            <a:pPr marL="0" indent="0" algn="ctr">
              <a:buNone/>
            </a:pPr>
            <a:r>
              <a:rPr lang="en-US" sz="2400" b="1" dirty="0" err="1" smtClean="0">
                <a:latin typeface="Times New Roman" pitchFamily="18" charset="0"/>
                <a:cs typeface="Times New Roman" pitchFamily="18" charset="0"/>
              </a:rPr>
              <a:t>fanidan</a:t>
            </a:r>
            <a:r>
              <a:rPr lang="en-US" sz="2400" b="1"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14– </a:t>
            </a:r>
            <a:r>
              <a:rPr lang="en-US" sz="2400" b="1" dirty="0" err="1" smtClean="0">
                <a:latin typeface="Times New Roman" pitchFamily="18" charset="0"/>
                <a:cs typeface="Times New Roman" pitchFamily="18" charset="0"/>
              </a:rPr>
              <a:t>ma’ruza</a:t>
            </a:r>
            <a:endParaRPr lang="ru-RU" sz="2400" b="1" dirty="0">
              <a:latin typeface="Times New Roman" pitchFamily="18" charset="0"/>
              <a:cs typeface="Times New Roman" pitchFamily="18" charset="0"/>
            </a:endParaRPr>
          </a:p>
        </p:txBody>
      </p:sp>
      <p:sp>
        <p:nvSpPr>
          <p:cNvPr id="7" name="Подзаголовок 2"/>
          <p:cNvSpPr txBox="1">
            <a:spLocks/>
          </p:cNvSpPr>
          <p:nvPr/>
        </p:nvSpPr>
        <p:spPr>
          <a:xfrm>
            <a:off x="307975" y="3140968"/>
            <a:ext cx="8724033" cy="936104"/>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1800" dirty="0" smtClean="0">
              <a:solidFill>
                <a:srgbClr val="FF66CC"/>
              </a:solidFill>
              <a:latin typeface="Times New Roman" pitchFamily="18" charset="0"/>
              <a:cs typeface="Times New Roman" pitchFamily="18" charset="0"/>
            </a:endParaRPr>
          </a:p>
          <a:p>
            <a:r>
              <a:rPr lang="en-US" sz="2000" dirty="0" err="1" smtClean="0">
                <a:solidFill>
                  <a:schemeClr val="tx1"/>
                </a:solidFill>
                <a:latin typeface="Times New Roman" pitchFamily="18" charset="0"/>
                <a:cs typeface="Times New Roman" pitchFamily="18" charset="0"/>
              </a:rPr>
              <a:t>Mavzu</a:t>
            </a:r>
            <a:r>
              <a:rPr lang="en-US" sz="1800" dirty="0" smtClean="0">
                <a:solidFill>
                  <a:schemeClr val="tx1"/>
                </a:solidFill>
                <a:latin typeface="Times New Roman" pitchFamily="18" charset="0"/>
                <a:cs typeface="Times New Roman" pitchFamily="18" charset="0"/>
              </a:rPr>
              <a:t>: </a:t>
            </a:r>
            <a:r>
              <a:rPr lang="uz-Cyrl-UZ" sz="2000" dirty="0">
                <a:solidFill>
                  <a:schemeClr val="tx1"/>
                </a:solidFill>
                <a:latin typeface="Times New Roman" pitchFamily="18" charset="0"/>
                <a:cs typeface="Times New Roman" pitchFamily="18" charset="0"/>
              </a:rPr>
              <a:t>Tarmoqda </a:t>
            </a:r>
            <a:r>
              <a:rPr lang="uz-Cyrl-UZ" sz="2000" dirty="0" smtClean="0">
                <a:solidFill>
                  <a:schemeClr val="tx1"/>
                </a:solidFill>
                <a:latin typeface="Times New Roman" pitchFamily="18" charset="0"/>
                <a:cs typeface="Times New Roman" pitchFamily="18" charset="0"/>
              </a:rPr>
              <a:t>klient-server </a:t>
            </a:r>
            <a:r>
              <a:rPr lang="uz-Cyrl-UZ" sz="2000" dirty="0">
                <a:solidFill>
                  <a:schemeClr val="tx1"/>
                </a:solidFill>
                <a:latin typeface="Times New Roman" pitchFamily="18" charset="0"/>
                <a:cs typeface="Times New Roman" pitchFamily="18" charset="0"/>
              </a:rPr>
              <a:t>arxitekturasini realizatsiya qilish</a:t>
            </a:r>
            <a:endParaRPr lang="ru-RU" sz="2000" dirty="0">
              <a:solidFill>
                <a:schemeClr val="tx1"/>
              </a:solidFill>
              <a:latin typeface="Times New Roman" pitchFamily="18" charset="0"/>
              <a:cs typeface="Times New Roman" pitchFamily="18" charset="0"/>
            </a:endParaRPr>
          </a:p>
        </p:txBody>
      </p:sp>
      <p:sp>
        <p:nvSpPr>
          <p:cNvPr id="8" name="Прямоугольник 7"/>
          <p:cNvSpPr/>
          <p:nvPr/>
        </p:nvSpPr>
        <p:spPr>
          <a:xfrm>
            <a:off x="3707904" y="6237312"/>
            <a:ext cx="2412071" cy="461665"/>
          </a:xfrm>
          <a:prstGeom prst="rect">
            <a:avLst/>
          </a:prstGeom>
        </p:spPr>
        <p:txBody>
          <a:bodyPr wrap="none">
            <a:spAutoFit/>
          </a:bodyPr>
          <a:lstStyle/>
          <a:p>
            <a:r>
              <a:rPr lang="uz-Cyrl-UZ" sz="2400" b="1" dirty="0" smtClean="0">
                <a:latin typeface="Times New Roman" pitchFamily="18" charset="0"/>
                <a:cs typeface="Times New Roman" pitchFamily="18" charset="0"/>
              </a:rPr>
              <a:t>Samarqand </a:t>
            </a:r>
            <a:r>
              <a:rPr lang="en-US" sz="2400" b="1" smtClean="0">
                <a:latin typeface="Times New Roman" pitchFamily="18" charset="0"/>
                <a:cs typeface="Times New Roman" pitchFamily="18" charset="0"/>
              </a:rPr>
              <a:t>2021</a:t>
            </a:r>
            <a:endParaRPr lang="ru-RU" sz="2400" dirty="0">
              <a:latin typeface="Times New Roman" pitchFamily="18" charset="0"/>
              <a:cs typeface="Times New Roman" pitchFamily="18" charset="0"/>
            </a:endParaRPr>
          </a:p>
        </p:txBody>
      </p:sp>
      <p:sp>
        <p:nvSpPr>
          <p:cNvPr id="9" name="AutoShape 2" descr="Картинки по запросу &quot;INTERNET&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 name="Picture 2" descr="C:\Users\User\Desktop\1024px-Applications-internet.svg.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537" y="3933055"/>
            <a:ext cx="3180321" cy="29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730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p:cNvPicPr/>
          <p:nvPr/>
        </p:nvPicPr>
        <p:blipFill>
          <a:blip r:embed="rId2"/>
          <a:stretch>
            <a:fillRect/>
          </a:stretch>
        </p:blipFill>
        <p:spPr>
          <a:xfrm>
            <a:off x="460" y="21277"/>
            <a:ext cx="9143540" cy="6836723"/>
          </a:xfrm>
          <a:prstGeom prst="rect">
            <a:avLst/>
          </a:prstGeom>
        </p:spPr>
      </p:pic>
    </p:spTree>
    <p:extLst>
      <p:ext uri="{BB962C8B-B14F-4D97-AF65-F5344CB8AC3E}">
        <p14:creationId xmlns:p14="http://schemas.microsoft.com/office/powerpoint/2010/main" val="1399642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576064"/>
          </a:xfrm>
        </p:spPr>
        <p:txBody>
          <a:bodyPr>
            <a:normAutofit fontScale="90000"/>
          </a:bodyPr>
          <a:lstStyle/>
          <a:p>
            <a:r>
              <a:rPr lang="en-US" sz="2600" dirty="0" err="1" smtClean="0">
                <a:latin typeface="Times New Roman" pitchFamily="18" charset="0"/>
                <a:cs typeface="Times New Roman" pitchFamily="18" charset="0"/>
              </a:rPr>
              <a:t>Reja</a:t>
            </a:r>
            <a:r>
              <a:rPr lang="en-US" dirty="0" smtClean="0"/>
              <a:t>:</a:t>
            </a:r>
            <a:endParaRPr lang="ru-RU" dirty="0"/>
          </a:p>
        </p:txBody>
      </p:sp>
      <p:sp>
        <p:nvSpPr>
          <p:cNvPr id="3" name="Объект 2"/>
          <p:cNvSpPr>
            <a:spLocks noGrp="1"/>
          </p:cNvSpPr>
          <p:nvPr>
            <p:ph idx="1"/>
          </p:nvPr>
        </p:nvSpPr>
        <p:spPr>
          <a:xfrm>
            <a:off x="215008" y="836712"/>
            <a:ext cx="8928992" cy="1872208"/>
          </a:xfrm>
        </p:spPr>
        <p:txBody>
          <a:bodyPr>
            <a:normAutofit/>
          </a:bodyPr>
          <a:lstStyle/>
          <a:p>
            <a:pPr marL="457200" lvl="0" indent="-457200">
              <a:buFont typeface="+mj-lt"/>
              <a:buAutoNum type="arabicPeriod"/>
            </a:pPr>
            <a:r>
              <a:rPr lang="uz-Cyrl-UZ" sz="2400" dirty="0">
                <a:latin typeface="Times New Roman" pitchFamily="18" charset="0"/>
                <a:cs typeface="Times New Roman" pitchFamily="18" charset="0"/>
              </a:rPr>
              <a:t>Tarmoqda kliyent-server ilovalarini yaratishda Java klasslari</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UDP protokolidan foydalanib kliyent-server ilova yaratish</a:t>
            </a:r>
            <a:endParaRPr lang="ru-RU" sz="2400" dirty="0">
              <a:latin typeface="Times New Roman" pitchFamily="18" charset="0"/>
              <a:cs typeface="Times New Roman" pitchFamily="18" charset="0"/>
            </a:endParaRPr>
          </a:p>
        </p:txBody>
      </p:sp>
      <p:pic>
        <p:nvPicPr>
          <p:cNvPr id="5122" name="Picture 2" descr="Картинки по запросу &quot;INTERNE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8920"/>
            <a:ext cx="9144000" cy="414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226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188640"/>
            <a:ext cx="8712968" cy="5847755"/>
          </a:xfrm>
          <a:prstGeom prst="rect">
            <a:avLst/>
          </a:prstGeom>
        </p:spPr>
        <p:txBody>
          <a:bodyPr wrap="square">
            <a:spAutoFit/>
          </a:bodyPr>
          <a:lstStyle/>
          <a:p>
            <a:pPr algn="ctr"/>
            <a:r>
              <a:rPr lang="en-US" sz="2200" dirty="0" err="1" smtClean="0">
                <a:latin typeface="Times New Roman" pitchFamily="18" charset="0"/>
                <a:cs typeface="Times New Roman" pitchFamily="18" charset="0"/>
              </a:rPr>
              <a:t>Kirish</a:t>
            </a:r>
            <a:r>
              <a:rPr lang="en-US" sz="2200" dirty="0" smtClean="0">
                <a:latin typeface="Times New Roman" pitchFamily="18" charset="0"/>
                <a:cs typeface="Times New Roman" pitchFamily="18" charset="0"/>
              </a:rPr>
              <a:t>.</a:t>
            </a: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Ilovalarning </a:t>
            </a:r>
            <a:r>
              <a:rPr lang="uz-Cyrl-UZ" sz="2200" dirty="0">
                <a:latin typeface="Times New Roman" pitchFamily="18" charset="0"/>
                <a:cs typeface="Times New Roman" pitchFamily="18" charset="0"/>
              </a:rPr>
              <a:t>klient/server arxitekturasida server xosti ma’lumotlar bazasi so‘rovlarini qayta ishlash kabi xizmatlarni ta’minlaydi. Bunda klient va server o‘rtasidagi o‘zaro aloqa ishonchli bo‘lishi, ma’lumotlar yo‘qotilmasligi, shuningdek, klientga server tomonidan yuborilgan ma’lumotlar tartibli yetkazilishi lozim.</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Ta’kidlanganidek</a:t>
            </a:r>
            <a:r>
              <a:rPr lang="uz-Cyrl-UZ" sz="2200" dirty="0">
                <a:latin typeface="Times New Roman" pitchFamily="18" charset="0"/>
                <a:cs typeface="Times New Roman" pitchFamily="18" charset="0"/>
              </a:rPr>
              <a:t>, TCP klient/server ilovalari uchun nuqta-nuqta ishonchli ulanish kanalini ta’minlaydi va uning yordamida klient va server dasturlari ulanish o‘ranatadilar, soketlarni o‘zaro bog‘la	ydilar. Soketlar - jarayonlar o‘rtasida axborotlar almashinuvini ta’minlash uchun dasturiy interfeys nomidir. O‘zaro aloqada bo‘lgan jarayonlar bitta kompyuterda, shuningdek, tarmoq orqali ulangan bir necha xostlarda bajarilishi mumkin. Soketlar tarmoq orqali o‘rnatilgan ilovalar o‘rtasidagi aloqa kanalini boshqarish uchun ishlatiladi. Har bir TCP-ulanish ikkita oxirgi nuqtalari bilan identifikatsiya qilinishi mumkin. Shu tarzda, klient va serverning ko‘plab ulanishlari ta’minlanishi mumkin. Soket yaratilganidan keyin, u orqali klient va server o‘rtasidagi keyingi o‘zaro aloqa bajariladi.</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2193072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4591" y="0"/>
            <a:ext cx="9017775" cy="6863417"/>
          </a:xfrm>
          <a:prstGeom prst="rect">
            <a:avLst/>
          </a:prstGeom>
        </p:spPr>
        <p:txBody>
          <a:bodyPr wrap="square">
            <a:spAutoFit/>
          </a:bodyPr>
          <a:lstStyle/>
          <a:p>
            <a:pPr lvl="0" algn="ctr"/>
            <a:r>
              <a:rPr lang="uz-Cyrl-UZ" sz="2000" b="1" dirty="0">
                <a:latin typeface="Times New Roman" pitchFamily="18" charset="0"/>
                <a:cs typeface="Times New Roman" pitchFamily="18" charset="0"/>
              </a:rPr>
              <a:t>Tarmoqda klient-server ilovalarini yaratishda Java klasslari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Tarmoqli dasturlash uchun Java klasslari.</a:t>
            </a:r>
            <a:r>
              <a:rPr lang="uz-Cyrl-UZ" sz="2000" b="1" dirty="0">
                <a:latin typeface="Times New Roman" pitchFamily="18" charset="0"/>
                <a:cs typeface="Times New Roman" pitchFamily="18" charset="0"/>
              </a:rPr>
              <a:t> </a:t>
            </a:r>
            <a:r>
              <a:rPr lang="uz-Cyrl-UZ" sz="2000" dirty="0">
                <a:latin typeface="Times New Roman" pitchFamily="18" charset="0"/>
                <a:cs typeface="Times New Roman" pitchFamily="18" charset="0"/>
              </a:rPr>
              <a:t>Java dasturlash tili java.net paketini o‘z ichiga olib, uning klass va interfeyslari tarmoqda ishlashni qo‘llab-quvvatlashni ta’minlaydi va tarmoqli dasturlash uchun protokollardan foydalanadi.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java.net paketi klasslari.</a:t>
            </a:r>
            <a:r>
              <a:rPr lang="uz-Cyrl-UZ" sz="2000" b="1" dirty="0">
                <a:latin typeface="Times New Roman" pitchFamily="18" charset="0"/>
                <a:cs typeface="Times New Roman" pitchFamily="18" charset="0"/>
              </a:rPr>
              <a:t> </a:t>
            </a:r>
            <a:r>
              <a:rPr lang="uz-Cyrl-UZ" sz="2000" dirty="0">
                <a:latin typeface="Times New Roman" pitchFamily="18" charset="0"/>
                <a:cs typeface="Times New Roman" pitchFamily="18" charset="0"/>
              </a:rPr>
              <a:t>Tarmoq klasslari masofadagi xost bilan aloqa o‘rnatish va uni uzish, ma’lumotlar paketlarini uzatish va qabul qilish va tarmoq resurslariga ruxsat olish kabi vazifalarni bajarish metodlarini o‘z ichiga oladi. Quyida java.net paketidagi ba’zi klasslar keltirilgan:</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DatagramPacket:</a:t>
            </a:r>
            <a:r>
              <a:rPr lang="uz-Cyrl-UZ" sz="2000" dirty="0">
                <a:latin typeface="Times New Roman" pitchFamily="18" charset="0"/>
                <a:cs typeface="Times New Roman" pitchFamily="18" charset="0"/>
              </a:rPr>
              <a:t> datagramma paketi (datagram packet) ning ob’ekti bo‘lib, axborotlar manbai va qabul qilinish adresi to‘g‘risidagi axborot, manba va qabul qilish port raqamlari kabi ma’lumotlarni o‘z ichiga oladi. Ushbu axborot datagramma paketlarini tarmoq bo‘ylab bir kompyuterdan boshqasiga uzatish uchun foydalanadi.</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DatagramSocket:</a:t>
            </a:r>
            <a:r>
              <a:rPr lang="uz-Cyrl-UZ" sz="2000" dirty="0">
                <a:latin typeface="Times New Roman" pitchFamily="18" charset="0"/>
                <a:cs typeface="Times New Roman" pitchFamily="18" charset="0"/>
              </a:rPr>
              <a:t> datagramma paketlarini (datagram socket) uzatishi va qabul qilishi mumkin bo‘lgan datagramma soketi ob’ektidir. DatagramSocket ob’ekti tomonidan uzatilgan paketlar qabul qiluvchiga har qanday tartibda kelishi mumkin.</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MulticastSocket:</a:t>
            </a:r>
            <a:r>
              <a:rPr lang="uz-Cyrl-UZ" sz="2000" dirty="0">
                <a:latin typeface="Times New Roman" pitchFamily="18" charset="0"/>
                <a:cs typeface="Times New Roman" pitchFamily="18" charset="0"/>
              </a:rPr>
              <a:t> guruhlar uchun datagramma paketlarini uzatish va qabul qilish uchun foydalaniladigan datagramma soketining multikast (multicast) ob’ektini yaratadi. D klassdagi IP adreslar (224.0.0.0 va 19.255.255.255 orasidagi IP adreslar) guruhlarni yaratish uchun foydalaniladi. Ma’lumotlar D klassdagi IP-adresga uzatilganida, guruhga ulangan barcha klientlar uzatilgan ma’lumotlarni qabul qiladilar. Ushbu klass klientlarga ma’lum guruhga kirish va undan chiqish imkoniyatlarini beruvchi </a:t>
            </a:r>
            <a:r>
              <a:rPr lang="uz-Cyrl-UZ" sz="2000" i="1" dirty="0">
                <a:latin typeface="Times New Roman" pitchFamily="18" charset="0"/>
                <a:cs typeface="Times New Roman" pitchFamily="18" charset="0"/>
              </a:rPr>
              <a:t>joinGroup()</a:t>
            </a:r>
            <a:r>
              <a:rPr lang="uz-Cyrl-UZ" sz="2000" dirty="0">
                <a:latin typeface="Times New Roman" pitchFamily="18" charset="0"/>
                <a:cs typeface="Times New Roman" pitchFamily="18" charset="0"/>
              </a:rPr>
              <a:t> va </a:t>
            </a:r>
            <a:r>
              <a:rPr lang="uz-Cyrl-UZ" sz="2000" i="1" dirty="0">
                <a:latin typeface="Times New Roman" pitchFamily="18" charset="0"/>
                <a:cs typeface="Times New Roman" pitchFamily="18" charset="0"/>
              </a:rPr>
              <a:t>leaveGroup()</a:t>
            </a:r>
            <a:r>
              <a:rPr lang="uz-Cyrl-UZ" sz="2000" dirty="0">
                <a:latin typeface="Times New Roman" pitchFamily="18" charset="0"/>
                <a:cs typeface="Times New Roman" pitchFamily="18" charset="0"/>
              </a:rPr>
              <a:t> metodlarini o‘z ichiga oladi.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727248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44000" cy="6555641"/>
          </a:xfrm>
          <a:prstGeom prst="rect">
            <a:avLst/>
          </a:prstGeom>
        </p:spPr>
        <p:txBody>
          <a:bodyPr wrap="square">
            <a:spAutoFit/>
          </a:bodyPr>
          <a:lstStyle/>
          <a:p>
            <a:pPr algn="just"/>
            <a:r>
              <a:rPr lang="uz-Cyrl-UZ" sz="2000" i="1" dirty="0">
                <a:latin typeface="Times New Roman" pitchFamily="18" charset="0"/>
                <a:cs typeface="Times New Roman" pitchFamily="18" charset="0"/>
              </a:rPr>
              <a:t>- InetAddress:</a:t>
            </a:r>
            <a:r>
              <a:rPr lang="uz-Cyrl-UZ" sz="2000" dirty="0">
                <a:latin typeface="Times New Roman" pitchFamily="18" charset="0"/>
                <a:cs typeface="Times New Roman" pitchFamily="18" charset="0"/>
              </a:rPr>
              <a:t> IP-adres va xost nomi (host name) dan iborat bo‘lgan axborotlarni o‘z ichiga oladigan ob’ektni yaratadi.</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ServerSocket</a:t>
            </a:r>
            <a:r>
              <a:rPr lang="uz-Cyrl-UZ" sz="2000" i="1" dirty="0">
                <a:latin typeface="Times New Roman" pitchFamily="18" charset="0"/>
                <a:cs typeface="Times New Roman" pitchFamily="18" charset="0"/>
              </a:rPr>
              <a:t>:</a:t>
            </a:r>
            <a:r>
              <a:rPr lang="uz-Cyrl-UZ" sz="2000" dirty="0">
                <a:latin typeface="Times New Roman" pitchFamily="18" charset="0"/>
                <a:cs typeface="Times New Roman" pitchFamily="18" charset="0"/>
              </a:rPr>
              <a:t> klient so‘rovlari “eshitadigan” server soketi ob’ektini yaratadi. ServerSocket ob’ektlari klient so‘rovlarini qabul qilish uchun port raqamidan foydalanadi.</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Socket:</a:t>
            </a:r>
            <a:r>
              <a:rPr lang="uz-Cyrl-UZ" sz="2000" dirty="0">
                <a:latin typeface="Times New Roman" pitchFamily="18" charset="0"/>
                <a:cs typeface="Times New Roman" pitchFamily="18" charset="0"/>
              </a:rPr>
              <a:t> serverga so‘rovlarni yuborish uchun ServerSocket klassi ob’ekti bilan bog‘lanuvchi klient soketi ob’ektini yaratadi.</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URL:</a:t>
            </a:r>
            <a:r>
              <a:rPr lang="uz-Cyrl-UZ" sz="2000" dirty="0">
                <a:latin typeface="Times New Roman" pitchFamily="18" charset="0"/>
                <a:cs typeface="Times New Roman" pitchFamily="18" charset="0"/>
              </a:rPr>
              <a:t> Internetga fayl yoki boshqa resursni yuborishi mumkin bo‘lgan ob’ektni taqdim qiladi</a:t>
            </a:r>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Quyida </a:t>
            </a:r>
            <a:r>
              <a:rPr lang="uz-Cyrl-UZ" sz="2000" dirty="0">
                <a:latin typeface="Times New Roman" pitchFamily="18" charset="0"/>
                <a:cs typeface="Times New Roman" pitchFamily="18" charset="0"/>
              </a:rPr>
              <a:t>java.net paketida mavjud bo‘lgan istisno holatlarni qayta ishlovchi bir necha klasslar keltirilgan:</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BindException:</a:t>
            </a:r>
            <a:r>
              <a:rPr lang="uz-Cyrl-UZ" sz="2000" dirty="0">
                <a:latin typeface="Times New Roman" pitchFamily="18" charset="0"/>
                <a:cs typeface="Times New Roman" pitchFamily="18" charset="0"/>
              </a:rPr>
              <a:t> ushbu istisno holatlar ob’ekti lokal adres soketi yoki porti bilan aloqa o‘rnatishda xatolik yuzaga kelganida generatsiyalanadi. Masalan, lokal adresga ruxsat bo‘lmaganida yoki so‘ralgan port ishlatilayotgan holatlarda.</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ConnectException:</a:t>
            </a:r>
            <a:r>
              <a:rPr lang="uz-Cyrl-UZ" sz="2000" dirty="0">
                <a:latin typeface="Times New Roman" pitchFamily="18" charset="0"/>
                <a:cs typeface="Times New Roman" pitchFamily="18" charset="0"/>
              </a:rPr>
              <a:t> ushbu istisno holatlar ob’ekti soketning masofadagi IP-adres va port bilan bog‘lanishida xatolik yuzaga kelganida generatsiyalanadi. Masalan, masofadan ulanish imkoni bo‘lmaganida.</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MalformedURLException:</a:t>
            </a:r>
            <a:r>
              <a:rPr lang="uz-Cyrl-UZ" sz="2000" dirty="0">
                <a:latin typeface="Times New Roman" pitchFamily="18" charset="0"/>
                <a:cs typeface="Times New Roman" pitchFamily="18" charset="0"/>
              </a:rPr>
              <a:t> ushbu istisno holatlar ob’ekti URL kuchga ega bo‘lmagan protokolga ega bo‘lganida yoki URL “ssыlka” si muvaffaqiyatli qayta ishlanmaganida generatsiyalanadi.</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UnknownHostException:</a:t>
            </a:r>
            <a:r>
              <a:rPr lang="uz-Cyrl-UZ" sz="2000" dirty="0">
                <a:latin typeface="Times New Roman" pitchFamily="18" charset="0"/>
                <a:cs typeface="Times New Roman" pitchFamily="18" charset="0"/>
              </a:rPr>
              <a:t> ushbu istisno holatlar ob’ekti xostning IP-adresining aniqlanishi mumkin bo‘lmaganida yoki mavjud bo‘lmaganida generatsiyalanadi</a:t>
            </a:r>
            <a:r>
              <a:rPr lang="uz-Cyrl-UZ"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016859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627" y="-2485"/>
            <a:ext cx="9144000" cy="6863417"/>
          </a:xfrm>
          <a:prstGeom prst="rect">
            <a:avLst/>
          </a:prstGeom>
        </p:spPr>
        <p:txBody>
          <a:bodyPr wrap="square">
            <a:spAutoFit/>
          </a:bodyPr>
          <a:lstStyle/>
          <a:p>
            <a:pPr algn="just"/>
            <a:r>
              <a:rPr lang="uz-Cyrl-UZ" sz="2000" i="1" dirty="0">
                <a:latin typeface="Times New Roman" pitchFamily="18" charset="0"/>
                <a:cs typeface="Times New Roman" pitchFamily="18" charset="0"/>
              </a:rPr>
              <a:t>InetAddress klassi: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InetAddress klassi xostlar nomi va ular bilan bog‘liq bo‘lgan va tarmoq ilovalarini yaratishda zarur bo‘lgan IP-adreslarni aniqlash imkonini beradi. InetAddress ob’ektlari InetAddress klassida e’lon qilingan statistik metodlardan foydalangan holda initsializatsiya qilinadi. Quyida InetAddress ob’ektlarini initsializatsiya qilishda foydalaniladigan metodlardan ba’zilari keltirigan:</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public static InetAddress getLocalHost():</a:t>
            </a:r>
            <a:r>
              <a:rPr lang="uz-Cyrl-UZ" sz="2000" dirty="0">
                <a:latin typeface="Times New Roman" pitchFamily="18" charset="0"/>
                <a:cs typeface="Times New Roman" pitchFamily="18" charset="0"/>
              </a:rPr>
              <a:t> lokal kompyuterning IP-adresini o‘z ichiga oladigan InetAddress ob’ektini qaytaradi.</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public static InetAddress getByName(String host):</a:t>
            </a:r>
            <a:r>
              <a:rPr lang="uz-Cyrl-UZ" sz="2000" dirty="0">
                <a:latin typeface="Times New Roman" pitchFamily="18" charset="0"/>
                <a:cs typeface="Times New Roman" pitchFamily="18" charset="0"/>
              </a:rPr>
              <a:t> String sifatida uzatilgan xost nomining IP-adresini o‘z ichiga oluvchi InetAddress ob’ektini qaytaradi.</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public static InetAddress[] getAllByName(String host):</a:t>
            </a:r>
            <a:r>
              <a:rPr lang="uz-Cyrl-UZ" sz="2000" dirty="0">
                <a:latin typeface="Times New Roman" pitchFamily="18" charset="0"/>
                <a:cs typeface="Times New Roman" pitchFamily="18" charset="0"/>
              </a:rPr>
              <a:t> String sifatida uzatilgan xost nomi uchun IP-adresni o‘z ichiga oluvchi InetAddress ob’ekt massivini qaytaradi.</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getLocalHost(), getByName(), getAllByName() va getBy Adress()</a:t>
            </a:r>
            <a:r>
              <a:rPr lang="uz-Cyrl-UZ" sz="2000" dirty="0">
                <a:latin typeface="Times New Roman" pitchFamily="18" charset="0"/>
                <a:cs typeface="Times New Roman" pitchFamily="18" charset="0"/>
              </a:rPr>
              <a:t> UnknownHostException istisno holatini chaqiradi.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InetAddress klassida aniqlangan nostatik metodlardan InetAddress ob’ektlarini initsializatsiya qilinganidan keyin foydalanish mumkin. Nostatik metodlar InetAddress klassida aniqlangan va quyida keltirilgan:</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public boolean equals(Object obj):</a:t>
            </a:r>
            <a:r>
              <a:rPr lang="uz-Cyrl-UZ" sz="2000" dirty="0">
                <a:latin typeface="Times New Roman" pitchFamily="18" charset="0"/>
                <a:cs typeface="Times New Roman" pitchFamily="18" charset="0"/>
              </a:rPr>
              <a:t> InetAddress ob’ekti parametr sifatida uzatilgan obj ob’ekti bilan bir xil IP adresga ega bo‘lganida </a:t>
            </a:r>
            <a:r>
              <a:rPr lang="uz-Cyrl-UZ" sz="2000" i="1" dirty="0">
                <a:latin typeface="Times New Roman" pitchFamily="18" charset="0"/>
                <a:cs typeface="Times New Roman" pitchFamily="18" charset="0"/>
              </a:rPr>
              <a:t>true</a:t>
            </a:r>
            <a:r>
              <a:rPr lang="uz-Cyrl-UZ" sz="2000" dirty="0">
                <a:latin typeface="Times New Roman" pitchFamily="18" charset="0"/>
                <a:cs typeface="Times New Roman" pitchFamily="18" charset="0"/>
              </a:rPr>
              <a:t> ni qaytaradi.</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public byte[] getAddress(): </a:t>
            </a:r>
            <a:r>
              <a:rPr lang="uz-Cyrl-UZ" sz="2000" dirty="0">
                <a:latin typeface="Times New Roman" pitchFamily="18" charset="0"/>
                <a:cs typeface="Times New Roman" pitchFamily="18" charset="0"/>
              </a:rPr>
              <a:t>InetAddress ob’ektining IP adresini </a:t>
            </a:r>
            <a:r>
              <a:rPr lang="uz-Cyrl-UZ" sz="2000" i="1" dirty="0">
                <a:latin typeface="Times New Roman" pitchFamily="18" charset="0"/>
                <a:cs typeface="Times New Roman" pitchFamily="18" charset="0"/>
              </a:rPr>
              <a:t>byte</a:t>
            </a:r>
            <a:r>
              <a:rPr lang="uz-Cyrl-UZ" sz="2000" dirty="0">
                <a:latin typeface="Times New Roman" pitchFamily="18" charset="0"/>
                <a:cs typeface="Times New Roman" pitchFamily="18" charset="0"/>
              </a:rPr>
              <a:t> massivi ko‘rinishida qaytaradi. Masalan, InetAddress ob’ektining IP-adresi 194.85.160.58 bo‘lsa, ushbu metod keyingi </a:t>
            </a:r>
            <a:r>
              <a:rPr lang="uz-Cyrl-UZ" sz="2000" i="1" dirty="0">
                <a:latin typeface="Times New Roman" pitchFamily="18" charset="0"/>
                <a:cs typeface="Times New Roman" pitchFamily="18" charset="0"/>
              </a:rPr>
              <a:t>byte</a:t>
            </a:r>
            <a:r>
              <a:rPr lang="uz-Cyrl-UZ" sz="2000" dirty="0">
                <a:latin typeface="Times New Roman" pitchFamily="18" charset="0"/>
                <a:cs typeface="Times New Roman" pitchFamily="18" charset="0"/>
              </a:rPr>
              <a:t> massivini qaytaradi</a:t>
            </a:r>
            <a:r>
              <a:rPr lang="uz-Cyrl-UZ"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35376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14702"/>
            <a:ext cx="9144000" cy="6863417"/>
          </a:xfrm>
          <a:prstGeom prst="rect">
            <a:avLst/>
          </a:prstGeom>
        </p:spPr>
        <p:txBody>
          <a:bodyPr wrap="square">
            <a:spAutoFit/>
          </a:bodyPr>
          <a:lstStyle/>
          <a:p>
            <a:pPr algn="just"/>
            <a:r>
              <a:rPr lang="en-US" sz="2000" dirty="0" err="1">
                <a:latin typeface="Times New Roman" pitchFamily="18" charset="0"/>
                <a:cs typeface="Times New Roman" pitchFamily="18" charset="0"/>
              </a:rPr>
              <a:t>ipaddress</a:t>
            </a:r>
            <a:r>
              <a:rPr lang="en-US" sz="2000" dirty="0">
                <a:latin typeface="Times New Roman" pitchFamily="18" charset="0"/>
                <a:cs typeface="Times New Roman" pitchFamily="18" charset="0"/>
              </a:rPr>
              <a:t>[0] = 194</a:t>
            </a:r>
            <a:r>
              <a:rPr lang="uz-Cyrl-UZ"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err="1">
                <a:latin typeface="Times New Roman" pitchFamily="18" charset="0"/>
                <a:cs typeface="Times New Roman" pitchFamily="18" charset="0"/>
              </a:rPr>
              <a:t>ipaddress</a:t>
            </a:r>
            <a:r>
              <a:rPr lang="en-US" sz="2000" dirty="0">
                <a:latin typeface="Times New Roman" pitchFamily="18" charset="0"/>
                <a:cs typeface="Times New Roman" pitchFamily="18" charset="0"/>
              </a:rPr>
              <a:t>[1] = 85</a:t>
            </a:r>
            <a:r>
              <a:rPr lang="uz-Cyrl-UZ"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err="1">
                <a:latin typeface="Times New Roman" pitchFamily="18" charset="0"/>
                <a:cs typeface="Times New Roman" pitchFamily="18" charset="0"/>
              </a:rPr>
              <a:t>ipaddress</a:t>
            </a:r>
            <a:r>
              <a:rPr lang="en-US" sz="2000" dirty="0">
                <a:latin typeface="Times New Roman" pitchFamily="18" charset="0"/>
                <a:cs typeface="Times New Roman" pitchFamily="18" charset="0"/>
              </a:rPr>
              <a:t>[2] = 160</a:t>
            </a:r>
            <a:r>
              <a:rPr lang="uz-Cyrl-UZ"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err="1">
                <a:latin typeface="Times New Roman" pitchFamily="18" charset="0"/>
                <a:cs typeface="Times New Roman" pitchFamily="18" charset="0"/>
              </a:rPr>
              <a:t>ipaddress</a:t>
            </a:r>
            <a:r>
              <a:rPr lang="en-US" sz="2000" dirty="0">
                <a:latin typeface="Times New Roman" pitchFamily="18" charset="0"/>
                <a:cs typeface="Times New Roman" pitchFamily="18" charset="0"/>
              </a:rPr>
              <a:t>[3] = 58</a:t>
            </a:r>
            <a:r>
              <a:rPr lang="uz-Cyrl-UZ"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a:t>
            </a:r>
            <a:r>
              <a:rPr lang="en-US" sz="2000" i="1" dirty="0">
                <a:latin typeface="Times New Roman" pitchFamily="18" charset="0"/>
                <a:cs typeface="Times New Roman" pitchFamily="18" charset="0"/>
              </a:rPr>
              <a:t>public String </a:t>
            </a:r>
            <a:r>
              <a:rPr lang="en-US" sz="2000" i="1" dirty="0" err="1">
                <a:latin typeface="Times New Roman" pitchFamily="18" charset="0"/>
                <a:cs typeface="Times New Roman" pitchFamily="18" charset="0"/>
              </a:rPr>
              <a:t>getHostAddress</a:t>
            </a:r>
            <a:r>
              <a:rPr lang="en-US" sz="2000" i="1" dirty="0">
                <a:latin typeface="Times New Roman" pitchFamily="18" charset="0"/>
                <a:cs typeface="Times New Roman" pitchFamily="18" charset="0"/>
              </a:rPr>
              <a:t>():</a:t>
            </a:r>
            <a:r>
              <a:rPr lang="en-US" sz="2000" dirty="0">
                <a:latin typeface="Times New Roman" pitchFamily="18" charset="0"/>
                <a:cs typeface="Times New Roman" pitchFamily="18" charset="0"/>
              </a:rPr>
              <a:t> </a:t>
            </a:r>
            <a:r>
              <a:rPr lang="en-US" sz="2000" i="1" dirty="0" err="1">
                <a:latin typeface="Times New Roman" pitchFamily="18" charset="0"/>
                <a:cs typeface="Times New Roman" pitchFamily="18" charset="0"/>
              </a:rPr>
              <a:t>InetAddress</a:t>
            </a:r>
            <a:r>
              <a:rPr lang="en-US" sz="2000" i="1" dirty="0">
                <a:latin typeface="Times New Roman" pitchFamily="18" charset="0"/>
                <a:cs typeface="Times New Roman" pitchFamily="18" charset="0"/>
              </a:rPr>
              <a:t> </a:t>
            </a:r>
            <a:r>
              <a:rPr lang="uz-Cyrl-UZ" sz="2000" dirty="0">
                <a:latin typeface="Times New Roman" pitchFamily="18" charset="0"/>
                <a:cs typeface="Times New Roman" pitchFamily="18" charset="0"/>
              </a:rPr>
              <a:t>ob’ektining </a:t>
            </a:r>
            <a:r>
              <a:rPr lang="en-US" sz="2000" dirty="0">
                <a:latin typeface="Times New Roman" pitchFamily="18" charset="0"/>
                <a:cs typeface="Times New Roman" pitchFamily="18" charset="0"/>
              </a:rPr>
              <a:t>IP</a:t>
            </a:r>
            <a:r>
              <a:rPr lang="uz-Cyrl-UZ" sz="2000" dirty="0">
                <a:latin typeface="Times New Roman" pitchFamily="18" charset="0"/>
                <a:cs typeface="Times New Roman" pitchFamily="18" charset="0"/>
              </a:rPr>
              <a:t>-adresini </a:t>
            </a:r>
            <a:r>
              <a:rPr lang="en-US" sz="2000" i="1" dirty="0">
                <a:latin typeface="Times New Roman" pitchFamily="18" charset="0"/>
                <a:cs typeface="Times New Roman" pitchFamily="18" charset="0"/>
              </a:rPr>
              <a:t>String </a:t>
            </a:r>
            <a:r>
              <a:rPr lang="uz-Cyrl-UZ" sz="2000" dirty="0">
                <a:latin typeface="Times New Roman" pitchFamily="18" charset="0"/>
                <a:cs typeface="Times New Roman" pitchFamily="18" charset="0"/>
              </a:rPr>
              <a:t>sifatida qaytaradi.</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public String toString():</a:t>
            </a:r>
            <a:r>
              <a:rPr lang="uz-Cyrl-UZ" sz="2000" dirty="0">
                <a:latin typeface="Times New Roman" pitchFamily="18" charset="0"/>
                <a:cs typeface="Times New Roman" pitchFamily="18" charset="0"/>
              </a:rPr>
              <a:t> xostning IP-adresini </a:t>
            </a:r>
            <a:r>
              <a:rPr lang="uz-Cyrl-UZ" sz="2000" i="1" dirty="0">
                <a:latin typeface="Times New Roman" pitchFamily="18" charset="0"/>
                <a:cs typeface="Times New Roman" pitchFamily="18" charset="0"/>
              </a:rPr>
              <a:t>string</a:t>
            </a:r>
            <a:r>
              <a:rPr lang="uz-Cyrl-UZ" sz="2000" dirty="0">
                <a:latin typeface="Times New Roman" pitchFamily="18" charset="0"/>
                <a:cs typeface="Times New Roman" pitchFamily="18" charset="0"/>
              </a:rPr>
              <a:t> sifatida xost/ IP-adres nom formatida qaytaradi.</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InetAddress</a:t>
            </a:r>
            <a:r>
              <a:rPr lang="uz-Cyrl-UZ" sz="2000" dirty="0">
                <a:latin typeface="Times New Roman" pitchFamily="18" charset="0"/>
                <a:cs typeface="Times New Roman" pitchFamily="18" charset="0"/>
              </a:rPr>
              <a:t> ob’ektini initsializatsiya qilish va foydalanish namunasini ko‘rib chiqamiz:</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import java.net.*;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class </a:t>
            </a:r>
            <a:r>
              <a:rPr lang="en-US" sz="2000" i="1" dirty="0" err="1">
                <a:latin typeface="Times New Roman" pitchFamily="18" charset="0"/>
                <a:cs typeface="Times New Roman" pitchFamily="18" charset="0"/>
              </a:rPr>
              <a:t>InetAddressClass</a:t>
            </a:r>
            <a:r>
              <a:rPr lang="en-US" sz="2000" i="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public static void main(String </a:t>
            </a:r>
            <a:r>
              <a:rPr lang="en-US" sz="2000" i="1" dirty="0" err="1">
                <a:latin typeface="Times New Roman" pitchFamily="18" charset="0"/>
                <a:cs typeface="Times New Roman" pitchFamily="18" charset="0"/>
              </a:rPr>
              <a:t>arg</a:t>
            </a:r>
            <a:r>
              <a:rPr lang="en-US" sz="2000" i="1" dirty="0">
                <a:latin typeface="Times New Roman" pitchFamily="18" charset="0"/>
                <a:cs typeface="Times New Roman" pitchFamily="18" charset="0"/>
              </a:rPr>
              <a:t>[]) </a:t>
            </a:r>
            <a:r>
              <a:rPr lang="en-US" sz="2000" i="1" dirty="0" smtClean="0">
                <a:latin typeface="Times New Roman" pitchFamily="18" charset="0"/>
                <a:cs typeface="Times New Roman" pitchFamily="18" charset="0"/>
              </a:rPr>
              <a:t>{</a:t>
            </a:r>
          </a:p>
          <a:p>
            <a:pPr algn="just"/>
            <a:r>
              <a:rPr lang="en-US" sz="2000" i="1" dirty="0">
                <a:latin typeface="Times New Roman" pitchFamily="18" charset="0"/>
                <a:cs typeface="Times New Roman" pitchFamily="18" charset="0"/>
              </a:rPr>
              <a:t>try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getLocalHost() dan foydalanib, InetAddress ob’ekti yaratiladi.</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InetAddress</a:t>
            </a:r>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klassining statik metodi</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InetAddress</a:t>
            </a:r>
            <a:r>
              <a:rPr lang="en-US" sz="2000" i="1" dirty="0">
                <a:latin typeface="Times New Roman" pitchFamily="18" charset="0"/>
                <a:cs typeface="Times New Roman" pitchFamily="18" charset="0"/>
              </a:rPr>
              <a:t> address = </a:t>
            </a:r>
            <a:r>
              <a:rPr lang="en-US" sz="2000" i="1" dirty="0" err="1">
                <a:latin typeface="Times New Roman" pitchFamily="18" charset="0"/>
                <a:cs typeface="Times New Roman" pitchFamily="18" charset="0"/>
              </a:rPr>
              <a:t>InetAddress.getLocalHost</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r>
              <a:rPr lang="uz-Cyrl-UZ" sz="2000" i="1" dirty="0">
                <a:latin typeface="Times New Roman" pitchFamily="18" charset="0"/>
                <a:cs typeface="Times New Roman" pitchFamily="18" charset="0"/>
              </a:rPr>
              <a:t>xost</a:t>
            </a:r>
            <a:r>
              <a:rPr lang="en-US" sz="2000" i="1" dirty="0">
                <a:latin typeface="Times New Roman" pitchFamily="18" charset="0"/>
                <a:cs typeface="Times New Roman" pitchFamily="18" charset="0"/>
              </a:rPr>
              <a:t> IP</a:t>
            </a:r>
            <a:r>
              <a:rPr lang="uz-Cyrl-UZ" sz="2000" i="1" dirty="0">
                <a:latin typeface="Times New Roman" pitchFamily="18" charset="0"/>
                <a:cs typeface="Times New Roman" pitchFamily="18" charset="0"/>
              </a:rPr>
              <a:t>-adresining qabul qilinishi</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String </a:t>
            </a:r>
            <a:r>
              <a:rPr lang="en-US" sz="2000" i="1" dirty="0" err="1">
                <a:latin typeface="Times New Roman" pitchFamily="18" charset="0"/>
                <a:cs typeface="Times New Roman" pitchFamily="18" charset="0"/>
              </a:rPr>
              <a:t>addressHost</a:t>
            </a:r>
            <a:r>
              <a:rPr lang="en-US" sz="2000" i="1" dirty="0">
                <a:latin typeface="Times New Roman" pitchFamily="18" charset="0"/>
                <a:cs typeface="Times New Roman" pitchFamily="18" charset="0"/>
              </a:rPr>
              <a:t> = </a:t>
            </a:r>
            <a:r>
              <a:rPr lang="en-US" sz="2000" i="1" dirty="0" err="1">
                <a:latin typeface="Times New Roman" pitchFamily="18" charset="0"/>
                <a:cs typeface="Times New Roman" pitchFamily="18" charset="0"/>
              </a:rPr>
              <a:t>address.getHostAddress</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xost </a:t>
            </a:r>
            <a:r>
              <a:rPr lang="en-US" sz="2000" i="1" dirty="0">
                <a:latin typeface="Times New Roman" pitchFamily="18" charset="0"/>
                <a:cs typeface="Times New Roman" pitchFamily="18" charset="0"/>
              </a:rPr>
              <a:t>IP</a:t>
            </a:r>
            <a:r>
              <a:rPr lang="uz-Cyrl-UZ" sz="2000" i="1" dirty="0">
                <a:latin typeface="Times New Roman" pitchFamily="18" charset="0"/>
                <a:cs typeface="Times New Roman" pitchFamily="18" charset="0"/>
              </a:rPr>
              <a:t>-adresining chiqishi</a:t>
            </a:r>
            <a:r>
              <a:rPr lang="en-US" sz="2000" i="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03479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260648"/>
            <a:ext cx="8784976" cy="4832092"/>
          </a:xfrm>
          <a:prstGeom prst="rect">
            <a:avLst/>
          </a:prstGeom>
        </p:spPr>
        <p:txBody>
          <a:bodyPr wrap="square">
            <a:spAutoFit/>
          </a:bodyPr>
          <a:lstStyle/>
          <a:p>
            <a:pPr algn="just"/>
            <a:r>
              <a:rPr lang="en-US" sz="2200" i="1" dirty="0" err="1">
                <a:latin typeface="Times New Roman" pitchFamily="18" charset="0"/>
                <a:cs typeface="Times New Roman" pitchFamily="18" charset="0"/>
              </a:rPr>
              <a:t>System.out.println</a:t>
            </a:r>
            <a:r>
              <a:rPr lang="en-US" sz="2200" i="1" dirty="0">
                <a:latin typeface="Times New Roman" pitchFamily="18" charset="0"/>
                <a:cs typeface="Times New Roman" pitchFamily="18" charset="0"/>
              </a:rPr>
              <a:t>("</a:t>
            </a:r>
            <a:r>
              <a:rPr lang="uz-Cyrl-UZ" sz="2200" i="1" dirty="0">
                <a:latin typeface="Times New Roman" pitchFamily="18" charset="0"/>
                <a:cs typeface="Times New Roman" pitchFamily="18" charset="0"/>
              </a:rPr>
              <a:t>xost </a:t>
            </a:r>
            <a:r>
              <a:rPr lang="en-US" sz="2200" i="1" dirty="0">
                <a:latin typeface="Times New Roman" pitchFamily="18" charset="0"/>
                <a:cs typeface="Times New Roman" pitchFamily="18" charset="0"/>
              </a:rPr>
              <a:t>IP</a:t>
            </a:r>
            <a:r>
              <a:rPr lang="uz-Cyrl-UZ" sz="2200" i="1" dirty="0">
                <a:latin typeface="Times New Roman" pitchFamily="18" charset="0"/>
                <a:cs typeface="Times New Roman" pitchFamily="18" charset="0"/>
              </a:rPr>
              <a:t>-adresining chiqishi"+addressHost);</a:t>
            </a:r>
            <a:endParaRPr lang="ru-RU" sz="2200" dirty="0">
              <a:latin typeface="Times New Roman" pitchFamily="18" charset="0"/>
              <a:cs typeface="Times New Roman" pitchFamily="18" charset="0"/>
            </a:endParaRPr>
          </a:p>
          <a:p>
            <a:pPr algn="just"/>
            <a:r>
              <a:rPr lang="uz-Cyrl-UZ" sz="2200" i="1" dirty="0">
                <a:latin typeface="Times New Roman" pitchFamily="18" charset="0"/>
                <a:cs typeface="Times New Roman" pitchFamily="18" charset="0"/>
              </a:rPr>
              <a:t>// xost nomining chiqishi</a:t>
            </a:r>
            <a:endParaRPr lang="ru-RU" sz="2200" dirty="0">
              <a:latin typeface="Times New Roman" pitchFamily="18" charset="0"/>
              <a:cs typeface="Times New Roman" pitchFamily="18" charset="0"/>
            </a:endParaRPr>
          </a:p>
          <a:p>
            <a:pPr algn="just"/>
            <a:r>
              <a:rPr lang="uz-Cyrl-UZ" sz="2200" i="1" dirty="0">
                <a:latin typeface="Times New Roman" pitchFamily="18" charset="0"/>
                <a:cs typeface="Times New Roman" pitchFamily="18" charset="0"/>
              </a:rPr>
              <a:t>System.out.println("xost nomining chiqishi"+address.getHostName());</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 catch (</a:t>
            </a:r>
            <a:r>
              <a:rPr lang="en-US" sz="2200" i="1" dirty="0" err="1">
                <a:latin typeface="Times New Roman" pitchFamily="18" charset="0"/>
                <a:cs typeface="Times New Roman" pitchFamily="18" charset="0"/>
              </a:rPr>
              <a:t>UnknownHostException</a:t>
            </a:r>
            <a:r>
              <a:rPr lang="en-US" sz="2200" i="1" dirty="0">
                <a:latin typeface="Times New Roman" pitchFamily="18" charset="0"/>
                <a:cs typeface="Times New Roman" pitchFamily="18" charset="0"/>
              </a:rPr>
              <a:t> e) {</a:t>
            </a:r>
            <a:endParaRPr lang="ru-RU" sz="2200" dirty="0">
              <a:latin typeface="Times New Roman" pitchFamily="18" charset="0"/>
              <a:cs typeface="Times New Roman" pitchFamily="18" charset="0"/>
            </a:endParaRPr>
          </a:p>
          <a:p>
            <a:pPr algn="just"/>
            <a:r>
              <a:rPr lang="en-US" sz="2200" i="1" dirty="0" err="1">
                <a:latin typeface="Times New Roman" pitchFamily="18" charset="0"/>
                <a:cs typeface="Times New Roman" pitchFamily="18" charset="0"/>
              </a:rPr>
              <a:t>System.out.println</a:t>
            </a:r>
            <a:r>
              <a:rPr lang="en-US" sz="2200" i="1" dirty="0">
                <a:latin typeface="Times New Roman" pitchFamily="18" charset="0"/>
                <a:cs typeface="Times New Roman" pitchFamily="18" charset="0"/>
              </a:rPr>
              <a:t>("Error");</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i="1"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Ushbu namunada </a:t>
            </a:r>
            <a:r>
              <a:rPr lang="uz-Cyrl-UZ" sz="2200" i="1" dirty="0">
                <a:latin typeface="Times New Roman" pitchFamily="18" charset="0"/>
                <a:cs typeface="Times New Roman" pitchFamily="18" charset="0"/>
              </a:rPr>
              <a:t>InetAddress</a:t>
            </a:r>
            <a:r>
              <a:rPr lang="uz-Cyrl-UZ" sz="2200" dirty="0">
                <a:latin typeface="Times New Roman" pitchFamily="18" charset="0"/>
                <a:cs typeface="Times New Roman" pitchFamily="18" charset="0"/>
              </a:rPr>
              <a:t> klassining ob’ekti aniqlanadi. </a:t>
            </a:r>
            <a:r>
              <a:rPr lang="uz-Cyrl-UZ" sz="2200" i="1" dirty="0">
                <a:latin typeface="Times New Roman" pitchFamily="18" charset="0"/>
                <a:cs typeface="Times New Roman" pitchFamily="18" charset="0"/>
              </a:rPr>
              <a:t>InetAddressClass</a:t>
            </a:r>
            <a:r>
              <a:rPr lang="uz-Cyrl-UZ" sz="2200" dirty="0">
                <a:latin typeface="Times New Roman" pitchFamily="18" charset="0"/>
                <a:cs typeface="Times New Roman" pitchFamily="18" charset="0"/>
              </a:rPr>
              <a:t> klassining </a:t>
            </a:r>
            <a:r>
              <a:rPr lang="uz-Cyrl-UZ" sz="2200" i="1" dirty="0">
                <a:latin typeface="Times New Roman" pitchFamily="18" charset="0"/>
                <a:cs typeface="Times New Roman" pitchFamily="18" charset="0"/>
              </a:rPr>
              <a:t>main()</a:t>
            </a:r>
            <a:r>
              <a:rPr lang="uz-Cyrl-UZ" sz="2200" dirty="0">
                <a:latin typeface="Times New Roman" pitchFamily="18" charset="0"/>
                <a:cs typeface="Times New Roman" pitchFamily="18" charset="0"/>
              </a:rPr>
              <a:t> metodida address ob’ekti </a:t>
            </a:r>
            <a:r>
              <a:rPr lang="uz-Cyrl-UZ" sz="2200" i="1" dirty="0">
                <a:latin typeface="Times New Roman" pitchFamily="18" charset="0"/>
                <a:cs typeface="Times New Roman" pitchFamily="18" charset="0"/>
              </a:rPr>
              <a:t>getLocalHost() </a:t>
            </a:r>
            <a:r>
              <a:rPr lang="uz-Cyrl-UZ" sz="2200" dirty="0">
                <a:latin typeface="Times New Roman" pitchFamily="18" charset="0"/>
                <a:cs typeface="Times New Roman" pitchFamily="18" charset="0"/>
              </a:rPr>
              <a:t>statik metodidan foydalanib initsializatsiya qilinadi. </a:t>
            </a:r>
            <a:r>
              <a:rPr lang="uz-Cyrl-UZ" sz="2200" i="1" dirty="0">
                <a:latin typeface="Times New Roman" pitchFamily="18" charset="0"/>
                <a:cs typeface="Times New Roman" pitchFamily="18" charset="0"/>
              </a:rPr>
              <a:t>getHostAddress() </a:t>
            </a:r>
            <a:r>
              <a:rPr lang="uz-Cyrl-UZ" sz="2200" dirty="0">
                <a:latin typeface="Times New Roman" pitchFamily="18" charset="0"/>
                <a:cs typeface="Times New Roman" pitchFamily="18" charset="0"/>
              </a:rPr>
              <a:t>metodi xost IP-adresini </a:t>
            </a:r>
            <a:r>
              <a:rPr lang="uz-Cyrl-UZ" sz="2200" i="1" dirty="0">
                <a:latin typeface="Times New Roman" pitchFamily="18" charset="0"/>
                <a:cs typeface="Times New Roman" pitchFamily="18" charset="0"/>
              </a:rPr>
              <a:t>string</a:t>
            </a:r>
            <a:r>
              <a:rPr lang="uz-Cyrl-UZ" sz="2200" dirty="0">
                <a:latin typeface="Times New Roman" pitchFamily="18" charset="0"/>
                <a:cs typeface="Times New Roman" pitchFamily="18" charset="0"/>
              </a:rPr>
              <a:t> sifatida qaytaradi. </a:t>
            </a:r>
            <a:r>
              <a:rPr lang="uz-Cyrl-UZ" sz="2200" i="1" dirty="0">
                <a:latin typeface="Times New Roman" pitchFamily="18" charset="0"/>
                <a:cs typeface="Times New Roman" pitchFamily="18" charset="0"/>
              </a:rPr>
              <a:t>getHostName() </a:t>
            </a:r>
            <a:r>
              <a:rPr lang="uz-Cyrl-UZ" sz="2200" dirty="0">
                <a:latin typeface="Times New Roman" pitchFamily="18" charset="0"/>
                <a:cs typeface="Times New Roman" pitchFamily="18" charset="0"/>
              </a:rPr>
              <a:t>metodi xost nomini string sifatida qaytaradi. InetAddressClass klassining bajarilish natijasida IP-adres va xost nomi chiqariladi.</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3868176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1062" y="0"/>
            <a:ext cx="9144000" cy="7171194"/>
          </a:xfrm>
          <a:prstGeom prst="rect">
            <a:avLst/>
          </a:prstGeom>
        </p:spPr>
        <p:txBody>
          <a:bodyPr wrap="square">
            <a:spAutoFit/>
          </a:bodyPr>
          <a:lstStyle/>
          <a:p>
            <a:pPr lvl="0" algn="just"/>
            <a:r>
              <a:rPr lang="uz-Cyrl-UZ" sz="2000" b="1" dirty="0">
                <a:latin typeface="Times New Roman" pitchFamily="18" charset="0"/>
                <a:cs typeface="Times New Roman" pitchFamily="18" charset="0"/>
              </a:rPr>
              <a:t>UDP protokolidan foydalanib ilova yaratish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Yuqorida ta’kidlanganidek, Java UDP datagramma va TCP/IP soketlaridan foydalangan holda tarmoq ilovalarini ishlab chiqish imkonini beradi. UDP soketlari ilovalarning tarmoq orqali o‘zaro ishlashi uchun UDP protokolidan foydalanadi. UDP ulanish o‘rnatish zaruriyatisiz tez va ishonchsiz protokoldir. </a:t>
            </a:r>
            <a:r>
              <a:rPr lang="uz-Cyrl-UZ" sz="2000" i="1" dirty="0">
                <a:latin typeface="Times New Roman" pitchFamily="18" charset="0"/>
                <a:cs typeface="Times New Roman" pitchFamily="18" charset="0"/>
              </a:rPr>
              <a:t>java.net</a:t>
            </a:r>
            <a:r>
              <a:rPr lang="uz-Cyrl-UZ" sz="2000" dirty="0">
                <a:latin typeface="Times New Roman" pitchFamily="18" charset="0"/>
                <a:cs typeface="Times New Roman" pitchFamily="18" charset="0"/>
              </a:rPr>
              <a:t> paketi Java ilovasida UDP soketidan foydalanish imkonini beruvchi quyidagi ikki klassni o‘z ichiga oladi:</a:t>
            </a:r>
            <a:endParaRPr lang="ru-RU" sz="2000" dirty="0">
              <a:latin typeface="Times New Roman" pitchFamily="18" charset="0"/>
              <a:cs typeface="Times New Roman" pitchFamily="18" charset="0"/>
            </a:endParaRPr>
          </a:p>
          <a:p>
            <a:pPr lvl="0" algn="just"/>
            <a:r>
              <a:rPr lang="en-US" sz="2000" dirty="0" err="1">
                <a:latin typeface="Times New Roman" pitchFamily="18" charset="0"/>
                <a:cs typeface="Times New Roman" pitchFamily="18" charset="0"/>
              </a:rPr>
              <a:t>DatagramPacket</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klassi</a:t>
            </a:r>
            <a:endParaRPr lang="ru-RU" sz="2000" dirty="0">
              <a:latin typeface="Times New Roman" pitchFamily="18" charset="0"/>
              <a:cs typeface="Times New Roman" pitchFamily="18" charset="0"/>
            </a:endParaRPr>
          </a:p>
          <a:p>
            <a:pPr lvl="0" algn="just"/>
            <a:r>
              <a:rPr lang="en-US" sz="2000" dirty="0" err="1">
                <a:latin typeface="Times New Roman" pitchFamily="18" charset="0"/>
                <a:cs typeface="Times New Roman" pitchFamily="18" charset="0"/>
              </a:rPr>
              <a:t>DatagramSocket</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klassi</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DatagramPacket</a:t>
            </a:r>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va</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DatagramSocket</a:t>
            </a:r>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klasslari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DatagramPacket ob’ekti tarmoq orqali uzatiladigan yoki qabul qilinadigan datagramma paketlaridan iborat bo‘lgan ma’lumotlar konteyneridir. Quyidagi konstruktorlar </a:t>
            </a:r>
            <a:r>
              <a:rPr lang="uz-Cyrl-UZ" sz="2000" i="1" dirty="0">
                <a:latin typeface="Times New Roman" pitchFamily="18" charset="0"/>
                <a:cs typeface="Times New Roman" pitchFamily="18" charset="0"/>
              </a:rPr>
              <a:t>DatagramPacket</a:t>
            </a:r>
            <a:r>
              <a:rPr lang="uz-Cyrl-UZ" sz="2000" dirty="0">
                <a:latin typeface="Times New Roman" pitchFamily="18" charset="0"/>
                <a:cs typeface="Times New Roman" pitchFamily="18" charset="0"/>
              </a:rPr>
              <a:t> ob’ektlarini initsializatsiya qilish uchun ishlatiladi:</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public DatagramPacket(byte[] buffer, int buffer_length):</a:t>
            </a:r>
            <a:r>
              <a:rPr lang="uz-Cyrl-UZ" sz="2000" dirty="0">
                <a:latin typeface="Times New Roman" pitchFamily="18" charset="0"/>
                <a:cs typeface="Times New Roman" pitchFamily="18" charset="0"/>
              </a:rPr>
              <a:t> ma’lumotlarni byte massivida qabul qiladigan va saqlaydigan DatagramPacket ob’ektini yaratadi. Byte massivining bufer uzunligi buffer_length ikkinchi parametri tomonidan beriladi.</a:t>
            </a:r>
            <a:endParaRPr lang="ru-RU" sz="2000" dirty="0">
              <a:latin typeface="Times New Roman" pitchFamily="18" charset="0"/>
              <a:cs typeface="Times New Roman" pitchFamily="18" charset="0"/>
            </a:endParaRPr>
          </a:p>
          <a:p>
            <a:pPr marL="342900" indent="-342900" algn="just">
              <a:buFontTx/>
              <a:buChar char="-"/>
            </a:pPr>
            <a:r>
              <a:rPr lang="uz-Cyrl-UZ" sz="2000" i="1" dirty="0" smtClean="0">
                <a:latin typeface="Times New Roman" pitchFamily="18" charset="0"/>
                <a:cs typeface="Times New Roman" pitchFamily="18" charset="0"/>
              </a:rPr>
              <a:t>public </a:t>
            </a:r>
            <a:r>
              <a:rPr lang="uz-Cyrl-UZ" sz="2000" i="1" dirty="0">
                <a:latin typeface="Times New Roman" pitchFamily="18" charset="0"/>
                <a:cs typeface="Times New Roman" pitchFamily="18" charset="0"/>
              </a:rPr>
              <a:t>DatagramPacket(byte[] buffer, int buffer_length, InetAddress address, int port):</a:t>
            </a:r>
            <a:r>
              <a:rPr lang="uz-Cyrl-UZ" sz="2000" dirty="0">
                <a:latin typeface="Times New Roman" pitchFamily="18" charset="0"/>
                <a:cs typeface="Times New Roman" pitchFamily="18" charset="0"/>
              </a:rPr>
              <a:t>  berilgan uzunlikdagi ma’lumotlar paketlarini uzatuvchi </a:t>
            </a:r>
            <a:r>
              <a:rPr lang="uz-Cyrl-UZ" sz="2000" i="1" dirty="0">
                <a:latin typeface="Times New Roman" pitchFamily="18" charset="0"/>
                <a:cs typeface="Times New Roman" pitchFamily="18" charset="0"/>
              </a:rPr>
              <a:t>DatagramPacket</a:t>
            </a:r>
            <a:r>
              <a:rPr lang="uz-Cyrl-UZ" sz="2000" dirty="0">
                <a:latin typeface="Times New Roman" pitchFamily="18" charset="0"/>
                <a:cs typeface="Times New Roman" pitchFamily="18" charset="0"/>
              </a:rPr>
              <a:t> ob’ektini yaratadi. Ma’lumotlar paketlari kompyuterga </a:t>
            </a:r>
            <a:r>
              <a:rPr lang="en-US" sz="2000" dirty="0">
                <a:latin typeface="Times New Roman" pitchFamily="18" charset="0"/>
                <a:cs typeface="Times New Roman" pitchFamily="18" charset="0"/>
              </a:rPr>
              <a:t>IP</a:t>
            </a:r>
            <a:r>
              <a:rPr lang="uz-Cyrl-UZ" sz="2000" dirty="0">
                <a:latin typeface="Times New Roman" pitchFamily="18" charset="0"/>
                <a:cs typeface="Times New Roman" pitchFamily="18" charset="0"/>
              </a:rPr>
              <a:t>-adres va parametr sifatida beriladigan port nomeri bilan uzatiladi</a:t>
            </a:r>
            <a:r>
              <a:rPr lang="uz-Cyrl-UZ"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algn="just"/>
            <a:r>
              <a:rPr lang="en-US" sz="2000" i="1" dirty="0" smtClean="0">
                <a:latin typeface="Times New Roman" pitchFamily="18" charset="0"/>
                <a:cs typeface="Times New Roman" pitchFamily="18" charset="0"/>
              </a:rPr>
              <a:t>	</a:t>
            </a:r>
            <a:r>
              <a:rPr lang="uz-Cyrl-UZ" sz="2000" i="1" dirty="0" smtClean="0">
                <a:latin typeface="Times New Roman" pitchFamily="18" charset="0"/>
                <a:cs typeface="Times New Roman" pitchFamily="18" charset="0"/>
              </a:rPr>
              <a:t>DatagramPacket </a:t>
            </a:r>
            <a:r>
              <a:rPr lang="uz-Cyrl-UZ" sz="2000" dirty="0">
                <a:latin typeface="Times New Roman" pitchFamily="18" charset="0"/>
                <a:cs typeface="Times New Roman" pitchFamily="18" charset="0"/>
              </a:rPr>
              <a:t>klassida aniqlangan metodlardan </a:t>
            </a:r>
            <a:r>
              <a:rPr lang="uz-Cyrl-UZ" sz="2000" i="1" dirty="0">
                <a:latin typeface="Times New Roman" pitchFamily="18" charset="0"/>
                <a:cs typeface="Times New Roman" pitchFamily="18" charset="0"/>
              </a:rPr>
              <a:t>DatagramPacket </a:t>
            </a:r>
            <a:r>
              <a:rPr lang="uz-Cyrl-UZ" sz="2000" dirty="0">
                <a:latin typeface="Times New Roman" pitchFamily="18" charset="0"/>
                <a:cs typeface="Times New Roman" pitchFamily="18" charset="0"/>
              </a:rPr>
              <a:t>klassi ob’ekti initsializatsiya qilinganidan keyin foydalanilishi mumkin. 1.1-jadvalda DatagramPacket klassi metodlari keltirilgan.</a:t>
            </a:r>
            <a:endParaRPr lang="ru-RU" sz="2000" dirty="0">
              <a:latin typeface="Times New Roman" pitchFamily="18" charset="0"/>
              <a:cs typeface="Times New Roman" pitchFamily="18" charset="0"/>
            </a:endParaRPr>
          </a:p>
          <a:p>
            <a:pPr marL="342900" indent="-342900" algn="just">
              <a:buFontTx/>
              <a:buChar char="-"/>
            </a:pP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463733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611560" y="21441"/>
            <a:ext cx="8280920" cy="707886"/>
          </a:xfrm>
          <a:prstGeom prst="rect">
            <a:avLst/>
          </a:prstGeom>
        </p:spPr>
        <p:txBody>
          <a:bodyPr wrap="square">
            <a:spAutoFit/>
          </a:bodyPr>
          <a:lstStyle/>
          <a:p>
            <a:pPr algn="r"/>
            <a:r>
              <a:rPr lang="uz-Cyrl-UZ" sz="2000" dirty="0">
                <a:latin typeface="Times New Roman" pitchFamily="18" charset="0"/>
                <a:cs typeface="Times New Roman" pitchFamily="18" charset="0"/>
              </a:rPr>
              <a:t>1.1-jadval</a:t>
            </a:r>
            <a:endParaRPr lang="ru-RU" sz="2000" dirty="0">
              <a:latin typeface="Times New Roman" pitchFamily="18" charset="0"/>
              <a:cs typeface="Times New Roman" pitchFamily="18" charset="0"/>
            </a:endParaRPr>
          </a:p>
          <a:p>
            <a:pPr algn="ctr"/>
            <a:r>
              <a:rPr lang="uz-Cyrl-UZ" sz="2000" dirty="0">
                <a:latin typeface="Times New Roman" pitchFamily="18" charset="0"/>
                <a:cs typeface="Times New Roman" pitchFamily="18" charset="0"/>
              </a:rPr>
              <a:t>DatagramPacket klassi metodlari</a:t>
            </a:r>
            <a:endParaRPr lang="ru-RU" sz="2000" dirty="0">
              <a:latin typeface="Times New Roman" pitchFamily="18" charset="0"/>
              <a:cs typeface="Times New Roman" pitchFamily="18" charset="0"/>
            </a:endParaRPr>
          </a:p>
        </p:txBody>
      </p:sp>
      <p:graphicFrame>
        <p:nvGraphicFramePr>
          <p:cNvPr id="7" name="Таблица 6"/>
          <p:cNvGraphicFramePr>
            <a:graphicFrameLocks noGrp="1"/>
          </p:cNvGraphicFramePr>
          <p:nvPr>
            <p:extLst>
              <p:ext uri="{D42A27DB-BD31-4B8C-83A1-F6EECF244321}">
                <p14:modId xmlns:p14="http://schemas.microsoft.com/office/powerpoint/2010/main" val="1636363729"/>
              </p:ext>
            </p:extLst>
          </p:nvPr>
        </p:nvGraphicFramePr>
        <p:xfrm>
          <a:off x="251520" y="836711"/>
          <a:ext cx="8640960" cy="5472610"/>
        </p:xfrm>
        <a:graphic>
          <a:graphicData uri="http://schemas.openxmlformats.org/drawingml/2006/table">
            <a:tbl>
              <a:tblPr firstRow="1" firstCol="1" bandRow="1">
                <a:tableStyleId>{5C22544A-7EE6-4342-B048-85BDC9FD1C3A}</a:tableStyleId>
              </a:tblPr>
              <a:tblGrid>
                <a:gridCol w="2529987"/>
                <a:gridCol w="6110973"/>
              </a:tblGrid>
              <a:tr h="323764">
                <a:tc>
                  <a:txBody>
                    <a:bodyPr/>
                    <a:lstStyle/>
                    <a:p>
                      <a:pPr marL="457200" algn="ctr">
                        <a:lnSpc>
                          <a:spcPct val="150000"/>
                        </a:lnSpc>
                        <a:spcAft>
                          <a:spcPts val="0"/>
                        </a:spcAft>
                      </a:pPr>
                      <a:r>
                        <a:rPr lang="uz-Cyrl-UZ" sz="1300" dirty="0">
                          <a:effectLst/>
                        </a:rPr>
                        <a:t>Metod</a:t>
                      </a:r>
                      <a:endParaRPr lang="ru-RU" sz="1100" dirty="0">
                        <a:effectLst/>
                        <a:latin typeface="Times New Roman"/>
                        <a:ea typeface="Times New Roman"/>
                      </a:endParaRPr>
                    </a:p>
                  </a:txBody>
                  <a:tcPr marL="65530" marR="65530" marT="0" marB="0" anchor="ctr"/>
                </a:tc>
                <a:tc>
                  <a:txBody>
                    <a:bodyPr/>
                    <a:lstStyle/>
                    <a:p>
                      <a:pPr marL="457200" algn="ctr">
                        <a:lnSpc>
                          <a:spcPct val="150000"/>
                        </a:lnSpc>
                        <a:spcAft>
                          <a:spcPts val="0"/>
                        </a:spcAft>
                      </a:pPr>
                      <a:r>
                        <a:rPr lang="uz-Cyrl-UZ" sz="1300" dirty="0">
                          <a:effectLst/>
                        </a:rPr>
                        <a:t>Ta’rif</a:t>
                      </a:r>
                      <a:endParaRPr lang="ru-RU" sz="1100" dirty="0">
                        <a:effectLst/>
                        <a:latin typeface="Times New Roman"/>
                        <a:ea typeface="Times New Roman"/>
                      </a:endParaRPr>
                    </a:p>
                  </a:txBody>
                  <a:tcPr marL="65530" marR="65530" marT="0" marB="0" anchor="ctr"/>
                </a:tc>
              </a:tr>
              <a:tr h="858141">
                <a:tc>
                  <a:txBody>
                    <a:bodyPr/>
                    <a:lstStyle/>
                    <a:p>
                      <a:pPr marL="457200">
                        <a:lnSpc>
                          <a:spcPct val="115000"/>
                        </a:lnSpc>
                        <a:spcAft>
                          <a:spcPts val="0"/>
                        </a:spcAft>
                      </a:pPr>
                      <a:r>
                        <a:rPr lang="uz-Cyrl-UZ" sz="1300">
                          <a:effectLst/>
                        </a:rPr>
                        <a:t>public InetAddress</a:t>
                      </a:r>
                      <a:endParaRPr lang="ru-RU" sz="1100">
                        <a:effectLst/>
                      </a:endParaRPr>
                    </a:p>
                    <a:p>
                      <a:pPr marL="457200">
                        <a:lnSpc>
                          <a:spcPct val="115000"/>
                        </a:lnSpc>
                        <a:spcAft>
                          <a:spcPts val="0"/>
                        </a:spcAft>
                      </a:pPr>
                      <a:r>
                        <a:rPr lang="uz-Cyrl-UZ" sz="1300">
                          <a:effectLst/>
                        </a:rPr>
                        <a:t>getAddress ()</a:t>
                      </a:r>
                      <a:endParaRPr lang="ru-RU" sz="1100">
                        <a:effectLst/>
                        <a:latin typeface="Times New Roman"/>
                        <a:ea typeface="Times New Roman"/>
                      </a:endParaRPr>
                    </a:p>
                  </a:txBody>
                  <a:tcPr marL="65530" marR="65530" marT="0" marB="0" anchor="ctr"/>
                </a:tc>
                <a:tc>
                  <a:txBody>
                    <a:bodyPr/>
                    <a:lstStyle/>
                    <a:p>
                      <a:pPr marL="457200">
                        <a:lnSpc>
                          <a:spcPct val="115000"/>
                        </a:lnSpc>
                        <a:spcAft>
                          <a:spcPts val="0"/>
                        </a:spcAft>
                      </a:pPr>
                      <a:r>
                        <a:rPr lang="uz-Cyrl-UZ" sz="1300">
                          <a:effectLst/>
                        </a:rPr>
                        <a:t>Datagramma paketi uzatiladigan yoki datagramma paketi qabul qilinadigan kompyuter IP-adresini o‘z ichiga oluvchi InetAddress ob’ektini qaytaradi</a:t>
                      </a:r>
                      <a:endParaRPr lang="ru-RU" sz="1100">
                        <a:effectLst/>
                        <a:latin typeface="Times New Roman"/>
                        <a:ea typeface="Times New Roman"/>
                      </a:endParaRPr>
                    </a:p>
                  </a:txBody>
                  <a:tcPr marL="65530" marR="65530" marT="0" marB="0" anchor="ctr"/>
                </a:tc>
              </a:tr>
              <a:tr h="572094">
                <a:tc>
                  <a:txBody>
                    <a:bodyPr/>
                    <a:lstStyle/>
                    <a:p>
                      <a:pPr marL="457200">
                        <a:lnSpc>
                          <a:spcPct val="115000"/>
                        </a:lnSpc>
                        <a:spcAft>
                          <a:spcPts val="0"/>
                        </a:spcAft>
                      </a:pPr>
                      <a:r>
                        <a:rPr lang="en-US" sz="1300">
                          <a:effectLst/>
                        </a:rPr>
                        <a:t>public byte []</a:t>
                      </a:r>
                      <a:endParaRPr lang="ru-RU" sz="1100">
                        <a:effectLst/>
                      </a:endParaRPr>
                    </a:p>
                    <a:p>
                      <a:pPr marL="457200">
                        <a:lnSpc>
                          <a:spcPct val="115000"/>
                        </a:lnSpc>
                        <a:spcAft>
                          <a:spcPts val="0"/>
                        </a:spcAft>
                      </a:pPr>
                      <a:r>
                        <a:rPr lang="en-US" sz="1300">
                          <a:effectLst/>
                        </a:rPr>
                        <a:t>getData ()</a:t>
                      </a:r>
                      <a:endParaRPr lang="ru-RU" sz="1100">
                        <a:effectLst/>
                        <a:latin typeface="Times New Roman"/>
                        <a:ea typeface="Times New Roman"/>
                      </a:endParaRPr>
                    </a:p>
                  </a:txBody>
                  <a:tcPr marL="65530" marR="65530" marT="0" marB="0" anchor="ctr"/>
                </a:tc>
                <a:tc>
                  <a:txBody>
                    <a:bodyPr/>
                    <a:lstStyle/>
                    <a:p>
                      <a:pPr marL="457200">
                        <a:lnSpc>
                          <a:spcPct val="115000"/>
                        </a:lnSpc>
                        <a:spcAft>
                          <a:spcPts val="0"/>
                        </a:spcAft>
                      </a:pPr>
                      <a:r>
                        <a:rPr lang="uz-Cyrl-UZ" sz="1300">
                          <a:effectLst/>
                        </a:rPr>
                        <a:t>Ma’lumotlarni o‘z ichiga olgan </a:t>
                      </a:r>
                      <a:r>
                        <a:rPr lang="en-US" sz="1300">
                          <a:effectLst/>
                        </a:rPr>
                        <a:t>byte </a:t>
                      </a:r>
                      <a:r>
                        <a:rPr lang="uz-Cyrl-UZ" sz="1300">
                          <a:effectLst/>
                        </a:rPr>
                        <a:t>bufer massivini qaytaradi</a:t>
                      </a:r>
                      <a:endParaRPr lang="ru-RU" sz="1100">
                        <a:effectLst/>
                        <a:latin typeface="Times New Roman"/>
                        <a:ea typeface="Times New Roman"/>
                      </a:endParaRPr>
                    </a:p>
                  </a:txBody>
                  <a:tcPr marL="65530" marR="65530" marT="0" marB="0" anchor="ctr"/>
                </a:tc>
              </a:tr>
              <a:tr h="572094">
                <a:tc>
                  <a:txBody>
                    <a:bodyPr/>
                    <a:lstStyle/>
                    <a:p>
                      <a:pPr marL="457200">
                        <a:lnSpc>
                          <a:spcPct val="115000"/>
                        </a:lnSpc>
                        <a:spcAft>
                          <a:spcPts val="0"/>
                        </a:spcAft>
                      </a:pPr>
                      <a:r>
                        <a:rPr lang="en-US" sz="1300">
                          <a:effectLst/>
                        </a:rPr>
                        <a:t>public int</a:t>
                      </a:r>
                      <a:endParaRPr lang="ru-RU" sz="1100">
                        <a:effectLst/>
                      </a:endParaRPr>
                    </a:p>
                    <a:p>
                      <a:pPr marL="457200">
                        <a:lnSpc>
                          <a:spcPct val="115000"/>
                        </a:lnSpc>
                        <a:spcAft>
                          <a:spcPts val="0"/>
                        </a:spcAft>
                      </a:pPr>
                      <a:r>
                        <a:rPr lang="en-US" sz="1300">
                          <a:effectLst/>
                        </a:rPr>
                        <a:t>getLength ()</a:t>
                      </a:r>
                      <a:endParaRPr lang="ru-RU" sz="1100">
                        <a:effectLst/>
                        <a:latin typeface="Times New Roman"/>
                        <a:ea typeface="Times New Roman"/>
                      </a:endParaRPr>
                    </a:p>
                  </a:txBody>
                  <a:tcPr marL="65530" marR="65530" marT="0" marB="0" anchor="ctr"/>
                </a:tc>
                <a:tc>
                  <a:txBody>
                    <a:bodyPr/>
                    <a:lstStyle/>
                    <a:p>
                      <a:pPr marL="457200">
                        <a:lnSpc>
                          <a:spcPct val="115000"/>
                        </a:lnSpc>
                        <a:spcAft>
                          <a:spcPts val="0"/>
                        </a:spcAft>
                      </a:pPr>
                      <a:r>
                        <a:rPr lang="uz-Cyrl-UZ" sz="1300" dirty="0">
                          <a:effectLst/>
                        </a:rPr>
                        <a:t>Ma’lumotlarni o‘z ichiga olgan bufer massivining uzunligini qaytaradi</a:t>
                      </a:r>
                      <a:endParaRPr lang="ru-RU" sz="1100" dirty="0">
                        <a:effectLst/>
                        <a:latin typeface="Times New Roman"/>
                        <a:ea typeface="Times New Roman"/>
                      </a:endParaRPr>
                    </a:p>
                  </a:txBody>
                  <a:tcPr marL="65530" marR="65530" marT="0" marB="0" anchor="ctr"/>
                </a:tc>
              </a:tr>
              <a:tr h="572094">
                <a:tc>
                  <a:txBody>
                    <a:bodyPr/>
                    <a:lstStyle/>
                    <a:p>
                      <a:pPr marL="457200">
                        <a:lnSpc>
                          <a:spcPct val="115000"/>
                        </a:lnSpc>
                        <a:spcAft>
                          <a:spcPts val="0"/>
                        </a:spcAft>
                      </a:pPr>
                      <a:r>
                        <a:rPr lang="en-US" sz="1300" dirty="0">
                          <a:effectLst/>
                        </a:rPr>
                        <a:t>public </a:t>
                      </a:r>
                      <a:r>
                        <a:rPr lang="en-US" sz="1300" dirty="0" err="1">
                          <a:effectLst/>
                        </a:rPr>
                        <a:t>int</a:t>
                      </a:r>
                      <a:endParaRPr lang="ru-RU" sz="1100" dirty="0">
                        <a:effectLst/>
                      </a:endParaRPr>
                    </a:p>
                    <a:p>
                      <a:pPr marL="457200">
                        <a:lnSpc>
                          <a:spcPct val="115000"/>
                        </a:lnSpc>
                        <a:spcAft>
                          <a:spcPts val="0"/>
                        </a:spcAft>
                      </a:pPr>
                      <a:r>
                        <a:rPr lang="en-US" sz="1300" dirty="0" err="1">
                          <a:effectLst/>
                        </a:rPr>
                        <a:t>getPort</a:t>
                      </a:r>
                      <a:r>
                        <a:rPr lang="en-US" sz="1300" dirty="0">
                          <a:effectLst/>
                        </a:rPr>
                        <a:t> ()</a:t>
                      </a:r>
                      <a:endParaRPr lang="ru-RU" sz="1100" dirty="0">
                        <a:effectLst/>
                        <a:latin typeface="Times New Roman"/>
                        <a:ea typeface="Times New Roman"/>
                      </a:endParaRPr>
                    </a:p>
                  </a:txBody>
                  <a:tcPr marL="65530" marR="65530" marT="0" marB="0" anchor="ctr"/>
                </a:tc>
                <a:tc>
                  <a:txBody>
                    <a:bodyPr/>
                    <a:lstStyle/>
                    <a:p>
                      <a:pPr marL="457200">
                        <a:lnSpc>
                          <a:spcPct val="115000"/>
                        </a:lnSpc>
                        <a:spcAft>
                          <a:spcPts val="0"/>
                        </a:spcAft>
                      </a:pPr>
                      <a:r>
                        <a:rPr lang="uz-Cyrl-UZ" sz="1300" dirty="0">
                          <a:effectLst/>
                        </a:rPr>
                        <a:t>Datagramma paketi uzatiladigan yoki qabul qilinadigan kompyuter port nomerini qaytaradi</a:t>
                      </a:r>
                      <a:endParaRPr lang="ru-RU" sz="1100" dirty="0">
                        <a:effectLst/>
                        <a:latin typeface="Times New Roman"/>
                        <a:ea typeface="Times New Roman"/>
                      </a:endParaRPr>
                    </a:p>
                  </a:txBody>
                  <a:tcPr marL="65530" marR="65530" marT="0" marB="0" anchor="ctr"/>
                </a:tc>
              </a:tr>
              <a:tr h="1144188">
                <a:tc>
                  <a:txBody>
                    <a:bodyPr/>
                    <a:lstStyle/>
                    <a:p>
                      <a:pPr marL="457200">
                        <a:lnSpc>
                          <a:spcPct val="115000"/>
                        </a:lnSpc>
                        <a:spcAft>
                          <a:spcPts val="0"/>
                        </a:spcAft>
                      </a:pPr>
                      <a:r>
                        <a:rPr lang="en-US" sz="1300">
                          <a:effectLst/>
                        </a:rPr>
                        <a:t>public void</a:t>
                      </a:r>
                      <a:endParaRPr lang="ru-RU" sz="1100">
                        <a:effectLst/>
                      </a:endParaRPr>
                    </a:p>
                    <a:p>
                      <a:pPr marL="457200">
                        <a:lnSpc>
                          <a:spcPct val="115000"/>
                        </a:lnSpc>
                        <a:spcAft>
                          <a:spcPts val="0"/>
                        </a:spcAft>
                      </a:pPr>
                      <a:r>
                        <a:rPr lang="en-US" sz="1300">
                          <a:effectLst/>
                        </a:rPr>
                        <a:t>setAddress (InetAddress address)</a:t>
                      </a:r>
                      <a:endParaRPr lang="ru-RU" sz="1100">
                        <a:effectLst/>
                        <a:latin typeface="Times New Roman"/>
                        <a:ea typeface="Times New Roman"/>
                      </a:endParaRPr>
                    </a:p>
                  </a:txBody>
                  <a:tcPr marL="65530" marR="65530" marT="0" marB="0" anchor="ctr"/>
                </a:tc>
                <a:tc>
                  <a:txBody>
                    <a:bodyPr/>
                    <a:lstStyle/>
                    <a:p>
                      <a:pPr marL="457200">
                        <a:lnSpc>
                          <a:spcPct val="115000"/>
                        </a:lnSpc>
                        <a:spcAft>
                          <a:spcPts val="0"/>
                        </a:spcAft>
                      </a:pPr>
                      <a:r>
                        <a:rPr lang="uz-Cyrl-UZ" sz="1300" dirty="0">
                          <a:effectLst/>
                        </a:rPr>
                        <a:t>Datagramma paketi uzatilishi kerak bo‘lgan mashinaning </a:t>
                      </a:r>
                      <a:r>
                        <a:rPr lang="en-US" sz="1300" dirty="0">
                          <a:effectLst/>
                        </a:rPr>
                        <a:t>IP-</a:t>
                      </a:r>
                      <a:r>
                        <a:rPr lang="uz-Cyrl-UZ" sz="1300" dirty="0">
                          <a:effectLst/>
                        </a:rPr>
                        <a:t>adresini o‘rnatadi</a:t>
                      </a:r>
                      <a:endParaRPr lang="ru-RU" sz="1100" dirty="0">
                        <a:effectLst/>
                        <a:latin typeface="Times New Roman"/>
                        <a:ea typeface="Times New Roman"/>
                      </a:endParaRPr>
                    </a:p>
                  </a:txBody>
                  <a:tcPr marL="65530" marR="65530" marT="0" marB="0" anchor="ctr"/>
                </a:tc>
              </a:tr>
              <a:tr h="572094">
                <a:tc>
                  <a:txBody>
                    <a:bodyPr/>
                    <a:lstStyle/>
                    <a:p>
                      <a:pPr marL="457200">
                        <a:lnSpc>
                          <a:spcPct val="115000"/>
                        </a:lnSpc>
                        <a:spcAft>
                          <a:spcPts val="0"/>
                        </a:spcAft>
                      </a:pPr>
                      <a:r>
                        <a:rPr lang="en-US" sz="1300">
                          <a:effectLst/>
                        </a:rPr>
                        <a:t>public void</a:t>
                      </a:r>
                      <a:endParaRPr lang="ru-RU" sz="1100">
                        <a:effectLst/>
                      </a:endParaRPr>
                    </a:p>
                    <a:p>
                      <a:pPr marL="457200">
                        <a:lnSpc>
                          <a:spcPct val="115000"/>
                        </a:lnSpc>
                        <a:spcAft>
                          <a:spcPts val="0"/>
                        </a:spcAft>
                      </a:pPr>
                      <a:r>
                        <a:rPr lang="en-US" sz="1300">
                          <a:effectLst/>
                        </a:rPr>
                        <a:t>setPort (int port)</a:t>
                      </a:r>
                      <a:endParaRPr lang="ru-RU" sz="1100">
                        <a:effectLst/>
                        <a:latin typeface="Times New Roman"/>
                        <a:ea typeface="Times New Roman"/>
                      </a:endParaRPr>
                    </a:p>
                  </a:txBody>
                  <a:tcPr marL="65530" marR="65530" marT="0" marB="0" anchor="ctr"/>
                </a:tc>
                <a:tc>
                  <a:txBody>
                    <a:bodyPr/>
                    <a:lstStyle/>
                    <a:p>
                      <a:pPr marL="457200">
                        <a:lnSpc>
                          <a:spcPct val="115000"/>
                        </a:lnSpc>
                        <a:spcAft>
                          <a:spcPts val="0"/>
                        </a:spcAft>
                      </a:pPr>
                      <a:r>
                        <a:rPr lang="en-US" sz="1300">
                          <a:effectLst/>
                        </a:rPr>
                        <a:t>Byte </a:t>
                      </a:r>
                      <a:r>
                        <a:rPr lang="uz-Cyrl-UZ" sz="1300">
                          <a:effectLst/>
                        </a:rPr>
                        <a:t>massivini paket uchun ma’lumotlar sifatida o‘rnatadi</a:t>
                      </a:r>
                      <a:endParaRPr lang="ru-RU" sz="1100">
                        <a:effectLst/>
                        <a:latin typeface="Times New Roman"/>
                        <a:ea typeface="Times New Roman"/>
                      </a:endParaRPr>
                    </a:p>
                  </a:txBody>
                  <a:tcPr marL="65530" marR="65530" marT="0" marB="0" anchor="ctr"/>
                </a:tc>
              </a:tr>
              <a:tr h="858141">
                <a:tc>
                  <a:txBody>
                    <a:bodyPr/>
                    <a:lstStyle/>
                    <a:p>
                      <a:pPr marL="457200">
                        <a:lnSpc>
                          <a:spcPct val="115000"/>
                        </a:lnSpc>
                        <a:spcAft>
                          <a:spcPts val="0"/>
                        </a:spcAft>
                      </a:pPr>
                      <a:r>
                        <a:rPr lang="en-US" sz="1300">
                          <a:effectLst/>
                        </a:rPr>
                        <a:t>public void</a:t>
                      </a:r>
                      <a:endParaRPr lang="ru-RU" sz="1100">
                        <a:effectLst/>
                      </a:endParaRPr>
                    </a:p>
                    <a:p>
                      <a:pPr marL="457200">
                        <a:lnSpc>
                          <a:spcPct val="115000"/>
                        </a:lnSpc>
                        <a:spcAft>
                          <a:spcPts val="0"/>
                        </a:spcAft>
                      </a:pPr>
                      <a:r>
                        <a:rPr lang="en-US" sz="1300">
                          <a:effectLst/>
                        </a:rPr>
                        <a:t>setLength (intlength)</a:t>
                      </a:r>
                      <a:endParaRPr lang="ru-RU" sz="1100">
                        <a:effectLst/>
                        <a:latin typeface="Times New Roman"/>
                        <a:ea typeface="Times New Roman"/>
                      </a:endParaRPr>
                    </a:p>
                  </a:txBody>
                  <a:tcPr marL="65530" marR="65530" marT="0" marB="0" anchor="ctr"/>
                </a:tc>
                <a:tc>
                  <a:txBody>
                    <a:bodyPr/>
                    <a:lstStyle/>
                    <a:p>
                      <a:pPr marL="457200">
                        <a:lnSpc>
                          <a:spcPct val="115000"/>
                        </a:lnSpc>
                        <a:spcAft>
                          <a:spcPts val="0"/>
                        </a:spcAft>
                      </a:pPr>
                      <a:r>
                        <a:rPr lang="uz-Cyrl-UZ" sz="1300" dirty="0">
                          <a:effectLst/>
                        </a:rPr>
                        <a:t>Masofadagi xostda port nomerini o‘rnatadi</a:t>
                      </a:r>
                      <a:endParaRPr lang="ru-RU" sz="1100" dirty="0">
                        <a:effectLst/>
                        <a:latin typeface="Times New Roman"/>
                        <a:ea typeface="Times New Roman"/>
                      </a:endParaRPr>
                    </a:p>
                  </a:txBody>
                  <a:tcPr marL="65530" marR="65530" marT="0" marB="0" anchor="ctr"/>
                </a:tc>
              </a:tr>
            </a:tbl>
          </a:graphicData>
        </a:graphic>
      </p:graphicFrame>
    </p:spTree>
    <p:extLst>
      <p:ext uri="{BB962C8B-B14F-4D97-AF65-F5344CB8AC3E}">
        <p14:creationId xmlns:p14="http://schemas.microsoft.com/office/powerpoint/2010/main" val="69905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07718" y="1973744"/>
            <a:ext cx="8856985" cy="3139321"/>
          </a:xfrm>
          <a:prstGeom prst="rect">
            <a:avLst/>
          </a:prstGeom>
        </p:spPr>
        <p:txBody>
          <a:bodyPr wrap="square">
            <a:spAutoFit/>
          </a:bodyPr>
          <a:lstStyle/>
          <a:p>
            <a:pPr marL="285750" lvl="0" indent="-285750" algn="just">
              <a:buFont typeface="Arial" pitchFamily="34" charset="0"/>
              <a:buChar char="•"/>
            </a:pPr>
            <a:r>
              <a:rPr lang="uz-Cyrl-UZ" sz="2200" i="1" dirty="0">
                <a:latin typeface="Times New Roman" pitchFamily="18" charset="0"/>
                <a:cs typeface="Times New Roman" pitchFamily="18" charset="0"/>
              </a:rPr>
              <a:t>public DatagramSocket():</a:t>
            </a:r>
            <a:r>
              <a:rPr lang="uz-Cyrl-UZ" sz="2200" dirty="0">
                <a:latin typeface="Times New Roman" pitchFamily="18" charset="0"/>
                <a:cs typeface="Times New Roman" pitchFamily="18" charset="0"/>
              </a:rPr>
              <a:t> DatagramSocket ob’ektini yaratadi va uni lokal kompyuterdagi ruxsat etilgan port bilan bog‘laydi.</a:t>
            </a:r>
            <a:endParaRPr lang="ru-RU" sz="2200" dirty="0">
              <a:latin typeface="Times New Roman" pitchFamily="18" charset="0"/>
              <a:cs typeface="Times New Roman" pitchFamily="18" charset="0"/>
            </a:endParaRPr>
          </a:p>
          <a:p>
            <a:pPr marL="285750" lvl="0" indent="-285750" algn="just">
              <a:buFont typeface="Arial" pitchFamily="34" charset="0"/>
              <a:buChar char="•"/>
            </a:pPr>
            <a:r>
              <a:rPr lang="uz-Cyrl-UZ" sz="2200" i="1" dirty="0">
                <a:latin typeface="Times New Roman" pitchFamily="18" charset="0"/>
                <a:cs typeface="Times New Roman" pitchFamily="18" charset="0"/>
              </a:rPr>
              <a:t>public DatagramSocket(int port):</a:t>
            </a:r>
            <a:r>
              <a:rPr lang="uz-Cyrl-UZ" sz="2200" dirty="0">
                <a:latin typeface="Times New Roman" pitchFamily="18" charset="0"/>
                <a:cs typeface="Times New Roman" pitchFamily="18" charset="0"/>
              </a:rPr>
              <a:t> ob’ektni yaratadi va uni parametrda berilgan lokal xostdagi port bilan bog‘laydi.</a:t>
            </a:r>
            <a:endParaRPr lang="ru-RU" sz="2200" dirty="0">
              <a:latin typeface="Times New Roman" pitchFamily="18" charset="0"/>
              <a:cs typeface="Times New Roman" pitchFamily="18" charset="0"/>
            </a:endParaRPr>
          </a:p>
          <a:p>
            <a:pPr marL="285750" lvl="0" indent="-285750" algn="just">
              <a:buFont typeface="Arial" pitchFamily="34" charset="0"/>
              <a:buChar char="•"/>
            </a:pPr>
            <a:r>
              <a:rPr lang="uz-Cyrl-UZ" sz="2200" i="1" dirty="0">
                <a:latin typeface="Times New Roman" pitchFamily="18" charset="0"/>
                <a:cs typeface="Times New Roman" pitchFamily="18" charset="0"/>
              </a:rPr>
              <a:t>public DatagramSocket(int port, InetAddress address):</a:t>
            </a:r>
            <a:r>
              <a:rPr lang="uz-Cyrl-UZ" sz="2200" dirty="0">
                <a:latin typeface="Times New Roman" pitchFamily="18" charset="0"/>
                <a:cs typeface="Times New Roman" pitchFamily="18" charset="0"/>
              </a:rPr>
              <a:t> ob’ektni yaratadi va uni berilgan xost porti bilan bog‘laydi.</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DatagramSocket </a:t>
            </a:r>
            <a:r>
              <a:rPr lang="uz-Cyrl-UZ" sz="2200" dirty="0">
                <a:latin typeface="Times New Roman" pitchFamily="18" charset="0"/>
                <a:cs typeface="Times New Roman" pitchFamily="18" charset="0"/>
              </a:rPr>
              <a:t>klassining konstruktori SocketException istisno holatini chaqiradi. 1.2-jadvalda axborotlarni DatagramSocket ob’ektidan olish uchun foydalaniladigan DatagramSocket klass metodlari keltirilgan:</a:t>
            </a:r>
            <a:endParaRPr lang="ru-RU" sz="2200" dirty="0">
              <a:latin typeface="Times New Roman" pitchFamily="18" charset="0"/>
              <a:cs typeface="Times New Roman" pitchFamily="18" charset="0"/>
            </a:endParaRPr>
          </a:p>
        </p:txBody>
      </p:sp>
      <p:sp>
        <p:nvSpPr>
          <p:cNvPr id="7" name="Прямоугольник 6"/>
          <p:cNvSpPr/>
          <p:nvPr/>
        </p:nvSpPr>
        <p:spPr>
          <a:xfrm>
            <a:off x="179510" y="188640"/>
            <a:ext cx="8856985" cy="1785104"/>
          </a:xfrm>
          <a:prstGeom prst="rect">
            <a:avLst/>
          </a:prstGeom>
        </p:spPr>
        <p:txBody>
          <a:bodyPr wrap="square">
            <a:spAutoFit/>
          </a:bodyPr>
          <a:lstStyle/>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DatagramSocket </a:t>
            </a:r>
            <a:r>
              <a:rPr lang="uz-Cyrl-UZ" sz="2200" dirty="0">
                <a:latin typeface="Times New Roman" pitchFamily="18" charset="0"/>
                <a:cs typeface="Times New Roman" pitchFamily="18" charset="0"/>
              </a:rPr>
              <a:t>klassi DatagramPacket ob’ektlarini boqsharish uchun funksionallikni o‘z ichiga oladi. DatagramPacket ob’ektlari DatagramSocket dan foydalangan holda saqlangan ma’lumotlarni uzatadi va qabul qiladi. Quyidagi konstruktorlar </a:t>
            </a:r>
            <a:r>
              <a:rPr lang="en-US" sz="2200" dirty="0" err="1">
                <a:latin typeface="Times New Roman" pitchFamily="18" charset="0"/>
                <a:cs typeface="Times New Roman" pitchFamily="18" charset="0"/>
              </a:rPr>
              <a:t>DatagramSocket</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ob’ektini initsializatsiya qilish uchun ishlatiladi:</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3306014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44000" cy="1015663"/>
          </a:xfrm>
          <a:prstGeom prst="rect">
            <a:avLst/>
          </a:prstGeom>
        </p:spPr>
        <p:txBody>
          <a:bodyPr wrap="square">
            <a:spAutoFit/>
          </a:bodyPr>
          <a:lstStyle/>
          <a:p>
            <a:pPr algn="r"/>
            <a:r>
              <a:rPr lang="uz-Cyrl-UZ" sz="2000" dirty="0">
                <a:latin typeface="Times New Roman" pitchFamily="18" charset="0"/>
                <a:cs typeface="Times New Roman" pitchFamily="18" charset="0"/>
              </a:rPr>
              <a:t>1.2-jadval</a:t>
            </a:r>
            <a:endParaRPr lang="ru-RU" sz="2000" dirty="0">
              <a:latin typeface="Times New Roman" pitchFamily="18" charset="0"/>
              <a:cs typeface="Times New Roman" pitchFamily="18" charset="0"/>
            </a:endParaRPr>
          </a:p>
          <a:p>
            <a:pPr algn="ctr"/>
            <a:r>
              <a:rPr lang="uz-Cyrl-UZ" sz="2000" dirty="0">
                <a:latin typeface="Times New Roman" pitchFamily="18" charset="0"/>
                <a:cs typeface="Times New Roman" pitchFamily="18" charset="0"/>
              </a:rPr>
              <a:t>DatagramSocket ob’ektidan olish uchun foydalaniladigan DatagramSocket klass metodlari</a:t>
            </a:r>
            <a:endParaRPr lang="ru-RU" sz="2000" dirty="0">
              <a:latin typeface="Times New Roman" pitchFamily="18" charset="0"/>
              <a:cs typeface="Times New Roman" pitchFamily="18" charset="0"/>
            </a:endParaRPr>
          </a:p>
        </p:txBody>
      </p:sp>
      <p:graphicFrame>
        <p:nvGraphicFramePr>
          <p:cNvPr id="5" name="Таблица 4"/>
          <p:cNvGraphicFramePr>
            <a:graphicFrameLocks noGrp="1"/>
          </p:cNvGraphicFramePr>
          <p:nvPr>
            <p:extLst>
              <p:ext uri="{D42A27DB-BD31-4B8C-83A1-F6EECF244321}">
                <p14:modId xmlns:p14="http://schemas.microsoft.com/office/powerpoint/2010/main" val="2128628475"/>
              </p:ext>
            </p:extLst>
          </p:nvPr>
        </p:nvGraphicFramePr>
        <p:xfrm>
          <a:off x="107504" y="1015663"/>
          <a:ext cx="9036496" cy="5842335"/>
        </p:xfrm>
        <a:graphic>
          <a:graphicData uri="http://schemas.openxmlformats.org/drawingml/2006/table">
            <a:tbl>
              <a:tblPr firstRow="1" firstCol="1" bandRow="1">
                <a:tableStyleId>{5C22544A-7EE6-4342-B048-85BDC9FD1C3A}</a:tableStyleId>
              </a:tblPr>
              <a:tblGrid>
                <a:gridCol w="3314325"/>
                <a:gridCol w="5722171"/>
              </a:tblGrid>
              <a:tr h="188463">
                <a:tc>
                  <a:txBody>
                    <a:bodyPr/>
                    <a:lstStyle/>
                    <a:p>
                      <a:pPr marL="457200" algn="ctr">
                        <a:lnSpc>
                          <a:spcPct val="115000"/>
                        </a:lnSpc>
                        <a:spcAft>
                          <a:spcPts val="0"/>
                        </a:spcAft>
                      </a:pPr>
                      <a:r>
                        <a:rPr lang="uz-Cyrl-UZ" sz="800" dirty="0">
                          <a:effectLst/>
                        </a:rPr>
                        <a:t>Metod</a:t>
                      </a:r>
                      <a:endParaRPr lang="ru-RU" sz="700" dirty="0">
                        <a:effectLst/>
                        <a:latin typeface="Times New Roman"/>
                        <a:ea typeface="Times New Roman"/>
                      </a:endParaRPr>
                    </a:p>
                  </a:txBody>
                  <a:tcPr marL="40807" marR="40807" marT="0" marB="0" anchor="ctr"/>
                </a:tc>
                <a:tc>
                  <a:txBody>
                    <a:bodyPr/>
                    <a:lstStyle/>
                    <a:p>
                      <a:pPr marL="457200" algn="ctr">
                        <a:lnSpc>
                          <a:spcPct val="115000"/>
                        </a:lnSpc>
                        <a:spcAft>
                          <a:spcPts val="0"/>
                        </a:spcAft>
                      </a:pPr>
                      <a:r>
                        <a:rPr lang="uz-Cyrl-UZ" sz="800">
                          <a:effectLst/>
                        </a:rPr>
                        <a:t>Ta’rif</a:t>
                      </a:r>
                      <a:endParaRPr lang="ru-RU" sz="700">
                        <a:effectLst/>
                        <a:latin typeface="Times New Roman"/>
                        <a:ea typeface="Times New Roman"/>
                      </a:endParaRPr>
                    </a:p>
                  </a:txBody>
                  <a:tcPr marL="40807" marR="40807" marT="0" marB="0" anchor="ctr"/>
                </a:tc>
              </a:tr>
              <a:tr h="565387">
                <a:tc>
                  <a:txBody>
                    <a:bodyPr/>
                    <a:lstStyle/>
                    <a:p>
                      <a:pPr marL="457200">
                        <a:lnSpc>
                          <a:spcPct val="115000"/>
                        </a:lnSpc>
                        <a:spcAft>
                          <a:spcPts val="0"/>
                        </a:spcAft>
                      </a:pPr>
                      <a:r>
                        <a:rPr lang="uz-Cyrl-UZ" sz="800">
                          <a:effectLst/>
                        </a:rPr>
                        <a:t>public InetAddress</a:t>
                      </a:r>
                      <a:endParaRPr lang="ru-RU" sz="700">
                        <a:effectLst/>
                      </a:endParaRPr>
                    </a:p>
                    <a:p>
                      <a:pPr marL="457200">
                        <a:lnSpc>
                          <a:spcPct val="115000"/>
                        </a:lnSpc>
                        <a:spcAft>
                          <a:spcPts val="0"/>
                        </a:spcAft>
                      </a:pPr>
                      <a:r>
                        <a:rPr lang="uz-Cyrl-UZ" sz="800">
                          <a:effectLst/>
                        </a:rPr>
                        <a:t>getInetAddress ()</a:t>
                      </a:r>
                      <a:endParaRPr lang="ru-RU" sz="700">
                        <a:effectLst/>
                        <a:latin typeface="Times New Roman"/>
                        <a:ea typeface="Times New Roman"/>
                      </a:endParaRPr>
                    </a:p>
                  </a:txBody>
                  <a:tcPr marL="40807" marR="40807" marT="0" marB="0" anchor="ctr"/>
                </a:tc>
                <a:tc>
                  <a:txBody>
                    <a:bodyPr/>
                    <a:lstStyle/>
                    <a:p>
                      <a:pPr marL="457200">
                        <a:lnSpc>
                          <a:spcPct val="115000"/>
                        </a:lnSpc>
                        <a:spcAft>
                          <a:spcPts val="0"/>
                        </a:spcAft>
                      </a:pPr>
                      <a:r>
                        <a:rPr lang="uz-Cyrl-UZ" sz="800">
                          <a:effectLst/>
                        </a:rPr>
                        <a:t>DatagramSocket ob’ekti bog‘danadigan IP-adresni o‘z ichiga olgan InetAddress ob’ektini qaytaradi</a:t>
                      </a:r>
                      <a:endParaRPr lang="ru-RU" sz="700">
                        <a:effectLst/>
                        <a:latin typeface="Times New Roman"/>
                        <a:ea typeface="Times New Roman"/>
                      </a:endParaRPr>
                    </a:p>
                  </a:txBody>
                  <a:tcPr marL="40807" marR="40807" marT="0" marB="0" anchor="ctr"/>
                </a:tc>
              </a:tr>
              <a:tr h="565387">
                <a:tc>
                  <a:txBody>
                    <a:bodyPr/>
                    <a:lstStyle/>
                    <a:p>
                      <a:pPr marL="457200">
                        <a:lnSpc>
                          <a:spcPct val="115000"/>
                        </a:lnSpc>
                        <a:spcAft>
                          <a:spcPts val="0"/>
                        </a:spcAft>
                      </a:pPr>
                      <a:r>
                        <a:rPr lang="en-US" sz="800">
                          <a:effectLst/>
                        </a:rPr>
                        <a:t>public InetAddress</a:t>
                      </a:r>
                      <a:endParaRPr lang="ru-RU" sz="700">
                        <a:effectLst/>
                      </a:endParaRPr>
                    </a:p>
                    <a:p>
                      <a:pPr marL="457200">
                        <a:lnSpc>
                          <a:spcPct val="115000"/>
                        </a:lnSpc>
                        <a:spcAft>
                          <a:spcPts val="0"/>
                        </a:spcAft>
                      </a:pPr>
                      <a:r>
                        <a:rPr lang="en-US" sz="800">
                          <a:effectLst/>
                        </a:rPr>
                        <a:t>getLocalAddress ()</a:t>
                      </a:r>
                      <a:endParaRPr lang="ru-RU" sz="700">
                        <a:effectLst/>
                        <a:latin typeface="Times New Roman"/>
                        <a:ea typeface="Times New Roman"/>
                      </a:endParaRPr>
                    </a:p>
                  </a:txBody>
                  <a:tcPr marL="40807" marR="40807" marT="0" marB="0" anchor="ctr"/>
                </a:tc>
                <a:tc>
                  <a:txBody>
                    <a:bodyPr/>
                    <a:lstStyle/>
                    <a:p>
                      <a:pPr marL="457200">
                        <a:lnSpc>
                          <a:spcPct val="115000"/>
                        </a:lnSpc>
                        <a:spcAft>
                          <a:spcPts val="0"/>
                        </a:spcAft>
                      </a:pPr>
                      <a:r>
                        <a:rPr lang="en-US" sz="800">
                          <a:effectLst/>
                        </a:rPr>
                        <a:t>DatagramSocket </a:t>
                      </a:r>
                      <a:r>
                        <a:rPr lang="uz-Cyrl-UZ" sz="800">
                          <a:effectLst/>
                        </a:rPr>
                        <a:t>ob’ekti bog‘lanadigan lokal xost </a:t>
                      </a:r>
                      <a:r>
                        <a:rPr lang="en-US" sz="800">
                          <a:effectLst/>
                        </a:rPr>
                        <a:t>IP</a:t>
                      </a:r>
                      <a:r>
                        <a:rPr lang="uz-Cyrl-UZ" sz="800">
                          <a:effectLst/>
                        </a:rPr>
                        <a:t>-adresini o‘z ichiga olgan </a:t>
                      </a:r>
                      <a:r>
                        <a:rPr lang="en-US" sz="800">
                          <a:effectLst/>
                        </a:rPr>
                        <a:t>InetAddress </a:t>
                      </a:r>
                      <a:r>
                        <a:rPr lang="uz-Cyrl-UZ" sz="800">
                          <a:effectLst/>
                        </a:rPr>
                        <a:t>ob’ektini qaytaradi</a:t>
                      </a:r>
                      <a:endParaRPr lang="ru-RU" sz="700">
                        <a:effectLst/>
                        <a:latin typeface="Times New Roman"/>
                        <a:ea typeface="Times New Roman"/>
                      </a:endParaRPr>
                    </a:p>
                  </a:txBody>
                  <a:tcPr marL="40807" marR="40807" marT="0" marB="0" anchor="ctr"/>
                </a:tc>
              </a:tr>
              <a:tr h="565387">
                <a:tc>
                  <a:txBody>
                    <a:bodyPr/>
                    <a:lstStyle/>
                    <a:p>
                      <a:pPr marL="457200">
                        <a:lnSpc>
                          <a:spcPct val="115000"/>
                        </a:lnSpc>
                        <a:spcAft>
                          <a:spcPts val="0"/>
                        </a:spcAft>
                      </a:pPr>
                      <a:r>
                        <a:rPr lang="en-US" sz="800">
                          <a:effectLst/>
                        </a:rPr>
                        <a:t>public int getLocalPort ()</a:t>
                      </a:r>
                      <a:endParaRPr lang="ru-RU" sz="700">
                        <a:effectLst/>
                        <a:latin typeface="Times New Roman"/>
                        <a:ea typeface="Times New Roman"/>
                      </a:endParaRPr>
                    </a:p>
                  </a:txBody>
                  <a:tcPr marL="40807" marR="40807" marT="0" marB="0" anchor="ctr"/>
                </a:tc>
                <a:tc>
                  <a:txBody>
                    <a:bodyPr/>
                    <a:lstStyle/>
                    <a:p>
                      <a:pPr marL="457200">
                        <a:lnSpc>
                          <a:spcPct val="115000"/>
                        </a:lnSpc>
                        <a:spcAft>
                          <a:spcPts val="0"/>
                        </a:spcAft>
                      </a:pPr>
                      <a:r>
                        <a:rPr lang="en-US" sz="800">
                          <a:effectLst/>
                        </a:rPr>
                        <a:t>DatagramSocket </a:t>
                      </a:r>
                      <a:r>
                        <a:rPr lang="uz-Cyrl-UZ" sz="800">
                          <a:effectLst/>
                        </a:rPr>
                        <a:t>ob’ekti bog‘lanadigan lokal xost portini taqdim qiladigan butun qiymatni qaytaradi</a:t>
                      </a:r>
                      <a:endParaRPr lang="ru-RU" sz="700">
                        <a:effectLst/>
                        <a:latin typeface="Times New Roman"/>
                        <a:ea typeface="Times New Roman"/>
                      </a:endParaRPr>
                    </a:p>
                  </a:txBody>
                  <a:tcPr marL="40807" marR="40807" marT="0" marB="0" anchor="ctr"/>
                </a:tc>
              </a:tr>
              <a:tr h="565387">
                <a:tc>
                  <a:txBody>
                    <a:bodyPr/>
                    <a:lstStyle/>
                    <a:p>
                      <a:pPr marL="457200">
                        <a:lnSpc>
                          <a:spcPct val="115000"/>
                        </a:lnSpc>
                        <a:spcAft>
                          <a:spcPts val="0"/>
                        </a:spcAft>
                      </a:pPr>
                      <a:r>
                        <a:rPr lang="en-US" sz="800">
                          <a:effectLst/>
                        </a:rPr>
                        <a:t>public void</a:t>
                      </a:r>
                      <a:endParaRPr lang="ru-RU" sz="700">
                        <a:effectLst/>
                      </a:endParaRPr>
                    </a:p>
                    <a:p>
                      <a:pPr marL="457200">
                        <a:lnSpc>
                          <a:spcPct val="115000"/>
                        </a:lnSpc>
                        <a:spcAft>
                          <a:spcPts val="0"/>
                        </a:spcAft>
                      </a:pPr>
                      <a:r>
                        <a:rPr lang="en-US" sz="800">
                          <a:effectLst/>
                        </a:rPr>
                        <a:t>bind (SocketAddress address)</a:t>
                      </a:r>
                      <a:endParaRPr lang="ru-RU" sz="700">
                        <a:effectLst/>
                        <a:latin typeface="Times New Roman"/>
                        <a:ea typeface="Times New Roman"/>
                      </a:endParaRPr>
                    </a:p>
                  </a:txBody>
                  <a:tcPr marL="40807" marR="40807" marT="0" marB="0" anchor="ctr"/>
                </a:tc>
                <a:tc>
                  <a:txBody>
                    <a:bodyPr/>
                    <a:lstStyle/>
                    <a:p>
                      <a:pPr marL="457200">
                        <a:lnSpc>
                          <a:spcPct val="115000"/>
                        </a:lnSpc>
                        <a:spcAft>
                          <a:spcPts val="0"/>
                        </a:spcAft>
                      </a:pPr>
                      <a:r>
                        <a:rPr lang="en-US" sz="800">
                          <a:effectLst/>
                        </a:rPr>
                        <a:t>DatagramSocket </a:t>
                      </a:r>
                      <a:r>
                        <a:rPr lang="uz-Cyrl-UZ" sz="800">
                          <a:effectLst/>
                        </a:rPr>
                        <a:t>ob’ektini </a:t>
                      </a:r>
                      <a:r>
                        <a:rPr lang="en-US" sz="800">
                          <a:effectLst/>
                        </a:rPr>
                        <a:t>SocketAddress </a:t>
                      </a:r>
                      <a:r>
                        <a:rPr lang="uz-Cyrl-UZ" sz="800">
                          <a:effectLst/>
                        </a:rPr>
                        <a:t>ob’ekti bilan bog‘laydi</a:t>
                      </a:r>
                      <a:endParaRPr lang="ru-RU" sz="700">
                        <a:effectLst/>
                        <a:latin typeface="Times New Roman"/>
                        <a:ea typeface="Times New Roman"/>
                      </a:endParaRPr>
                    </a:p>
                  </a:txBody>
                  <a:tcPr marL="40807" marR="40807" marT="0" marB="0" anchor="ctr"/>
                </a:tc>
              </a:tr>
              <a:tr h="188463">
                <a:tc>
                  <a:txBody>
                    <a:bodyPr/>
                    <a:lstStyle/>
                    <a:p>
                      <a:pPr marL="457200">
                        <a:lnSpc>
                          <a:spcPct val="115000"/>
                        </a:lnSpc>
                        <a:spcAft>
                          <a:spcPts val="0"/>
                        </a:spcAft>
                      </a:pPr>
                      <a:r>
                        <a:rPr lang="en-US" sz="800">
                          <a:effectLst/>
                        </a:rPr>
                        <a:t>public void close ()</a:t>
                      </a:r>
                      <a:endParaRPr lang="ru-RU" sz="700">
                        <a:effectLst/>
                        <a:latin typeface="Times New Roman"/>
                        <a:ea typeface="Times New Roman"/>
                      </a:endParaRPr>
                    </a:p>
                  </a:txBody>
                  <a:tcPr marL="40807" marR="40807" marT="0" marB="0" anchor="ctr"/>
                </a:tc>
                <a:tc>
                  <a:txBody>
                    <a:bodyPr/>
                    <a:lstStyle/>
                    <a:p>
                      <a:pPr marL="457200">
                        <a:lnSpc>
                          <a:spcPct val="115000"/>
                        </a:lnSpc>
                        <a:spcAft>
                          <a:spcPts val="0"/>
                        </a:spcAft>
                      </a:pPr>
                      <a:r>
                        <a:rPr lang="en-US" sz="800">
                          <a:effectLst/>
                        </a:rPr>
                        <a:t>DatagramSocket </a:t>
                      </a:r>
                      <a:r>
                        <a:rPr lang="uz-Cyrl-UZ" sz="800">
                          <a:effectLst/>
                        </a:rPr>
                        <a:t>ob’ektini yopadi</a:t>
                      </a:r>
                      <a:endParaRPr lang="ru-RU" sz="700">
                        <a:effectLst/>
                        <a:latin typeface="Times New Roman"/>
                        <a:ea typeface="Times New Roman"/>
                      </a:endParaRPr>
                    </a:p>
                  </a:txBody>
                  <a:tcPr marL="40807" marR="40807" marT="0" marB="0" anchor="ctr"/>
                </a:tc>
              </a:tr>
              <a:tr h="565387">
                <a:tc>
                  <a:txBody>
                    <a:bodyPr/>
                    <a:lstStyle/>
                    <a:p>
                      <a:pPr marL="457200">
                        <a:lnSpc>
                          <a:spcPct val="115000"/>
                        </a:lnSpc>
                        <a:spcAft>
                          <a:spcPts val="0"/>
                        </a:spcAft>
                      </a:pPr>
                      <a:r>
                        <a:rPr lang="en-US" sz="800">
                          <a:effectLst/>
                        </a:rPr>
                        <a:t>public void connect (InetAdress address, int port)</a:t>
                      </a:r>
                      <a:endParaRPr lang="ru-RU" sz="700">
                        <a:effectLst/>
                        <a:latin typeface="Times New Roman"/>
                        <a:ea typeface="Times New Roman"/>
                      </a:endParaRPr>
                    </a:p>
                  </a:txBody>
                  <a:tcPr marL="40807" marR="40807" marT="0" marB="0" anchor="ctr"/>
                </a:tc>
                <a:tc>
                  <a:txBody>
                    <a:bodyPr/>
                    <a:lstStyle/>
                    <a:p>
                      <a:pPr marL="457200">
                        <a:lnSpc>
                          <a:spcPct val="115000"/>
                        </a:lnSpc>
                        <a:spcAft>
                          <a:spcPts val="0"/>
                        </a:spcAft>
                      </a:pPr>
                      <a:r>
                        <a:rPr lang="en-US" sz="800" dirty="0" err="1">
                          <a:effectLst/>
                        </a:rPr>
                        <a:t>DatagramSocket</a:t>
                      </a:r>
                      <a:r>
                        <a:rPr lang="en-US" sz="800" dirty="0">
                          <a:effectLst/>
                        </a:rPr>
                        <a:t> </a:t>
                      </a:r>
                      <a:r>
                        <a:rPr lang="uz-Cyrl-UZ" sz="800" dirty="0">
                          <a:effectLst/>
                        </a:rPr>
                        <a:t>ob’ektini berilgan </a:t>
                      </a:r>
                      <a:r>
                        <a:rPr lang="en-US" sz="800" dirty="0">
                          <a:effectLst/>
                        </a:rPr>
                        <a:t>IP</a:t>
                      </a:r>
                      <a:r>
                        <a:rPr lang="uz-Cyrl-UZ" sz="800" dirty="0">
                          <a:effectLst/>
                        </a:rPr>
                        <a:t>-adres va port bilan bog‘laydi</a:t>
                      </a:r>
                      <a:endParaRPr lang="ru-RU" sz="700" dirty="0">
                        <a:effectLst/>
                        <a:latin typeface="Times New Roman"/>
                        <a:ea typeface="Times New Roman"/>
                      </a:endParaRPr>
                    </a:p>
                  </a:txBody>
                  <a:tcPr marL="40807" marR="40807" marT="0" marB="0" anchor="ctr"/>
                </a:tc>
              </a:tr>
              <a:tr h="376925">
                <a:tc>
                  <a:txBody>
                    <a:bodyPr/>
                    <a:lstStyle/>
                    <a:p>
                      <a:pPr marL="457200">
                        <a:lnSpc>
                          <a:spcPct val="115000"/>
                        </a:lnSpc>
                        <a:spcAft>
                          <a:spcPts val="0"/>
                        </a:spcAft>
                      </a:pPr>
                      <a:r>
                        <a:rPr lang="en-US" sz="800">
                          <a:effectLst/>
                        </a:rPr>
                        <a:t>public void disconnect ()</a:t>
                      </a:r>
                      <a:endParaRPr lang="ru-RU" sz="700">
                        <a:effectLst/>
                        <a:latin typeface="Times New Roman"/>
                        <a:ea typeface="Times New Roman"/>
                      </a:endParaRPr>
                    </a:p>
                  </a:txBody>
                  <a:tcPr marL="40807" marR="40807" marT="0" marB="0" anchor="ctr"/>
                </a:tc>
                <a:tc>
                  <a:txBody>
                    <a:bodyPr/>
                    <a:lstStyle/>
                    <a:p>
                      <a:pPr marL="457200">
                        <a:lnSpc>
                          <a:spcPct val="115000"/>
                        </a:lnSpc>
                        <a:spcAft>
                          <a:spcPts val="0"/>
                        </a:spcAft>
                      </a:pPr>
                      <a:r>
                        <a:rPr lang="en-US" sz="800">
                          <a:effectLst/>
                        </a:rPr>
                        <a:t>DatagramSocket </a:t>
                      </a:r>
                      <a:r>
                        <a:rPr lang="uz-Cyrl-UZ" sz="800">
                          <a:effectLst/>
                        </a:rPr>
                        <a:t>ob’ektini uzadi</a:t>
                      </a:r>
                      <a:endParaRPr lang="ru-RU" sz="700">
                        <a:effectLst/>
                        <a:latin typeface="Times New Roman"/>
                        <a:ea typeface="Times New Roman"/>
                      </a:endParaRPr>
                    </a:p>
                  </a:txBody>
                  <a:tcPr marL="40807" marR="40807" marT="0" marB="0" anchor="ctr"/>
                </a:tc>
              </a:tr>
              <a:tr h="376925">
                <a:tc>
                  <a:txBody>
                    <a:bodyPr/>
                    <a:lstStyle/>
                    <a:p>
                      <a:pPr marL="457200">
                        <a:lnSpc>
                          <a:spcPct val="115000"/>
                        </a:lnSpc>
                        <a:spcAft>
                          <a:spcPts val="0"/>
                        </a:spcAft>
                      </a:pPr>
                      <a:r>
                        <a:rPr lang="en-US" sz="800" dirty="0">
                          <a:effectLst/>
                        </a:rPr>
                        <a:t>public </a:t>
                      </a:r>
                      <a:r>
                        <a:rPr lang="en-US" sz="800" dirty="0" err="1">
                          <a:effectLst/>
                        </a:rPr>
                        <a:t>boolean</a:t>
                      </a:r>
                      <a:r>
                        <a:rPr lang="en-US" sz="800" dirty="0">
                          <a:effectLst/>
                        </a:rPr>
                        <a:t> </a:t>
                      </a:r>
                      <a:r>
                        <a:rPr lang="en-US" sz="800" dirty="0" err="1">
                          <a:effectLst/>
                        </a:rPr>
                        <a:t>isBound</a:t>
                      </a:r>
                      <a:r>
                        <a:rPr lang="en-US" sz="800" dirty="0">
                          <a:effectLst/>
                        </a:rPr>
                        <a:t> ()</a:t>
                      </a:r>
                      <a:endParaRPr lang="ru-RU" sz="700" dirty="0">
                        <a:effectLst/>
                        <a:latin typeface="Times New Roman"/>
                        <a:ea typeface="Times New Roman"/>
                      </a:endParaRPr>
                    </a:p>
                  </a:txBody>
                  <a:tcPr marL="40807" marR="40807" marT="0" marB="0" anchor="ctr"/>
                </a:tc>
                <a:tc>
                  <a:txBody>
                    <a:bodyPr/>
                    <a:lstStyle/>
                    <a:p>
                      <a:pPr marL="457200">
                        <a:lnSpc>
                          <a:spcPct val="115000"/>
                        </a:lnSpc>
                        <a:spcAft>
                          <a:spcPts val="0"/>
                        </a:spcAft>
                      </a:pPr>
                      <a:r>
                        <a:rPr lang="en-US" sz="800" dirty="0" err="1">
                          <a:effectLst/>
                        </a:rPr>
                        <a:t>DatagramSocket</a:t>
                      </a:r>
                      <a:r>
                        <a:rPr lang="en-US" sz="800" dirty="0">
                          <a:effectLst/>
                        </a:rPr>
                        <a:t> </a:t>
                      </a:r>
                      <a:r>
                        <a:rPr lang="uz-Cyrl-UZ" sz="800" dirty="0">
                          <a:effectLst/>
                        </a:rPr>
                        <a:t>ob’ekti port bilan bog‘langan bo‘lsa, </a:t>
                      </a:r>
                      <a:r>
                        <a:rPr lang="en-US" sz="800" dirty="0">
                          <a:effectLst/>
                        </a:rPr>
                        <a:t>true </a:t>
                      </a:r>
                      <a:r>
                        <a:rPr lang="uz-Cyrl-UZ" sz="800" dirty="0">
                          <a:effectLst/>
                        </a:rPr>
                        <a:t>ni qaytaradi</a:t>
                      </a:r>
                      <a:endParaRPr lang="ru-RU" sz="700" dirty="0">
                        <a:effectLst/>
                        <a:latin typeface="Times New Roman"/>
                        <a:ea typeface="Times New Roman"/>
                      </a:endParaRPr>
                    </a:p>
                  </a:txBody>
                  <a:tcPr marL="40807" marR="40807" marT="0" marB="0" anchor="ctr"/>
                </a:tc>
              </a:tr>
              <a:tr h="376925">
                <a:tc>
                  <a:txBody>
                    <a:bodyPr/>
                    <a:lstStyle/>
                    <a:p>
                      <a:pPr marL="457200">
                        <a:lnSpc>
                          <a:spcPct val="115000"/>
                        </a:lnSpc>
                        <a:spcAft>
                          <a:spcPts val="0"/>
                        </a:spcAft>
                      </a:pPr>
                      <a:r>
                        <a:rPr lang="en-US" sz="800">
                          <a:effectLst/>
                        </a:rPr>
                        <a:t>public Boolean isClosed ()</a:t>
                      </a:r>
                      <a:endParaRPr lang="ru-RU" sz="700">
                        <a:effectLst/>
                        <a:latin typeface="Times New Roman"/>
                        <a:ea typeface="Times New Roman"/>
                      </a:endParaRPr>
                    </a:p>
                  </a:txBody>
                  <a:tcPr marL="40807" marR="40807" marT="0" marB="0" anchor="ctr"/>
                </a:tc>
                <a:tc>
                  <a:txBody>
                    <a:bodyPr/>
                    <a:lstStyle/>
                    <a:p>
                      <a:pPr marL="457200">
                        <a:lnSpc>
                          <a:spcPct val="115000"/>
                        </a:lnSpc>
                        <a:spcAft>
                          <a:spcPts val="0"/>
                        </a:spcAft>
                      </a:pPr>
                      <a:r>
                        <a:rPr lang="en-US" sz="800">
                          <a:effectLst/>
                        </a:rPr>
                        <a:t>DatagramSocket </a:t>
                      </a:r>
                      <a:r>
                        <a:rPr lang="uz-Cyrl-UZ" sz="800">
                          <a:effectLst/>
                        </a:rPr>
                        <a:t>ob’ekti yopilganida</a:t>
                      </a:r>
                      <a:endParaRPr lang="ru-RU" sz="700">
                        <a:effectLst/>
                        <a:latin typeface="Times New Roman"/>
                        <a:ea typeface="Times New Roman"/>
                      </a:endParaRPr>
                    </a:p>
                  </a:txBody>
                  <a:tcPr marL="40807" marR="40807" marT="0" marB="0" anchor="ctr"/>
                </a:tc>
              </a:tr>
              <a:tr h="376925">
                <a:tc>
                  <a:txBody>
                    <a:bodyPr/>
                    <a:lstStyle/>
                    <a:p>
                      <a:pPr marL="457200">
                        <a:lnSpc>
                          <a:spcPct val="115000"/>
                        </a:lnSpc>
                        <a:spcAft>
                          <a:spcPts val="0"/>
                        </a:spcAft>
                      </a:pPr>
                      <a:r>
                        <a:rPr lang="en-US" sz="800">
                          <a:effectLst/>
                        </a:rPr>
                        <a:t>public boolean isConnected ()</a:t>
                      </a:r>
                      <a:endParaRPr lang="ru-RU" sz="700">
                        <a:effectLst/>
                        <a:latin typeface="Times New Roman"/>
                        <a:ea typeface="Times New Roman"/>
                      </a:endParaRPr>
                    </a:p>
                  </a:txBody>
                  <a:tcPr marL="40807" marR="40807" marT="0" marB="0" anchor="ctr"/>
                </a:tc>
                <a:tc>
                  <a:txBody>
                    <a:bodyPr/>
                    <a:lstStyle/>
                    <a:p>
                      <a:pPr marL="457200">
                        <a:lnSpc>
                          <a:spcPct val="115000"/>
                        </a:lnSpc>
                        <a:spcAft>
                          <a:spcPts val="0"/>
                        </a:spcAft>
                      </a:pPr>
                      <a:r>
                        <a:rPr lang="en-US" sz="800">
                          <a:effectLst/>
                        </a:rPr>
                        <a:t>DatagramSocket IP</a:t>
                      </a:r>
                      <a:r>
                        <a:rPr lang="uz-Cyrl-UZ" sz="800">
                          <a:effectLst/>
                        </a:rPr>
                        <a:t>-adres bilan bog‘langanida </a:t>
                      </a:r>
                      <a:r>
                        <a:rPr lang="en-US" sz="800">
                          <a:effectLst/>
                        </a:rPr>
                        <a:t>true </a:t>
                      </a:r>
                      <a:r>
                        <a:rPr lang="uz-Cyrl-UZ" sz="800">
                          <a:effectLst/>
                        </a:rPr>
                        <a:t>ni qaytaradi</a:t>
                      </a:r>
                      <a:endParaRPr lang="ru-RU" sz="700">
                        <a:effectLst/>
                        <a:latin typeface="Times New Roman"/>
                        <a:ea typeface="Times New Roman"/>
                      </a:endParaRPr>
                    </a:p>
                  </a:txBody>
                  <a:tcPr marL="40807" marR="40807" marT="0" marB="0" anchor="ctr"/>
                </a:tc>
              </a:tr>
              <a:tr h="565387">
                <a:tc>
                  <a:txBody>
                    <a:bodyPr/>
                    <a:lstStyle/>
                    <a:p>
                      <a:pPr marL="457200">
                        <a:lnSpc>
                          <a:spcPct val="115000"/>
                        </a:lnSpc>
                        <a:spcAft>
                          <a:spcPts val="0"/>
                        </a:spcAft>
                      </a:pPr>
                      <a:r>
                        <a:rPr lang="en-US" sz="800">
                          <a:effectLst/>
                        </a:rPr>
                        <a:t>public void receive</a:t>
                      </a:r>
                      <a:endParaRPr lang="ru-RU" sz="700">
                        <a:effectLst/>
                      </a:endParaRPr>
                    </a:p>
                    <a:p>
                      <a:pPr marL="457200">
                        <a:lnSpc>
                          <a:spcPct val="115000"/>
                        </a:lnSpc>
                        <a:spcAft>
                          <a:spcPts val="0"/>
                        </a:spcAft>
                      </a:pPr>
                      <a:r>
                        <a:rPr lang="en-US" sz="800">
                          <a:effectLst/>
                        </a:rPr>
                        <a:t>(DatagramPacket packet)</a:t>
                      </a:r>
                      <a:endParaRPr lang="ru-RU" sz="700">
                        <a:effectLst/>
                        <a:latin typeface="Times New Roman"/>
                        <a:ea typeface="Times New Roman"/>
                      </a:endParaRPr>
                    </a:p>
                  </a:txBody>
                  <a:tcPr marL="40807" marR="40807" marT="0" marB="0" anchor="ctr"/>
                </a:tc>
                <a:tc>
                  <a:txBody>
                    <a:bodyPr/>
                    <a:lstStyle/>
                    <a:p>
                      <a:pPr marL="457200">
                        <a:lnSpc>
                          <a:spcPct val="115000"/>
                        </a:lnSpc>
                        <a:spcAft>
                          <a:spcPts val="0"/>
                        </a:spcAft>
                      </a:pPr>
                      <a:r>
                        <a:rPr lang="en-US" sz="800">
                          <a:effectLst/>
                        </a:rPr>
                        <a:t>DatagramSocket </a:t>
                      </a:r>
                      <a:r>
                        <a:rPr lang="uz-Cyrl-UZ" sz="800">
                          <a:effectLst/>
                        </a:rPr>
                        <a:t>joriy ob’ektidan datagramma paketini qabul qiladi</a:t>
                      </a:r>
                      <a:endParaRPr lang="ru-RU" sz="700">
                        <a:effectLst/>
                        <a:latin typeface="Times New Roman"/>
                        <a:ea typeface="Times New Roman"/>
                      </a:endParaRPr>
                    </a:p>
                  </a:txBody>
                  <a:tcPr marL="40807" marR="40807" marT="0" marB="0" anchor="ctr"/>
                </a:tc>
              </a:tr>
              <a:tr h="565387">
                <a:tc>
                  <a:txBody>
                    <a:bodyPr/>
                    <a:lstStyle/>
                    <a:p>
                      <a:pPr marL="457200">
                        <a:lnSpc>
                          <a:spcPct val="115000"/>
                        </a:lnSpc>
                        <a:spcAft>
                          <a:spcPts val="0"/>
                        </a:spcAft>
                      </a:pPr>
                      <a:r>
                        <a:rPr lang="en-US" sz="800">
                          <a:effectLst/>
                        </a:rPr>
                        <a:t>public void send</a:t>
                      </a:r>
                      <a:endParaRPr lang="ru-RU" sz="700">
                        <a:effectLst/>
                      </a:endParaRPr>
                    </a:p>
                    <a:p>
                      <a:pPr marL="457200">
                        <a:lnSpc>
                          <a:spcPct val="115000"/>
                        </a:lnSpc>
                        <a:spcAft>
                          <a:spcPts val="0"/>
                        </a:spcAft>
                      </a:pPr>
                      <a:r>
                        <a:rPr lang="en-US" sz="800">
                          <a:effectLst/>
                        </a:rPr>
                        <a:t>(DatagramPacket packet)</a:t>
                      </a:r>
                      <a:endParaRPr lang="ru-RU" sz="700">
                        <a:effectLst/>
                        <a:latin typeface="Times New Roman"/>
                        <a:ea typeface="Times New Roman"/>
                      </a:endParaRPr>
                    </a:p>
                  </a:txBody>
                  <a:tcPr marL="40807" marR="40807" marT="0" marB="0" anchor="ctr"/>
                </a:tc>
                <a:tc>
                  <a:txBody>
                    <a:bodyPr/>
                    <a:lstStyle/>
                    <a:p>
                      <a:pPr marL="457200">
                        <a:lnSpc>
                          <a:spcPct val="115000"/>
                        </a:lnSpc>
                        <a:spcAft>
                          <a:spcPts val="0"/>
                        </a:spcAft>
                      </a:pPr>
                      <a:r>
                        <a:rPr lang="en-US" sz="800" dirty="0" err="1">
                          <a:effectLst/>
                        </a:rPr>
                        <a:t>DatagramSocket</a:t>
                      </a:r>
                      <a:r>
                        <a:rPr lang="en-US" sz="800" dirty="0">
                          <a:effectLst/>
                        </a:rPr>
                        <a:t> </a:t>
                      </a:r>
                      <a:r>
                        <a:rPr lang="uz-Cyrl-UZ" sz="800" dirty="0">
                          <a:effectLst/>
                        </a:rPr>
                        <a:t>joriy ob’ektidan datagramma paketini uzatadi</a:t>
                      </a:r>
                      <a:endParaRPr lang="ru-RU" sz="700" dirty="0">
                        <a:effectLst/>
                        <a:latin typeface="Times New Roman"/>
                        <a:ea typeface="Times New Roman"/>
                      </a:endParaRPr>
                    </a:p>
                  </a:txBody>
                  <a:tcPr marL="40807" marR="40807" marT="0" marB="0" anchor="ctr"/>
                </a:tc>
              </a:tr>
            </a:tbl>
          </a:graphicData>
        </a:graphic>
      </p:graphicFrame>
    </p:spTree>
    <p:extLst>
      <p:ext uri="{BB962C8B-B14F-4D97-AF65-F5344CB8AC3E}">
        <p14:creationId xmlns:p14="http://schemas.microsoft.com/office/powerpoint/2010/main" val="2041852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003" y="0"/>
            <a:ext cx="9144000" cy="6863417"/>
          </a:xfrm>
          <a:prstGeom prst="rect">
            <a:avLst/>
          </a:prstGeom>
        </p:spPr>
        <p:txBody>
          <a:bodyPr wrap="square">
            <a:spAutoFit/>
          </a:bodyPr>
          <a:lstStyle/>
          <a:p>
            <a:pPr algn="just"/>
            <a:r>
              <a:rPr lang="en-US" sz="2000" dirty="0" smtClean="0">
                <a:latin typeface="Times New Roman" pitchFamily="18" charset="0"/>
                <a:cs typeface="Times New Roman" pitchFamily="18" charset="0"/>
              </a:rPr>
              <a:t>UDP </a:t>
            </a:r>
            <a:r>
              <a:rPr lang="uz-Cyrl-UZ" sz="2000" dirty="0">
                <a:latin typeface="Times New Roman" pitchFamily="18" charset="0"/>
                <a:cs typeface="Times New Roman" pitchFamily="18" charset="0"/>
              </a:rPr>
              <a:t>serveri klient ilovalariga xizmat ko‘rsatish uchun </a:t>
            </a:r>
            <a:r>
              <a:rPr lang="en-US" sz="2000" dirty="0">
                <a:latin typeface="Times New Roman" pitchFamily="18" charset="0"/>
                <a:cs typeface="Times New Roman" pitchFamily="18" charset="0"/>
              </a:rPr>
              <a:t>UDP </a:t>
            </a:r>
            <a:r>
              <a:rPr lang="uz-Cyrl-UZ" sz="2000" dirty="0">
                <a:latin typeface="Times New Roman" pitchFamily="18" charset="0"/>
                <a:cs typeface="Times New Roman" pitchFamily="18" charset="0"/>
              </a:rPr>
              <a:t>protokolidan foydalanadigan tarmoq ilovasidir. UDP serverini yaratish uchun DatagramPacket ob’ektlarini klientlardan qabul qiladigan DatagramSocket ob’ektidan foydalaniladi. UDP serverini yaratish uchun quyidagilarni bajarish kerak bo‘ladi: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 DatagramSocket ob’ektidan foydalanib soket yaratish;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 DatagramPacket klass ob’ektini yaratish va klient xabarlarini qabul qilish uchun receive() metodidan foydalanish;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 DatagramPacket klass ob’ektini yaratish va klient xabarlarini uzatish uchun send() metodidan foydalanish;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 </a:t>
            </a:r>
            <a:r>
              <a:rPr lang="en-US" sz="2000" dirty="0">
                <a:latin typeface="Times New Roman" pitchFamily="18" charset="0"/>
                <a:cs typeface="Times New Roman" pitchFamily="18" charset="0"/>
              </a:rPr>
              <a:t>main() </a:t>
            </a:r>
            <a:r>
              <a:rPr lang="uz-Cyrl-UZ" sz="2000" dirty="0">
                <a:latin typeface="Times New Roman" pitchFamily="18" charset="0"/>
                <a:cs typeface="Times New Roman" pitchFamily="18" charset="0"/>
              </a:rPr>
              <a:t>metodida </a:t>
            </a:r>
            <a:r>
              <a:rPr lang="en-US" sz="2000" dirty="0">
                <a:latin typeface="Times New Roman" pitchFamily="18" charset="0"/>
                <a:cs typeface="Times New Roman" pitchFamily="18" charset="0"/>
              </a:rPr>
              <a:t>UDP </a:t>
            </a:r>
            <a:r>
              <a:rPr lang="uz-Cyrl-UZ" sz="2000" dirty="0">
                <a:latin typeface="Times New Roman" pitchFamily="18" charset="0"/>
                <a:cs typeface="Times New Roman" pitchFamily="18" charset="0"/>
              </a:rPr>
              <a:t>server klassi konstruktorini chaqirib, serverni ishga tushirish.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Quyidagi kod fragmentidan </a:t>
            </a:r>
            <a:r>
              <a:rPr lang="en-US" sz="2000" dirty="0" err="1">
                <a:latin typeface="Times New Roman" pitchFamily="18" charset="0"/>
                <a:cs typeface="Times New Roman" pitchFamily="18" charset="0"/>
              </a:rPr>
              <a:t>DatagramSocket</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ob’ektini yaratish uchun foydalanish mumkin:</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DatagramSocket</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try</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DatagramSocket</a:t>
            </a:r>
            <a:r>
              <a:rPr lang="en-US" sz="2000" i="1" dirty="0">
                <a:latin typeface="Times New Roman" pitchFamily="18" charset="0"/>
                <a:cs typeface="Times New Roman" pitchFamily="18" charset="0"/>
              </a:rPr>
              <a:t> socket = new </a:t>
            </a:r>
            <a:r>
              <a:rPr lang="en-US" sz="2000" i="1" dirty="0" err="1">
                <a:latin typeface="Times New Roman" pitchFamily="18" charset="0"/>
                <a:cs typeface="Times New Roman" pitchFamily="18" charset="0"/>
              </a:rPr>
              <a:t>DatagramSocket</a:t>
            </a:r>
            <a:r>
              <a:rPr lang="en-US" sz="2000" i="1" dirty="0">
                <a:latin typeface="Times New Roman" pitchFamily="18" charset="0"/>
                <a:cs typeface="Times New Roman" pitchFamily="18" charset="0"/>
              </a:rPr>
              <a:t>(1501);</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catch(</a:t>
            </a:r>
            <a:r>
              <a:rPr lang="en-US" sz="2000" i="1" dirty="0" err="1">
                <a:latin typeface="Times New Roman" pitchFamily="18" charset="0"/>
                <a:cs typeface="Times New Roman" pitchFamily="18" charset="0"/>
              </a:rPr>
              <a:t>SocketException</a:t>
            </a:r>
            <a:r>
              <a:rPr lang="en-US" sz="2000" i="1" dirty="0">
                <a:latin typeface="Times New Roman" pitchFamily="18" charset="0"/>
                <a:cs typeface="Times New Roman" pitchFamily="18" charset="0"/>
              </a:rPr>
              <a:t> send)</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System.out.println</a:t>
            </a:r>
            <a:r>
              <a:rPr lang="en-US" sz="2000" i="1" dirty="0">
                <a:latin typeface="Times New Roman" pitchFamily="18" charset="0"/>
                <a:cs typeface="Times New Roman" pitchFamily="18" charset="0"/>
              </a:rPr>
              <a:t>("Error");</a:t>
            </a:r>
            <a:endParaRPr lang="ru-RU" sz="2000" dirty="0">
              <a:latin typeface="Times New Roman" pitchFamily="18" charset="0"/>
              <a:cs typeface="Times New Roman" pitchFamily="18" charset="0"/>
            </a:endParaRPr>
          </a:p>
          <a:p>
            <a:pPr algn="just"/>
            <a:r>
              <a:rPr lang="en-US" sz="2000" i="1"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688124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0"/>
            <a:ext cx="8928992" cy="6878806"/>
          </a:xfrm>
          <a:prstGeom prst="rect">
            <a:avLst/>
          </a:prstGeom>
        </p:spPr>
        <p:txBody>
          <a:bodyPr wrap="square">
            <a:spAutoFit/>
          </a:bodyPr>
          <a:lstStyle/>
          <a:p>
            <a:pPr algn="just"/>
            <a:r>
              <a:rPr lang="en-US" sz="2100" dirty="0" smtClean="0">
                <a:latin typeface="Times New Roman" pitchFamily="18" charset="0"/>
                <a:cs typeface="Times New Roman" pitchFamily="18" charset="0"/>
              </a:rPr>
              <a:t>	</a:t>
            </a:r>
            <a:r>
              <a:rPr lang="uz-Cyrl-UZ" sz="2100" dirty="0" smtClean="0">
                <a:latin typeface="Times New Roman" pitchFamily="18" charset="0"/>
                <a:cs typeface="Times New Roman" pitchFamily="18" charset="0"/>
              </a:rPr>
              <a:t>Yuqoridagi </a:t>
            </a:r>
            <a:r>
              <a:rPr lang="uz-Cyrl-UZ" sz="2100" dirty="0">
                <a:latin typeface="Times New Roman" pitchFamily="18" charset="0"/>
                <a:cs typeface="Times New Roman" pitchFamily="18" charset="0"/>
              </a:rPr>
              <a:t>kod fragmentida  </a:t>
            </a:r>
            <a:r>
              <a:rPr lang="en-US" sz="2100" dirty="0" err="1">
                <a:latin typeface="Times New Roman" pitchFamily="18" charset="0"/>
                <a:cs typeface="Times New Roman" pitchFamily="18" charset="0"/>
              </a:rPr>
              <a:t>DatagramSocket</a:t>
            </a:r>
            <a:r>
              <a:rPr lang="en-US" sz="2100" dirty="0">
                <a:latin typeface="Times New Roman" pitchFamily="18" charset="0"/>
                <a:cs typeface="Times New Roman" pitchFamily="18" charset="0"/>
              </a:rPr>
              <a:t> </a:t>
            </a:r>
            <a:r>
              <a:rPr lang="uz-Cyrl-UZ" sz="2100" dirty="0">
                <a:latin typeface="Times New Roman" pitchFamily="18" charset="0"/>
                <a:cs typeface="Times New Roman" pitchFamily="18" charset="0"/>
              </a:rPr>
              <a:t>klassining </a:t>
            </a:r>
            <a:r>
              <a:rPr lang="en-US" sz="2100" dirty="0">
                <a:latin typeface="Times New Roman" pitchFamily="18" charset="0"/>
                <a:cs typeface="Times New Roman" pitchFamily="18" charset="0"/>
              </a:rPr>
              <a:t>socket </a:t>
            </a:r>
            <a:r>
              <a:rPr lang="uz-Cyrl-UZ" sz="2100" dirty="0">
                <a:latin typeface="Times New Roman" pitchFamily="18" charset="0"/>
                <a:cs typeface="Times New Roman" pitchFamily="18" charset="0"/>
              </a:rPr>
              <a:t>ob’ekti 1501 raqamli port bilan bog‘lanadi.</a:t>
            </a:r>
            <a:endParaRPr lang="ru-RU" sz="2100" dirty="0">
              <a:latin typeface="Times New Roman" pitchFamily="18" charset="0"/>
              <a:cs typeface="Times New Roman" pitchFamily="18" charset="0"/>
            </a:endParaRPr>
          </a:p>
          <a:p>
            <a:pPr algn="just"/>
            <a:r>
              <a:rPr lang="uz-Cyrl-UZ" sz="2100" dirty="0">
                <a:latin typeface="Times New Roman" pitchFamily="18" charset="0"/>
                <a:cs typeface="Times New Roman" pitchFamily="18" charset="0"/>
              </a:rPr>
              <a:t>Datagramma paketini qabul qiluvchi DatagramPacket ob’ekti datagrammalarni saqlash uchun buferga ega. Quyidagi kod fragmentidan datagramma paketlarini qabul qiluvchi DatagramPacket ob’ektini yaratish uchun foydalanish mumkin:</a:t>
            </a:r>
            <a:endParaRPr lang="ru-RU" sz="2100" dirty="0">
              <a:latin typeface="Times New Roman" pitchFamily="18" charset="0"/>
              <a:cs typeface="Times New Roman" pitchFamily="18" charset="0"/>
            </a:endParaRPr>
          </a:p>
          <a:p>
            <a:pPr algn="just"/>
            <a:r>
              <a:rPr lang="en-US" sz="2100" i="1" dirty="0">
                <a:latin typeface="Times New Roman" pitchFamily="18" charset="0"/>
                <a:cs typeface="Times New Roman" pitchFamily="18" charset="0"/>
              </a:rPr>
              <a:t>try</a:t>
            </a:r>
            <a:endParaRPr lang="ru-RU" sz="2100" dirty="0">
              <a:latin typeface="Times New Roman" pitchFamily="18" charset="0"/>
              <a:cs typeface="Times New Roman" pitchFamily="18" charset="0"/>
            </a:endParaRPr>
          </a:p>
          <a:p>
            <a:pPr algn="just"/>
            <a:r>
              <a:rPr lang="en-US" sz="2100" i="1"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algn="just"/>
            <a:r>
              <a:rPr lang="en-US" sz="2100" i="1" dirty="0" err="1">
                <a:latin typeface="Times New Roman" pitchFamily="18" charset="0"/>
                <a:cs typeface="Times New Roman" pitchFamily="18" charset="0"/>
              </a:rPr>
              <a:t>DatagramPacket</a:t>
            </a:r>
            <a:r>
              <a:rPr lang="en-US" sz="2100" i="1" dirty="0">
                <a:latin typeface="Times New Roman" pitchFamily="18" charset="0"/>
                <a:cs typeface="Times New Roman" pitchFamily="18" charset="0"/>
              </a:rPr>
              <a:t> packet = new </a:t>
            </a:r>
            <a:r>
              <a:rPr lang="en-US" sz="2100" i="1" dirty="0" err="1">
                <a:latin typeface="Times New Roman" pitchFamily="18" charset="0"/>
                <a:cs typeface="Times New Roman" pitchFamily="18" charset="0"/>
              </a:rPr>
              <a:t>DatagramPacket</a:t>
            </a:r>
            <a:r>
              <a:rPr lang="en-US" sz="2100" i="1" dirty="0">
                <a:latin typeface="Times New Roman" pitchFamily="18" charset="0"/>
                <a:cs typeface="Times New Roman" pitchFamily="18" charset="0"/>
              </a:rPr>
              <a:t>(buffer, </a:t>
            </a:r>
            <a:r>
              <a:rPr lang="en-US" sz="2100" i="1" dirty="0" err="1">
                <a:latin typeface="Times New Roman" pitchFamily="18" charset="0"/>
                <a:cs typeface="Times New Roman" pitchFamily="18" charset="0"/>
              </a:rPr>
              <a:t>buffer.length</a:t>
            </a:r>
            <a:r>
              <a:rPr lang="en-US" sz="2100" i="1"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algn="just"/>
            <a:r>
              <a:rPr lang="en-US" sz="2100" i="1" dirty="0" err="1">
                <a:latin typeface="Times New Roman" pitchFamily="18" charset="0"/>
                <a:cs typeface="Times New Roman" pitchFamily="18" charset="0"/>
              </a:rPr>
              <a:t>socket.receive</a:t>
            </a:r>
            <a:r>
              <a:rPr lang="en-US" sz="2100" i="1" dirty="0">
                <a:latin typeface="Times New Roman" pitchFamily="18" charset="0"/>
                <a:cs typeface="Times New Roman" pitchFamily="18" charset="0"/>
              </a:rPr>
              <a:t>(packet);</a:t>
            </a:r>
            <a:endParaRPr lang="ru-RU" sz="2100" dirty="0">
              <a:latin typeface="Times New Roman" pitchFamily="18" charset="0"/>
              <a:cs typeface="Times New Roman" pitchFamily="18" charset="0"/>
            </a:endParaRPr>
          </a:p>
          <a:p>
            <a:pPr algn="just"/>
            <a:r>
              <a:rPr lang="en-US" sz="2100" i="1"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algn="just"/>
            <a:r>
              <a:rPr lang="en-US" sz="2100" i="1" dirty="0">
                <a:latin typeface="Times New Roman" pitchFamily="18" charset="0"/>
                <a:cs typeface="Times New Roman" pitchFamily="18" charset="0"/>
              </a:rPr>
              <a:t>catch(Exception e){</a:t>
            </a:r>
            <a:endParaRPr lang="ru-RU" sz="2100" dirty="0">
              <a:latin typeface="Times New Roman" pitchFamily="18" charset="0"/>
              <a:cs typeface="Times New Roman" pitchFamily="18" charset="0"/>
            </a:endParaRPr>
          </a:p>
          <a:p>
            <a:pPr algn="just"/>
            <a:r>
              <a:rPr lang="en-US" sz="2100" i="1" dirty="0" err="1">
                <a:latin typeface="Times New Roman" pitchFamily="18" charset="0"/>
                <a:cs typeface="Times New Roman" pitchFamily="18" charset="0"/>
              </a:rPr>
              <a:t>System.out.println</a:t>
            </a:r>
            <a:r>
              <a:rPr lang="en-US" sz="2100" i="1" dirty="0">
                <a:latin typeface="Times New Roman" pitchFamily="18" charset="0"/>
                <a:cs typeface="Times New Roman" pitchFamily="18" charset="0"/>
              </a:rPr>
              <a:t> ("Error");</a:t>
            </a:r>
            <a:endParaRPr lang="ru-RU" sz="2100" dirty="0">
              <a:latin typeface="Times New Roman" pitchFamily="18" charset="0"/>
              <a:cs typeface="Times New Roman" pitchFamily="18" charset="0"/>
            </a:endParaRPr>
          </a:p>
          <a:p>
            <a:pPr algn="just"/>
            <a:r>
              <a:rPr lang="en-US" sz="2100" i="1"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algn="just"/>
            <a:r>
              <a:rPr lang="en-US" sz="2100" dirty="0" smtClean="0">
                <a:latin typeface="Times New Roman" pitchFamily="18" charset="0"/>
                <a:cs typeface="Times New Roman" pitchFamily="18" charset="0"/>
              </a:rPr>
              <a:t>	</a:t>
            </a:r>
            <a:r>
              <a:rPr lang="uz-Cyrl-UZ" sz="2100" dirty="0" smtClean="0">
                <a:latin typeface="Times New Roman" pitchFamily="18" charset="0"/>
                <a:cs typeface="Times New Roman" pitchFamily="18" charset="0"/>
              </a:rPr>
              <a:t>Oldingi </a:t>
            </a:r>
            <a:r>
              <a:rPr lang="uz-Cyrl-UZ" sz="2100" dirty="0">
                <a:latin typeface="Times New Roman" pitchFamily="18" charset="0"/>
                <a:cs typeface="Times New Roman" pitchFamily="18" charset="0"/>
              </a:rPr>
              <a:t>kod fragmentida </a:t>
            </a:r>
            <a:r>
              <a:rPr lang="en-US" sz="2100" dirty="0">
                <a:latin typeface="Times New Roman" pitchFamily="18" charset="0"/>
                <a:cs typeface="Times New Roman" pitchFamily="18" charset="0"/>
              </a:rPr>
              <a:t>socket </a:t>
            </a:r>
            <a:r>
              <a:rPr lang="uz-Cyrl-UZ" sz="2100" dirty="0">
                <a:latin typeface="Times New Roman" pitchFamily="18" charset="0"/>
                <a:cs typeface="Times New Roman" pitchFamily="18" charset="0"/>
              </a:rPr>
              <a:t>ob’ektidan paketni qabul qilish uchun </a:t>
            </a:r>
            <a:r>
              <a:rPr lang="en-US" sz="2100" dirty="0">
                <a:latin typeface="Times New Roman" pitchFamily="18" charset="0"/>
                <a:cs typeface="Times New Roman" pitchFamily="18" charset="0"/>
              </a:rPr>
              <a:t>receive() </a:t>
            </a:r>
            <a:r>
              <a:rPr lang="uz-Cyrl-UZ" sz="2100" dirty="0">
                <a:latin typeface="Times New Roman" pitchFamily="18" charset="0"/>
                <a:cs typeface="Times New Roman" pitchFamily="18" charset="0"/>
              </a:rPr>
              <a:t>metodini chaqiradigan DatagramPacket klassining packet ob’ekti yaratiladi.</a:t>
            </a:r>
            <a:endParaRPr lang="ru-RU" sz="2100" dirty="0">
              <a:latin typeface="Times New Roman" pitchFamily="18" charset="0"/>
              <a:cs typeface="Times New Roman" pitchFamily="18" charset="0"/>
            </a:endParaRPr>
          </a:p>
          <a:p>
            <a:pPr algn="just"/>
            <a:r>
              <a:rPr lang="en-US" sz="2100" dirty="0" smtClean="0">
                <a:latin typeface="Times New Roman" pitchFamily="18" charset="0"/>
                <a:cs typeface="Times New Roman" pitchFamily="18" charset="0"/>
              </a:rPr>
              <a:t>	</a:t>
            </a:r>
            <a:r>
              <a:rPr lang="uz-Cyrl-UZ" sz="2100" dirty="0" smtClean="0">
                <a:latin typeface="Times New Roman" pitchFamily="18" charset="0"/>
                <a:cs typeface="Times New Roman" pitchFamily="18" charset="0"/>
              </a:rPr>
              <a:t>Qabul </a:t>
            </a:r>
            <a:r>
              <a:rPr lang="uz-Cyrl-UZ" sz="2100" dirty="0">
                <a:latin typeface="Times New Roman" pitchFamily="18" charset="0"/>
                <a:cs typeface="Times New Roman" pitchFamily="18" charset="0"/>
              </a:rPr>
              <a:t>qiluvchiga yuborilgan </a:t>
            </a:r>
            <a:r>
              <a:rPr lang="en-US" sz="2100" dirty="0" err="1">
                <a:latin typeface="Times New Roman" pitchFamily="18" charset="0"/>
                <a:cs typeface="Times New Roman" pitchFamily="18" charset="0"/>
              </a:rPr>
              <a:t>DatagramPacket</a:t>
            </a:r>
            <a:r>
              <a:rPr lang="en-US" sz="2100" dirty="0">
                <a:latin typeface="Times New Roman" pitchFamily="18" charset="0"/>
                <a:cs typeface="Times New Roman" pitchFamily="18" charset="0"/>
              </a:rPr>
              <a:t> </a:t>
            </a:r>
            <a:r>
              <a:rPr lang="uz-Cyrl-UZ" sz="2100" dirty="0">
                <a:latin typeface="Times New Roman" pitchFamily="18" charset="0"/>
                <a:cs typeface="Times New Roman" pitchFamily="18" charset="0"/>
              </a:rPr>
              <a:t>ob’ekti qabul qilingan ma’lumotlar ob’ektidan farq qiladi. Ushbu DatagramPacket ob’ekti xostning paket yuborilgan IP-adresi va port nomeriga ega bo‘ladi. Quyidagi kod fragmentidan DatagramPacket ob’ektini berilgan manzilga yuborish uchun foydalanish mumkin</a:t>
            </a:r>
            <a:r>
              <a:rPr lang="uz-Cyrl-UZ" sz="2100" dirty="0" smtClean="0">
                <a:latin typeface="Times New Roman" pitchFamily="18" charset="0"/>
                <a:cs typeface="Times New Roman" pitchFamily="18" charset="0"/>
              </a:rPr>
              <a:t>:</a:t>
            </a:r>
            <a:endParaRPr lang="ru-RU" sz="2100" dirty="0">
              <a:latin typeface="Times New Roman" pitchFamily="18" charset="0"/>
              <a:cs typeface="Times New Roman" pitchFamily="18" charset="0"/>
            </a:endParaRPr>
          </a:p>
        </p:txBody>
      </p:sp>
    </p:spTree>
    <p:extLst>
      <p:ext uri="{BB962C8B-B14F-4D97-AF65-F5344CB8AC3E}">
        <p14:creationId xmlns:p14="http://schemas.microsoft.com/office/powerpoint/2010/main" val="1433928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44000" cy="6817251"/>
          </a:xfrm>
          <a:prstGeom prst="rect">
            <a:avLst/>
          </a:prstGeom>
        </p:spPr>
        <p:txBody>
          <a:bodyPr wrap="square">
            <a:spAutoFit/>
          </a:bodyPr>
          <a:lstStyle/>
          <a:p>
            <a:r>
              <a:rPr lang="en-US" sz="1900" i="1" dirty="0">
                <a:latin typeface="Times New Roman" pitchFamily="18" charset="0"/>
                <a:cs typeface="Times New Roman" pitchFamily="18" charset="0"/>
              </a:rPr>
              <a:t>try</a:t>
            </a:r>
            <a:endParaRPr lang="ru-RU" sz="1900" dirty="0">
              <a:latin typeface="Times New Roman" pitchFamily="18" charset="0"/>
              <a:cs typeface="Times New Roman" pitchFamily="18" charset="0"/>
            </a:endParaRPr>
          </a:p>
          <a:p>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r>
              <a:rPr lang="en-US" sz="1900" i="1" dirty="0" err="1">
                <a:latin typeface="Times New Roman" pitchFamily="18" charset="0"/>
                <a:cs typeface="Times New Roman" pitchFamily="18" charset="0"/>
              </a:rPr>
              <a:t>DatagramPacket</a:t>
            </a:r>
            <a:r>
              <a:rPr lang="en-US" sz="1900" i="1" dirty="0">
                <a:latin typeface="Times New Roman" pitchFamily="18" charset="0"/>
                <a:cs typeface="Times New Roman" pitchFamily="18" charset="0"/>
              </a:rPr>
              <a:t> packet = new </a:t>
            </a:r>
            <a:r>
              <a:rPr lang="en-US" sz="1900" i="1" dirty="0" err="1">
                <a:latin typeface="Times New Roman" pitchFamily="18" charset="0"/>
                <a:cs typeface="Times New Roman" pitchFamily="18" charset="0"/>
              </a:rPr>
              <a:t>DatagramPacket</a:t>
            </a:r>
            <a:r>
              <a:rPr lang="en-US" sz="1900" i="1" dirty="0">
                <a:latin typeface="Times New Roman" pitchFamily="18" charset="0"/>
                <a:cs typeface="Times New Roman" pitchFamily="18" charset="0"/>
              </a:rPr>
              <a:t>(buffer, </a:t>
            </a:r>
            <a:r>
              <a:rPr lang="en-US" sz="1900" i="1" dirty="0" err="1">
                <a:latin typeface="Times New Roman" pitchFamily="18" charset="0"/>
                <a:cs typeface="Times New Roman" pitchFamily="18" charset="0"/>
              </a:rPr>
              <a:t>buffer.length</a:t>
            </a:r>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r>
              <a:rPr lang="en-US" sz="1900" i="1" dirty="0" err="1">
                <a:latin typeface="Times New Roman" pitchFamily="18" charset="0"/>
                <a:cs typeface="Times New Roman" pitchFamily="18" charset="0"/>
              </a:rPr>
              <a:t>socket.receive</a:t>
            </a:r>
            <a:r>
              <a:rPr lang="en-US" sz="1900" i="1" dirty="0">
                <a:latin typeface="Times New Roman" pitchFamily="18" charset="0"/>
                <a:cs typeface="Times New Roman" pitchFamily="18" charset="0"/>
              </a:rPr>
              <a:t>(packet);</a:t>
            </a:r>
            <a:endParaRPr lang="ru-RU" sz="1900" dirty="0">
              <a:latin typeface="Times New Roman" pitchFamily="18" charset="0"/>
              <a:cs typeface="Times New Roman" pitchFamily="18" charset="0"/>
            </a:endParaRPr>
          </a:p>
          <a:p>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r>
              <a:rPr lang="en-US" sz="1900" i="1" dirty="0">
                <a:latin typeface="Times New Roman" pitchFamily="18" charset="0"/>
                <a:cs typeface="Times New Roman" pitchFamily="18" charset="0"/>
              </a:rPr>
              <a:t>catch(Exception e){</a:t>
            </a:r>
            <a:endParaRPr lang="ru-RU" sz="1900" dirty="0">
              <a:latin typeface="Times New Roman" pitchFamily="18" charset="0"/>
              <a:cs typeface="Times New Roman" pitchFamily="18" charset="0"/>
            </a:endParaRPr>
          </a:p>
          <a:p>
            <a:r>
              <a:rPr lang="en-US" sz="1900" i="1" dirty="0" err="1">
                <a:latin typeface="Times New Roman" pitchFamily="18" charset="0"/>
                <a:cs typeface="Times New Roman" pitchFamily="18" charset="0"/>
              </a:rPr>
              <a:t>System.out.println</a:t>
            </a:r>
            <a:r>
              <a:rPr lang="en-US" sz="1900" i="1" dirty="0">
                <a:latin typeface="Times New Roman" pitchFamily="18" charset="0"/>
                <a:cs typeface="Times New Roman" pitchFamily="18" charset="0"/>
              </a:rPr>
              <a:t> ("Error");</a:t>
            </a:r>
            <a:endParaRPr lang="ru-RU" sz="1900" dirty="0">
              <a:latin typeface="Times New Roman" pitchFamily="18" charset="0"/>
              <a:cs typeface="Times New Roman" pitchFamily="18" charset="0"/>
            </a:endParaRPr>
          </a:p>
          <a:p>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r>
              <a:rPr lang="uz-Cyrl-UZ" sz="1900" dirty="0">
                <a:latin typeface="Times New Roman" pitchFamily="18" charset="0"/>
                <a:cs typeface="Times New Roman" pitchFamily="18" charset="0"/>
              </a:rPr>
              <a:t>Oldingi kod fragmentida </a:t>
            </a:r>
            <a:r>
              <a:rPr lang="en-US" sz="1900" dirty="0">
                <a:latin typeface="Times New Roman" pitchFamily="18" charset="0"/>
                <a:cs typeface="Times New Roman" pitchFamily="18" charset="0"/>
              </a:rPr>
              <a:t>socket </a:t>
            </a:r>
            <a:r>
              <a:rPr lang="uz-Cyrl-UZ" sz="1900" dirty="0">
                <a:latin typeface="Times New Roman" pitchFamily="18" charset="0"/>
                <a:cs typeface="Times New Roman" pitchFamily="18" charset="0"/>
              </a:rPr>
              <a:t>ob’ektidan paketni qabul qilish uchun </a:t>
            </a:r>
            <a:r>
              <a:rPr lang="en-US" sz="1900" dirty="0">
                <a:latin typeface="Times New Roman" pitchFamily="18" charset="0"/>
                <a:cs typeface="Times New Roman" pitchFamily="18" charset="0"/>
              </a:rPr>
              <a:t>receive() </a:t>
            </a:r>
            <a:r>
              <a:rPr lang="uz-Cyrl-UZ" sz="1900" dirty="0">
                <a:latin typeface="Times New Roman" pitchFamily="18" charset="0"/>
                <a:cs typeface="Times New Roman" pitchFamily="18" charset="0"/>
              </a:rPr>
              <a:t>metodini chaqiradigan DatagramPacket klassining packet ob’ekti yaratiladi.</a:t>
            </a:r>
            <a:endParaRPr lang="ru-RU" sz="1900" dirty="0">
              <a:latin typeface="Times New Roman" pitchFamily="18" charset="0"/>
              <a:cs typeface="Times New Roman" pitchFamily="18" charset="0"/>
            </a:endParaRPr>
          </a:p>
          <a:p>
            <a:r>
              <a:rPr lang="uz-Cyrl-UZ" sz="1900" dirty="0">
                <a:latin typeface="Times New Roman" pitchFamily="18" charset="0"/>
                <a:cs typeface="Times New Roman" pitchFamily="18" charset="0"/>
              </a:rPr>
              <a:t>Qabul qiluvchiga yuborilgan </a:t>
            </a:r>
            <a:r>
              <a:rPr lang="en-US" sz="1900" dirty="0" err="1">
                <a:latin typeface="Times New Roman" pitchFamily="18" charset="0"/>
                <a:cs typeface="Times New Roman" pitchFamily="18" charset="0"/>
              </a:rPr>
              <a:t>DatagramPacket</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ob’ekti qabul qilingan ma’lumotlar ob’ektidan farq qiladi. Ushbu DatagramPacket ob’ekti xostning paket yuborilgan IP-adresi va port nomeriga ega bo‘ladi. Quyidagi kod fragmentidan DatagramPacket ob’ektini berilgan manzilga yuborish uchun foydalanish mumkin:</a:t>
            </a:r>
            <a:endParaRPr lang="ru-RU" sz="1900" dirty="0">
              <a:latin typeface="Times New Roman" pitchFamily="18" charset="0"/>
              <a:cs typeface="Times New Roman" pitchFamily="18" charset="0"/>
            </a:endParaRPr>
          </a:p>
          <a:p>
            <a:r>
              <a:rPr lang="en-US" sz="1900" i="1" dirty="0">
                <a:latin typeface="Times New Roman" pitchFamily="18" charset="0"/>
                <a:cs typeface="Times New Roman" pitchFamily="18" charset="0"/>
              </a:rPr>
              <a:t>try</a:t>
            </a:r>
            <a:endParaRPr lang="ru-RU" sz="1900" dirty="0">
              <a:latin typeface="Times New Roman" pitchFamily="18" charset="0"/>
              <a:cs typeface="Times New Roman" pitchFamily="18" charset="0"/>
            </a:endParaRPr>
          </a:p>
          <a:p>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r>
              <a:rPr lang="en-US" sz="1900" i="1" dirty="0" err="1">
                <a:latin typeface="Times New Roman" pitchFamily="18" charset="0"/>
                <a:cs typeface="Times New Roman" pitchFamily="18" charset="0"/>
              </a:rPr>
              <a:t>DatagramPacket</a:t>
            </a:r>
            <a:r>
              <a:rPr lang="en-US" sz="1900" i="1" dirty="0">
                <a:latin typeface="Times New Roman" pitchFamily="18" charset="0"/>
                <a:cs typeface="Times New Roman" pitchFamily="18" charset="0"/>
              </a:rPr>
              <a:t> packet = new </a:t>
            </a:r>
            <a:r>
              <a:rPr lang="en-US" sz="1900" i="1" dirty="0" err="1">
                <a:latin typeface="Times New Roman" pitchFamily="18" charset="0"/>
                <a:cs typeface="Times New Roman" pitchFamily="18" charset="0"/>
              </a:rPr>
              <a:t>DatagramPacket</a:t>
            </a:r>
            <a:r>
              <a:rPr lang="en-US" sz="1900" i="1" dirty="0">
                <a:latin typeface="Times New Roman" pitchFamily="18" charset="0"/>
                <a:cs typeface="Times New Roman" pitchFamily="18" charset="0"/>
              </a:rPr>
              <a:t>(buffer, length, address, port);</a:t>
            </a:r>
            <a:endParaRPr lang="ru-RU" sz="1900" dirty="0">
              <a:latin typeface="Times New Roman" pitchFamily="18" charset="0"/>
              <a:cs typeface="Times New Roman" pitchFamily="18" charset="0"/>
            </a:endParaRPr>
          </a:p>
          <a:p>
            <a:r>
              <a:rPr lang="en-US" sz="1900" i="1" dirty="0" err="1">
                <a:latin typeface="Times New Roman" pitchFamily="18" charset="0"/>
                <a:cs typeface="Times New Roman" pitchFamily="18" charset="0"/>
              </a:rPr>
              <a:t>socket.send</a:t>
            </a:r>
            <a:r>
              <a:rPr lang="en-US" sz="1900" i="1" dirty="0">
                <a:latin typeface="Times New Roman" pitchFamily="18" charset="0"/>
                <a:cs typeface="Times New Roman" pitchFamily="18" charset="0"/>
              </a:rPr>
              <a:t>(packet);</a:t>
            </a:r>
            <a:endParaRPr lang="ru-RU" sz="1900" dirty="0">
              <a:latin typeface="Times New Roman" pitchFamily="18" charset="0"/>
              <a:cs typeface="Times New Roman" pitchFamily="18" charset="0"/>
            </a:endParaRPr>
          </a:p>
          <a:p>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r>
              <a:rPr lang="en-US" sz="1900" i="1" dirty="0">
                <a:latin typeface="Times New Roman" pitchFamily="18" charset="0"/>
                <a:cs typeface="Times New Roman" pitchFamily="18" charset="0"/>
              </a:rPr>
              <a:t>catch(Exception e)</a:t>
            </a:r>
            <a:endParaRPr lang="ru-RU" sz="1900" dirty="0">
              <a:latin typeface="Times New Roman" pitchFamily="18" charset="0"/>
              <a:cs typeface="Times New Roman" pitchFamily="18" charset="0"/>
            </a:endParaRPr>
          </a:p>
          <a:p>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r>
              <a:rPr lang="en-US" sz="1900" i="1" dirty="0" err="1">
                <a:latin typeface="Times New Roman" pitchFamily="18" charset="0"/>
                <a:cs typeface="Times New Roman" pitchFamily="18" charset="0"/>
              </a:rPr>
              <a:t>System.out.println</a:t>
            </a:r>
            <a:r>
              <a:rPr lang="en-US" sz="1900" i="1" dirty="0">
                <a:latin typeface="Times New Roman" pitchFamily="18" charset="0"/>
                <a:cs typeface="Times New Roman" pitchFamily="18" charset="0"/>
              </a:rPr>
              <a:t> ("Error");</a:t>
            </a:r>
            <a:endParaRPr lang="ru-RU" sz="1900" dirty="0">
              <a:latin typeface="Times New Roman" pitchFamily="18" charset="0"/>
              <a:cs typeface="Times New Roman" pitchFamily="18" charset="0"/>
            </a:endParaRPr>
          </a:p>
          <a:p>
            <a:r>
              <a:rPr lang="en-US" sz="1900" i="1" dirty="0" smtClean="0">
                <a:latin typeface="Times New Roman" pitchFamily="18" charset="0"/>
                <a:cs typeface="Times New Roman" pitchFamily="18" charset="0"/>
              </a:rPr>
              <a:t>}</a:t>
            </a:r>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2543138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44000" cy="6801862"/>
          </a:xfrm>
          <a:prstGeom prst="rect">
            <a:avLst/>
          </a:prstGeom>
        </p:spPr>
        <p:txBody>
          <a:bodyPr wrap="square">
            <a:spAutoFit/>
          </a:bodyPr>
          <a:lstStyle/>
          <a:p>
            <a:pPr algn="just"/>
            <a:r>
              <a:rPr lang="uz-Cyrl-UZ" sz="2000" dirty="0">
                <a:latin typeface="Times New Roman" pitchFamily="18" charset="0"/>
                <a:cs typeface="Times New Roman" pitchFamily="18" charset="0"/>
              </a:rPr>
              <a:t>Oldingi kod fragmentida 4 ta parametrni qabul qiluvchi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DatagramPacket</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klassining yangi </a:t>
            </a:r>
            <a:r>
              <a:rPr lang="en-US" sz="2000" dirty="0">
                <a:latin typeface="Times New Roman" pitchFamily="18" charset="0"/>
                <a:cs typeface="Times New Roman" pitchFamily="18" charset="0"/>
              </a:rPr>
              <a:t>packet </a:t>
            </a:r>
            <a:r>
              <a:rPr lang="uz-Cyrl-UZ" sz="2000" dirty="0">
                <a:latin typeface="Times New Roman" pitchFamily="18" charset="0"/>
                <a:cs typeface="Times New Roman" pitchFamily="18" charset="0"/>
              </a:rPr>
              <a:t>ob’ekti yaratiladi.</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buffer: ma’lumotlarga ega bo‘lgan buferni beradi.</a:t>
            </a:r>
            <a:endParaRPr lang="ru-RU" sz="2000" dirty="0">
              <a:latin typeface="Times New Roman" pitchFamily="18" charset="0"/>
              <a:cs typeface="Times New Roman" pitchFamily="18" charset="0"/>
            </a:endParaRPr>
          </a:p>
          <a:p>
            <a:pPr lvl="0" algn="just"/>
            <a:r>
              <a:rPr lang="en-US" sz="2000" dirty="0">
                <a:latin typeface="Times New Roman" pitchFamily="18" charset="0"/>
                <a:cs typeface="Times New Roman" pitchFamily="18" charset="0"/>
              </a:rPr>
              <a:t>length: </a:t>
            </a:r>
            <a:r>
              <a:rPr lang="uz-Cyrl-UZ" sz="2000" dirty="0">
                <a:latin typeface="Times New Roman" pitchFamily="18" charset="0"/>
                <a:cs typeface="Times New Roman" pitchFamily="18" charset="0"/>
              </a:rPr>
              <a:t>bufer uzunligin baytlarda beradi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lvl="0" algn="just"/>
            <a:r>
              <a:rPr lang="en-US" sz="2000" dirty="0">
                <a:latin typeface="Times New Roman" pitchFamily="18" charset="0"/>
                <a:cs typeface="Times New Roman" pitchFamily="18" charset="0"/>
              </a:rPr>
              <a:t>address: </a:t>
            </a:r>
            <a:r>
              <a:rPr lang="uz-Cyrl-UZ" sz="2000" dirty="0">
                <a:latin typeface="Times New Roman" pitchFamily="18" charset="0"/>
                <a:cs typeface="Times New Roman" pitchFamily="18" charset="0"/>
              </a:rPr>
              <a:t>datagramma yuborilgan adresni beradi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lvl="0" algn="just"/>
            <a:r>
              <a:rPr lang="en-US" sz="2000" dirty="0">
                <a:latin typeface="Times New Roman" pitchFamily="18" charset="0"/>
                <a:cs typeface="Times New Roman" pitchFamily="18" charset="0"/>
              </a:rPr>
              <a:t>port: </a:t>
            </a:r>
            <a:r>
              <a:rPr lang="uz-Cyrl-UZ" sz="2000" dirty="0">
                <a:latin typeface="Times New Roman" pitchFamily="18" charset="0"/>
                <a:cs typeface="Times New Roman" pitchFamily="18" charset="0"/>
              </a:rPr>
              <a:t>masofadagi kompyuter datagrammani qabul qilishda ishlatadigan port nomerini beradi.</a:t>
            </a:r>
            <a:endParaRPr lang="ru-RU" sz="2000" dirty="0">
              <a:latin typeface="Times New Roman" pitchFamily="18" charset="0"/>
              <a:cs typeface="Times New Roman" pitchFamily="18" charset="0"/>
            </a:endParaRPr>
          </a:p>
          <a:p>
            <a:pPr algn="just"/>
            <a:r>
              <a:rPr lang="en-US" sz="2000" dirty="0" err="1">
                <a:latin typeface="Times New Roman" pitchFamily="18" charset="0"/>
                <a:cs typeface="Times New Roman" pitchFamily="18" charset="0"/>
              </a:rPr>
              <a:t>DatagramSocket</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klassining </a:t>
            </a:r>
            <a:r>
              <a:rPr lang="en-US" sz="2000" dirty="0">
                <a:latin typeface="Times New Roman" pitchFamily="18" charset="0"/>
                <a:cs typeface="Times New Roman" pitchFamily="18" charset="0"/>
              </a:rPr>
              <a:t>send() </a:t>
            </a:r>
            <a:r>
              <a:rPr lang="uz-Cyrl-UZ" sz="2000" dirty="0">
                <a:latin typeface="Times New Roman" pitchFamily="18" charset="0"/>
                <a:cs typeface="Times New Roman" pitchFamily="18" charset="0"/>
              </a:rPr>
              <a:t>metodi adresga </a:t>
            </a:r>
            <a:r>
              <a:rPr lang="en-US" sz="2000" dirty="0" err="1">
                <a:latin typeface="Times New Roman" pitchFamily="18" charset="0"/>
                <a:cs typeface="Times New Roman" pitchFamily="18" charset="0"/>
              </a:rPr>
              <a:t>DatagramPacket</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ob’ektini yuboradi.</a:t>
            </a:r>
            <a:endParaRPr lang="ru-RU"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UDP </a:t>
            </a:r>
            <a:r>
              <a:rPr lang="uz-Cyrl-UZ" sz="2000" dirty="0">
                <a:latin typeface="Times New Roman" pitchFamily="18" charset="0"/>
                <a:cs typeface="Times New Roman" pitchFamily="18" charset="0"/>
              </a:rPr>
              <a:t>serverini ishga tushirish uchun </a:t>
            </a:r>
            <a:r>
              <a:rPr lang="en-US" sz="2000" dirty="0">
                <a:latin typeface="Times New Roman" pitchFamily="18" charset="0"/>
                <a:cs typeface="Times New Roman" pitchFamily="18" charset="0"/>
              </a:rPr>
              <a:t>main() </a:t>
            </a:r>
            <a:r>
              <a:rPr lang="en-US" sz="2000" dirty="0" err="1">
                <a:latin typeface="Times New Roman" pitchFamily="18" charset="0"/>
                <a:cs typeface="Times New Roman" pitchFamily="18" charset="0"/>
              </a:rPr>
              <a:t>metodidagi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konstruktor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klassi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chaqiriladi</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Quyidagi kod fragmentini </a:t>
            </a:r>
            <a:r>
              <a:rPr lang="en-US" sz="2000" dirty="0">
                <a:latin typeface="Times New Roman" pitchFamily="18" charset="0"/>
                <a:cs typeface="Times New Roman" pitchFamily="18" charset="0"/>
              </a:rPr>
              <a:t>UDP </a:t>
            </a:r>
            <a:r>
              <a:rPr lang="uz-Cyrl-UZ" sz="2000" dirty="0">
                <a:latin typeface="Times New Roman" pitchFamily="18" charset="0"/>
                <a:cs typeface="Times New Roman" pitchFamily="18" charset="0"/>
              </a:rPr>
              <a:t>serverini ishga tushirish uchun ishlatish mumkin:</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public static void main(String </a:t>
            </a:r>
            <a:r>
              <a:rPr lang="en-US" sz="2000" i="1" dirty="0" err="1">
                <a:latin typeface="Times New Roman" pitchFamily="18" charset="0"/>
                <a:cs typeface="Times New Roman" pitchFamily="18" charset="0"/>
              </a:rPr>
              <a:t>args</a:t>
            </a:r>
            <a:r>
              <a:rPr lang="en-US" sz="2000" i="1" dirty="0">
                <a:latin typeface="Times New Roman" pitchFamily="18" charset="0"/>
                <a:cs typeface="Times New Roman" pitchFamily="18" charset="0"/>
              </a:rPr>
              <a:t>[]) throws Exception</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serverni ishga tushirish</a:t>
            </a:r>
            <a:r>
              <a:rPr lang="en-US" sz="2000" i="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new </a:t>
            </a:r>
            <a:r>
              <a:rPr lang="en-US" sz="2000" i="1" dirty="0" err="1">
                <a:latin typeface="Times New Roman" pitchFamily="18" charset="0"/>
                <a:cs typeface="Times New Roman" pitchFamily="18" charset="0"/>
              </a:rPr>
              <a:t>UDPServer</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Oldingi kod fragmentida UDP server ilovasini ish tushiruvchi UDPServer klass ob’ekti yaratiladi.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Quyidagi kod klientdan qabul qilingan xabarlarni aks ettiradi va klientga javob xabarlarni uzatuvchi UDPServer ni yaratish imkonini beradi:</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import java.io.*;</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import java.net.*;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public class </a:t>
            </a:r>
            <a:r>
              <a:rPr lang="en-US" sz="2000" i="1" dirty="0" err="1">
                <a:latin typeface="Times New Roman" pitchFamily="18" charset="0"/>
                <a:cs typeface="Times New Roman" pitchFamily="18" charset="0"/>
              </a:rPr>
              <a:t>UDPServer</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639085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6509" y="-20176"/>
            <a:ext cx="9144000" cy="6555641"/>
          </a:xfrm>
          <a:prstGeom prst="rect">
            <a:avLst/>
          </a:prstGeom>
        </p:spPr>
        <p:txBody>
          <a:bodyPr wrap="square">
            <a:spAutoFit/>
          </a:bodyPr>
          <a:lstStyle/>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r>
              <a:rPr lang="uz-Cyrl-UZ" sz="2000" i="1" dirty="0">
                <a:latin typeface="Times New Roman" pitchFamily="18" charset="0"/>
                <a:cs typeface="Times New Roman" pitchFamily="18" charset="0"/>
              </a:rPr>
              <a:t>o‘zgaruvchilar e’lon qilinadi</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DatagramSocket</a:t>
            </a:r>
            <a:r>
              <a:rPr lang="en-US" sz="2000" i="1" dirty="0">
                <a:latin typeface="Times New Roman" pitchFamily="18" charset="0"/>
                <a:cs typeface="Times New Roman" pitchFamily="18" charset="0"/>
              </a:rPr>
              <a:t> socket = null;</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BufferedReader</a:t>
            </a:r>
            <a:r>
              <a:rPr lang="en-US" sz="2000" i="1" dirty="0">
                <a:latin typeface="Times New Roman" pitchFamily="18" charset="0"/>
                <a:cs typeface="Times New Roman" pitchFamily="18" charset="0"/>
              </a:rPr>
              <a:t> in = null;</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String </a:t>
            </a:r>
            <a:r>
              <a:rPr lang="en-US" sz="2000" i="1" dirty="0" err="1">
                <a:latin typeface="Times New Roman" pitchFamily="18" charset="0"/>
                <a:cs typeface="Times New Roman" pitchFamily="18" charset="0"/>
              </a:rPr>
              <a:t>str</a:t>
            </a:r>
            <a:r>
              <a:rPr lang="en-US" sz="2000" i="1" dirty="0">
                <a:latin typeface="Times New Roman" pitchFamily="18" charset="0"/>
                <a:cs typeface="Times New Roman" pitchFamily="18" charset="0"/>
              </a:rPr>
              <a:t> = null;</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byte[] buffer ;</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DatagramPacket</a:t>
            </a:r>
            <a:r>
              <a:rPr lang="en-US" sz="2000" i="1" dirty="0">
                <a:latin typeface="Times New Roman" pitchFamily="18" charset="0"/>
                <a:cs typeface="Times New Roman" pitchFamily="18" charset="0"/>
              </a:rPr>
              <a:t> packet;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InetAddress</a:t>
            </a:r>
            <a:r>
              <a:rPr lang="en-US" sz="2000" i="1" dirty="0">
                <a:latin typeface="Times New Roman" pitchFamily="18" charset="0"/>
                <a:cs typeface="Times New Roman" pitchFamily="18" charset="0"/>
              </a:rPr>
              <a:t> address;</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int</a:t>
            </a:r>
            <a:r>
              <a:rPr lang="en-US" sz="2000" i="1" dirty="0">
                <a:latin typeface="Times New Roman" pitchFamily="18" charset="0"/>
                <a:cs typeface="Times New Roman" pitchFamily="18" charset="0"/>
              </a:rPr>
              <a:t> port;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UDPServer</a:t>
            </a:r>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klass konstruktori</a:t>
            </a:r>
            <a:r>
              <a:rPr lang="en-US" sz="2000" i="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public </a:t>
            </a:r>
            <a:r>
              <a:rPr lang="en-US" sz="2000" i="1" dirty="0" err="1">
                <a:latin typeface="Times New Roman" pitchFamily="18" charset="0"/>
                <a:cs typeface="Times New Roman" pitchFamily="18" charset="0"/>
              </a:rPr>
              <a:t>UDPServer</a:t>
            </a:r>
            <a:r>
              <a:rPr lang="en-US" sz="2000" i="1" dirty="0">
                <a:latin typeface="Times New Roman" pitchFamily="18" charset="0"/>
                <a:cs typeface="Times New Roman" pitchFamily="18" charset="0"/>
              </a:rPr>
              <a:t>() throws </a:t>
            </a:r>
            <a:r>
              <a:rPr lang="en-US" sz="2000" i="1" dirty="0" err="1">
                <a:latin typeface="Times New Roman" pitchFamily="18" charset="0"/>
                <a:cs typeface="Times New Roman" pitchFamily="18" charset="0"/>
              </a:rPr>
              <a:t>IOException</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klient so‘rovlarini 1501 raqamli portga qabul qiluvchi </a:t>
            </a:r>
            <a:r>
              <a:rPr lang="en-US" sz="2000" i="1" dirty="0" err="1">
                <a:latin typeface="Times New Roman" pitchFamily="18" charset="0"/>
                <a:cs typeface="Times New Roman" pitchFamily="18" charset="0"/>
              </a:rPr>
              <a:t>DatagramSocket</a:t>
            </a:r>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ob’ekti yaratiladi</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socket = new </a:t>
            </a:r>
            <a:r>
              <a:rPr lang="en-US" sz="2000" i="1" dirty="0" err="1">
                <a:latin typeface="Times New Roman" pitchFamily="18" charset="0"/>
                <a:cs typeface="Times New Roman" pitchFamily="18" charset="0"/>
              </a:rPr>
              <a:t>DatagramSocket</a:t>
            </a:r>
            <a:r>
              <a:rPr lang="en-US" sz="2000" i="1" dirty="0">
                <a:latin typeface="Times New Roman" pitchFamily="18" charset="0"/>
                <a:cs typeface="Times New Roman" pitchFamily="18" charset="0"/>
              </a:rPr>
              <a:t>(1501);</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call() </a:t>
            </a:r>
            <a:r>
              <a:rPr lang="uz-Cyrl-UZ" sz="2000" i="1" dirty="0">
                <a:latin typeface="Times New Roman" pitchFamily="18" charset="0"/>
                <a:cs typeface="Times New Roman" pitchFamily="18" charset="0"/>
              </a:rPr>
              <a:t>metodi yaratiladi</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call();</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public void call()</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smtClean="0">
                <a:latin typeface="Times New Roman" pitchFamily="18" charset="0"/>
                <a:cs typeface="Times New Roman" pitchFamily="18" charset="0"/>
              </a:rPr>
              <a:t>try</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057720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7689" y="0"/>
            <a:ext cx="9144000" cy="7109639"/>
          </a:xfrm>
          <a:prstGeom prst="rect">
            <a:avLst/>
          </a:prstGeom>
        </p:spPr>
        <p:txBody>
          <a:bodyPr wrap="square">
            <a:spAutoFit/>
          </a:bodyPr>
          <a:lstStyle/>
          <a:p>
            <a:pPr algn="just"/>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i="1" dirty="0">
                <a:latin typeface="Times New Roman" pitchFamily="18" charset="0"/>
                <a:cs typeface="Times New Roman" pitchFamily="18" charset="0"/>
              </a:rPr>
              <a:t>while (true)</a:t>
            </a:r>
            <a:endParaRPr lang="ru-RU" sz="1900" dirty="0">
              <a:latin typeface="Times New Roman" pitchFamily="18" charset="0"/>
              <a:cs typeface="Times New Roman" pitchFamily="18" charset="0"/>
            </a:endParaRPr>
          </a:p>
          <a:p>
            <a:pPr algn="just"/>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i="1" dirty="0">
                <a:latin typeface="Times New Roman" pitchFamily="18" charset="0"/>
                <a:cs typeface="Times New Roman" pitchFamily="18" charset="0"/>
              </a:rPr>
              <a:t>buffer= new byte[256];</a:t>
            </a:r>
            <a:endParaRPr lang="ru-RU" sz="1900" dirty="0">
              <a:latin typeface="Times New Roman" pitchFamily="18" charset="0"/>
              <a:cs typeface="Times New Roman" pitchFamily="18" charset="0"/>
            </a:endParaRPr>
          </a:p>
          <a:p>
            <a:pPr algn="just"/>
            <a:r>
              <a:rPr lang="en-US" sz="1900" i="1" dirty="0">
                <a:latin typeface="Times New Roman" pitchFamily="18" charset="0"/>
                <a:cs typeface="Times New Roman" pitchFamily="18" charset="0"/>
              </a:rPr>
              <a:t>/* </a:t>
            </a:r>
            <a:r>
              <a:rPr lang="en-US" sz="1900" i="1" dirty="0" err="1">
                <a:latin typeface="Times New Roman" pitchFamily="18" charset="0"/>
                <a:cs typeface="Times New Roman" pitchFamily="18" charset="0"/>
              </a:rPr>
              <a:t>DatagramPacket</a:t>
            </a:r>
            <a:r>
              <a:rPr lang="en-US" sz="1900" i="1" dirty="0">
                <a:latin typeface="Times New Roman" pitchFamily="18" charset="0"/>
                <a:cs typeface="Times New Roman" pitchFamily="18" charset="0"/>
              </a:rPr>
              <a:t>  </a:t>
            </a:r>
            <a:r>
              <a:rPr lang="uz-Cyrl-UZ" sz="1900" i="1" dirty="0">
                <a:latin typeface="Times New Roman" pitchFamily="18" charset="0"/>
                <a:cs typeface="Times New Roman" pitchFamily="18" charset="0"/>
              </a:rPr>
              <a:t>ob’ekti initsializatsiya qilinadi</a:t>
            </a:r>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i="1" dirty="0">
                <a:latin typeface="Times New Roman" pitchFamily="18" charset="0"/>
                <a:cs typeface="Times New Roman" pitchFamily="18" charset="0"/>
              </a:rPr>
              <a:t>packet = new </a:t>
            </a:r>
            <a:r>
              <a:rPr lang="en-US" sz="1900" i="1" dirty="0" err="1">
                <a:latin typeface="Times New Roman" pitchFamily="18" charset="0"/>
                <a:cs typeface="Times New Roman" pitchFamily="18" charset="0"/>
              </a:rPr>
              <a:t>DatagramPacket</a:t>
            </a:r>
            <a:r>
              <a:rPr lang="en-US" sz="1900" i="1" dirty="0">
                <a:latin typeface="Times New Roman" pitchFamily="18" charset="0"/>
                <a:cs typeface="Times New Roman" pitchFamily="18" charset="0"/>
              </a:rPr>
              <a:t>( buffer, </a:t>
            </a:r>
            <a:r>
              <a:rPr lang="en-US" sz="1900" i="1" dirty="0" err="1">
                <a:latin typeface="Times New Roman" pitchFamily="18" charset="0"/>
                <a:cs typeface="Times New Roman" pitchFamily="18" charset="0"/>
              </a:rPr>
              <a:t>buffer.length</a:t>
            </a:r>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i="1" dirty="0">
                <a:latin typeface="Times New Roman" pitchFamily="18" charset="0"/>
                <a:cs typeface="Times New Roman" pitchFamily="18" charset="0"/>
              </a:rPr>
              <a:t>/* </a:t>
            </a:r>
            <a:r>
              <a:rPr lang="en-US" sz="1900" i="1" dirty="0" err="1">
                <a:latin typeface="Times New Roman" pitchFamily="18" charset="0"/>
                <a:cs typeface="Times New Roman" pitchFamily="18" charset="0"/>
              </a:rPr>
              <a:t>DatagramSocket</a:t>
            </a:r>
            <a:r>
              <a:rPr lang="en-US" sz="1900" i="1" dirty="0">
                <a:latin typeface="Times New Roman" pitchFamily="18" charset="0"/>
                <a:cs typeface="Times New Roman" pitchFamily="18" charset="0"/>
              </a:rPr>
              <a:t> </a:t>
            </a:r>
            <a:r>
              <a:rPr lang="uz-Cyrl-UZ" sz="1900" i="1" dirty="0">
                <a:latin typeface="Times New Roman" pitchFamily="18" charset="0"/>
                <a:cs typeface="Times New Roman" pitchFamily="18" charset="0"/>
              </a:rPr>
              <a:t>klassining </a:t>
            </a:r>
            <a:r>
              <a:rPr lang="en-US" sz="1900" i="1" dirty="0">
                <a:latin typeface="Times New Roman" pitchFamily="18" charset="0"/>
                <a:cs typeface="Times New Roman" pitchFamily="18" charset="0"/>
              </a:rPr>
              <a:t>receive() </a:t>
            </a:r>
            <a:r>
              <a:rPr lang="uz-Cyrl-UZ" sz="1900" i="1" dirty="0">
                <a:latin typeface="Times New Roman" pitchFamily="18" charset="0"/>
                <a:cs typeface="Times New Roman" pitchFamily="18" charset="0"/>
              </a:rPr>
              <a:t>metodidan foydalanib, datagramma paketlari uzatiladi</a:t>
            </a:r>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i="1" dirty="0" err="1">
                <a:latin typeface="Times New Roman" pitchFamily="18" charset="0"/>
                <a:cs typeface="Times New Roman" pitchFamily="18" charset="0"/>
              </a:rPr>
              <a:t>socket.receive</a:t>
            </a:r>
            <a:r>
              <a:rPr lang="en-US" sz="1900" i="1" dirty="0">
                <a:latin typeface="Times New Roman" pitchFamily="18" charset="0"/>
                <a:cs typeface="Times New Roman" pitchFamily="18" charset="0"/>
              </a:rPr>
              <a:t>(packet);</a:t>
            </a:r>
            <a:endParaRPr lang="ru-RU" sz="1900" dirty="0">
              <a:latin typeface="Times New Roman" pitchFamily="18" charset="0"/>
              <a:cs typeface="Times New Roman" pitchFamily="18" charset="0"/>
            </a:endParaRPr>
          </a:p>
          <a:p>
            <a:pPr algn="just"/>
            <a:r>
              <a:rPr lang="en-US" sz="1900" i="1" dirty="0">
                <a:latin typeface="Times New Roman" pitchFamily="18" charset="0"/>
                <a:cs typeface="Times New Roman" pitchFamily="18" charset="0"/>
              </a:rPr>
              <a:t>if(packet == null) break;</a:t>
            </a:r>
            <a:endParaRPr lang="ru-RU" sz="1900" dirty="0">
              <a:latin typeface="Times New Roman" pitchFamily="18" charset="0"/>
              <a:cs typeface="Times New Roman" pitchFamily="18" charset="0"/>
            </a:endParaRPr>
          </a:p>
          <a:p>
            <a:pPr algn="just"/>
            <a:r>
              <a:rPr lang="en-US" sz="1900" i="1" dirty="0" err="1">
                <a:latin typeface="Times New Roman" pitchFamily="18" charset="0"/>
                <a:cs typeface="Times New Roman" pitchFamily="18" charset="0"/>
              </a:rPr>
              <a:t>System.out.println</a:t>
            </a:r>
            <a:r>
              <a:rPr lang="en-US" sz="1900" i="1" dirty="0">
                <a:latin typeface="Times New Roman" pitchFamily="18" charset="0"/>
                <a:cs typeface="Times New Roman" pitchFamily="18" charset="0"/>
              </a:rPr>
              <a:t>("Request string for sending to client ");</a:t>
            </a:r>
            <a:endParaRPr lang="ru-RU" sz="1900" dirty="0">
              <a:latin typeface="Times New Roman" pitchFamily="18" charset="0"/>
              <a:cs typeface="Times New Roman" pitchFamily="18" charset="0"/>
            </a:endParaRPr>
          </a:p>
          <a:p>
            <a:pPr algn="just"/>
            <a:r>
              <a:rPr lang="en-US" sz="1900" i="1" dirty="0">
                <a:latin typeface="Times New Roman" pitchFamily="18" charset="0"/>
                <a:cs typeface="Times New Roman" pitchFamily="18" charset="0"/>
              </a:rPr>
              <a:t>try</a:t>
            </a:r>
            <a:endParaRPr lang="ru-RU" sz="1900" dirty="0">
              <a:latin typeface="Times New Roman" pitchFamily="18" charset="0"/>
              <a:cs typeface="Times New Roman" pitchFamily="18" charset="0"/>
            </a:endParaRPr>
          </a:p>
          <a:p>
            <a:pPr algn="just"/>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i="1" dirty="0">
                <a:latin typeface="Times New Roman" pitchFamily="18" charset="0"/>
                <a:cs typeface="Times New Roman" pitchFamily="18" charset="0"/>
              </a:rPr>
              <a:t>/* </a:t>
            </a:r>
            <a:r>
              <a:rPr lang="uz-Cyrl-UZ" sz="1900" i="1" dirty="0">
                <a:latin typeface="Times New Roman" pitchFamily="18" charset="0"/>
                <a:cs typeface="Times New Roman" pitchFamily="18" charset="0"/>
              </a:rPr>
              <a:t>konsoldan ma’lumotlarni o‘qiydigan kiruvchi oqim yaratiladi</a:t>
            </a:r>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i="1" dirty="0">
                <a:latin typeface="Times New Roman" pitchFamily="18" charset="0"/>
                <a:cs typeface="Times New Roman" pitchFamily="18" charset="0"/>
              </a:rPr>
              <a:t>in = new </a:t>
            </a:r>
            <a:r>
              <a:rPr lang="en-US" sz="1900" i="1" dirty="0" err="1">
                <a:latin typeface="Times New Roman" pitchFamily="18" charset="0"/>
                <a:cs typeface="Times New Roman" pitchFamily="18" charset="0"/>
              </a:rPr>
              <a:t>BufferedReader</a:t>
            </a:r>
            <a:r>
              <a:rPr lang="en-US" sz="1900" i="1" dirty="0">
                <a:latin typeface="Times New Roman" pitchFamily="18" charset="0"/>
                <a:cs typeface="Times New Roman" pitchFamily="18" charset="0"/>
              </a:rPr>
              <a:t>(new </a:t>
            </a:r>
            <a:r>
              <a:rPr lang="en-US" sz="1900" i="1" dirty="0" err="1">
                <a:latin typeface="Times New Roman" pitchFamily="18" charset="0"/>
                <a:cs typeface="Times New Roman" pitchFamily="18" charset="0"/>
              </a:rPr>
              <a:t>InputStreamReader</a:t>
            </a:r>
            <a:r>
              <a:rPr lang="en-US" sz="1900" i="1" dirty="0">
                <a:latin typeface="Times New Roman" pitchFamily="18" charset="0"/>
                <a:cs typeface="Times New Roman" pitchFamily="18" charset="0"/>
              </a:rPr>
              <a:t>(System.in));</a:t>
            </a:r>
            <a:endParaRPr lang="ru-RU" sz="1900" dirty="0">
              <a:latin typeface="Times New Roman" pitchFamily="18" charset="0"/>
              <a:cs typeface="Times New Roman" pitchFamily="18" charset="0"/>
            </a:endParaRPr>
          </a:p>
          <a:p>
            <a:pPr algn="just"/>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i="1" dirty="0">
                <a:latin typeface="Times New Roman" pitchFamily="18" charset="0"/>
                <a:cs typeface="Times New Roman" pitchFamily="18" charset="0"/>
              </a:rPr>
              <a:t>catch(Exception e)</a:t>
            </a:r>
            <a:endParaRPr lang="ru-RU" sz="1900" dirty="0">
              <a:latin typeface="Times New Roman" pitchFamily="18" charset="0"/>
              <a:cs typeface="Times New Roman" pitchFamily="18" charset="0"/>
            </a:endParaRPr>
          </a:p>
          <a:p>
            <a:pPr algn="just"/>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i="1" dirty="0" err="1">
                <a:latin typeface="Times New Roman" pitchFamily="18" charset="0"/>
                <a:cs typeface="Times New Roman" pitchFamily="18" charset="0"/>
              </a:rPr>
              <a:t>System.out.println</a:t>
            </a:r>
            <a:r>
              <a:rPr lang="en-US" sz="1900" i="1" dirty="0">
                <a:latin typeface="Times New Roman" pitchFamily="18" charset="0"/>
                <a:cs typeface="Times New Roman" pitchFamily="18" charset="0"/>
              </a:rPr>
              <a:t>("Error : " + e);</a:t>
            </a:r>
            <a:endParaRPr lang="ru-RU" sz="1900" dirty="0">
              <a:latin typeface="Times New Roman" pitchFamily="18" charset="0"/>
              <a:cs typeface="Times New Roman" pitchFamily="18" charset="0"/>
            </a:endParaRPr>
          </a:p>
          <a:p>
            <a:pPr algn="just"/>
            <a:r>
              <a:rPr lang="en-US" sz="1900" i="1" dirty="0" smtClean="0">
                <a:latin typeface="Times New Roman" pitchFamily="18" charset="0"/>
                <a:cs typeface="Times New Roman" pitchFamily="18" charset="0"/>
              </a:rPr>
              <a:t>}</a:t>
            </a:r>
          </a:p>
          <a:p>
            <a:r>
              <a:rPr lang="en-US" sz="1900" i="1" dirty="0" err="1">
                <a:latin typeface="Times New Roman" pitchFamily="18" charset="0"/>
                <a:cs typeface="Times New Roman" pitchFamily="18" charset="0"/>
              </a:rPr>
              <a:t>str</a:t>
            </a:r>
            <a:r>
              <a:rPr lang="en-US" sz="1900" i="1" dirty="0">
                <a:latin typeface="Times New Roman" pitchFamily="18" charset="0"/>
                <a:cs typeface="Times New Roman" pitchFamily="18" charset="0"/>
              </a:rPr>
              <a:t> = </a:t>
            </a:r>
            <a:r>
              <a:rPr lang="en-US" sz="1900" i="1" dirty="0" err="1">
                <a:latin typeface="Times New Roman" pitchFamily="18" charset="0"/>
                <a:cs typeface="Times New Roman" pitchFamily="18" charset="0"/>
              </a:rPr>
              <a:t>in.readLine</a:t>
            </a:r>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r>
              <a:rPr lang="en-US" sz="1900" i="1" dirty="0">
                <a:latin typeface="Times New Roman" pitchFamily="18" charset="0"/>
                <a:cs typeface="Times New Roman" pitchFamily="18" charset="0"/>
              </a:rPr>
              <a:t>buffer = </a:t>
            </a:r>
            <a:r>
              <a:rPr lang="en-US" sz="1900" i="1" dirty="0" err="1">
                <a:latin typeface="Times New Roman" pitchFamily="18" charset="0"/>
                <a:cs typeface="Times New Roman" pitchFamily="18" charset="0"/>
              </a:rPr>
              <a:t>str.getBytes</a:t>
            </a:r>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r>
              <a:rPr lang="en-US" sz="1900" i="1" dirty="0">
                <a:latin typeface="Times New Roman" pitchFamily="18" charset="0"/>
                <a:cs typeface="Times New Roman" pitchFamily="18" charset="0"/>
              </a:rPr>
              <a:t>address = </a:t>
            </a:r>
            <a:r>
              <a:rPr lang="en-US" sz="1900" i="1" dirty="0" err="1">
                <a:latin typeface="Times New Roman" pitchFamily="18" charset="0"/>
                <a:cs typeface="Times New Roman" pitchFamily="18" charset="0"/>
              </a:rPr>
              <a:t>packet.getAddress</a:t>
            </a:r>
            <a:r>
              <a:rPr lang="en-US" sz="1900" i="1"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2251519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44000" cy="6740307"/>
          </a:xfrm>
          <a:prstGeom prst="rect">
            <a:avLst/>
          </a:prstGeom>
        </p:spPr>
        <p:txBody>
          <a:bodyPr wrap="square">
            <a:spAutoFit/>
          </a:bodyPr>
          <a:lstStyle/>
          <a:p>
            <a:pPr algn="just"/>
            <a:r>
              <a:rPr lang="en-US" i="1" dirty="0">
                <a:latin typeface="Times New Roman" pitchFamily="18" charset="0"/>
                <a:cs typeface="Times New Roman" pitchFamily="18" charset="0"/>
              </a:rPr>
              <a:t>port = </a:t>
            </a:r>
            <a:r>
              <a:rPr lang="en-US" i="1" dirty="0" err="1">
                <a:latin typeface="Times New Roman" pitchFamily="18" charset="0"/>
                <a:cs typeface="Times New Roman" pitchFamily="18" charset="0"/>
              </a:rPr>
              <a:t>packet.getPort</a:t>
            </a:r>
            <a:r>
              <a:rPr lang="en-US" i="1"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i="1" dirty="0">
                <a:latin typeface="Times New Roman" pitchFamily="18" charset="0"/>
                <a:cs typeface="Times New Roman" pitchFamily="18" charset="0"/>
              </a:rPr>
              <a:t>packet = new </a:t>
            </a:r>
            <a:r>
              <a:rPr lang="en-US" i="1" dirty="0" err="1">
                <a:latin typeface="Times New Roman" pitchFamily="18" charset="0"/>
                <a:cs typeface="Times New Roman" pitchFamily="18" charset="0"/>
              </a:rPr>
              <a:t>DatagramPacket</a:t>
            </a:r>
            <a:r>
              <a:rPr lang="en-US" i="1" dirty="0">
                <a:latin typeface="Times New Roman" pitchFamily="18" charset="0"/>
                <a:cs typeface="Times New Roman" pitchFamily="18" charset="0"/>
              </a:rPr>
              <a:t>(buffer, </a:t>
            </a:r>
            <a:r>
              <a:rPr lang="en-US" i="1" dirty="0" err="1">
                <a:latin typeface="Times New Roman" pitchFamily="18" charset="0"/>
                <a:cs typeface="Times New Roman" pitchFamily="18" charset="0"/>
              </a:rPr>
              <a:t>buffer.length</a:t>
            </a:r>
            <a:r>
              <a:rPr lang="en-US" i="1" dirty="0">
                <a:latin typeface="Times New Roman" pitchFamily="18" charset="0"/>
                <a:cs typeface="Times New Roman" pitchFamily="18" charset="0"/>
              </a:rPr>
              <a:t>, address, port);</a:t>
            </a:r>
            <a:endParaRPr lang="ru-RU" dirty="0">
              <a:latin typeface="Times New Roman" pitchFamily="18" charset="0"/>
              <a:cs typeface="Times New Roman" pitchFamily="18" charset="0"/>
            </a:endParaRPr>
          </a:p>
          <a:p>
            <a:pPr algn="just"/>
            <a:r>
              <a:rPr lang="en-US" i="1" dirty="0">
                <a:latin typeface="Times New Roman" pitchFamily="18" charset="0"/>
                <a:cs typeface="Times New Roman" pitchFamily="18" charset="0"/>
              </a:rPr>
              <a:t>/*  </a:t>
            </a:r>
            <a:r>
              <a:rPr lang="uz-Cyrl-UZ" i="1" dirty="0">
                <a:latin typeface="Times New Roman" pitchFamily="18" charset="0"/>
                <a:cs typeface="Times New Roman" pitchFamily="18" charset="0"/>
              </a:rPr>
              <a:t>datagramma paketi uzatiladi</a:t>
            </a:r>
            <a:r>
              <a:rPr lang="en-US" i="1"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i="1" dirty="0" err="1">
                <a:latin typeface="Times New Roman" pitchFamily="18" charset="0"/>
                <a:cs typeface="Times New Roman" pitchFamily="18" charset="0"/>
              </a:rPr>
              <a:t>socket.send</a:t>
            </a:r>
            <a:r>
              <a:rPr lang="en-US" i="1" dirty="0">
                <a:latin typeface="Times New Roman" pitchFamily="18" charset="0"/>
                <a:cs typeface="Times New Roman" pitchFamily="18" charset="0"/>
              </a:rPr>
              <a:t>(packet);</a:t>
            </a:r>
            <a:endParaRPr lang="ru-RU" dirty="0">
              <a:latin typeface="Times New Roman" pitchFamily="18" charset="0"/>
              <a:cs typeface="Times New Roman" pitchFamily="18" charset="0"/>
            </a:endParaRPr>
          </a:p>
          <a:p>
            <a:pPr algn="just"/>
            <a:r>
              <a:rPr lang="en-US" i="1"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i="1" dirty="0" smtClean="0">
                <a:latin typeface="Times New Roman" pitchFamily="18" charset="0"/>
                <a:cs typeface="Times New Roman" pitchFamily="18" charset="0"/>
              </a:rPr>
              <a:t>/* </a:t>
            </a:r>
            <a:r>
              <a:rPr lang="uz-Cyrl-UZ" i="1" dirty="0">
                <a:latin typeface="Times New Roman" pitchFamily="18" charset="0"/>
                <a:cs typeface="Times New Roman" pitchFamily="18" charset="0"/>
              </a:rPr>
              <a:t>oqim va soket yopiladi</a:t>
            </a:r>
            <a:r>
              <a:rPr lang="en-US" i="1"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i="1" dirty="0" err="1">
                <a:latin typeface="Times New Roman" pitchFamily="18" charset="0"/>
                <a:cs typeface="Times New Roman" pitchFamily="18" charset="0"/>
              </a:rPr>
              <a:t>in.close</a:t>
            </a:r>
            <a:r>
              <a:rPr lang="en-US" i="1"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i="1" dirty="0" err="1">
                <a:latin typeface="Times New Roman" pitchFamily="18" charset="0"/>
                <a:cs typeface="Times New Roman" pitchFamily="18" charset="0"/>
              </a:rPr>
              <a:t>socket.close</a:t>
            </a:r>
            <a:r>
              <a:rPr lang="en-US" i="1"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i="1"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i="1" dirty="0">
                <a:latin typeface="Times New Roman" pitchFamily="18" charset="0"/>
                <a:cs typeface="Times New Roman" pitchFamily="18" charset="0"/>
              </a:rPr>
              <a:t>catch(Exception e)</a:t>
            </a:r>
            <a:endParaRPr lang="ru-RU" dirty="0">
              <a:latin typeface="Times New Roman" pitchFamily="18" charset="0"/>
              <a:cs typeface="Times New Roman" pitchFamily="18" charset="0"/>
            </a:endParaRPr>
          </a:p>
          <a:p>
            <a:pPr algn="just"/>
            <a:r>
              <a:rPr lang="en-US" i="1"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i="1" dirty="0" err="1">
                <a:latin typeface="Times New Roman" pitchFamily="18" charset="0"/>
                <a:cs typeface="Times New Roman" pitchFamily="18" charset="0"/>
              </a:rPr>
              <a:t>System.out.println</a:t>
            </a:r>
            <a:r>
              <a:rPr lang="en-US" i="1" dirty="0">
                <a:latin typeface="Times New Roman" pitchFamily="18" charset="0"/>
                <a:cs typeface="Times New Roman" pitchFamily="18" charset="0"/>
              </a:rPr>
              <a:t>("Error : " + e);</a:t>
            </a:r>
            <a:endParaRPr lang="ru-RU" dirty="0">
              <a:latin typeface="Times New Roman" pitchFamily="18" charset="0"/>
              <a:cs typeface="Times New Roman" pitchFamily="18" charset="0"/>
            </a:endParaRPr>
          </a:p>
          <a:p>
            <a:pPr algn="just"/>
            <a:r>
              <a:rPr lang="en-US" i="1"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i="1"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i="1" dirty="0">
                <a:latin typeface="Times New Roman" pitchFamily="18" charset="0"/>
                <a:cs typeface="Times New Roman" pitchFamily="18" charset="0"/>
              </a:rPr>
              <a:t>public static void main(String </a:t>
            </a:r>
            <a:r>
              <a:rPr lang="en-US" i="1" dirty="0" err="1">
                <a:latin typeface="Times New Roman" pitchFamily="18" charset="0"/>
                <a:cs typeface="Times New Roman" pitchFamily="18" charset="0"/>
              </a:rPr>
              <a:t>args</a:t>
            </a:r>
            <a:r>
              <a:rPr lang="en-US" i="1" dirty="0">
                <a:latin typeface="Times New Roman" pitchFamily="18" charset="0"/>
                <a:cs typeface="Times New Roman" pitchFamily="18" charset="0"/>
              </a:rPr>
              <a:t>[]) throws Exception</a:t>
            </a:r>
            <a:endParaRPr lang="ru-RU" dirty="0">
              <a:latin typeface="Times New Roman" pitchFamily="18" charset="0"/>
              <a:cs typeface="Times New Roman" pitchFamily="18" charset="0"/>
            </a:endParaRPr>
          </a:p>
          <a:p>
            <a:pPr algn="just"/>
            <a:r>
              <a:rPr lang="en-US" i="1"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i="1" dirty="0">
                <a:latin typeface="Times New Roman" pitchFamily="18" charset="0"/>
                <a:cs typeface="Times New Roman" pitchFamily="18" charset="0"/>
              </a:rPr>
              <a:t>/* server </a:t>
            </a:r>
            <a:r>
              <a:rPr lang="uz-Cyrl-UZ" i="1" dirty="0">
                <a:latin typeface="Times New Roman" pitchFamily="18" charset="0"/>
                <a:cs typeface="Times New Roman" pitchFamily="18" charset="0"/>
              </a:rPr>
              <a:t>ishga tushiriladi</a:t>
            </a:r>
            <a:r>
              <a:rPr lang="en-US" i="1"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i="1" dirty="0">
                <a:latin typeface="Times New Roman" pitchFamily="18" charset="0"/>
                <a:cs typeface="Times New Roman" pitchFamily="18" charset="0"/>
              </a:rPr>
              <a:t>new </a:t>
            </a:r>
            <a:r>
              <a:rPr lang="en-US" i="1" dirty="0" err="1">
                <a:latin typeface="Times New Roman" pitchFamily="18" charset="0"/>
                <a:cs typeface="Times New Roman" pitchFamily="18" charset="0"/>
              </a:rPr>
              <a:t>UDPServer</a:t>
            </a:r>
            <a:r>
              <a:rPr lang="en-US" i="1"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i="1"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i="1"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uz-Cyrl-UZ" dirty="0" smtClean="0">
                <a:latin typeface="Times New Roman" pitchFamily="18" charset="0"/>
                <a:cs typeface="Times New Roman" pitchFamily="18" charset="0"/>
              </a:rPr>
              <a:t>Ko‘rib </a:t>
            </a:r>
            <a:r>
              <a:rPr lang="uz-Cyrl-UZ" dirty="0">
                <a:latin typeface="Times New Roman" pitchFamily="18" charset="0"/>
                <a:cs typeface="Times New Roman" pitchFamily="18" charset="0"/>
              </a:rPr>
              <a:t>chiqilgan kodda </a:t>
            </a:r>
            <a:r>
              <a:rPr lang="en-US" dirty="0" err="1">
                <a:latin typeface="Times New Roman" pitchFamily="18" charset="0"/>
                <a:cs typeface="Times New Roman" pitchFamily="18" charset="0"/>
              </a:rPr>
              <a:t>UDPServer</a:t>
            </a:r>
            <a:r>
              <a:rPr lang="en-US" dirty="0">
                <a:latin typeface="Times New Roman" pitchFamily="18" charset="0"/>
                <a:cs typeface="Times New Roman" pitchFamily="18" charset="0"/>
              </a:rPr>
              <a:t> </a:t>
            </a:r>
            <a:r>
              <a:rPr lang="uz-Cyrl-UZ" dirty="0">
                <a:latin typeface="Times New Roman" pitchFamily="18" charset="0"/>
                <a:cs typeface="Times New Roman" pitchFamily="18" charset="0"/>
              </a:rPr>
              <a:t>klass konstruktorida </a:t>
            </a:r>
            <a:r>
              <a:rPr lang="en-US" dirty="0" err="1">
                <a:latin typeface="Times New Roman" pitchFamily="18" charset="0"/>
                <a:cs typeface="Times New Roman" pitchFamily="18" charset="0"/>
              </a:rPr>
              <a:t>DatagramSocket</a:t>
            </a:r>
            <a:r>
              <a:rPr lang="en-US" dirty="0">
                <a:latin typeface="Times New Roman" pitchFamily="18" charset="0"/>
                <a:cs typeface="Times New Roman" pitchFamily="18" charset="0"/>
              </a:rPr>
              <a:t> </a:t>
            </a:r>
            <a:r>
              <a:rPr lang="uz-Cyrl-UZ" dirty="0">
                <a:latin typeface="Times New Roman" pitchFamily="18" charset="0"/>
                <a:cs typeface="Times New Roman" pitchFamily="18" charset="0"/>
              </a:rPr>
              <a:t>klassining </a:t>
            </a:r>
            <a:r>
              <a:rPr lang="en-US" dirty="0">
                <a:latin typeface="Times New Roman" pitchFamily="18" charset="0"/>
                <a:cs typeface="Times New Roman" pitchFamily="18" charset="0"/>
              </a:rPr>
              <a:t>socket </a:t>
            </a:r>
            <a:r>
              <a:rPr lang="uz-Cyrl-UZ" dirty="0">
                <a:latin typeface="Times New Roman" pitchFamily="18" charset="0"/>
                <a:cs typeface="Times New Roman" pitchFamily="18" charset="0"/>
              </a:rPr>
              <a:t>ob’ekti yaratiladi. Soket 1501 portga initsializatsiya qilingandan so‘ng, klient/server o‘zaro aloqasini boshqaruvchi receive() va send() metodlaridan iborat bo‘lgan call() metodi chaqiriladi.  Oldingi kod UDPServer.java sifatida saqlanadi va java.exe dasturi bilan kompilyatsiya qilinadi.</a:t>
            </a:r>
            <a:endParaRPr lang="ru-RU" dirty="0">
              <a:latin typeface="Times New Roman" pitchFamily="18" charset="0"/>
              <a:cs typeface="Times New Roman" pitchFamily="18" charset="0"/>
            </a:endParaRPr>
          </a:p>
        </p:txBody>
      </p:sp>
    </p:spTree>
    <p:extLst>
      <p:ext uri="{BB962C8B-B14F-4D97-AF65-F5344CB8AC3E}">
        <p14:creationId xmlns:p14="http://schemas.microsoft.com/office/powerpoint/2010/main" val="3861005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12679"/>
            <a:ext cx="9144000" cy="6863417"/>
          </a:xfrm>
          <a:prstGeom prst="rect">
            <a:avLst/>
          </a:prstGeom>
        </p:spPr>
        <p:txBody>
          <a:bodyPr wrap="square">
            <a:spAutoFit/>
          </a:bodyPr>
          <a:lstStyle/>
          <a:p>
            <a:pPr algn="ctr"/>
            <a:r>
              <a:rPr lang="uz-Cyrl-UZ" sz="2000" b="1" dirty="0">
                <a:latin typeface="Times New Roman" pitchFamily="18" charset="0"/>
                <a:cs typeface="Times New Roman" pitchFamily="18" charset="0"/>
              </a:rPr>
              <a:t>UDP klientini </a:t>
            </a:r>
            <a:r>
              <a:rPr lang="uz-Cyrl-UZ" sz="2000" b="1" dirty="0" smtClean="0">
                <a:latin typeface="Times New Roman" pitchFamily="18" charset="0"/>
                <a:cs typeface="Times New Roman" pitchFamily="18" charset="0"/>
              </a:rPr>
              <a:t>yaratish</a:t>
            </a:r>
            <a:endParaRPr lang="en-US" sz="2000" b="1" dirty="0" smtClean="0">
              <a:latin typeface="Times New Roman" pitchFamily="18" charset="0"/>
              <a:cs typeface="Times New Roman" pitchFamily="18" charset="0"/>
            </a:endParaRPr>
          </a:p>
          <a:p>
            <a:pPr algn="ct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UDP klienti UDP protokolidan serverga so‘rovlarni yuborish va server ilovasidan javoblarni qabul qilish uchun foydalanadigan ilovadir. Foydalanuvchining UDP-ilovasida UDP serveridan xabarlarni qabul qiladigan DatagramSocket klass ob’ektini yaratish zarur, bu uchun esa quyidagilarni bajarish lozim bo‘ladi: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1. Server bilan ulanish o‘rnatish uchun DatagramSocket klass ob’ektidan foydalanuvchi soketini yaratish.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2. DatagramPacket klass ob’ektini yaratish va xabarlarni serverga yuborish uchun send() metodidan foydalanish.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3. DatagramPacket klass ob’ektini yaratish va serverdan yuborilgan xabarlarni qabul qilish uchun receive() metodidan foydalanish.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Quyidagi kod fragmentidan klient ilovasi uchun DatagramSocket klass ob’ektini yaratish uchun foydalanish mumkin:</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try</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DatagramSocket</a:t>
            </a:r>
            <a:r>
              <a:rPr lang="en-US" sz="2000" i="1" dirty="0">
                <a:latin typeface="Times New Roman" pitchFamily="18" charset="0"/>
                <a:cs typeface="Times New Roman" pitchFamily="18" charset="0"/>
              </a:rPr>
              <a:t> socket = new </a:t>
            </a:r>
            <a:r>
              <a:rPr lang="en-US" sz="2000" i="1" dirty="0" err="1">
                <a:latin typeface="Times New Roman" pitchFamily="18" charset="0"/>
                <a:cs typeface="Times New Roman" pitchFamily="18" charset="0"/>
              </a:rPr>
              <a:t>DatagramSocket</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catch(Exception e)</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System.out.println</a:t>
            </a:r>
            <a:r>
              <a:rPr lang="en-US" sz="2000" i="1" dirty="0">
                <a:latin typeface="Times New Roman" pitchFamily="18" charset="0"/>
                <a:cs typeface="Times New Roman" pitchFamily="18" charset="0"/>
              </a:rPr>
              <a:t>("Error");</a:t>
            </a:r>
            <a:endParaRPr lang="ru-RU" sz="2000" dirty="0">
              <a:latin typeface="Times New Roman" pitchFamily="18" charset="0"/>
              <a:cs typeface="Times New Roman" pitchFamily="18" charset="0"/>
            </a:endParaRPr>
          </a:p>
          <a:p>
            <a:pPr algn="just"/>
            <a:r>
              <a:rPr lang="en-US" sz="2000" i="1"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039366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163" y="9857"/>
            <a:ext cx="9144000" cy="6555641"/>
          </a:xfrm>
          <a:prstGeom prst="rect">
            <a:avLst/>
          </a:prstGeom>
        </p:spPr>
        <p:txBody>
          <a:bodyPr wrap="square">
            <a:spAutoFit/>
          </a:bodyPr>
          <a:lstStyle/>
          <a:p>
            <a:pPr algn="just"/>
            <a:r>
              <a:rPr lang="uz-Cyrl-UZ" sz="2100" dirty="0">
                <a:latin typeface="Times New Roman" pitchFamily="18" charset="0"/>
                <a:cs typeface="Times New Roman" pitchFamily="18" charset="0"/>
              </a:rPr>
              <a:t>Oldingi kod fragmentida konstruktor DatagramSocket klass ob’ektini har qanday ruxsat etilgan lokal port bilan bog‘laydi, chunki parametrda port nomeri ko‘rsatilmagan bo‘ladi.</a:t>
            </a:r>
            <a:endParaRPr lang="ru-RU" sz="2100" dirty="0">
              <a:latin typeface="Times New Roman" pitchFamily="18" charset="0"/>
              <a:cs typeface="Times New Roman" pitchFamily="18" charset="0"/>
            </a:endParaRPr>
          </a:p>
          <a:p>
            <a:pPr algn="just"/>
            <a:r>
              <a:rPr lang="uz-Cyrl-UZ" sz="2100" dirty="0">
                <a:latin typeface="Times New Roman" pitchFamily="18" charset="0"/>
                <a:cs typeface="Times New Roman" pitchFamily="18" charset="0"/>
              </a:rPr>
              <a:t>Ushbu DatagramSocket ob’ekti so‘rov yuboriladigan serverning IP-manzili va port raqamini o‘z ichiga oladi. Quyidagi kod fragmenti DatagramPacket ob’ektini berilgan serverga yuborish uchun ishlatiladi:</a:t>
            </a:r>
            <a:endParaRPr lang="ru-RU" sz="2100" dirty="0">
              <a:latin typeface="Times New Roman" pitchFamily="18" charset="0"/>
              <a:cs typeface="Times New Roman" pitchFamily="18" charset="0"/>
            </a:endParaRPr>
          </a:p>
          <a:p>
            <a:pPr algn="just"/>
            <a:r>
              <a:rPr lang="en-US" sz="2100" i="1" dirty="0">
                <a:latin typeface="Times New Roman" pitchFamily="18" charset="0"/>
                <a:cs typeface="Times New Roman" pitchFamily="18" charset="0"/>
              </a:rPr>
              <a:t>try</a:t>
            </a:r>
            <a:endParaRPr lang="ru-RU" sz="2100" dirty="0">
              <a:latin typeface="Times New Roman" pitchFamily="18" charset="0"/>
              <a:cs typeface="Times New Roman" pitchFamily="18" charset="0"/>
            </a:endParaRPr>
          </a:p>
          <a:p>
            <a:pPr algn="just"/>
            <a:r>
              <a:rPr lang="en-US" sz="2100" i="1"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algn="just"/>
            <a:r>
              <a:rPr lang="en-US" sz="2100" i="1" dirty="0" err="1">
                <a:latin typeface="Times New Roman" pitchFamily="18" charset="0"/>
                <a:cs typeface="Times New Roman" pitchFamily="18" charset="0"/>
              </a:rPr>
              <a:t>DatagramPacket</a:t>
            </a:r>
            <a:r>
              <a:rPr lang="en-US" sz="2100" i="1" dirty="0">
                <a:latin typeface="Times New Roman" pitchFamily="18" charset="0"/>
                <a:cs typeface="Times New Roman" pitchFamily="18" charset="0"/>
              </a:rPr>
              <a:t> packet = new </a:t>
            </a:r>
            <a:r>
              <a:rPr lang="en-US" sz="2100" i="1" dirty="0" err="1">
                <a:latin typeface="Times New Roman" pitchFamily="18" charset="0"/>
                <a:cs typeface="Times New Roman" pitchFamily="18" charset="0"/>
              </a:rPr>
              <a:t>DatagramPacket</a:t>
            </a:r>
            <a:r>
              <a:rPr lang="en-US" sz="2100" i="1" dirty="0">
                <a:latin typeface="Times New Roman" pitchFamily="18" charset="0"/>
                <a:cs typeface="Times New Roman" pitchFamily="18" charset="0"/>
              </a:rPr>
              <a:t>(buffer, length, address, port);</a:t>
            </a:r>
            <a:endParaRPr lang="ru-RU" sz="2100" dirty="0">
              <a:latin typeface="Times New Roman" pitchFamily="18" charset="0"/>
              <a:cs typeface="Times New Roman" pitchFamily="18" charset="0"/>
            </a:endParaRPr>
          </a:p>
          <a:p>
            <a:pPr algn="just"/>
            <a:r>
              <a:rPr lang="en-US" sz="2100" i="1" dirty="0" err="1">
                <a:latin typeface="Times New Roman" pitchFamily="18" charset="0"/>
                <a:cs typeface="Times New Roman" pitchFamily="18" charset="0"/>
              </a:rPr>
              <a:t>socket.send</a:t>
            </a:r>
            <a:r>
              <a:rPr lang="en-US" sz="2100" i="1" dirty="0">
                <a:latin typeface="Times New Roman" pitchFamily="18" charset="0"/>
                <a:cs typeface="Times New Roman" pitchFamily="18" charset="0"/>
              </a:rPr>
              <a:t>(packet);</a:t>
            </a:r>
            <a:endParaRPr lang="ru-RU" sz="2100" dirty="0">
              <a:latin typeface="Times New Roman" pitchFamily="18" charset="0"/>
              <a:cs typeface="Times New Roman" pitchFamily="18" charset="0"/>
            </a:endParaRPr>
          </a:p>
          <a:p>
            <a:pPr algn="just"/>
            <a:r>
              <a:rPr lang="en-US" sz="2100" i="1"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algn="just"/>
            <a:r>
              <a:rPr lang="en-US" sz="2100" i="1" dirty="0">
                <a:latin typeface="Times New Roman" pitchFamily="18" charset="0"/>
                <a:cs typeface="Times New Roman" pitchFamily="18" charset="0"/>
              </a:rPr>
              <a:t>catch(Exception e)</a:t>
            </a:r>
            <a:endParaRPr lang="ru-RU" sz="2100" dirty="0">
              <a:latin typeface="Times New Roman" pitchFamily="18" charset="0"/>
              <a:cs typeface="Times New Roman" pitchFamily="18" charset="0"/>
            </a:endParaRPr>
          </a:p>
          <a:p>
            <a:pPr algn="just"/>
            <a:r>
              <a:rPr lang="en-US" sz="2100" i="1"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algn="just"/>
            <a:r>
              <a:rPr lang="en-US" sz="2100" i="1" dirty="0" err="1">
                <a:latin typeface="Times New Roman" pitchFamily="18" charset="0"/>
                <a:cs typeface="Times New Roman" pitchFamily="18" charset="0"/>
              </a:rPr>
              <a:t>System.out.println</a:t>
            </a:r>
            <a:r>
              <a:rPr lang="en-US" sz="2100" i="1" dirty="0">
                <a:latin typeface="Times New Roman" pitchFamily="18" charset="0"/>
                <a:cs typeface="Times New Roman" pitchFamily="18" charset="0"/>
              </a:rPr>
              <a:t>("Error");</a:t>
            </a:r>
            <a:endParaRPr lang="ru-RU" sz="2100" dirty="0">
              <a:latin typeface="Times New Roman" pitchFamily="18" charset="0"/>
              <a:cs typeface="Times New Roman" pitchFamily="18" charset="0"/>
            </a:endParaRPr>
          </a:p>
          <a:p>
            <a:pPr algn="just"/>
            <a:r>
              <a:rPr lang="en-US" sz="2100" i="1"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algn="just"/>
            <a:r>
              <a:rPr lang="uz-Cyrl-UZ" sz="2100" dirty="0">
                <a:latin typeface="Times New Roman" pitchFamily="18" charset="0"/>
                <a:cs typeface="Times New Roman" pitchFamily="18" charset="0"/>
              </a:rPr>
              <a:t>Oldingi kod fragmetida 4 ta parametrni qabul qiluvchi </a:t>
            </a:r>
            <a:r>
              <a:rPr lang="en-US" sz="2100" dirty="0" err="1">
                <a:latin typeface="Times New Roman" pitchFamily="18" charset="0"/>
                <a:cs typeface="Times New Roman" pitchFamily="18" charset="0"/>
              </a:rPr>
              <a:t>DatagramPacket</a:t>
            </a:r>
            <a:r>
              <a:rPr lang="en-US" sz="2100" dirty="0">
                <a:latin typeface="Times New Roman" pitchFamily="18" charset="0"/>
                <a:cs typeface="Times New Roman" pitchFamily="18" charset="0"/>
              </a:rPr>
              <a:t> </a:t>
            </a:r>
            <a:r>
              <a:rPr lang="uz-Cyrl-UZ" sz="2100" dirty="0">
                <a:latin typeface="Times New Roman" pitchFamily="18" charset="0"/>
                <a:cs typeface="Times New Roman" pitchFamily="18" charset="0"/>
              </a:rPr>
              <a:t>konstruktori yordamida </a:t>
            </a:r>
            <a:r>
              <a:rPr lang="en-US" sz="2100" dirty="0">
                <a:latin typeface="Times New Roman" pitchFamily="18" charset="0"/>
                <a:cs typeface="Times New Roman" pitchFamily="18" charset="0"/>
              </a:rPr>
              <a:t>packet </a:t>
            </a:r>
            <a:r>
              <a:rPr lang="uz-Cyrl-UZ" sz="2100" dirty="0">
                <a:latin typeface="Times New Roman" pitchFamily="18" charset="0"/>
                <a:cs typeface="Times New Roman" pitchFamily="18" charset="0"/>
              </a:rPr>
              <a:t>ob’ekti yaratiladi. DatagramSocket klassining send() metodi DatagramPacket klass ob’ektini serverga yuboradi.</a:t>
            </a:r>
            <a:endParaRPr lang="ru-RU" sz="2100" dirty="0">
              <a:latin typeface="Times New Roman" pitchFamily="18" charset="0"/>
              <a:cs typeface="Times New Roman" pitchFamily="18" charset="0"/>
            </a:endParaRPr>
          </a:p>
          <a:p>
            <a:pPr algn="just"/>
            <a:r>
              <a:rPr lang="uz-Cyrl-UZ" sz="2100" dirty="0">
                <a:latin typeface="Times New Roman" pitchFamily="18" charset="0"/>
                <a:cs typeface="Times New Roman" pitchFamily="18" charset="0"/>
              </a:rPr>
              <a:t>Quyidagi kod fragmentidan serverdan datagramma paketlarini qabul qiluvchi DatagramPacket ob’ektini yaratishda foydalanish mumkin</a:t>
            </a:r>
            <a:r>
              <a:rPr lang="uz-Cyrl-UZ" sz="2100" dirty="0" smtClean="0">
                <a:latin typeface="Times New Roman" pitchFamily="18" charset="0"/>
                <a:cs typeface="Times New Roman" pitchFamily="18" charset="0"/>
              </a:rPr>
              <a:t>:</a:t>
            </a:r>
            <a:endParaRPr lang="ru-RU" sz="2100" dirty="0">
              <a:latin typeface="Times New Roman" pitchFamily="18" charset="0"/>
              <a:cs typeface="Times New Roman" pitchFamily="18" charset="0"/>
            </a:endParaRPr>
          </a:p>
        </p:txBody>
      </p:sp>
    </p:spTree>
    <p:extLst>
      <p:ext uri="{BB962C8B-B14F-4D97-AF65-F5344CB8AC3E}">
        <p14:creationId xmlns:p14="http://schemas.microsoft.com/office/powerpoint/2010/main" val="4301094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 y="0"/>
            <a:ext cx="9113328" cy="6863417"/>
          </a:xfrm>
          <a:prstGeom prst="rect">
            <a:avLst/>
          </a:prstGeom>
        </p:spPr>
        <p:txBody>
          <a:bodyPr wrap="square">
            <a:spAutoFit/>
          </a:bodyPr>
          <a:lstStyle/>
          <a:p>
            <a:pPr algn="just"/>
            <a:r>
              <a:rPr lang="en-US" sz="2000" i="1" dirty="0">
                <a:latin typeface="Times New Roman" pitchFamily="18" charset="0"/>
                <a:cs typeface="Times New Roman" pitchFamily="18" charset="0"/>
              </a:rPr>
              <a:t>try</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DatagramPacket</a:t>
            </a:r>
            <a:r>
              <a:rPr lang="en-US" sz="2000" i="1" dirty="0">
                <a:latin typeface="Times New Roman" pitchFamily="18" charset="0"/>
                <a:cs typeface="Times New Roman" pitchFamily="18" charset="0"/>
              </a:rPr>
              <a:t> packet = new </a:t>
            </a:r>
            <a:r>
              <a:rPr lang="en-US" sz="2000" i="1" dirty="0" err="1">
                <a:latin typeface="Times New Roman" pitchFamily="18" charset="0"/>
                <a:cs typeface="Times New Roman" pitchFamily="18" charset="0"/>
              </a:rPr>
              <a:t>DatagramPacket</a:t>
            </a:r>
            <a:r>
              <a:rPr lang="en-US" sz="2000" i="1" dirty="0">
                <a:latin typeface="Times New Roman" pitchFamily="18" charset="0"/>
                <a:cs typeface="Times New Roman" pitchFamily="18" charset="0"/>
              </a:rPr>
              <a:t>(buffer, </a:t>
            </a:r>
            <a:r>
              <a:rPr lang="en-US" sz="2000" i="1" dirty="0" err="1">
                <a:latin typeface="Times New Roman" pitchFamily="18" charset="0"/>
                <a:cs typeface="Times New Roman" pitchFamily="18" charset="0"/>
              </a:rPr>
              <a:t>buffer.length</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socket.receive</a:t>
            </a:r>
            <a:r>
              <a:rPr lang="en-US" sz="2000" i="1" dirty="0">
                <a:latin typeface="Times New Roman" pitchFamily="18" charset="0"/>
                <a:cs typeface="Times New Roman" pitchFamily="18" charset="0"/>
              </a:rPr>
              <a:t>(packet);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str</a:t>
            </a:r>
            <a:r>
              <a:rPr lang="en-US" sz="2000" i="1" dirty="0">
                <a:latin typeface="Times New Roman" pitchFamily="18" charset="0"/>
                <a:cs typeface="Times New Roman" pitchFamily="18" charset="0"/>
              </a:rPr>
              <a:t> = new String(</a:t>
            </a:r>
            <a:r>
              <a:rPr lang="en-US" sz="2000" i="1" dirty="0" err="1">
                <a:latin typeface="Times New Roman" pitchFamily="18" charset="0"/>
                <a:cs typeface="Times New Roman" pitchFamily="18" charset="0"/>
              </a:rPr>
              <a:t>packet.getData</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System.out.println</a:t>
            </a:r>
            <a:r>
              <a:rPr lang="en-US" sz="2000" i="1" dirty="0">
                <a:latin typeface="Times New Roman" pitchFamily="18" charset="0"/>
                <a:cs typeface="Times New Roman" pitchFamily="18" charset="0"/>
              </a:rPr>
              <a:t>("</a:t>
            </a:r>
            <a:r>
              <a:rPr lang="en-US" sz="2000" i="1" dirty="0" err="1">
                <a:latin typeface="Times New Roman" pitchFamily="18" charset="0"/>
                <a:cs typeface="Times New Roman" pitchFamily="18" charset="0"/>
              </a:rPr>
              <a:t>Prinyatoye</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soob</a:t>
            </a:r>
            <a:r>
              <a:rPr lang="ru-RU" sz="2000" i="1" dirty="0">
                <a:latin typeface="Times New Roman" pitchFamily="18" charset="0"/>
                <a:cs typeface="Times New Roman" pitchFamily="18" charset="0"/>
              </a:rPr>
              <a:t>щ</a:t>
            </a:r>
            <a:r>
              <a:rPr lang="en-US" sz="2000" i="1" dirty="0" err="1">
                <a:latin typeface="Times New Roman" pitchFamily="18" charset="0"/>
                <a:cs typeface="Times New Roman" pitchFamily="18" charset="0"/>
              </a:rPr>
              <a:t>eniye</a:t>
            </a:r>
            <a:r>
              <a:rPr lang="en-US" sz="2000" i="1" dirty="0">
                <a:latin typeface="Times New Roman" pitchFamily="18" charset="0"/>
                <a:cs typeface="Times New Roman" pitchFamily="18" charset="0"/>
              </a:rPr>
              <a:t> : "+</a:t>
            </a:r>
            <a:r>
              <a:rPr lang="en-US" sz="2000" i="1" dirty="0" err="1">
                <a:latin typeface="Times New Roman" pitchFamily="18" charset="0"/>
                <a:cs typeface="Times New Roman" pitchFamily="18" charset="0"/>
              </a:rPr>
              <a:t>str</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catch(Exception e){</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System.out.println</a:t>
            </a:r>
            <a:r>
              <a:rPr lang="en-US" sz="2000" i="1" dirty="0">
                <a:latin typeface="Times New Roman" pitchFamily="18" charset="0"/>
                <a:cs typeface="Times New Roman" pitchFamily="18" charset="0"/>
              </a:rPr>
              <a:t>("</a:t>
            </a:r>
            <a:r>
              <a:rPr lang="en-US" sz="2000" i="1" dirty="0" err="1">
                <a:latin typeface="Times New Roman" pitchFamily="18" charset="0"/>
                <a:cs typeface="Times New Roman" pitchFamily="18" charset="0"/>
              </a:rPr>
              <a:t>Oshibka</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Oldingi kod fragmentida receive() metodini chaqiruvchi DatagramPacket klassning packet ob’ekti yaratiladi. getData() metodi packet ob’ektidan ma’lumotlarni qabul qiladi va ularni string turdagi o‘zgaruvchida saqlaydi.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Quyidagi kod UDPServer ga xabarlarni uzatuvchi va qabul qiluvchi UDPClient klassini yaratish uchun ishlatiladi:</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import java.io.*;</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import java.net.*;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public class </a:t>
            </a:r>
            <a:r>
              <a:rPr lang="en-US" sz="2000" i="1" dirty="0" err="1" smtClean="0">
                <a:latin typeface="Times New Roman" pitchFamily="18" charset="0"/>
                <a:cs typeface="Times New Roman" pitchFamily="18" charset="0"/>
              </a:rPr>
              <a:t>UDPClient</a:t>
            </a:r>
            <a:endParaRPr lang="en-US" sz="2000" i="1" dirty="0" smtClean="0">
              <a:latin typeface="Times New Roman" pitchFamily="18" charset="0"/>
              <a:cs typeface="Times New Roman" pitchFamily="18" charset="0"/>
            </a:endParaRPr>
          </a:p>
          <a:p>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o‘zgaruvchilar e’lon qilinadi</a:t>
            </a:r>
            <a:r>
              <a:rPr lang="en-US" sz="2000" i="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static </a:t>
            </a:r>
            <a:r>
              <a:rPr lang="en-US" sz="2000" i="1" dirty="0" err="1">
                <a:latin typeface="Times New Roman" pitchFamily="18" charset="0"/>
                <a:cs typeface="Times New Roman" pitchFamily="18" charset="0"/>
              </a:rPr>
              <a:t>DatagramSocket</a:t>
            </a:r>
            <a:r>
              <a:rPr lang="en-US" sz="2000" i="1" dirty="0">
                <a:latin typeface="Times New Roman" pitchFamily="18" charset="0"/>
                <a:cs typeface="Times New Roman" pitchFamily="18" charset="0"/>
              </a:rPr>
              <a:t> socket;</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static </a:t>
            </a:r>
            <a:r>
              <a:rPr lang="en-US" sz="2000" i="1" dirty="0" err="1">
                <a:latin typeface="Times New Roman" pitchFamily="18" charset="0"/>
                <a:cs typeface="Times New Roman" pitchFamily="18" charset="0"/>
              </a:rPr>
              <a:t>InetAddress</a:t>
            </a:r>
            <a:r>
              <a:rPr lang="en-US" sz="2000" i="1" dirty="0">
                <a:latin typeface="Times New Roman" pitchFamily="18" charset="0"/>
                <a:cs typeface="Times New Roman" pitchFamily="18" charset="0"/>
              </a:rPr>
              <a:t> address</a:t>
            </a:r>
            <a:r>
              <a:rPr lang="en-US" sz="2000" i="1"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443694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107504" y="0"/>
            <a:ext cx="9036496" cy="6524863"/>
          </a:xfrm>
          <a:prstGeom prst="rect">
            <a:avLst/>
          </a:prstGeom>
        </p:spPr>
        <p:txBody>
          <a:bodyPr wrap="square">
            <a:spAutoFit/>
          </a:bodyPr>
          <a:lstStyle/>
          <a:p>
            <a:pPr algn="just"/>
            <a:r>
              <a:rPr lang="en-US" sz="2000" i="1" dirty="0">
                <a:latin typeface="Times New Roman" pitchFamily="18" charset="0"/>
                <a:cs typeface="Times New Roman" pitchFamily="18" charset="0"/>
              </a:rPr>
              <a:t>static byte[] buffer;</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static </a:t>
            </a:r>
            <a:r>
              <a:rPr lang="en-US" sz="2000" i="1" dirty="0" err="1">
                <a:latin typeface="Times New Roman" pitchFamily="18" charset="0"/>
                <a:cs typeface="Times New Roman" pitchFamily="18" charset="0"/>
              </a:rPr>
              <a:t>DatagramPacket</a:t>
            </a:r>
            <a:r>
              <a:rPr lang="en-US" sz="2000" i="1" dirty="0">
                <a:latin typeface="Times New Roman" pitchFamily="18" charset="0"/>
                <a:cs typeface="Times New Roman" pitchFamily="18" charset="0"/>
              </a:rPr>
              <a:t> packet;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static String </a:t>
            </a:r>
            <a:r>
              <a:rPr lang="en-US" sz="2000" i="1" dirty="0" err="1">
                <a:latin typeface="Times New Roman" pitchFamily="18" charset="0"/>
                <a:cs typeface="Times New Roman" pitchFamily="18" charset="0"/>
              </a:rPr>
              <a:t>str</a:t>
            </a:r>
            <a:r>
              <a:rPr lang="en-US" sz="2000" i="1" dirty="0">
                <a:latin typeface="Times New Roman" pitchFamily="18" charset="0"/>
                <a:cs typeface="Times New Roman" pitchFamily="18" charset="0"/>
              </a:rPr>
              <a:t>, str2;</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static </a:t>
            </a:r>
            <a:r>
              <a:rPr lang="en-US" sz="2000" i="1" dirty="0" err="1">
                <a:latin typeface="Times New Roman" pitchFamily="18" charset="0"/>
                <a:cs typeface="Times New Roman" pitchFamily="18" charset="0"/>
              </a:rPr>
              <a:t>BufferedReader</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br</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public static void main(String </a:t>
            </a:r>
            <a:r>
              <a:rPr lang="en-US" sz="2000" i="1" dirty="0" err="1">
                <a:latin typeface="Times New Roman" pitchFamily="18" charset="0"/>
                <a:cs typeface="Times New Roman" pitchFamily="18" charset="0"/>
              </a:rPr>
              <a:t>arg</a:t>
            </a:r>
            <a:r>
              <a:rPr lang="en-US" sz="2000" i="1" dirty="0">
                <a:latin typeface="Times New Roman" pitchFamily="18" charset="0"/>
                <a:cs typeface="Times New Roman" pitchFamily="18" charset="0"/>
              </a:rPr>
              <a:t>[]) throws Exception{</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konsoldan o‘qiladigan kiruvchi oqim yaratiladi</a:t>
            </a:r>
            <a:r>
              <a:rPr lang="en-US" sz="2000" i="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br</a:t>
            </a:r>
            <a:r>
              <a:rPr lang="en-US" sz="2000" i="1" dirty="0">
                <a:latin typeface="Times New Roman" pitchFamily="18" charset="0"/>
                <a:cs typeface="Times New Roman" pitchFamily="18" charset="0"/>
              </a:rPr>
              <a:t> = new </a:t>
            </a:r>
            <a:r>
              <a:rPr lang="en-US" sz="2000" i="1" dirty="0" err="1">
                <a:latin typeface="Times New Roman" pitchFamily="18" charset="0"/>
                <a:cs typeface="Times New Roman" pitchFamily="18" charset="0"/>
              </a:rPr>
              <a:t>BufferedReader</a:t>
            </a:r>
            <a:r>
              <a:rPr lang="en-US" sz="2000" i="1" dirty="0">
                <a:latin typeface="Times New Roman" pitchFamily="18" charset="0"/>
                <a:cs typeface="Times New Roman" pitchFamily="18" charset="0"/>
              </a:rPr>
              <a:t>(new </a:t>
            </a:r>
            <a:r>
              <a:rPr lang="en-US" sz="2000" i="1" dirty="0" err="1">
                <a:latin typeface="Times New Roman" pitchFamily="18" charset="0"/>
                <a:cs typeface="Times New Roman" pitchFamily="18" charset="0"/>
              </a:rPr>
              <a:t>InputStreamReader</a:t>
            </a:r>
            <a:r>
              <a:rPr lang="en-US" sz="2000" i="1" dirty="0">
                <a:latin typeface="Times New Roman" pitchFamily="18" charset="0"/>
                <a:cs typeface="Times New Roman" pitchFamily="18" charset="0"/>
              </a:rPr>
              <a:t>(System.in));</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while(true)</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yangi </a:t>
            </a:r>
            <a:r>
              <a:rPr lang="en-US" sz="2000" i="1" dirty="0" err="1">
                <a:latin typeface="Times New Roman" pitchFamily="18" charset="0"/>
                <a:cs typeface="Times New Roman" pitchFamily="18" charset="0"/>
              </a:rPr>
              <a:t>DatagramSocket</a:t>
            </a:r>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ob’ekti yaratiladi va port bilan bog‘lanadi</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socket = new </a:t>
            </a:r>
            <a:r>
              <a:rPr lang="en-US" sz="2000" i="1" dirty="0" err="1">
                <a:latin typeface="Times New Roman" pitchFamily="18" charset="0"/>
                <a:cs typeface="Times New Roman" pitchFamily="18" charset="0"/>
              </a:rPr>
              <a:t>DatagramSocket</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address = </a:t>
            </a:r>
            <a:r>
              <a:rPr lang="en-US" sz="2000" i="1" dirty="0" err="1">
                <a:latin typeface="Times New Roman" pitchFamily="18" charset="0"/>
                <a:cs typeface="Times New Roman" pitchFamily="18" charset="0"/>
              </a:rPr>
              <a:t>InetAddress.getByName</a:t>
            </a:r>
            <a:r>
              <a:rPr lang="en-US" sz="2000" i="1" dirty="0">
                <a:latin typeface="Times New Roman" pitchFamily="18" charset="0"/>
                <a:cs typeface="Times New Roman" pitchFamily="18" charset="0"/>
              </a:rPr>
              <a:t>("127.0.0.1");</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buffer = new byte[256];</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packet = new </a:t>
            </a:r>
            <a:r>
              <a:rPr lang="en-US" sz="2000" i="1" dirty="0" err="1">
                <a:latin typeface="Times New Roman" pitchFamily="18" charset="0"/>
                <a:cs typeface="Times New Roman" pitchFamily="18" charset="0"/>
              </a:rPr>
              <a:t>DatagramPacket</a:t>
            </a:r>
            <a:r>
              <a:rPr lang="en-US" sz="2000" i="1" dirty="0">
                <a:latin typeface="Times New Roman" pitchFamily="18" charset="0"/>
                <a:cs typeface="Times New Roman" pitchFamily="18" charset="0"/>
              </a:rPr>
              <a:t>(buffer, </a:t>
            </a:r>
            <a:r>
              <a:rPr lang="en-US" sz="2000" i="1" dirty="0" err="1">
                <a:latin typeface="Times New Roman" pitchFamily="18" charset="0"/>
                <a:cs typeface="Times New Roman" pitchFamily="18" charset="0"/>
              </a:rPr>
              <a:t>buffer.length</a:t>
            </a:r>
            <a:r>
              <a:rPr lang="en-US" sz="2000" i="1" dirty="0">
                <a:latin typeface="Times New Roman" pitchFamily="18" charset="0"/>
                <a:cs typeface="Times New Roman" pitchFamily="18" charset="0"/>
              </a:rPr>
              <a:t>, address, 1501);</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DatagramPacket</a:t>
            </a:r>
            <a:r>
              <a:rPr lang="en-US" sz="2000" i="1" dirty="0">
                <a:latin typeface="Times New Roman" pitchFamily="18" charset="0"/>
                <a:cs typeface="Times New Roman" pitchFamily="18" charset="0"/>
              </a:rPr>
              <a:t> server</a:t>
            </a:r>
            <a:r>
              <a:rPr lang="uz-Cyrl-UZ" sz="2000" i="1" dirty="0">
                <a:latin typeface="Times New Roman" pitchFamily="18" charset="0"/>
                <a:cs typeface="Times New Roman" pitchFamily="18" charset="0"/>
              </a:rPr>
              <a:t>ga yuboriladi</a:t>
            </a:r>
            <a:r>
              <a:rPr lang="en-US" sz="2000" i="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socket.send</a:t>
            </a:r>
            <a:r>
              <a:rPr lang="en-US" sz="2000" i="1" dirty="0">
                <a:latin typeface="Times New Roman" pitchFamily="18" charset="0"/>
                <a:cs typeface="Times New Roman" pitchFamily="18" charset="0"/>
              </a:rPr>
              <a:t>(packet);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System.out.println</a:t>
            </a:r>
            <a:r>
              <a:rPr lang="en-US" sz="2000" i="1" dirty="0">
                <a:latin typeface="Times New Roman" pitchFamily="18" charset="0"/>
                <a:cs typeface="Times New Roman" pitchFamily="18" charset="0"/>
              </a:rPr>
              <a:t>("Sending request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packet = new </a:t>
            </a:r>
            <a:r>
              <a:rPr lang="en-US" sz="2000" i="1" dirty="0" err="1">
                <a:latin typeface="Times New Roman" pitchFamily="18" charset="0"/>
                <a:cs typeface="Times New Roman" pitchFamily="18" charset="0"/>
              </a:rPr>
              <a:t>DatagramPacket</a:t>
            </a:r>
            <a:r>
              <a:rPr lang="en-US" sz="2000" i="1" dirty="0">
                <a:latin typeface="Times New Roman" pitchFamily="18" charset="0"/>
                <a:cs typeface="Times New Roman" pitchFamily="18" charset="0"/>
              </a:rPr>
              <a:t>(buffer, </a:t>
            </a:r>
            <a:r>
              <a:rPr lang="en-US" sz="2000" i="1" dirty="0" err="1">
                <a:latin typeface="Times New Roman" pitchFamily="18" charset="0"/>
                <a:cs typeface="Times New Roman" pitchFamily="18" charset="0"/>
              </a:rPr>
              <a:t>buffer.length</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serverdan </a:t>
            </a:r>
            <a:r>
              <a:rPr lang="en-US" sz="2000" i="1" dirty="0" err="1">
                <a:latin typeface="Times New Roman" pitchFamily="18" charset="0"/>
                <a:cs typeface="Times New Roman" pitchFamily="18" charset="0"/>
              </a:rPr>
              <a:t>DatagramPacket</a:t>
            </a:r>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qabul qilinadi</a:t>
            </a:r>
            <a:r>
              <a:rPr lang="en-US" sz="2000" i="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socket.receive</a:t>
            </a:r>
            <a:r>
              <a:rPr lang="en-US" sz="2000" i="1" dirty="0">
                <a:latin typeface="Times New Roman" pitchFamily="18" charset="0"/>
                <a:cs typeface="Times New Roman" pitchFamily="18" charset="0"/>
              </a:rPr>
              <a:t>(packet);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datagrammalar paketi ob’ektidan ma’lumotlar qabul qilinadi</a:t>
            </a:r>
            <a:r>
              <a:rPr lang="en-US" sz="2000" i="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str</a:t>
            </a:r>
            <a:r>
              <a:rPr lang="en-US" sz="2000" i="1" dirty="0">
                <a:latin typeface="Times New Roman" pitchFamily="18" charset="0"/>
                <a:cs typeface="Times New Roman" pitchFamily="18" charset="0"/>
              </a:rPr>
              <a:t> = new String(</a:t>
            </a:r>
            <a:r>
              <a:rPr lang="en-US" sz="2000" i="1" dirty="0" err="1">
                <a:latin typeface="Times New Roman" pitchFamily="18" charset="0"/>
                <a:cs typeface="Times New Roman" pitchFamily="18" charset="0"/>
              </a:rPr>
              <a:t>packet.getData</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89270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2097" y="0"/>
            <a:ext cx="9144000" cy="4708981"/>
          </a:xfrm>
          <a:prstGeom prst="rect">
            <a:avLst/>
          </a:prstGeom>
        </p:spPr>
        <p:txBody>
          <a:bodyPr wrap="square">
            <a:spAutoFit/>
          </a:bodyPr>
          <a:lstStyle/>
          <a:p>
            <a:pPr algn="just"/>
            <a:r>
              <a:rPr lang="en-US" sz="2000" i="1" dirty="0" err="1">
                <a:latin typeface="Times New Roman" pitchFamily="18" charset="0"/>
                <a:cs typeface="Times New Roman" pitchFamily="18" charset="0"/>
              </a:rPr>
              <a:t>System.out.println</a:t>
            </a:r>
            <a:r>
              <a:rPr lang="en-US" sz="2000" i="1" dirty="0">
                <a:latin typeface="Times New Roman" pitchFamily="18" charset="0"/>
                <a:cs typeface="Times New Roman" pitchFamily="18" charset="0"/>
              </a:rPr>
              <a:t>("Received message : "+</a:t>
            </a:r>
            <a:r>
              <a:rPr lang="en-US" sz="2000" i="1" dirty="0" err="1">
                <a:latin typeface="Times New Roman" pitchFamily="18" charset="0"/>
                <a:cs typeface="Times New Roman" pitchFamily="18" charset="0"/>
              </a:rPr>
              <a:t>str.trim</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System.out.println</a:t>
            </a:r>
            <a:r>
              <a:rPr lang="en-US" sz="2000" i="1" dirty="0">
                <a:latin typeface="Times New Roman" pitchFamily="18" charset="0"/>
                <a:cs typeface="Times New Roman" pitchFamily="18" charset="0"/>
              </a:rPr>
              <a:t>("Do you want continue (Yes/No) :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str2 = </a:t>
            </a:r>
            <a:r>
              <a:rPr lang="en-US" sz="2000" i="1" dirty="0" err="1">
                <a:latin typeface="Times New Roman" pitchFamily="18" charset="0"/>
                <a:cs typeface="Times New Roman" pitchFamily="18" charset="0"/>
              </a:rPr>
              <a:t>br.readLine</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while </a:t>
            </a:r>
            <a:r>
              <a:rPr lang="uz-Cyrl-UZ" sz="2000" i="1" dirty="0">
                <a:latin typeface="Times New Roman" pitchFamily="18" charset="0"/>
                <a:cs typeface="Times New Roman" pitchFamily="18" charset="0"/>
              </a:rPr>
              <a:t>siklidan chiqish</a:t>
            </a:r>
            <a:r>
              <a:rPr lang="en-US" sz="2000" i="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if(str2.equals("No")) break;</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soket</a:t>
            </a:r>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ob’ekti yopiladi</a:t>
            </a:r>
            <a:r>
              <a:rPr lang="en-US" sz="2000" i="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socket.close</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Ko‘rib </a:t>
            </a:r>
            <a:r>
              <a:rPr lang="uz-Cyrl-UZ" sz="2000" dirty="0">
                <a:latin typeface="Times New Roman" pitchFamily="18" charset="0"/>
                <a:cs typeface="Times New Roman" pitchFamily="18" charset="0"/>
              </a:rPr>
              <a:t>chiqilgan kodda UDPClient klassining main() metodidagi  while sikli UDPServer ga so‘rovlarni yuboradi va qabul qiladi. Socket ob’ektining send()</a:t>
            </a:r>
            <a:r>
              <a:rPr lang="uz-Cyrl-UZ" sz="2000" b="1" dirty="0">
                <a:latin typeface="Times New Roman" pitchFamily="18" charset="0"/>
                <a:cs typeface="Times New Roman" pitchFamily="18" charset="0"/>
              </a:rPr>
              <a:t> </a:t>
            </a:r>
            <a:r>
              <a:rPr lang="uz-Cyrl-UZ" sz="2000" dirty="0">
                <a:latin typeface="Times New Roman" pitchFamily="18" charset="0"/>
                <a:cs typeface="Times New Roman" pitchFamily="18" charset="0"/>
              </a:rPr>
              <a:t>metodi serverga so‘rovlarni yuboradi, receive() metodi esa UDPServer dan xabarlarni qabul qiladi. 1.1-rasmda UDPClient klient va UDPServer serverning o‘zaro aloqasidan olingan natija keltirilgan. (har bir ilovani bajarish uchun alohida darcha ochiladi).</a:t>
            </a:r>
            <a:endParaRPr lang="ru-RU" sz="2000" dirty="0">
              <a:latin typeface="Times New Roman" pitchFamily="18" charset="0"/>
              <a:cs typeface="Times New Roman" pitchFamily="18" charset="0"/>
            </a:endParaRPr>
          </a:p>
        </p:txBody>
      </p:sp>
      <p:pic>
        <p:nvPicPr>
          <p:cNvPr id="5" name="Рисунок 4"/>
          <p:cNvPicPr/>
          <p:nvPr/>
        </p:nvPicPr>
        <p:blipFill>
          <a:blip r:embed="rId2"/>
          <a:srcRect/>
          <a:stretch>
            <a:fillRect/>
          </a:stretch>
        </p:blipFill>
        <p:spPr bwMode="auto">
          <a:xfrm>
            <a:off x="323528" y="4613910"/>
            <a:ext cx="5553075" cy="2244090"/>
          </a:xfrm>
          <a:prstGeom prst="rect">
            <a:avLst/>
          </a:prstGeom>
          <a:noFill/>
          <a:ln w="9525">
            <a:noFill/>
            <a:miter lim="800000"/>
            <a:headEnd/>
            <a:tailEnd/>
          </a:ln>
        </p:spPr>
      </p:pic>
      <p:sp>
        <p:nvSpPr>
          <p:cNvPr id="6" name="Прямоугольник 5"/>
          <p:cNvSpPr/>
          <p:nvPr/>
        </p:nvSpPr>
        <p:spPr>
          <a:xfrm>
            <a:off x="5876604" y="6010266"/>
            <a:ext cx="3245300" cy="400110"/>
          </a:xfrm>
          <a:prstGeom prst="rect">
            <a:avLst/>
          </a:prstGeom>
        </p:spPr>
        <p:txBody>
          <a:bodyPr wrap="square">
            <a:spAutoFit/>
          </a:bodyPr>
          <a:lstStyle/>
          <a:p>
            <a:r>
              <a:rPr lang="uz-Cyrl-UZ" sz="2000" dirty="0">
                <a:latin typeface="Times New Roman" pitchFamily="18" charset="0"/>
                <a:cs typeface="Times New Roman" pitchFamily="18" charset="0"/>
              </a:rPr>
              <a:t>1.1-rasm. UDP </a:t>
            </a:r>
            <a:r>
              <a:rPr lang="en-US" sz="2000" dirty="0">
                <a:latin typeface="Times New Roman" pitchFamily="18" charset="0"/>
                <a:cs typeface="Times New Roman" pitchFamily="18" charset="0"/>
              </a:rPr>
              <a:t>K</a:t>
            </a:r>
            <a:r>
              <a:rPr lang="uz-Cyrl-UZ" sz="2000" dirty="0">
                <a:latin typeface="Times New Roman" pitchFamily="18" charset="0"/>
                <a:cs typeface="Times New Roman" pitchFamily="18" charset="0"/>
              </a:rPr>
              <a:t>lient natijasi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946124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0"/>
            <a:ext cx="8928992" cy="6555641"/>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Keltirilgan </a:t>
            </a:r>
            <a:r>
              <a:rPr lang="uz-Cyrl-UZ" sz="2000" dirty="0">
                <a:latin typeface="Times New Roman" pitchFamily="18" charset="0"/>
                <a:cs typeface="Times New Roman" pitchFamily="18" charset="0"/>
              </a:rPr>
              <a:t>rasmda «Sending request» xabari klient UDPServer ga so‘rov yuborganligini ko‘rsatadi. UDPServer klient so‘rovini qabul qilganidan keyin, konsol oynasiga «Request string for sending to client» xabarini chiqaradi. Server foydalanuvchidan xabar olganidan keyin UDPServer natijasi server oynasida aks ettiriladi. UDPServer konsol oynasiga «Hello, Client!» xabarini chiqaradi va klientga yuboradi. Agar foydalanuvchi klient konsoliga «No» ni kiritsa, UDPClient jarayoni tugallanadi.</a:t>
            </a:r>
            <a:endParaRPr lang="ru-RU" sz="2000" dirty="0">
              <a:latin typeface="Times New Roman" pitchFamily="18" charset="0"/>
              <a:cs typeface="Times New Roman" pitchFamily="18" charset="0"/>
            </a:endParaRPr>
          </a:p>
          <a:p>
            <a:pPr algn="ctr"/>
            <a:r>
              <a:rPr lang="uz-Cyrl-UZ" sz="2000" b="1" dirty="0">
                <a:latin typeface="Times New Roman" pitchFamily="18" charset="0"/>
                <a:cs typeface="Times New Roman" pitchFamily="18" charset="0"/>
              </a:rPr>
              <a:t>Server klassini </a:t>
            </a:r>
            <a:r>
              <a:rPr lang="uz-Cyrl-UZ" sz="2000" b="1" dirty="0" smtClean="0">
                <a:latin typeface="Times New Roman" pitchFamily="18" charset="0"/>
                <a:cs typeface="Times New Roman" pitchFamily="18" charset="0"/>
              </a:rPr>
              <a:t>yaratish</a:t>
            </a:r>
            <a:endParaRPr lang="en-US" sz="2000" b="1" dirty="0" smtClean="0">
              <a:latin typeface="Times New Roman" pitchFamily="18" charset="0"/>
              <a:cs typeface="Times New Roman" pitchFamily="18" charset="0"/>
            </a:endParaRPr>
          </a:p>
          <a:p>
            <a:pPr algn="ct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Server </a:t>
            </a:r>
            <a:r>
              <a:rPr lang="uz-Cyrl-UZ" sz="2000" dirty="0">
                <a:latin typeface="Times New Roman" pitchFamily="18" charset="0"/>
                <a:cs typeface="Times New Roman" pitchFamily="18" charset="0"/>
              </a:rPr>
              <a:t>klassi 13.0.0.1 guruhda ro‘yxatga olingan barcha klientlarga xabarlarni yuborish uchun mo‘ljallangan. Server klassini yaratish ichiga quyidagi asosiy bosqichlar kiradi: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1. DatagramSocket klassi asosida soketni yaratish. Server soketi xabarlarini yuborish vazifasini bajaradi.</a:t>
            </a:r>
            <a:endParaRPr lang="ru-RU"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2. </a:t>
            </a:r>
            <a:r>
              <a:rPr lang="uz-Cyrl-UZ" sz="2000" dirty="0">
                <a:latin typeface="Times New Roman" pitchFamily="18" charset="0"/>
                <a:cs typeface="Times New Roman" pitchFamily="18" charset="0"/>
              </a:rPr>
              <a:t>Server adresini namoyish qiluvchi InetAddress klass ob’ektini yaratish. Xabarlarni guruhli (multicast) yuborish uchun adreslar 224.0.0.0 – 19.255.255.255 diapazondan tanlanadi. Bizning ilovamizda 13.0.0.1 adresi ishlatiladi.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3. Klaviaturadan xabarlarni kiritishni tashkillashtirish va kiritilgan ma’lumotlarga ega bo‘lgan va paketlarni guruhning barcha klientlariga yuborish uchun DatagramSocket klassining send() metodidan foydalanuvchi DatagramPacket sinfining packet ob’ektini yaratish.</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262539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44000" cy="7109639"/>
          </a:xfrm>
          <a:prstGeom prst="rect">
            <a:avLst/>
          </a:prstGeom>
        </p:spPr>
        <p:txBody>
          <a:bodyPr wrap="square">
            <a:spAutoFit/>
          </a:bodyPr>
          <a:lstStyle/>
          <a:p>
            <a:pPr algn="just"/>
            <a:r>
              <a:rPr lang="uz-Cyrl-UZ" sz="2000" dirty="0">
                <a:latin typeface="Times New Roman" pitchFamily="18" charset="0"/>
                <a:cs typeface="Times New Roman" pitchFamily="18" charset="0"/>
              </a:rPr>
              <a:t>1) Server klassini yaratish uchun sichqonchaning o‘ng tugmasini Package Explorer oynasidagi katalog src ustiga bosing va New/Class ni tanlang.</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2) Finish ni bosing. Paydo bo‘lgan oynada paket nomi (Package) sifatida ru.ifmo.socket ni ko‘rsating, klass nomi (Name) sifatida esa Server ni yozing.</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Server klassining kodi quyida keltirilgan:</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package </a:t>
            </a:r>
            <a:r>
              <a:rPr lang="en-US" sz="2000" i="1" dirty="0" err="1">
                <a:latin typeface="Times New Roman" pitchFamily="18" charset="0"/>
                <a:cs typeface="Times New Roman" pitchFamily="18" charset="0"/>
              </a:rPr>
              <a:t>ru.ifmo.socket</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import java.io.*;</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import java.net.*;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public class Server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private </a:t>
            </a:r>
            <a:r>
              <a:rPr lang="en-US" sz="2000" i="1" dirty="0" err="1">
                <a:latin typeface="Times New Roman" pitchFamily="18" charset="0"/>
                <a:cs typeface="Times New Roman" pitchFamily="18" charset="0"/>
              </a:rPr>
              <a:t>BufferedReader</a:t>
            </a:r>
            <a:r>
              <a:rPr lang="en-US" sz="2000" i="1" dirty="0">
                <a:latin typeface="Times New Roman" pitchFamily="18" charset="0"/>
                <a:cs typeface="Times New Roman" pitchFamily="18" charset="0"/>
              </a:rPr>
              <a:t> in = null;</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private String </a:t>
            </a:r>
            <a:r>
              <a:rPr lang="en-US" sz="2000" i="1" dirty="0" err="1">
                <a:latin typeface="Times New Roman" pitchFamily="18" charset="0"/>
                <a:cs typeface="Times New Roman" pitchFamily="18" charset="0"/>
              </a:rPr>
              <a:t>str</a:t>
            </a:r>
            <a:r>
              <a:rPr lang="en-US" sz="2000" i="1" dirty="0">
                <a:latin typeface="Times New Roman" pitchFamily="18" charset="0"/>
                <a:cs typeface="Times New Roman" pitchFamily="18" charset="0"/>
              </a:rPr>
              <a:t> = null;</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private byte[] buffer;</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private </a:t>
            </a:r>
            <a:r>
              <a:rPr lang="en-US" sz="2000" i="1" dirty="0" err="1">
                <a:latin typeface="Times New Roman" pitchFamily="18" charset="0"/>
                <a:cs typeface="Times New Roman" pitchFamily="18" charset="0"/>
              </a:rPr>
              <a:t>DatagramPacket</a:t>
            </a:r>
            <a:r>
              <a:rPr lang="en-US" sz="2000" i="1" dirty="0">
                <a:latin typeface="Times New Roman" pitchFamily="18" charset="0"/>
                <a:cs typeface="Times New Roman" pitchFamily="18" charset="0"/>
              </a:rPr>
              <a:t> packet;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private </a:t>
            </a:r>
            <a:r>
              <a:rPr lang="en-US" sz="2000" i="1" dirty="0" err="1">
                <a:latin typeface="Times New Roman" pitchFamily="18" charset="0"/>
                <a:cs typeface="Times New Roman" pitchFamily="18" charset="0"/>
              </a:rPr>
              <a:t>InetAddress</a:t>
            </a:r>
            <a:r>
              <a:rPr lang="en-US" sz="2000" i="1" dirty="0">
                <a:latin typeface="Times New Roman" pitchFamily="18" charset="0"/>
                <a:cs typeface="Times New Roman" pitchFamily="18" charset="0"/>
              </a:rPr>
              <a:t> address;</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private </a:t>
            </a:r>
            <a:r>
              <a:rPr lang="en-US" sz="2000" i="1" dirty="0" err="1">
                <a:latin typeface="Times New Roman" pitchFamily="18" charset="0"/>
                <a:cs typeface="Times New Roman" pitchFamily="18" charset="0"/>
              </a:rPr>
              <a:t>DatagramSocket</a:t>
            </a:r>
            <a:r>
              <a:rPr lang="en-US" sz="2000" i="1" dirty="0">
                <a:latin typeface="Times New Roman" pitchFamily="18" charset="0"/>
                <a:cs typeface="Times New Roman" pitchFamily="18" charset="0"/>
              </a:rPr>
              <a:t> socket;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public Server() throws </a:t>
            </a:r>
            <a:r>
              <a:rPr lang="en-US" sz="2000" i="1" dirty="0" err="1">
                <a:latin typeface="Times New Roman" pitchFamily="18" charset="0"/>
                <a:cs typeface="Times New Roman" pitchFamily="18" charset="0"/>
              </a:rPr>
              <a:t>IOException</a:t>
            </a:r>
            <a:r>
              <a:rPr lang="en-US" sz="2000" i="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System.out.println</a:t>
            </a:r>
            <a:r>
              <a:rPr lang="en-US" sz="2000" i="1" dirty="0">
                <a:latin typeface="Times New Roman" pitchFamily="18" charset="0"/>
                <a:cs typeface="Times New Roman" pitchFamily="18" charset="0"/>
              </a:rPr>
              <a:t>("Sending messages</a:t>
            </a:r>
            <a:r>
              <a:rPr lang="en-US" sz="2000" i="1" dirty="0" smtClean="0">
                <a:latin typeface="Times New Roman" pitchFamily="18" charset="0"/>
                <a:cs typeface="Times New Roman" pitchFamily="18" charset="0"/>
              </a:rPr>
              <a:t>");</a:t>
            </a:r>
          </a:p>
          <a:p>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klient so‘rovlarini qabul qilish uchun </a:t>
            </a:r>
            <a:endParaRPr lang="ru-RU" sz="2000" dirty="0">
              <a:latin typeface="Times New Roman" pitchFamily="18" charset="0"/>
              <a:cs typeface="Times New Roman" pitchFamily="18" charset="0"/>
            </a:endParaRPr>
          </a:p>
          <a:p>
            <a:r>
              <a:rPr lang="uz-Cyrl-UZ" sz="2000" i="1" dirty="0">
                <a:latin typeface="Times New Roman" pitchFamily="18" charset="0"/>
                <a:cs typeface="Times New Roman" pitchFamily="18" charset="0"/>
              </a:rPr>
              <a:t>//</a:t>
            </a:r>
            <a:r>
              <a:rPr lang="en-US" sz="2000" i="1" dirty="0" err="1">
                <a:latin typeface="Times New Roman" pitchFamily="18" charset="0"/>
                <a:cs typeface="Times New Roman" pitchFamily="18" charset="0"/>
              </a:rPr>
              <a:t>DatagramSocket</a:t>
            </a:r>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ob’ekti yaratiladi</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socket = new </a:t>
            </a:r>
            <a:r>
              <a:rPr lang="en-US" sz="2000" i="1" dirty="0" err="1">
                <a:latin typeface="Times New Roman" pitchFamily="18" charset="0"/>
                <a:cs typeface="Times New Roman" pitchFamily="18" charset="0"/>
              </a:rPr>
              <a:t>DatagramSocket</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Guruhda ro‘yxatga olingan barcha klientlarga </a:t>
            </a:r>
            <a:endParaRPr lang="ru-RU" sz="2000" dirty="0">
              <a:latin typeface="Times New Roman" pitchFamily="18" charset="0"/>
              <a:cs typeface="Times New Roman" pitchFamily="18" charset="0"/>
            </a:endParaRPr>
          </a:p>
          <a:p>
            <a:r>
              <a:rPr lang="uz-Cyrl-UZ" sz="2000" i="1" dirty="0">
                <a:latin typeface="Times New Roman" pitchFamily="18" charset="0"/>
                <a:cs typeface="Times New Roman" pitchFamily="18" charset="0"/>
              </a:rPr>
              <a:t>// xabar yuborish uchun transmit() metodini </a:t>
            </a:r>
            <a:r>
              <a:rPr lang="uz-Cyrl-UZ" sz="2000" i="1" dirty="0" smtClean="0">
                <a:latin typeface="Times New Roman" pitchFamily="18" charset="0"/>
                <a:cs typeface="Times New Roman" pitchFamily="18" charset="0"/>
              </a:rPr>
              <a:t>chaqirish</a:t>
            </a:r>
            <a:endParaRPr lang="en-US" sz="2000" i="1"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36902116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44000" cy="6863417"/>
          </a:xfrm>
          <a:prstGeom prst="rect">
            <a:avLst/>
          </a:prstGeom>
        </p:spPr>
        <p:txBody>
          <a:bodyPr wrap="square">
            <a:spAutoFit/>
          </a:bodyPr>
          <a:lstStyle/>
          <a:p>
            <a:r>
              <a:rPr lang="en-US" sz="2000" i="1" dirty="0">
                <a:latin typeface="Times New Roman" pitchFamily="18" charset="0"/>
                <a:cs typeface="Times New Roman" pitchFamily="18" charset="0"/>
              </a:rPr>
              <a:t>transmit();</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public void transmit() {</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try {</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konsoldan ma’lumotlarni qabul qilish </a:t>
            </a:r>
            <a:endParaRPr lang="ru-RU" sz="2000" dirty="0">
              <a:latin typeface="Times New Roman" pitchFamily="18" charset="0"/>
              <a:cs typeface="Times New Roman" pitchFamily="18" charset="0"/>
            </a:endParaRPr>
          </a:p>
          <a:p>
            <a:r>
              <a:rPr lang="uz-Cyrl-UZ" sz="2000" i="1" dirty="0">
                <a:latin typeface="Times New Roman" pitchFamily="18" charset="0"/>
                <a:cs typeface="Times New Roman" pitchFamily="18" charset="0"/>
              </a:rPr>
              <a:t>//uchun kirish oqimi yaratiladi </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in = new </a:t>
            </a:r>
            <a:r>
              <a:rPr lang="en-US" sz="2000" i="1" dirty="0" err="1">
                <a:latin typeface="Times New Roman" pitchFamily="18" charset="0"/>
                <a:cs typeface="Times New Roman" pitchFamily="18" charset="0"/>
              </a:rPr>
              <a:t>BufferedReader</a:t>
            </a:r>
            <a:r>
              <a:rPr lang="en-US" sz="2000" i="1" dirty="0">
                <a:latin typeface="Times New Roman" pitchFamily="18" charset="0"/>
                <a:cs typeface="Times New Roman" pitchFamily="18" charset="0"/>
              </a:rPr>
              <a:t>(new </a:t>
            </a:r>
            <a:r>
              <a:rPr lang="en-US" sz="2000" i="1" dirty="0" err="1">
                <a:latin typeface="Times New Roman" pitchFamily="18" charset="0"/>
                <a:cs typeface="Times New Roman" pitchFamily="18" charset="0"/>
              </a:rPr>
              <a:t>InputStreamReader</a:t>
            </a:r>
            <a:r>
              <a:rPr lang="en-US" sz="2000" i="1" dirty="0">
                <a:latin typeface="Times New Roman" pitchFamily="18" charset="0"/>
                <a:cs typeface="Times New Roman" pitchFamily="18" charset="0"/>
              </a:rPr>
              <a:t>(System.in));</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while (true) {</a:t>
            </a:r>
            <a:endParaRPr lang="ru-RU" sz="2000" dirty="0">
              <a:latin typeface="Times New Roman" pitchFamily="18" charset="0"/>
              <a:cs typeface="Times New Roman" pitchFamily="18" charset="0"/>
            </a:endParaRPr>
          </a:p>
          <a:p>
            <a:r>
              <a:rPr lang="en-US" sz="2000" i="1" dirty="0" err="1">
                <a:latin typeface="Times New Roman" pitchFamily="18" charset="0"/>
                <a:cs typeface="Times New Roman" pitchFamily="18" charset="0"/>
              </a:rPr>
              <a:t>System.out.println</a:t>
            </a:r>
            <a:r>
              <a:rPr lang="en-US" sz="2000" i="1" dirty="0">
                <a:latin typeface="Times New Roman" pitchFamily="18" charset="0"/>
                <a:cs typeface="Times New Roman" pitchFamily="18" charset="0"/>
              </a:rPr>
              <a:t>("</a:t>
            </a:r>
            <a:r>
              <a:rPr lang="uz-Cyrl-UZ" sz="2000" i="1" dirty="0">
                <a:latin typeface="Times New Roman" pitchFamily="18" charset="0"/>
                <a:cs typeface="Times New Roman" pitchFamily="18" charset="0"/>
              </a:rPr>
              <a:t>klientlarga yuborish uchun satrni kiriting</a:t>
            </a:r>
            <a:r>
              <a:rPr lang="en-US" sz="2000" i="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r>
              <a:rPr lang="en-US" sz="2000" i="1" dirty="0" err="1">
                <a:latin typeface="Times New Roman" pitchFamily="18" charset="0"/>
                <a:cs typeface="Times New Roman" pitchFamily="18" charset="0"/>
              </a:rPr>
              <a:t>str</a:t>
            </a:r>
            <a:r>
              <a:rPr lang="en-US" sz="2000" i="1" dirty="0">
                <a:latin typeface="Times New Roman" pitchFamily="18" charset="0"/>
                <a:cs typeface="Times New Roman" pitchFamily="18" charset="0"/>
              </a:rPr>
              <a:t> = </a:t>
            </a:r>
            <a:r>
              <a:rPr lang="en-US" sz="2000" i="1" dirty="0" err="1">
                <a:latin typeface="Times New Roman" pitchFamily="18" charset="0"/>
                <a:cs typeface="Times New Roman" pitchFamily="18" charset="0"/>
              </a:rPr>
              <a:t>in.readLine</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buffer = </a:t>
            </a:r>
            <a:r>
              <a:rPr lang="en-US" sz="2000" i="1" dirty="0" err="1">
                <a:latin typeface="Times New Roman" pitchFamily="18" charset="0"/>
                <a:cs typeface="Times New Roman" pitchFamily="18" charset="0"/>
              </a:rPr>
              <a:t>str.getBytes</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address = </a:t>
            </a:r>
            <a:r>
              <a:rPr lang="en-US" sz="2000" i="1" dirty="0" err="1">
                <a:latin typeface="Times New Roman" pitchFamily="18" charset="0"/>
                <a:cs typeface="Times New Roman" pitchFamily="18" charset="0"/>
              </a:rPr>
              <a:t>InetAddress.getByName</a:t>
            </a:r>
            <a:r>
              <a:rPr lang="en-US" sz="2000" i="1" dirty="0">
                <a:latin typeface="Times New Roman" pitchFamily="18" charset="0"/>
                <a:cs typeface="Times New Roman" pitchFamily="18" charset="0"/>
              </a:rPr>
              <a:t>("13.0.0.1");</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1502 raqamli portga datagramma paketini yuborish</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packet = new </a:t>
            </a:r>
            <a:r>
              <a:rPr lang="en-US" sz="2000" i="1" dirty="0" err="1">
                <a:latin typeface="Times New Roman" pitchFamily="18" charset="0"/>
                <a:cs typeface="Times New Roman" pitchFamily="18" charset="0"/>
              </a:rPr>
              <a:t>DatagramPacket</a:t>
            </a:r>
            <a:r>
              <a:rPr lang="en-US" sz="2000" i="1" dirty="0">
                <a:latin typeface="Times New Roman" pitchFamily="18" charset="0"/>
                <a:cs typeface="Times New Roman" pitchFamily="18" charset="0"/>
              </a:rPr>
              <a:t>(buffer, </a:t>
            </a:r>
            <a:r>
              <a:rPr lang="en-US" sz="2000" i="1" dirty="0" err="1">
                <a:latin typeface="Times New Roman" pitchFamily="18" charset="0"/>
                <a:cs typeface="Times New Roman" pitchFamily="18" charset="0"/>
              </a:rPr>
              <a:t>buffer.length</a:t>
            </a:r>
            <a:r>
              <a:rPr lang="en-US" sz="2000" i="1" dirty="0">
                <a:latin typeface="Times New Roman" pitchFamily="18" charset="0"/>
                <a:cs typeface="Times New Roman" pitchFamily="18" charset="0"/>
              </a:rPr>
              <a:t>, address, 1502);</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guruhdagi barcha klientlarga xabarlarni </a:t>
            </a:r>
            <a:r>
              <a:rPr lang="uz-Cyrl-UZ" sz="2000" i="1" dirty="0" smtClean="0">
                <a:latin typeface="Times New Roman" pitchFamily="18" charset="0"/>
                <a:cs typeface="Times New Roman" pitchFamily="18" charset="0"/>
              </a:rPr>
              <a:t>yuborish</a:t>
            </a:r>
            <a:endParaRPr lang="en-US" sz="2000" i="1" dirty="0" smtClean="0">
              <a:latin typeface="Times New Roman" pitchFamily="18" charset="0"/>
              <a:cs typeface="Times New Roman" pitchFamily="18" charset="0"/>
            </a:endParaRPr>
          </a:p>
          <a:p>
            <a:r>
              <a:rPr lang="en-US" sz="2000" i="1" dirty="0" err="1">
                <a:latin typeface="Times New Roman" pitchFamily="18" charset="0"/>
                <a:cs typeface="Times New Roman" pitchFamily="18" charset="0"/>
              </a:rPr>
              <a:t>socket.send</a:t>
            </a:r>
            <a:r>
              <a:rPr lang="en-US" sz="2000" i="1" dirty="0">
                <a:latin typeface="Times New Roman" pitchFamily="18" charset="0"/>
                <a:cs typeface="Times New Roman" pitchFamily="18" charset="0"/>
              </a:rPr>
              <a:t>(packet);</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 catch (Exception e) {</a:t>
            </a:r>
            <a:endParaRPr lang="ru-RU" sz="2000" dirty="0">
              <a:latin typeface="Times New Roman" pitchFamily="18" charset="0"/>
              <a:cs typeface="Times New Roman" pitchFamily="18" charset="0"/>
            </a:endParaRPr>
          </a:p>
          <a:p>
            <a:r>
              <a:rPr lang="en-US" sz="2000" i="1" dirty="0" err="1">
                <a:latin typeface="Times New Roman" pitchFamily="18" charset="0"/>
                <a:cs typeface="Times New Roman" pitchFamily="18" charset="0"/>
              </a:rPr>
              <a:t>e.printStackTrace</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 finally {</a:t>
            </a:r>
            <a:endParaRPr lang="ru-RU" sz="2000" dirty="0">
              <a:latin typeface="Times New Roman" pitchFamily="18" charset="0"/>
              <a:cs typeface="Times New Roman" pitchFamily="18" charset="0"/>
            </a:endParaRPr>
          </a:p>
          <a:p>
            <a:r>
              <a:rPr lang="en-US" sz="2000" i="1" dirty="0">
                <a:latin typeface="Times New Roman" pitchFamily="18" charset="0"/>
                <a:cs typeface="Times New Roman" pitchFamily="18" charset="0"/>
              </a:rPr>
              <a:t>try {</a:t>
            </a:r>
            <a:endParaRPr lang="ru-RU" sz="2000" dirty="0">
              <a:latin typeface="Times New Roman" pitchFamily="18" charset="0"/>
              <a:cs typeface="Times New Roman" pitchFamily="18" charset="0"/>
            </a:endParaRPr>
          </a:p>
          <a:p>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543174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25316"/>
            <a:ext cx="9144000" cy="6863417"/>
          </a:xfrm>
          <a:prstGeom prst="rect">
            <a:avLst/>
          </a:prstGeom>
        </p:spPr>
        <p:txBody>
          <a:bodyPr wrap="square">
            <a:spAutoFit/>
          </a:bodyPr>
          <a:lstStyle/>
          <a:p>
            <a:pPr algn="just"/>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oqim va soketni yopish</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in.close</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socket.close</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catch (Exception e) {</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e.printStackTrace</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public static void main(String </a:t>
            </a:r>
            <a:r>
              <a:rPr lang="en-US" sz="2000" i="1" dirty="0" err="1">
                <a:latin typeface="Times New Roman" pitchFamily="18" charset="0"/>
                <a:cs typeface="Times New Roman" pitchFamily="18" charset="0"/>
              </a:rPr>
              <a:t>arg</a:t>
            </a:r>
            <a:r>
              <a:rPr lang="en-US" sz="2000" i="1" dirty="0">
                <a:latin typeface="Times New Roman" pitchFamily="18" charset="0"/>
                <a:cs typeface="Times New Roman" pitchFamily="18" charset="0"/>
              </a:rPr>
              <a:t>[]) throws Exception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serverni ishga tushirish</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new Server();</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ctr"/>
            <a:r>
              <a:rPr lang="uz-Cyrl-UZ" sz="2000" b="1" dirty="0">
                <a:latin typeface="Times New Roman" pitchFamily="18" charset="0"/>
                <a:cs typeface="Times New Roman" pitchFamily="18" charset="0"/>
              </a:rPr>
              <a:t>Client klassini </a:t>
            </a:r>
            <a:r>
              <a:rPr lang="uz-Cyrl-UZ" sz="2000" b="1" dirty="0" smtClean="0">
                <a:latin typeface="Times New Roman" pitchFamily="18" charset="0"/>
                <a:cs typeface="Times New Roman" pitchFamily="18" charset="0"/>
              </a:rPr>
              <a:t>yaratish</a:t>
            </a:r>
            <a:endParaRPr lang="en-US" sz="2000" b="1"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Client </a:t>
            </a:r>
            <a:r>
              <a:rPr lang="uz-Cyrl-UZ" sz="2000" dirty="0">
                <a:latin typeface="Times New Roman" pitchFamily="18" charset="0"/>
                <a:cs typeface="Times New Roman" pitchFamily="18" charset="0"/>
              </a:rPr>
              <a:t>klassi klientga serverdan xabarlar qabul qilish uchun 13.0.0.1 guruhga kirish imkonini beradi. Client klassini yaratish quyidagi asosiy bosqichlardan iborat:</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1. MulticastSocket klassi yordamida guruhli xabarlarni ko‘rish uchun soket yaratish. Klient soketi xabarlarni qabul qilish vazifasini bajaradi.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2. Server adresidan iborat bo‘lgan InetAddress ob’ektini yaratish va ushbu serverning guruhiga joinGroup soket metodi yordamida kirish</a:t>
            </a:r>
            <a:r>
              <a:rPr lang="uz-Cyrl-UZ"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3. Soketdan datagramma paketlari (DatagramPacket) ni kiritishni tashkillashtirish va ekranda olingan ma’lumotlarni aks ettirish</a:t>
            </a:r>
            <a:r>
              <a:rPr lang="uz-Cyrl-UZ"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1591798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44000" cy="6801862"/>
          </a:xfrm>
          <a:prstGeom prst="rect">
            <a:avLst/>
          </a:prstGeom>
        </p:spPr>
        <p:txBody>
          <a:bodyPr wrap="square">
            <a:spAutoFit/>
          </a:bodyPr>
          <a:lstStyle/>
          <a:p>
            <a:pPr algn="just"/>
            <a:r>
              <a:rPr lang="uz-Cyrl-UZ" sz="2000" dirty="0">
                <a:latin typeface="Times New Roman" pitchFamily="18" charset="0"/>
                <a:cs typeface="Times New Roman" pitchFamily="18" charset="0"/>
              </a:rPr>
              <a:t>1) Klient klassini yaratish uchun Package Explorer oynasidagi src katalogning ru.ifmo.socket paketiga sichqonchaning o‘ng tugmasini bosing va New/Class ni tanlang.</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2) Paydo bo‘lgan oynada klass nomi (Name)  sifatida Client ni yozing. Finish ni bosing.</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Client klassining kodi quyida keltirilgan:</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package ru.ifmo.socket;</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import java.net.*;</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public class Client {</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pri</a:t>
            </a:r>
            <a:r>
              <a:rPr lang="en-US" sz="2000" i="1" dirty="0" err="1">
                <a:latin typeface="Times New Roman" pitchFamily="18" charset="0"/>
                <a:cs typeface="Times New Roman" pitchFamily="18" charset="0"/>
              </a:rPr>
              <a:t>vate</a:t>
            </a:r>
            <a:r>
              <a:rPr lang="en-US" sz="2000" i="1" dirty="0">
                <a:latin typeface="Times New Roman" pitchFamily="18" charset="0"/>
                <a:cs typeface="Times New Roman" pitchFamily="18" charset="0"/>
              </a:rPr>
              <a:t> static </a:t>
            </a:r>
            <a:r>
              <a:rPr lang="en-US" sz="2000" i="1" dirty="0" err="1">
                <a:latin typeface="Times New Roman" pitchFamily="18" charset="0"/>
                <a:cs typeface="Times New Roman" pitchFamily="18" charset="0"/>
              </a:rPr>
              <a:t>InetAddress</a:t>
            </a:r>
            <a:r>
              <a:rPr lang="en-US" sz="2000" i="1" dirty="0">
                <a:latin typeface="Times New Roman" pitchFamily="18" charset="0"/>
                <a:cs typeface="Times New Roman" pitchFamily="18" charset="0"/>
              </a:rPr>
              <a:t> address;</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private static byte[] buffer;</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private static </a:t>
            </a:r>
            <a:r>
              <a:rPr lang="en-US" sz="2000" i="1" dirty="0" err="1">
                <a:latin typeface="Times New Roman" pitchFamily="18" charset="0"/>
                <a:cs typeface="Times New Roman" pitchFamily="18" charset="0"/>
              </a:rPr>
              <a:t>DatagramPacket</a:t>
            </a:r>
            <a:r>
              <a:rPr lang="en-US" sz="2000" i="1" dirty="0">
                <a:latin typeface="Times New Roman" pitchFamily="18" charset="0"/>
                <a:cs typeface="Times New Roman" pitchFamily="18" charset="0"/>
              </a:rPr>
              <a:t> packet;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private static String </a:t>
            </a:r>
            <a:r>
              <a:rPr lang="en-US" sz="2000" i="1" dirty="0" err="1">
                <a:latin typeface="Times New Roman" pitchFamily="18" charset="0"/>
                <a:cs typeface="Times New Roman" pitchFamily="18" charset="0"/>
              </a:rPr>
              <a:t>str</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private static </a:t>
            </a:r>
            <a:r>
              <a:rPr lang="en-US" sz="2000" i="1" dirty="0" err="1">
                <a:latin typeface="Times New Roman" pitchFamily="18" charset="0"/>
                <a:cs typeface="Times New Roman" pitchFamily="18" charset="0"/>
              </a:rPr>
              <a:t>MulticastSocket</a:t>
            </a:r>
            <a:r>
              <a:rPr lang="en-US" sz="2000" i="1" dirty="0">
                <a:latin typeface="Times New Roman" pitchFamily="18" charset="0"/>
                <a:cs typeface="Times New Roman" pitchFamily="18" charset="0"/>
              </a:rPr>
              <a:t> socket;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public static void main(String </a:t>
            </a:r>
            <a:r>
              <a:rPr lang="en-US" sz="2000" i="1" dirty="0" err="1">
                <a:latin typeface="Times New Roman" pitchFamily="18" charset="0"/>
                <a:cs typeface="Times New Roman" pitchFamily="18" charset="0"/>
              </a:rPr>
              <a:t>arg</a:t>
            </a:r>
            <a:r>
              <a:rPr lang="en-US" sz="2000" i="1" dirty="0">
                <a:latin typeface="Times New Roman" pitchFamily="18" charset="0"/>
                <a:cs typeface="Times New Roman" pitchFamily="18" charset="0"/>
              </a:rPr>
              <a:t>[]) throws Exception {</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System.out.println</a:t>
            </a:r>
            <a:r>
              <a:rPr lang="en-US" sz="2000" i="1" dirty="0">
                <a:latin typeface="Times New Roman" pitchFamily="18" charset="0"/>
                <a:cs typeface="Times New Roman" pitchFamily="18" charset="0"/>
              </a:rPr>
              <a:t>("</a:t>
            </a:r>
            <a:r>
              <a:rPr lang="uz-Cyrl-UZ" sz="2000" i="1" dirty="0">
                <a:latin typeface="Times New Roman" pitchFamily="18" charset="0"/>
                <a:cs typeface="Times New Roman" pitchFamily="18" charset="0"/>
              </a:rPr>
              <a:t>server xabarini kutish</a:t>
            </a:r>
            <a:r>
              <a:rPr lang="en-US" sz="2000" i="1"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try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1502 port raqamidan foydalanib, guruhdan </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//ma’lumotlarni qabul qilish uchun MulticastSocket ob’ektini yaratish</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socket = new MulticastSocket(1502);</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address = </a:t>
            </a:r>
            <a:r>
              <a:rPr lang="en-US" sz="2000" i="1" dirty="0" err="1">
                <a:latin typeface="Times New Roman" pitchFamily="18" charset="0"/>
                <a:cs typeface="Times New Roman" pitchFamily="18" charset="0"/>
              </a:rPr>
              <a:t>InetAddress.getByName</a:t>
            </a:r>
            <a:r>
              <a:rPr lang="en-US" sz="2000" i="1" dirty="0">
                <a:latin typeface="Times New Roman" pitchFamily="18" charset="0"/>
                <a:cs typeface="Times New Roman" pitchFamily="18" charset="0"/>
              </a:rPr>
              <a:t>("13.0.0.1");</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klientni guruhda ro‘yxatga olish</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socket.joinGroup</a:t>
            </a:r>
            <a:r>
              <a:rPr lang="en-US" sz="2000" i="1" dirty="0">
                <a:latin typeface="Times New Roman" pitchFamily="18" charset="0"/>
                <a:cs typeface="Times New Roman" pitchFamily="18" charset="0"/>
              </a:rPr>
              <a:t>(address</a:t>
            </a:r>
            <a:r>
              <a:rPr lang="en-US" sz="2000" i="1"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41487741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23715"/>
            <a:ext cx="9144000" cy="7109639"/>
          </a:xfrm>
          <a:prstGeom prst="rect">
            <a:avLst/>
          </a:prstGeom>
        </p:spPr>
        <p:txBody>
          <a:bodyPr wrap="square">
            <a:spAutoFit/>
          </a:bodyPr>
          <a:lstStyle/>
          <a:p>
            <a:pPr algn="just"/>
            <a:r>
              <a:rPr lang="en-US" sz="2000" i="1" dirty="0">
                <a:latin typeface="Times New Roman" pitchFamily="18" charset="0"/>
                <a:cs typeface="Times New Roman" pitchFamily="18" charset="0"/>
              </a:rPr>
              <a:t>while (true)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buffer = new byte[256];</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packet = new </a:t>
            </a:r>
            <a:r>
              <a:rPr lang="en-US" sz="2000" i="1" dirty="0" err="1">
                <a:latin typeface="Times New Roman" pitchFamily="18" charset="0"/>
                <a:cs typeface="Times New Roman" pitchFamily="18" charset="0"/>
              </a:rPr>
              <a:t>DatagramPacket</a:t>
            </a:r>
            <a:r>
              <a:rPr lang="en-US" sz="2000" i="1" dirty="0">
                <a:latin typeface="Times New Roman" pitchFamily="18" charset="0"/>
                <a:cs typeface="Times New Roman" pitchFamily="18" charset="0"/>
              </a:rPr>
              <a:t>(buffer, </a:t>
            </a:r>
            <a:r>
              <a:rPr lang="en-US" sz="2000" i="1" dirty="0" err="1">
                <a:latin typeface="Times New Roman" pitchFamily="18" charset="0"/>
                <a:cs typeface="Times New Roman" pitchFamily="18" charset="0"/>
              </a:rPr>
              <a:t>buffer.length</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serverdan ma’lumotlarni qabul qilish</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socket.receive</a:t>
            </a:r>
            <a:r>
              <a:rPr lang="en-US" sz="2000" i="1" dirty="0">
                <a:latin typeface="Times New Roman" pitchFamily="18" charset="0"/>
                <a:cs typeface="Times New Roman" pitchFamily="18" charset="0"/>
              </a:rPr>
              <a:t>(packet);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str</a:t>
            </a:r>
            <a:r>
              <a:rPr lang="en-US" sz="2000" i="1" dirty="0">
                <a:latin typeface="Times New Roman" pitchFamily="18" charset="0"/>
                <a:cs typeface="Times New Roman" pitchFamily="18" charset="0"/>
              </a:rPr>
              <a:t> = new String(</a:t>
            </a:r>
            <a:r>
              <a:rPr lang="en-US" sz="2000" i="1" dirty="0" err="1">
                <a:latin typeface="Times New Roman" pitchFamily="18" charset="0"/>
                <a:cs typeface="Times New Roman" pitchFamily="18" charset="0"/>
              </a:rPr>
              <a:t>packet.getData</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System.out.println</a:t>
            </a:r>
            <a:r>
              <a:rPr lang="en-US" sz="2000" i="1" dirty="0">
                <a:latin typeface="Times New Roman" pitchFamily="18" charset="0"/>
                <a:cs typeface="Times New Roman" pitchFamily="18" charset="0"/>
              </a:rPr>
              <a:t>("</a:t>
            </a:r>
            <a:r>
              <a:rPr lang="uz-Cyrl-UZ" sz="2000" i="1" dirty="0">
                <a:latin typeface="Times New Roman" pitchFamily="18" charset="0"/>
                <a:cs typeface="Times New Roman" pitchFamily="18" charset="0"/>
              </a:rPr>
              <a:t>xabar qabul qilindi</a:t>
            </a:r>
            <a:r>
              <a:rPr lang="en-US" sz="2000" i="1" dirty="0">
                <a:latin typeface="Times New Roman" pitchFamily="18" charset="0"/>
                <a:cs typeface="Times New Roman" pitchFamily="18" charset="0"/>
              </a:rPr>
              <a:t>: " + </a:t>
            </a:r>
            <a:r>
              <a:rPr lang="en-US" sz="2000" i="1" dirty="0" err="1">
                <a:latin typeface="Times New Roman" pitchFamily="18" charset="0"/>
                <a:cs typeface="Times New Roman" pitchFamily="18" charset="0"/>
              </a:rPr>
              <a:t>str.trim</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catch (Exception e) {</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e.printStackTrace</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finally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try {</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klientni guruhdan o‘chirish</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socket.leaveGroup</a:t>
            </a:r>
            <a:r>
              <a:rPr lang="en-US" sz="2000" i="1" dirty="0">
                <a:latin typeface="Times New Roman" pitchFamily="18" charset="0"/>
                <a:cs typeface="Times New Roman" pitchFamily="18" charset="0"/>
              </a:rPr>
              <a:t>(address);</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soketni yopish</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socket.close</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 catch (Exception e) {</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e.printStackTrace</a:t>
            </a:r>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1408902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2097" y="0"/>
            <a:ext cx="9144000" cy="3477875"/>
          </a:xfrm>
          <a:prstGeom prst="rect">
            <a:avLst/>
          </a:prstGeom>
        </p:spPr>
        <p:txBody>
          <a:bodyPr wrap="square">
            <a:spAutoFit/>
          </a:bodyPr>
          <a:lstStyle/>
          <a:p>
            <a:pPr algn="ctr"/>
            <a:r>
              <a:rPr lang="uz-Cyrl-UZ" sz="2000" b="1" dirty="0">
                <a:latin typeface="Times New Roman" pitchFamily="18" charset="0"/>
                <a:cs typeface="Times New Roman" pitchFamily="18" charset="0"/>
              </a:rPr>
              <a:t>Ishga tushirish va testdan o‘tkazish</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Har </a:t>
            </a:r>
            <a:r>
              <a:rPr lang="uz-Cyrl-UZ" sz="2000" dirty="0">
                <a:latin typeface="Times New Roman" pitchFamily="18" charset="0"/>
                <a:cs typeface="Times New Roman" pitchFamily="18" charset="0"/>
              </a:rPr>
              <a:t>bir yaratilgan Client va Server klasslar main() metodini o‘z ichiga olib, tarmoqqa ulangan alohida kompyuterda ishga tushirilishi mumkin bo‘lgan alohida ilova bo‘lib hisoblanadi. Bunda guruhli ma’lumotlarni (multicasting scope) uzatish sohasi server tarmoqosti bilan chegaralanadi. Bizning holatimizda klient va server rolini bitta kompyuter bajaradi.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1) Package Explorer oynasidagi Client klassga sichqonchaning o‘ng tugmasini bosing va kontekst menyudan Run As/Java Application komandasini tanlang.</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Xuddi shuni </a:t>
            </a:r>
            <a:r>
              <a:rPr lang="en-US" sz="2000" dirty="0">
                <a:latin typeface="Times New Roman" pitchFamily="18" charset="0"/>
                <a:cs typeface="Times New Roman" pitchFamily="18" charset="0"/>
              </a:rPr>
              <a:t>Server </a:t>
            </a:r>
            <a:r>
              <a:rPr lang="uz-Cyrl-UZ" sz="2000" dirty="0">
                <a:latin typeface="Times New Roman" pitchFamily="18" charset="0"/>
                <a:cs typeface="Times New Roman" pitchFamily="18" charset="0"/>
              </a:rPr>
              <a:t>klassi bilan ham takrorlang.</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Natijada, 1.2-rasmdagidek, Display Selected Console ro‘yxat tugmalari yordamida bir-biriga o‘tish mumkin bo‘lgan ikkita ilova ishga tushadi.</a:t>
            </a:r>
            <a:endParaRPr lang="ru-RU" sz="2000" dirty="0">
              <a:latin typeface="Times New Roman" pitchFamily="18" charset="0"/>
              <a:cs typeface="Times New Roman" pitchFamily="18" charset="0"/>
            </a:endParaRPr>
          </a:p>
        </p:txBody>
      </p:sp>
      <p:pic>
        <p:nvPicPr>
          <p:cNvPr id="5" name="Рисунок 4"/>
          <p:cNvPicPr/>
          <p:nvPr/>
        </p:nvPicPr>
        <p:blipFill>
          <a:blip r:embed="rId2"/>
          <a:srcRect/>
          <a:stretch>
            <a:fillRect/>
          </a:stretch>
        </p:blipFill>
        <p:spPr bwMode="auto">
          <a:xfrm>
            <a:off x="665892" y="3645024"/>
            <a:ext cx="8021354" cy="1080120"/>
          </a:xfrm>
          <a:prstGeom prst="rect">
            <a:avLst/>
          </a:prstGeom>
          <a:noFill/>
          <a:ln w="9525">
            <a:noFill/>
            <a:miter lim="800000"/>
            <a:headEnd/>
            <a:tailEnd/>
          </a:ln>
        </p:spPr>
      </p:pic>
      <p:sp>
        <p:nvSpPr>
          <p:cNvPr id="6" name="Прямоугольник 5"/>
          <p:cNvSpPr/>
          <p:nvPr/>
        </p:nvSpPr>
        <p:spPr>
          <a:xfrm>
            <a:off x="2339752" y="5085184"/>
            <a:ext cx="3672407" cy="400110"/>
          </a:xfrm>
          <a:prstGeom prst="rect">
            <a:avLst/>
          </a:prstGeom>
        </p:spPr>
        <p:txBody>
          <a:bodyPr wrap="square">
            <a:spAutoFit/>
          </a:bodyPr>
          <a:lstStyle/>
          <a:p>
            <a:pPr algn="ctr"/>
            <a:r>
              <a:rPr lang="uz-Cyrl-UZ" sz="2000" dirty="0">
                <a:latin typeface="Times New Roman" pitchFamily="18" charset="0"/>
                <a:cs typeface="Times New Roman" pitchFamily="18" charset="0"/>
              </a:rPr>
              <a:t>1.2-rasm. Konsolni tanlash</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9611727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46714"/>
            <a:ext cx="9036496" cy="707886"/>
          </a:xfrm>
          <a:prstGeom prst="rect">
            <a:avLst/>
          </a:prstGeom>
        </p:spPr>
        <p:txBody>
          <a:bodyPr wrap="square">
            <a:spAutoFit/>
          </a:bodyPr>
          <a:lstStyle/>
          <a:p>
            <a:pPr lvl="0" algn="just"/>
            <a:r>
              <a:rPr lang="en-US" sz="2000" dirty="0" smtClean="0">
                <a:latin typeface="Times New Roman" pitchFamily="18" charset="0"/>
                <a:cs typeface="Times New Roman" pitchFamily="18" charset="0"/>
              </a:rPr>
              <a:t>2. </a:t>
            </a:r>
            <a:r>
              <a:rPr lang="uz-Cyrl-UZ" sz="2000" dirty="0" smtClean="0">
                <a:latin typeface="Times New Roman" pitchFamily="18" charset="0"/>
                <a:cs typeface="Times New Roman" pitchFamily="18" charset="0"/>
              </a:rPr>
              <a:t>Server </a:t>
            </a:r>
            <a:r>
              <a:rPr lang="uz-Cyrl-UZ" sz="2000" dirty="0">
                <a:latin typeface="Times New Roman" pitchFamily="18" charset="0"/>
                <a:cs typeface="Times New Roman" pitchFamily="18" charset="0"/>
              </a:rPr>
              <a:t>konsolini tanlang, "Hello!!!" satrini kiriting va yuborish uchun Enter ni bosing, 1.3-rasmdagidek.</a:t>
            </a:r>
            <a:endParaRPr lang="ru-RU" sz="2000" dirty="0">
              <a:latin typeface="Times New Roman" pitchFamily="18" charset="0"/>
              <a:cs typeface="Times New Roman" pitchFamily="18" charset="0"/>
            </a:endParaRPr>
          </a:p>
        </p:txBody>
      </p:sp>
      <p:pic>
        <p:nvPicPr>
          <p:cNvPr id="5" name="Рисунок 4"/>
          <p:cNvPicPr/>
          <p:nvPr/>
        </p:nvPicPr>
        <p:blipFill>
          <a:blip r:embed="rId2"/>
          <a:srcRect/>
          <a:stretch>
            <a:fillRect/>
          </a:stretch>
        </p:blipFill>
        <p:spPr bwMode="auto">
          <a:xfrm>
            <a:off x="1928735" y="767029"/>
            <a:ext cx="5262880" cy="1073785"/>
          </a:xfrm>
          <a:prstGeom prst="rect">
            <a:avLst/>
          </a:prstGeom>
          <a:noFill/>
          <a:ln w="9525">
            <a:noFill/>
            <a:miter lim="800000"/>
            <a:headEnd/>
            <a:tailEnd/>
          </a:ln>
        </p:spPr>
      </p:pic>
      <p:sp>
        <p:nvSpPr>
          <p:cNvPr id="6" name="Прямоугольник 5"/>
          <p:cNvSpPr/>
          <p:nvPr/>
        </p:nvSpPr>
        <p:spPr>
          <a:xfrm>
            <a:off x="107504" y="1840814"/>
            <a:ext cx="8856984" cy="1323439"/>
          </a:xfrm>
          <a:prstGeom prst="rect">
            <a:avLst/>
          </a:prstGeom>
        </p:spPr>
        <p:txBody>
          <a:bodyPr wrap="square">
            <a:spAutoFit/>
          </a:bodyPr>
          <a:lstStyle/>
          <a:p>
            <a:pPr algn="ctr"/>
            <a:r>
              <a:rPr lang="uz-Cyrl-UZ" sz="2000" dirty="0">
                <a:latin typeface="Times New Roman" pitchFamily="18" charset="0"/>
                <a:cs typeface="Times New Roman" pitchFamily="18" charset="0"/>
              </a:rPr>
              <a:t>1.3-rasm. Server konsollariga xabarni kiritish</a:t>
            </a:r>
            <a:r>
              <a:rPr lang="uz-Cyrl-UZ"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algn="ctr"/>
            <a:endParaRPr lang="ru-RU"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3</a:t>
            </a:r>
            <a:r>
              <a:rPr lang="uz-Cyrl-UZ" sz="2000" dirty="0" smtClean="0">
                <a:latin typeface="Times New Roman" pitchFamily="18" charset="0"/>
                <a:cs typeface="Times New Roman" pitchFamily="18" charset="0"/>
              </a:rPr>
              <a:t>) </a:t>
            </a:r>
            <a:r>
              <a:rPr lang="uz-Cyrl-UZ" sz="2000" dirty="0">
                <a:latin typeface="Times New Roman" pitchFamily="18" charset="0"/>
                <a:cs typeface="Times New Roman" pitchFamily="18" charset="0"/>
              </a:rPr>
              <a:t>Klient konsoliga o‘ting va klient xabarni qabul qilganligini ko‘ring (1.4-rasmdagidek).</a:t>
            </a:r>
            <a:endParaRPr lang="ru-RU" sz="2000" dirty="0">
              <a:latin typeface="Times New Roman" pitchFamily="18" charset="0"/>
              <a:cs typeface="Times New Roman" pitchFamily="18" charset="0"/>
            </a:endParaRPr>
          </a:p>
        </p:txBody>
      </p:sp>
      <p:pic>
        <p:nvPicPr>
          <p:cNvPr id="7" name="Рисунок 6"/>
          <p:cNvPicPr/>
          <p:nvPr/>
        </p:nvPicPr>
        <p:blipFill>
          <a:blip r:embed="rId3"/>
          <a:srcRect/>
          <a:stretch>
            <a:fillRect/>
          </a:stretch>
        </p:blipFill>
        <p:spPr bwMode="auto">
          <a:xfrm>
            <a:off x="1763688" y="3429000"/>
            <a:ext cx="5688632" cy="1008112"/>
          </a:xfrm>
          <a:prstGeom prst="rect">
            <a:avLst/>
          </a:prstGeom>
          <a:noFill/>
          <a:ln w="9525">
            <a:noFill/>
            <a:miter lim="800000"/>
            <a:headEnd/>
            <a:tailEnd/>
          </a:ln>
        </p:spPr>
      </p:pic>
      <p:sp>
        <p:nvSpPr>
          <p:cNvPr id="8" name="Прямоугольник 7"/>
          <p:cNvSpPr/>
          <p:nvPr/>
        </p:nvSpPr>
        <p:spPr>
          <a:xfrm>
            <a:off x="2342319" y="4725144"/>
            <a:ext cx="5081840" cy="400110"/>
          </a:xfrm>
          <a:prstGeom prst="rect">
            <a:avLst/>
          </a:prstGeom>
        </p:spPr>
        <p:txBody>
          <a:bodyPr wrap="none">
            <a:spAutoFit/>
          </a:bodyPr>
          <a:lstStyle/>
          <a:p>
            <a:pPr algn="ctr"/>
            <a:r>
              <a:rPr lang="uz-Cyrl-UZ" sz="2000" dirty="0" smtClean="0">
                <a:latin typeface="Times New Roman" pitchFamily="18" charset="0"/>
                <a:cs typeface="Times New Roman" pitchFamily="18" charset="0"/>
              </a:rPr>
              <a:t>1.4-rasm. Klient konsollariga xabarni chiqarish.</a:t>
            </a:r>
            <a:endParaRPr lang="ru-RU" sz="2000" dirty="0">
              <a:latin typeface="Times New Roman" pitchFamily="18" charset="0"/>
              <a:cs typeface="Times New Roman" pitchFamily="18" charset="0"/>
            </a:endParaRPr>
          </a:p>
        </p:txBody>
      </p:sp>
      <p:sp>
        <p:nvSpPr>
          <p:cNvPr id="9" name="Прямоугольник 8"/>
          <p:cNvSpPr/>
          <p:nvPr/>
        </p:nvSpPr>
        <p:spPr>
          <a:xfrm>
            <a:off x="107504" y="5445224"/>
            <a:ext cx="8856984" cy="400110"/>
          </a:xfrm>
          <a:prstGeom prst="rect">
            <a:avLst/>
          </a:prstGeom>
        </p:spPr>
        <p:txBody>
          <a:bodyPr wrap="square">
            <a:spAutoFit/>
          </a:bodyPr>
          <a:lstStyle/>
          <a:p>
            <a:pPr algn="just"/>
            <a:r>
              <a:rPr lang="en-US" sz="2000" dirty="0">
                <a:latin typeface="Times New Roman" pitchFamily="18" charset="0"/>
                <a:cs typeface="Times New Roman" pitchFamily="18" charset="0"/>
              </a:rPr>
              <a:t>4</a:t>
            </a:r>
            <a:r>
              <a:rPr lang="uz-Cyrl-UZ" sz="2000" dirty="0">
                <a:latin typeface="Times New Roman" pitchFamily="18" charset="0"/>
                <a:cs typeface="Times New Roman" pitchFamily="18" charset="0"/>
              </a:rPr>
              <a:t>) Ilova ishini to‘xtatish Terminate tugmasini bosish orqali amalga oshiriladi.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2544643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16632"/>
            <a:ext cx="9036496" cy="4524315"/>
          </a:xfrm>
          <a:prstGeom prst="rect">
            <a:avLst/>
          </a:prstGeom>
        </p:spPr>
        <p:txBody>
          <a:bodyPr wrap="square">
            <a:spAutoFit/>
          </a:bodyPr>
          <a:lstStyle/>
          <a:p>
            <a:pPr algn="ctr"/>
            <a:r>
              <a:rPr lang="uz-Cyrl-UZ" sz="2400" b="1" dirty="0">
                <a:latin typeface="Times New Roman" pitchFamily="18" charset="0"/>
                <a:cs typeface="Times New Roman" pitchFamily="18" charset="0"/>
              </a:rPr>
              <a:t>Nazorat savollari</a:t>
            </a:r>
            <a:endParaRPr lang="ru-RU" sz="2400" dirty="0">
              <a:latin typeface="Times New Roman" pitchFamily="18" charset="0"/>
              <a:cs typeface="Times New Roman" pitchFamily="18" charset="0"/>
            </a:endParaRPr>
          </a:p>
          <a:p>
            <a:r>
              <a:rPr lang="uz-Latn-UZ" sz="2400" b="1" dirty="0">
                <a:latin typeface="Times New Roman" pitchFamily="18" charset="0"/>
                <a:cs typeface="Times New Roman" pitchFamily="18" charset="0"/>
              </a:rPr>
              <a:t> </a:t>
            </a:r>
            <a:endParaRPr lang="ru-RU" sz="2400" dirty="0">
              <a:latin typeface="Times New Roman" pitchFamily="18" charset="0"/>
              <a:cs typeface="Times New Roman" pitchFamily="18" charset="0"/>
            </a:endParaRPr>
          </a:p>
          <a:p>
            <a:pPr marL="342900" lvl="0" indent="-342900">
              <a:buFont typeface="+mj-lt"/>
              <a:buAutoNum type="arabicPeriod"/>
            </a:pPr>
            <a:r>
              <a:rPr lang="uz-Cyrl-UZ" sz="2400" dirty="0">
                <a:latin typeface="Times New Roman" pitchFamily="18" charset="0"/>
                <a:cs typeface="Times New Roman" pitchFamily="18" charset="0"/>
              </a:rPr>
              <a:t>java.net paketi.</a:t>
            </a:r>
            <a:endParaRPr lang="ru-RU" sz="2400" dirty="0">
              <a:latin typeface="Times New Roman" pitchFamily="18" charset="0"/>
              <a:cs typeface="Times New Roman" pitchFamily="18" charset="0"/>
            </a:endParaRPr>
          </a:p>
          <a:p>
            <a:pPr marL="342900" lvl="0" indent="-342900">
              <a:buFont typeface="+mj-lt"/>
              <a:buAutoNum type="arabicPeriod"/>
            </a:pPr>
            <a:r>
              <a:rPr lang="uz-Cyrl-UZ" sz="2400" dirty="0">
                <a:latin typeface="Times New Roman" pitchFamily="18" charset="0"/>
                <a:cs typeface="Times New Roman" pitchFamily="18" charset="0"/>
              </a:rPr>
              <a:t>DatagramPacket klassi.</a:t>
            </a:r>
            <a:endParaRPr lang="ru-RU" sz="2400" dirty="0">
              <a:latin typeface="Times New Roman" pitchFamily="18" charset="0"/>
              <a:cs typeface="Times New Roman" pitchFamily="18" charset="0"/>
            </a:endParaRPr>
          </a:p>
          <a:p>
            <a:pPr marL="342900" lvl="0" indent="-342900">
              <a:buFont typeface="+mj-lt"/>
              <a:buAutoNum type="arabicPeriod"/>
            </a:pPr>
            <a:r>
              <a:rPr lang="uz-Cyrl-UZ" sz="2400" dirty="0">
                <a:latin typeface="Times New Roman" pitchFamily="18" charset="0"/>
                <a:cs typeface="Times New Roman" pitchFamily="18" charset="0"/>
              </a:rPr>
              <a:t>DatagramSocket klassi.</a:t>
            </a:r>
            <a:endParaRPr lang="ru-RU" sz="2400" dirty="0">
              <a:latin typeface="Times New Roman" pitchFamily="18" charset="0"/>
              <a:cs typeface="Times New Roman" pitchFamily="18" charset="0"/>
            </a:endParaRPr>
          </a:p>
          <a:p>
            <a:pPr marL="342900" lvl="0" indent="-342900">
              <a:buFont typeface="+mj-lt"/>
              <a:buAutoNum type="arabicPeriod"/>
            </a:pPr>
            <a:r>
              <a:rPr lang="uz-Cyrl-UZ" sz="2400" dirty="0">
                <a:latin typeface="Times New Roman" pitchFamily="18" charset="0"/>
                <a:cs typeface="Times New Roman" pitchFamily="18" charset="0"/>
              </a:rPr>
              <a:t>MulticastSocket klassi.</a:t>
            </a:r>
            <a:endParaRPr lang="ru-RU" sz="2400" dirty="0">
              <a:latin typeface="Times New Roman" pitchFamily="18" charset="0"/>
              <a:cs typeface="Times New Roman" pitchFamily="18" charset="0"/>
            </a:endParaRPr>
          </a:p>
          <a:p>
            <a:pPr marL="342900" lvl="0" indent="-342900">
              <a:buFont typeface="+mj-lt"/>
              <a:buAutoNum type="arabicPeriod"/>
            </a:pPr>
            <a:r>
              <a:rPr lang="uz-Cyrl-UZ" sz="2400" dirty="0">
                <a:latin typeface="Times New Roman" pitchFamily="18" charset="0"/>
                <a:cs typeface="Times New Roman" pitchFamily="18" charset="0"/>
              </a:rPr>
              <a:t>InetAddress klassi.</a:t>
            </a:r>
            <a:endParaRPr lang="ru-RU" sz="2400" dirty="0">
              <a:latin typeface="Times New Roman" pitchFamily="18" charset="0"/>
              <a:cs typeface="Times New Roman" pitchFamily="18" charset="0"/>
            </a:endParaRPr>
          </a:p>
          <a:p>
            <a:pPr marL="342900" lvl="0" indent="-342900">
              <a:buFont typeface="+mj-lt"/>
              <a:buAutoNum type="arabicPeriod"/>
            </a:pPr>
            <a:r>
              <a:rPr lang="uz-Cyrl-UZ" sz="2400" dirty="0">
                <a:latin typeface="Times New Roman" pitchFamily="18" charset="0"/>
                <a:cs typeface="Times New Roman" pitchFamily="18" charset="0"/>
              </a:rPr>
              <a:t>ServerSocket klassi.</a:t>
            </a:r>
            <a:endParaRPr lang="ru-RU" sz="2400" dirty="0">
              <a:latin typeface="Times New Roman" pitchFamily="18" charset="0"/>
              <a:cs typeface="Times New Roman" pitchFamily="18" charset="0"/>
            </a:endParaRPr>
          </a:p>
          <a:p>
            <a:pPr marL="342900" lvl="0" indent="-342900">
              <a:buFont typeface="+mj-lt"/>
              <a:buAutoNum type="arabicPeriod"/>
            </a:pPr>
            <a:r>
              <a:rPr lang="uz-Cyrl-UZ" sz="2400" dirty="0">
                <a:latin typeface="Times New Roman" pitchFamily="18" charset="0"/>
                <a:cs typeface="Times New Roman" pitchFamily="18" charset="0"/>
              </a:rPr>
              <a:t>Socket klassi.</a:t>
            </a:r>
            <a:endParaRPr lang="ru-RU" sz="2400" dirty="0">
              <a:latin typeface="Times New Roman" pitchFamily="18" charset="0"/>
              <a:cs typeface="Times New Roman" pitchFamily="18" charset="0"/>
            </a:endParaRPr>
          </a:p>
          <a:p>
            <a:pPr marL="342900" lvl="0" indent="-342900">
              <a:buFont typeface="+mj-lt"/>
              <a:buAutoNum type="arabicPeriod"/>
            </a:pPr>
            <a:r>
              <a:rPr lang="uz-Latn-UZ" sz="2400" dirty="0">
                <a:latin typeface="Times New Roman" pitchFamily="18" charset="0"/>
                <a:cs typeface="Times New Roman" pitchFamily="18" charset="0"/>
              </a:rPr>
              <a:t>J</a:t>
            </a:r>
            <a:r>
              <a:rPr lang="uz-Cyrl-UZ" sz="2400" dirty="0">
                <a:latin typeface="Times New Roman" pitchFamily="18" charset="0"/>
                <a:cs typeface="Times New Roman" pitchFamily="18" charset="0"/>
              </a:rPr>
              <a:t>ava.net paketi </a:t>
            </a:r>
            <a:r>
              <a:rPr lang="uz-Latn-UZ" sz="2400" dirty="0">
                <a:latin typeface="Times New Roman" pitchFamily="18" charset="0"/>
                <a:cs typeface="Times New Roman" pitchFamily="18" charset="0"/>
              </a:rPr>
              <a:t>bilan </a:t>
            </a:r>
            <a:r>
              <a:rPr lang="uz-Cyrl-UZ" sz="2400" dirty="0">
                <a:latin typeface="Times New Roman" pitchFamily="18" charset="0"/>
                <a:cs typeface="Times New Roman" pitchFamily="18" charset="0"/>
              </a:rPr>
              <a:t>DatagramPacket klassi</a:t>
            </a:r>
            <a:r>
              <a:rPr lang="uz-Latn-UZ" sz="2400" dirty="0">
                <a:latin typeface="Times New Roman" pitchFamily="18" charset="0"/>
                <a:cs typeface="Times New Roman" pitchFamily="18" charset="0"/>
              </a:rPr>
              <a:t>ning far</a:t>
            </a:r>
            <a:r>
              <a:rPr lang="uz-Cyrl-UZ" sz="2400" dirty="0">
                <a:latin typeface="Times New Roman" pitchFamily="18" charset="0"/>
                <a:cs typeface="Times New Roman" pitchFamily="18" charset="0"/>
              </a:rPr>
              <a:t>qi nimada?</a:t>
            </a:r>
            <a:endParaRPr lang="ru-RU" sz="2400" dirty="0">
              <a:latin typeface="Times New Roman" pitchFamily="18" charset="0"/>
              <a:cs typeface="Times New Roman" pitchFamily="18" charset="0"/>
            </a:endParaRPr>
          </a:p>
          <a:p>
            <a:pPr marL="342900" lvl="0" indent="-342900">
              <a:buFont typeface="+mj-lt"/>
              <a:buAutoNum type="arabicPeriod"/>
            </a:pPr>
            <a:r>
              <a:rPr lang="uz-Cyrl-UZ" sz="2400" dirty="0">
                <a:latin typeface="Times New Roman" pitchFamily="18" charset="0"/>
                <a:cs typeface="Times New Roman" pitchFamily="18" charset="0"/>
              </a:rPr>
              <a:t>MulticastSocket klassi </a:t>
            </a:r>
            <a:r>
              <a:rPr lang="uz-Latn-UZ" sz="2400" dirty="0">
                <a:latin typeface="Times New Roman" pitchFamily="18" charset="0"/>
                <a:cs typeface="Times New Roman" pitchFamily="18" charset="0"/>
              </a:rPr>
              <a:t>bilan</a:t>
            </a:r>
            <a:r>
              <a:rPr lang="uz-Cyrl-UZ" sz="2400" dirty="0">
                <a:latin typeface="Times New Roman" pitchFamily="18" charset="0"/>
                <a:cs typeface="Times New Roman" pitchFamily="18" charset="0"/>
              </a:rPr>
              <a:t> Socket klassi</a:t>
            </a:r>
            <a:r>
              <a:rPr lang="uz-Latn-UZ" sz="2400" dirty="0">
                <a:latin typeface="Times New Roman" pitchFamily="18" charset="0"/>
                <a:cs typeface="Times New Roman" pitchFamily="18" charset="0"/>
              </a:rPr>
              <a:t>ning far</a:t>
            </a:r>
            <a:r>
              <a:rPr lang="uz-Cyrl-UZ" sz="2400" dirty="0">
                <a:latin typeface="Times New Roman" pitchFamily="18" charset="0"/>
                <a:cs typeface="Times New Roman" pitchFamily="18" charset="0"/>
              </a:rPr>
              <a:t>qi nimada?</a:t>
            </a:r>
            <a:endParaRPr lang="ru-RU" sz="2400" dirty="0">
              <a:latin typeface="Times New Roman" pitchFamily="18" charset="0"/>
              <a:cs typeface="Times New Roman" pitchFamily="18" charset="0"/>
            </a:endParaRPr>
          </a:p>
          <a:p>
            <a:pPr marL="342900" indent="-342900">
              <a:buFont typeface="+mj-lt"/>
              <a:buAutoNum type="arabicPeriod"/>
            </a:pPr>
            <a:r>
              <a:rPr lang="uz-Cyrl-UZ" sz="2400" dirty="0" smtClean="0">
                <a:latin typeface="Times New Roman" pitchFamily="18" charset="0"/>
                <a:cs typeface="Times New Roman" pitchFamily="18" charset="0"/>
              </a:rPr>
              <a:t>Server </a:t>
            </a:r>
            <a:r>
              <a:rPr lang="uz-Cyrl-UZ" sz="2400" dirty="0">
                <a:latin typeface="Times New Roman" pitchFamily="18" charset="0"/>
                <a:cs typeface="Times New Roman" pitchFamily="18" charset="0"/>
              </a:rPr>
              <a:t>konsollariga xabarni kiritish</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263997937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469</TotalTime>
  <Words>2973</Words>
  <Application>Microsoft Office PowerPoint</Application>
  <PresentationFormat>Экран (4:3)</PresentationFormat>
  <Paragraphs>473</Paragraphs>
  <Slides>34</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34</vt:i4>
      </vt:variant>
    </vt:vector>
  </HeadingPairs>
  <TitlesOfParts>
    <vt:vector size="35" baseType="lpstr">
      <vt:lpstr>Тема Office</vt:lpstr>
      <vt:lpstr>Презентация PowerPoint</vt:lpstr>
      <vt:lpstr>Презентация PowerPoint</vt:lpstr>
      <vt:lpstr>Reja:</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dc:creator>
  <cp:lastModifiedBy>Пользователь</cp:lastModifiedBy>
  <cp:revision>50</cp:revision>
  <dcterms:created xsi:type="dcterms:W3CDTF">2020-02-10T04:46:41Z</dcterms:created>
  <dcterms:modified xsi:type="dcterms:W3CDTF">2021-10-07T08:36:28Z</dcterms:modified>
</cp:coreProperties>
</file>