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276" r:id="rId3"/>
    <p:sldId id="295" r:id="rId4"/>
    <p:sldId id="296" r:id="rId5"/>
    <p:sldId id="297" r:id="rId6"/>
    <p:sldId id="298" r:id="rId7"/>
    <p:sldId id="299" r:id="rId8"/>
    <p:sldId id="300" r:id="rId9"/>
    <p:sldId id="301" r:id="rId10"/>
    <p:sldId id="302" r:id="rId11"/>
    <p:sldId id="303" r:id="rId12"/>
    <p:sldId id="304" r:id="rId13"/>
    <p:sldId id="305" r:id="rId14"/>
    <p:sldId id="306" r:id="rId15"/>
    <p:sldId id="307" r:id="rId1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CC00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2814" y="-9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712048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272742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12760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A2F1B533-5871-489F-8DF7-633441D17A15}" type="datetimeFigureOut">
              <a:rPr lang="ru-RU" smtClean="0"/>
              <a:t>13.03.2024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982013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A2F1B533-5871-489F-8DF7-633441D17A15}" type="datetimeFigureOut">
              <a:rPr lang="ru-RU" smtClean="0"/>
              <a:t>13.03.2024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2156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A2F1B533-5871-489F-8DF7-633441D17A15}" type="datetimeFigureOut">
              <a:rPr lang="ru-RU" smtClean="0"/>
              <a:t>13.03.2024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596097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2F1B533-5871-489F-8DF7-633441D17A15}" type="datetimeFigureOut">
              <a:rPr lang="ru-RU" smtClean="0"/>
              <a:t>13.03.2024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935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Объект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13.03.2024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025572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A2F1B533-5871-489F-8DF7-633441D17A15}" type="datetimeFigureOut">
              <a:rPr lang="ru-RU" smtClean="0"/>
              <a:t>13.03.2024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3807767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1696135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2DE3C97E-C3BB-4CA0-80D7-A16D20B07B21}" type="slidenum">
              <a:rPr lang="ru-RU" smtClean="0"/>
              <a:t>‹#›</a:t>
            </a:fld>
            <a:endParaRPr lang="ru-RU"/>
          </a:p>
        </p:txBody>
      </p:sp>
    </p:spTree>
    <p:extLst>
      <p:ext uri="{BB962C8B-B14F-4D97-AF65-F5344CB8AC3E}">
        <p14:creationId xmlns:p14="http://schemas.microsoft.com/office/powerpoint/2010/main" val="2133829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10">
          <a:fgClr>
            <a:schemeClr val="accent1">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F1B533-5871-489F-8DF7-633441D17A15}" type="datetimeFigureOut">
              <a:rPr lang="ru-RU" smtClean="0"/>
              <a:t>13.03.2024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E3C97E-C3BB-4CA0-80D7-A16D20B07B21}" type="slidenum">
              <a:rPr lang="ru-RU" smtClean="0"/>
              <a:t>‹#›</a:t>
            </a:fld>
            <a:endParaRPr lang="ru-RU"/>
          </a:p>
        </p:txBody>
      </p:sp>
    </p:spTree>
    <p:extLst>
      <p:ext uri="{BB962C8B-B14F-4D97-AF65-F5344CB8AC3E}">
        <p14:creationId xmlns:p14="http://schemas.microsoft.com/office/powerpoint/2010/main" val="592431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Заголовок 1"/>
          <p:cNvSpPr txBox="1">
            <a:spLocks/>
          </p:cNvSpPr>
          <p:nvPr/>
        </p:nvSpPr>
        <p:spPr>
          <a:xfrm>
            <a:off x="0" y="188640"/>
            <a:ext cx="9144000" cy="216024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1800" b="1" dirty="0" smtClean="0">
                <a:latin typeface="Times New Roman" pitchFamily="18" charset="0"/>
                <a:cs typeface="Times New Roman" pitchFamily="18" charset="0"/>
              </a:rPr>
              <a:t>O‘ZBEKISTON RESPUBLIKASI </a:t>
            </a:r>
            <a:r>
              <a:rPr lang="en-US" sz="1800" b="1" dirty="0" smtClean="0">
                <a:latin typeface="Times New Roman" pitchFamily="18" charset="0"/>
                <a:cs typeface="Times New Roman" pitchFamily="18" charset="0"/>
              </a:rPr>
              <a:t>RAQAMLI TEXNOLOGIYALAR VAZIRLIGI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tt-RU" sz="1800" b="1" dirty="0" smtClean="0">
                <a:latin typeface="Times New Roman" pitchFamily="18" charset="0"/>
                <a:cs typeface="Times New Roman" pitchFamily="18" charset="0"/>
              </a:rPr>
              <a:t>MUXAMMAD AL-XORAZMIY NOMIDAGI </a:t>
            </a:r>
            <a:r>
              <a:rPr lang="en-US" sz="1800" b="1" dirty="0" smtClean="0">
                <a:latin typeface="Times New Roman" pitchFamily="18" charset="0"/>
                <a:cs typeface="Times New Roman" pitchFamily="18" charset="0"/>
              </a:rPr>
              <a:t>TOSHKENT AXBOROT TEXNOLOGIYALARI UNIVERSITETI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SAMAR</a:t>
            </a:r>
            <a:r>
              <a:rPr lang="uz-Cyrl-UZ" sz="1800" b="1" dirty="0" smtClean="0">
                <a:latin typeface="Times New Roman" pitchFamily="18" charset="0"/>
                <a:cs typeface="Times New Roman" pitchFamily="18" charset="0"/>
              </a:rPr>
              <a:t>Q</a:t>
            </a:r>
            <a:r>
              <a:rPr lang="en-US" sz="1800" b="1" dirty="0" smtClean="0">
                <a:latin typeface="Times New Roman" pitchFamily="18" charset="0"/>
                <a:cs typeface="Times New Roman" pitchFamily="18" charset="0"/>
              </a:rPr>
              <a:t>AND FILIALI </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en-US" sz="1800" b="1" dirty="0" smtClean="0">
                <a:latin typeface="Times New Roman" pitchFamily="18" charset="0"/>
                <a:cs typeface="Times New Roman" pitchFamily="18" charset="0"/>
              </a:rPr>
              <a:t>TELEKOMMUNIKATSIYA </a:t>
            </a:r>
            <a:r>
              <a:rPr lang="uz-Cyrl-UZ" sz="1800" b="1" dirty="0" smtClean="0">
                <a:latin typeface="Times New Roman" pitchFamily="18" charset="0"/>
                <a:cs typeface="Times New Roman" pitchFamily="18" charset="0"/>
              </a:rPr>
              <a:t>TEXNOLOGIYALARI </a:t>
            </a:r>
            <a:r>
              <a:rPr lang="en-US" sz="1800" b="1" dirty="0" smtClean="0">
                <a:latin typeface="Times New Roman" pitchFamily="18" charset="0"/>
                <a:cs typeface="Times New Roman" pitchFamily="18" charset="0"/>
              </a:rPr>
              <a:t>VA KASB TA’LIM </a:t>
            </a:r>
            <a:r>
              <a:rPr lang="uz-Cyrl-UZ" sz="1800" b="1" dirty="0" smtClean="0">
                <a:latin typeface="Times New Roman" pitchFamily="18" charset="0"/>
                <a:cs typeface="Times New Roman" pitchFamily="18" charset="0"/>
              </a:rPr>
              <a:t>FAKULTETI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r>
              <a:rPr lang="uz-Cyrl-UZ" sz="1800" b="1" dirty="0" smtClean="0">
                <a:latin typeface="Times New Roman" pitchFamily="18" charset="0"/>
                <a:cs typeface="Times New Roman" pitchFamily="18" charset="0"/>
              </a:rPr>
              <a:t>«TELEKOMMUNIKATSIYA INJINIRINGI» KAFEDRASI</a:t>
            </a:r>
            <a:r>
              <a:rPr lang="ru-RU" sz="1800" dirty="0" smtClean="0">
                <a:latin typeface="Times New Roman" pitchFamily="18" charset="0"/>
                <a:cs typeface="Times New Roman" pitchFamily="18" charset="0"/>
              </a:rPr>
              <a:t/>
            </a:r>
            <a:br>
              <a:rPr lang="ru-RU" sz="1800" dirty="0" smtClean="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6" name="Подзаголовок 2"/>
          <p:cNvSpPr txBox="1">
            <a:spLocks/>
          </p:cNvSpPr>
          <p:nvPr/>
        </p:nvSpPr>
        <p:spPr>
          <a:xfrm>
            <a:off x="1007604" y="2204864"/>
            <a:ext cx="7128792" cy="64807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Tarmoqni</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dasturlash</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asoslari</a:t>
            </a:r>
            <a:r>
              <a:rPr lang="en-US" sz="2400" b="1" dirty="0" smtClean="0">
                <a:latin typeface="Times New Roman" pitchFamily="18" charset="0"/>
                <a:cs typeface="Times New Roman" pitchFamily="18" charset="0"/>
              </a:rPr>
              <a:t>”</a:t>
            </a:r>
          </a:p>
          <a:p>
            <a:pPr marL="0" indent="0" algn="ctr">
              <a:buNone/>
            </a:pPr>
            <a:r>
              <a:rPr lang="en-US" sz="2400" b="1" dirty="0" err="1" smtClean="0">
                <a:latin typeface="Times New Roman" pitchFamily="18" charset="0"/>
                <a:cs typeface="Times New Roman" pitchFamily="18" charset="0"/>
              </a:rPr>
              <a:t>fanidan</a:t>
            </a:r>
            <a:r>
              <a:rPr lang="en-US" sz="2400" b="1" smtClean="0">
                <a:latin typeface="Times New Roman" pitchFamily="18" charset="0"/>
                <a:cs typeface="Times New Roman" pitchFamily="18" charset="0"/>
              </a:rPr>
              <a:t> 8 </a:t>
            </a:r>
            <a:r>
              <a:rPr lang="en-US" sz="2400" b="1" dirty="0" smtClean="0">
                <a:latin typeface="Times New Roman" pitchFamily="18" charset="0"/>
                <a:cs typeface="Times New Roman" pitchFamily="18" charset="0"/>
              </a:rPr>
              <a:t>– </a:t>
            </a:r>
            <a:r>
              <a:rPr lang="en-US" sz="2400" b="1" dirty="0" err="1" smtClean="0">
                <a:latin typeface="Times New Roman" pitchFamily="18" charset="0"/>
                <a:cs typeface="Times New Roman" pitchFamily="18" charset="0"/>
              </a:rPr>
              <a:t>ma’ruza</a:t>
            </a:r>
            <a:endParaRPr lang="ru-RU" sz="2400" b="1" dirty="0">
              <a:latin typeface="Times New Roman" pitchFamily="18" charset="0"/>
              <a:cs typeface="Times New Roman" pitchFamily="18" charset="0"/>
            </a:endParaRPr>
          </a:p>
        </p:txBody>
      </p:sp>
      <p:sp>
        <p:nvSpPr>
          <p:cNvPr id="7" name="Подзаголовок 2"/>
          <p:cNvSpPr txBox="1">
            <a:spLocks/>
          </p:cNvSpPr>
          <p:nvPr/>
        </p:nvSpPr>
        <p:spPr>
          <a:xfrm>
            <a:off x="307975" y="3140968"/>
            <a:ext cx="8724033" cy="93610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endParaRPr lang="en-US" sz="1800" dirty="0" smtClean="0">
              <a:solidFill>
                <a:srgbClr val="FF66CC"/>
              </a:solidFill>
              <a:latin typeface="Times New Roman" pitchFamily="18" charset="0"/>
              <a:cs typeface="Times New Roman" pitchFamily="18" charset="0"/>
            </a:endParaRPr>
          </a:p>
          <a:p>
            <a:r>
              <a:rPr lang="en-US" sz="1800" dirty="0" err="1" smtClean="0">
                <a:solidFill>
                  <a:schemeClr val="tx1"/>
                </a:solidFill>
                <a:latin typeface="Times New Roman" pitchFamily="18" charset="0"/>
                <a:cs typeface="Times New Roman" pitchFamily="18" charset="0"/>
              </a:rPr>
              <a:t>Mavzu</a:t>
            </a:r>
            <a:r>
              <a:rPr lang="en-US" sz="1800" dirty="0" smtClean="0">
                <a:solidFill>
                  <a:schemeClr val="tx1"/>
                </a:solidFill>
                <a:latin typeface="Times New Roman" pitchFamily="18" charset="0"/>
                <a:cs typeface="Times New Roman" pitchFamily="18" charset="0"/>
              </a:rPr>
              <a:t>: </a:t>
            </a:r>
            <a:r>
              <a:rPr lang="uz-Cyrl-UZ" sz="1800" dirty="0">
                <a:solidFill>
                  <a:schemeClr val="tx1"/>
                </a:solidFill>
                <a:latin typeface="Times New Roman" pitchFamily="18" charset="0"/>
                <a:cs typeface="Times New Roman" pitchFamily="18" charset="0"/>
              </a:rPr>
              <a:t>Tarmoqni dasturlashda amaliy pog‘ona protokollari va API (Application Programming Interface)</a:t>
            </a:r>
            <a:endParaRPr lang="ru-RU" sz="1800" dirty="0">
              <a:solidFill>
                <a:schemeClr val="tx1"/>
              </a:solidFill>
              <a:latin typeface="Times New Roman" pitchFamily="18" charset="0"/>
              <a:cs typeface="Times New Roman" pitchFamily="18" charset="0"/>
            </a:endParaRPr>
          </a:p>
          <a:p>
            <a:endParaRPr lang="ru-RU" sz="1800" dirty="0">
              <a:solidFill>
                <a:schemeClr val="tx1"/>
              </a:solidFill>
              <a:latin typeface="Times New Roman" pitchFamily="18" charset="0"/>
              <a:cs typeface="Times New Roman" pitchFamily="18" charset="0"/>
            </a:endParaRPr>
          </a:p>
        </p:txBody>
      </p:sp>
      <p:sp>
        <p:nvSpPr>
          <p:cNvPr id="8" name="Прямоугольник 7"/>
          <p:cNvSpPr/>
          <p:nvPr/>
        </p:nvSpPr>
        <p:spPr>
          <a:xfrm>
            <a:off x="3707904" y="6237312"/>
            <a:ext cx="2412071" cy="461665"/>
          </a:xfrm>
          <a:prstGeom prst="rect">
            <a:avLst/>
          </a:prstGeom>
        </p:spPr>
        <p:txBody>
          <a:bodyPr wrap="none">
            <a:spAutoFit/>
          </a:bodyPr>
          <a:lstStyle/>
          <a:p>
            <a:r>
              <a:rPr lang="uz-Cyrl-UZ" sz="2400" b="1" dirty="0" smtClean="0">
                <a:latin typeface="Times New Roman" pitchFamily="18" charset="0"/>
                <a:cs typeface="Times New Roman" pitchFamily="18" charset="0"/>
              </a:rPr>
              <a:t>Samarqand </a:t>
            </a:r>
            <a:r>
              <a:rPr lang="en-US" sz="2400" b="1" dirty="0" smtClean="0">
                <a:latin typeface="Times New Roman" pitchFamily="18" charset="0"/>
                <a:cs typeface="Times New Roman" pitchFamily="18" charset="0"/>
              </a:rPr>
              <a:t>202</a:t>
            </a:r>
            <a:r>
              <a:rPr lang="ru-RU" sz="2400" b="1"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p:txBody>
      </p:sp>
      <p:sp>
        <p:nvSpPr>
          <p:cNvPr id="9" name="AutoShape 2" descr="Картинки по запросу &quot;INTERNET&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 name="Picture 2" descr="C:\Users\User\Desktop\1024px-Applications-internet.svg.pn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9537" y="3933055"/>
            <a:ext cx="3180321" cy="2924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730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Рисунок 3"/>
          <p:cNvPicPr/>
          <p:nvPr/>
        </p:nvPicPr>
        <p:blipFill>
          <a:blip r:embed="rId2"/>
          <a:stretch>
            <a:fillRect/>
          </a:stretch>
        </p:blipFill>
        <p:spPr>
          <a:xfrm>
            <a:off x="460" y="21277"/>
            <a:ext cx="9143540" cy="6836723"/>
          </a:xfrm>
          <a:prstGeom prst="rect">
            <a:avLst/>
          </a:prstGeom>
        </p:spPr>
      </p:pic>
    </p:spTree>
    <p:extLst>
      <p:ext uri="{BB962C8B-B14F-4D97-AF65-F5344CB8AC3E}">
        <p14:creationId xmlns:p14="http://schemas.microsoft.com/office/powerpoint/2010/main" val="1399642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229600" cy="576064"/>
          </a:xfrm>
        </p:spPr>
        <p:txBody>
          <a:bodyPr>
            <a:normAutofit fontScale="90000"/>
          </a:bodyPr>
          <a:lstStyle/>
          <a:p>
            <a:r>
              <a:rPr lang="en-US" sz="2600" dirty="0" err="1" smtClean="0">
                <a:latin typeface="Times New Roman" pitchFamily="18" charset="0"/>
                <a:cs typeface="Times New Roman" pitchFamily="18" charset="0"/>
              </a:rPr>
              <a:t>Reja</a:t>
            </a:r>
            <a:r>
              <a:rPr lang="en-US" dirty="0" smtClean="0"/>
              <a:t>:</a:t>
            </a:r>
            <a:endParaRPr lang="ru-RU" dirty="0"/>
          </a:p>
        </p:txBody>
      </p:sp>
      <p:sp>
        <p:nvSpPr>
          <p:cNvPr id="3" name="Объект 2"/>
          <p:cNvSpPr>
            <a:spLocks noGrp="1"/>
          </p:cNvSpPr>
          <p:nvPr>
            <p:ph idx="1"/>
          </p:nvPr>
        </p:nvSpPr>
        <p:spPr>
          <a:xfrm>
            <a:off x="215008" y="836712"/>
            <a:ext cx="8928992" cy="1872208"/>
          </a:xfrm>
        </p:spPr>
        <p:txBody>
          <a:bodyPr>
            <a:normAutofit/>
          </a:bodyPr>
          <a:lstStyle/>
          <a:p>
            <a:pPr marL="457200" lvl="0" indent="-457200">
              <a:buFont typeface="+mj-lt"/>
              <a:buAutoNum type="arabicPeriod"/>
            </a:pPr>
            <a:r>
              <a:rPr lang="uz-Cyrl-UZ" sz="2400" dirty="0">
                <a:latin typeface="Times New Roman" pitchFamily="18" charset="0"/>
                <a:cs typeface="Times New Roman" pitchFamily="18" charset="0"/>
              </a:rPr>
              <a:t>Tarmoqni dasturlashda protokollardan foydalanish.</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Tarmoq protokollari va ularning tasnifi.</a:t>
            </a:r>
            <a:endParaRPr lang="ru-RU" sz="2400" dirty="0">
              <a:latin typeface="Times New Roman" pitchFamily="18" charset="0"/>
              <a:cs typeface="Times New Roman" pitchFamily="18" charset="0"/>
            </a:endParaRPr>
          </a:p>
          <a:p>
            <a:pPr marL="457200" lvl="0" indent="-457200">
              <a:buFont typeface="+mj-lt"/>
              <a:buAutoNum type="arabicPeriod"/>
            </a:pPr>
            <a:r>
              <a:rPr lang="uz-Cyrl-UZ" sz="2400" dirty="0">
                <a:latin typeface="Times New Roman" pitchFamily="18" charset="0"/>
                <a:cs typeface="Times New Roman" pitchFamily="18" charset="0"/>
              </a:rPr>
              <a:t>Tarmoq protokollarini dasturlash.</a:t>
            </a:r>
            <a:endParaRPr lang="ru-RU" sz="2400" dirty="0">
              <a:latin typeface="Times New Roman" pitchFamily="18" charset="0"/>
              <a:cs typeface="Times New Roman" pitchFamily="18" charset="0"/>
            </a:endParaRPr>
          </a:p>
        </p:txBody>
      </p:sp>
      <p:pic>
        <p:nvPicPr>
          <p:cNvPr id="5122" name="Picture 2" descr="Картинки по запросу &quot;INTERNET&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08920"/>
            <a:ext cx="9144000" cy="4149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2264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0"/>
            <a:ext cx="9144000" cy="6863417"/>
          </a:xfrm>
          <a:prstGeom prst="rect">
            <a:avLst/>
          </a:prstGeom>
        </p:spPr>
        <p:txBody>
          <a:bodyPr wrap="square">
            <a:spAutoFit/>
          </a:bodyPr>
          <a:lstStyle/>
          <a:p>
            <a:pPr lvl="0" algn="ctr"/>
            <a:r>
              <a:rPr lang="uz-Cyrl-UZ" sz="2000" b="1" dirty="0">
                <a:latin typeface="Times New Roman" pitchFamily="18" charset="0"/>
                <a:cs typeface="Times New Roman" pitchFamily="18" charset="0"/>
              </a:rPr>
              <a:t>Tarmoqni dasturlashda protokollardan foydalanish</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Ma’lumotlarni uzatish protokoli – mantiqiy sath interfeysining kelishuvlari to‘plami bo‘lib, turli dasturlar o‘rtasida ma’lumotlar uzatilishini aniqlaydi. Ushbu kelishuvlar u yoki bu interfeys bilan ulangan va turli joylarda o‘rnatilgan apparaturalarning dasturiy ta’minoti bilan o‘zaro aloqada ishlashda xabarlarni uzatish va xatolarni qayta ishlashning yagona usulini ta’minlaydi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Ma’lumotlarni </a:t>
            </a:r>
            <a:r>
              <a:rPr lang="uz-Cyrl-UZ" sz="2000" dirty="0">
                <a:latin typeface="Times New Roman" pitchFamily="18" charset="0"/>
                <a:cs typeface="Times New Roman" pitchFamily="18" charset="0"/>
              </a:rPr>
              <a:t>uzatishning standartlashtirilgan protokoli aniq bir apparat platformasiga yoki ishlab chiqaruvchi (masalan, USB, Bluetooth) ga bog‘liq bo‘lmagan interfeyslarni (fizik sathda) ishlab chiqish imkonini beradi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Signal </a:t>
            </a:r>
            <a:r>
              <a:rPr lang="uz-Cyrl-UZ" sz="2000" dirty="0">
                <a:latin typeface="Times New Roman" pitchFamily="18" charset="0"/>
                <a:cs typeface="Times New Roman" pitchFamily="18" charset="0"/>
              </a:rPr>
              <a:t>protokoli ulanishni boshqarish uchun ishlatiladi, masalan, aloqani o‘rnatish, qayta adresatsiyalash va uzish. Protokollar namunalari: </a:t>
            </a:r>
            <a:r>
              <a:rPr lang="en-US" sz="2000" dirty="0">
                <a:latin typeface="Times New Roman" pitchFamily="18" charset="0"/>
                <a:cs typeface="Times New Roman" pitchFamily="18" charset="0"/>
              </a:rPr>
              <a:t>RTSP, SIP. </a:t>
            </a:r>
            <a:r>
              <a:rPr lang="uz-Cyrl-UZ" sz="2000" dirty="0">
                <a:latin typeface="Times New Roman" pitchFamily="18" charset="0"/>
                <a:cs typeface="Times New Roman" pitchFamily="18" charset="0"/>
              </a:rPr>
              <a:t>Ma’lumotlarni uzatish uchun </a:t>
            </a:r>
            <a:r>
              <a:rPr lang="en-US" sz="2000" dirty="0">
                <a:latin typeface="Times New Roman" pitchFamily="18" charset="0"/>
                <a:cs typeface="Times New Roman" pitchFamily="18" charset="0"/>
              </a:rPr>
              <a:t>RTP </a:t>
            </a:r>
            <a:r>
              <a:rPr lang="uz-Cyrl-UZ" sz="2000" dirty="0">
                <a:latin typeface="Times New Roman" pitchFamily="18" charset="0"/>
                <a:cs typeface="Times New Roman" pitchFamily="18" charset="0"/>
              </a:rPr>
              <a:t>kabi protokollardan foydalaniladi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Tarmoq </a:t>
            </a:r>
            <a:r>
              <a:rPr lang="uz-Cyrl-UZ" sz="2000" dirty="0">
                <a:latin typeface="Times New Roman" pitchFamily="18" charset="0"/>
                <a:cs typeface="Times New Roman" pitchFamily="18" charset="0"/>
              </a:rPr>
              <a:t>protokoli – tarmoq ulangan ikki yoki undan ortiq qurilmalarning o‘zaro ulanishi va ma’lumotlar almashuvini ta’minlovchi qoida va amallar (amallar ketma-ketligi) to‘plami</a:t>
            </a:r>
            <a:r>
              <a:rPr lang="uz-Cyrl-UZ" sz="2000" dirty="0" smtClean="0">
                <a:latin typeface="Times New Roman" pitchFamily="18" charset="0"/>
                <a:cs typeface="Times New Roman" pitchFamily="18" charset="0"/>
              </a:rPr>
              <a:t>.</a:t>
            </a:r>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Turli </a:t>
            </a:r>
            <a:r>
              <a:rPr lang="uz-Cyrl-UZ" sz="2000" dirty="0">
                <a:latin typeface="Times New Roman" pitchFamily="18" charset="0"/>
                <a:cs typeface="Times New Roman" pitchFamily="18" charset="0"/>
              </a:rPr>
              <a:t>protokollar, odatda, bir turdagi aloqaning turli tomonlarini tavsiflaydi xolos. “Protokol” yoki “Protokollar steki” tushunchalari protokol tomonidan realizatsiya qilinadigan dasturiy ta’minotni ham tavsiflaydi.</a:t>
            </a:r>
            <a:endParaRPr lang="ru-RU" sz="2000" dirty="0">
              <a:latin typeface="Times New Roman" pitchFamily="18" charset="0"/>
              <a:cs typeface="Times New Roman" pitchFamily="18" charset="0"/>
            </a:endParaRPr>
          </a:p>
          <a:p>
            <a:pPr algn="just"/>
            <a:r>
              <a:rPr lang="uz-Cyrl-UZ" sz="2000" dirty="0">
                <a:latin typeface="Times New Roman" pitchFamily="18" charset="0"/>
                <a:cs typeface="Times New Roman" pitchFamily="18" charset="0"/>
              </a:rPr>
              <a:t>Internet uchun yangi protokollar </a:t>
            </a:r>
            <a:r>
              <a:rPr lang="en-US" sz="2000" dirty="0">
                <a:latin typeface="Times New Roman" pitchFamily="18" charset="0"/>
                <a:cs typeface="Times New Roman" pitchFamily="18" charset="0"/>
              </a:rPr>
              <a:t>IETF </a:t>
            </a:r>
            <a:r>
              <a:rPr lang="uz-Cyrl-UZ" sz="2000" dirty="0">
                <a:latin typeface="Times New Roman" pitchFamily="18" charset="0"/>
                <a:cs typeface="Times New Roman" pitchFamily="18" charset="0"/>
              </a:rPr>
              <a:t>tomonidan, boshqa protokollar esa </a:t>
            </a:r>
            <a:r>
              <a:rPr lang="en-US" sz="2000" dirty="0">
                <a:latin typeface="Times New Roman" pitchFamily="18" charset="0"/>
                <a:cs typeface="Times New Roman" pitchFamily="18" charset="0"/>
              </a:rPr>
              <a:t>IEEE </a:t>
            </a:r>
            <a:r>
              <a:rPr lang="uz-Cyrl-UZ" sz="2000" dirty="0">
                <a:latin typeface="Times New Roman" pitchFamily="18" charset="0"/>
                <a:cs typeface="Times New Roman" pitchFamily="18" charset="0"/>
              </a:rPr>
              <a:t>va </a:t>
            </a:r>
            <a:r>
              <a:rPr lang="en-US" sz="2000" dirty="0">
                <a:latin typeface="Times New Roman" pitchFamily="18" charset="0"/>
                <a:cs typeface="Times New Roman" pitchFamily="18" charset="0"/>
              </a:rPr>
              <a:t>ISO </a:t>
            </a:r>
            <a:r>
              <a:rPr lang="uz-Cyrl-UZ" sz="2000" dirty="0">
                <a:latin typeface="Times New Roman" pitchFamily="18" charset="0"/>
                <a:cs typeface="Times New Roman" pitchFamily="18" charset="0"/>
              </a:rPr>
              <a:t>tomonidan aniqlanadi. ITU-T telekommunikatsion protokollar va formatlar bilan shug‘ullanadi. Tarmoq protokollaini klassfikatsiya qilishning keng tarqalgan tizimlaridan biri OSI modeli bo‘lib, ushbu modelga muvofiq tarzda protokollar 7 sathga ajratiladi – fizik (elektrik yoki boshqa signallarni shakllantirish va o‘qish) sathdan amaliygacha (axborotlarni ilovalar orqali uzatish uchun ilovalarni dasturlash interfeysi).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2302925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882" y="27860"/>
            <a:ext cx="9144000" cy="6740307"/>
          </a:xfrm>
          <a:prstGeom prst="rect">
            <a:avLst/>
          </a:prstGeom>
        </p:spPr>
        <p:txBody>
          <a:bodyPr wrap="square">
            <a:spAutoFit/>
          </a:bodyPr>
          <a:lstStyle/>
          <a:p>
            <a:pPr algn="just"/>
            <a:r>
              <a:rPr lang="uz-Cyrl-UZ" dirty="0">
                <a:latin typeface="Times New Roman" pitchFamily="18" charset="0"/>
                <a:cs typeface="Times New Roman" pitchFamily="18" charset="0"/>
              </a:rPr>
              <a:t>Tarmoq protokollari tarmoqqa ulangan kompyuterlarning ishlash qoidalarini belgilaydi. Ular ko‘p sathli prinsip asosida quriladi. Ma’lum sath protokoli aloqaning texnik qoidalaridan birini aniqlaydi. Hozirgi vaqtda tarmoq protokollari uchun OSI (Open system interconnection – ochiq tizimlarning o‘zaro bog‘liqligi) modelidan foydalaniladi.</a:t>
            </a:r>
            <a:endParaRPr lang="ru-RU" dirty="0">
              <a:latin typeface="Times New Roman" pitchFamily="18" charset="0"/>
              <a:cs typeface="Times New Roman" pitchFamily="18" charset="0"/>
            </a:endParaRPr>
          </a:p>
          <a:p>
            <a:pPr algn="just"/>
            <a:r>
              <a:rPr lang="uz-Cyrl-UZ" dirty="0">
                <a:latin typeface="Times New Roman" pitchFamily="18" charset="0"/>
                <a:cs typeface="Times New Roman" pitchFamily="18" charset="0"/>
              </a:rPr>
              <a:t>TCP/IP — ma’lumotlarni uzatish protokollari to‘plami bo‘lib, unga tegishli bo‘lgan ikki protokollardan o‘z nomini olgan: TCP (ingl. </a:t>
            </a:r>
            <a:r>
              <a:rPr lang="uz-Cyrl-UZ" i="1" dirty="0">
                <a:latin typeface="Times New Roman" pitchFamily="18" charset="0"/>
                <a:cs typeface="Times New Roman" pitchFamily="18" charset="0"/>
              </a:rPr>
              <a:t>Transmission Control Protocol</a:t>
            </a:r>
            <a:r>
              <a:rPr lang="uz-Cyrl-UZ" dirty="0">
                <a:latin typeface="Times New Roman" pitchFamily="18" charset="0"/>
                <a:cs typeface="Times New Roman" pitchFamily="18" charset="0"/>
              </a:rPr>
              <a:t>) va IP (</a:t>
            </a:r>
            <a:r>
              <a:rPr lang="uz-Cyrl-UZ" i="1" dirty="0">
                <a:latin typeface="Times New Roman" pitchFamily="18" charset="0"/>
                <a:cs typeface="Times New Roman" pitchFamily="18" charset="0"/>
              </a:rPr>
              <a:t>Internet Protocol</a:t>
            </a:r>
            <a:r>
              <a:rPr lang="uz-Cyrl-UZ"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Internet </a:t>
            </a:r>
            <a:r>
              <a:rPr lang="uz-Cyrl-UZ" dirty="0">
                <a:latin typeface="Times New Roman" pitchFamily="18" charset="0"/>
                <a:cs typeface="Times New Roman" pitchFamily="18" charset="0"/>
              </a:rPr>
              <a:t>tarmog‘ida foydalaniladigan eng mashhur protokollar:</a:t>
            </a:r>
            <a:endParaRPr lang="ru-RU" dirty="0">
              <a:latin typeface="Times New Roman" pitchFamily="18" charset="0"/>
              <a:cs typeface="Times New Roman" pitchFamily="18" charset="0"/>
            </a:endParaRPr>
          </a:p>
          <a:p>
            <a:pPr lvl="0" algn="just"/>
            <a:r>
              <a:rPr lang="uz-Cyrl-UZ" dirty="0">
                <a:latin typeface="Times New Roman" pitchFamily="18" charset="0"/>
                <a:cs typeface="Times New Roman" pitchFamily="18" charset="0"/>
              </a:rPr>
              <a:t>HTTP (Hyper Text Transfer Protocol) — gipermatnni uzatish protokoli. HTTP protokoli Web-sahifalarni bitta tarmoqqa ulangan kompyuterlar o‘rtasida uzatishda foydalaniladi</a:t>
            </a:r>
            <a:r>
              <a:rPr lang="uz-Cyrl-UZ"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FTP</a:t>
            </a:r>
            <a:r>
              <a:rPr lang="uz-Cyrl-UZ" dirty="0">
                <a:latin typeface="Times New Roman" pitchFamily="18" charset="0"/>
                <a:cs typeface="Times New Roman" pitchFamily="18" charset="0"/>
              </a:rPr>
              <a:t> (File Transfer Protocol) — maxsus fayl serveridan foydalanuvchi kompyuteriga fayllarni uzatish uchun foydalaniladigan protokol. Ushbu protokoli abonentga ikkilik va matn fayllarini tarmoqdagi ixtiyoriy kompyuter bilan almashinish imkonini beradi. Uzoqlashtirilgan kompyuter bilan ulanish o‘rnatib, foydalanuvchi uzoqlashtirilgan kompyuterdan fayl nusxasini olishi yoki aksincha amallarni bajarishi mumkin</a:t>
            </a:r>
            <a:r>
              <a:rPr lang="uz-Cyrl-UZ"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POP</a:t>
            </a:r>
            <a:r>
              <a:rPr lang="uz-Cyrl-UZ" dirty="0">
                <a:latin typeface="Times New Roman" pitchFamily="18" charset="0"/>
                <a:cs typeface="Times New Roman" pitchFamily="18" charset="0"/>
              </a:rPr>
              <a:t> (Post Office Protocol) — pochta ulanish standart protkooli. POP serverlari kiruvchi pochtani qayta ishlaydi, POP protokoli kliyent pochta dasturlaridan pochtani qabul qilish so‘rovlarini qayta ishlashga mo‘ljallangan.</a:t>
            </a:r>
            <a:endParaRPr lang="ru-RU" dirty="0">
              <a:latin typeface="Times New Roman" pitchFamily="18" charset="0"/>
              <a:cs typeface="Times New Roman" pitchFamily="18" charset="0"/>
            </a:endParaRPr>
          </a:p>
          <a:p>
            <a:pPr lvl="0" algn="just"/>
            <a:r>
              <a:rPr lang="uz-Cyrl-UZ" dirty="0">
                <a:latin typeface="Times New Roman" pitchFamily="18" charset="0"/>
                <a:cs typeface="Times New Roman" pitchFamily="18" charset="0"/>
              </a:rPr>
              <a:t> SMTP (Simple Mail Transfer Protocol) — pochtani uzatish qoidalarini belgilovchi protokol. SMTP servi qabul qilganlik yoki xatolik haqida xabarlar uzatadi yoki qo‘shimcha axborotlarni so‘raydi</a:t>
            </a:r>
            <a:r>
              <a:rPr lang="uz-Cyrl-UZ"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TELNET</a:t>
            </a:r>
            <a:r>
              <a:rPr lang="uz-Cyrl-UZ" dirty="0">
                <a:latin typeface="Times New Roman" pitchFamily="18" charset="0"/>
                <a:cs typeface="Times New Roman" pitchFamily="18" charset="0"/>
              </a:rPr>
              <a:t> — uzoqlashtirilgan kirish protokoli. TELNET abonent bilan bir tarmoqda joylashgan ixtiyoriy EVM da xususiy kompyuterda ishlagandek ishlash imkonini beradi, ya’ni dasturlarni ishga tushirish, ish rejimini o‘zgartirish va hokazolar. Amaliyotda imkoniyatlar uzoqlashtirilgan mashina administratori tomonidan belgilangan kirish darajasi bilan chegaralanadi</a:t>
            </a:r>
            <a:r>
              <a:rPr lang="uz-Cyrl-UZ" dirty="0" smtClean="0">
                <a:latin typeface="Times New Roman" pitchFamily="18" charset="0"/>
                <a:cs typeface="Times New Roman" pitchFamily="18" charset="0"/>
              </a:rPr>
              <a:t>.</a:t>
            </a:r>
            <a:r>
              <a:rPr lang="en-US" dirty="0" smtClean="0">
                <a:latin typeface="Times New Roman" pitchFamily="18" charset="0"/>
                <a:cs typeface="Times New Roman" pitchFamily="18" charset="0"/>
              </a:rPr>
              <a:t> </a:t>
            </a:r>
            <a:r>
              <a:rPr lang="uz-Cyrl-UZ" dirty="0" smtClean="0">
                <a:latin typeface="Times New Roman" pitchFamily="18" charset="0"/>
                <a:cs typeface="Times New Roman" pitchFamily="18" charset="0"/>
              </a:rPr>
              <a:t>Boshqa </a:t>
            </a:r>
            <a:r>
              <a:rPr lang="uz-Cyrl-UZ" dirty="0">
                <a:latin typeface="Times New Roman" pitchFamily="18" charset="0"/>
                <a:cs typeface="Times New Roman" pitchFamily="18" charset="0"/>
              </a:rPr>
              <a:t>protokollar:</a:t>
            </a:r>
            <a:endParaRPr lang="ru-RU" dirty="0">
              <a:latin typeface="Times New Roman" pitchFamily="18" charset="0"/>
              <a:cs typeface="Times New Roman" pitchFamily="18" charset="0"/>
            </a:endParaRPr>
          </a:p>
          <a:p>
            <a:pPr lvl="0" algn="just"/>
            <a:r>
              <a:rPr lang="ru-RU" dirty="0">
                <a:latin typeface="Times New Roman" pitchFamily="18" charset="0"/>
                <a:cs typeface="Times New Roman" pitchFamily="18" charset="0"/>
              </a:rPr>
              <a:t>DTN – </a:t>
            </a:r>
            <a:r>
              <a:rPr lang="uz-Cyrl-UZ" dirty="0">
                <a:latin typeface="Times New Roman" pitchFamily="18" charset="0"/>
                <a:cs typeface="Times New Roman" pitchFamily="18" charset="0"/>
              </a:rPr>
              <a:t>uzoq kosmik aloqa </a:t>
            </a:r>
            <a:r>
              <a:rPr lang="ru-RU" dirty="0">
                <a:latin typeface="Times New Roman" pitchFamily="18" charset="0"/>
                <a:cs typeface="Times New Roman" pitchFamily="18" charset="0"/>
              </a:rPr>
              <a:t>IPN </a:t>
            </a:r>
            <a:r>
              <a:rPr lang="uz-Cyrl-UZ" dirty="0">
                <a:latin typeface="Times New Roman" pitchFamily="18" charset="0"/>
                <a:cs typeface="Times New Roman" pitchFamily="18" charset="0"/>
              </a:rPr>
              <a:t>tarmoqlariga mo‘ljallangan protokol.</a:t>
            </a:r>
            <a:endParaRPr lang="ru-RU" dirty="0">
              <a:latin typeface="Times New Roman" pitchFamily="18" charset="0"/>
              <a:cs typeface="Times New Roman" pitchFamily="18" charset="0"/>
            </a:endParaRPr>
          </a:p>
        </p:txBody>
      </p:sp>
    </p:spTree>
    <p:extLst>
      <p:ext uri="{BB962C8B-B14F-4D97-AF65-F5344CB8AC3E}">
        <p14:creationId xmlns:p14="http://schemas.microsoft.com/office/powerpoint/2010/main" val="938904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0" y="8636"/>
            <a:ext cx="8928992" cy="7478970"/>
          </a:xfrm>
          <a:prstGeom prst="rect">
            <a:avLst/>
          </a:prstGeom>
        </p:spPr>
        <p:txBody>
          <a:bodyPr wrap="square">
            <a:spAutoFit/>
          </a:bodyPr>
          <a:lstStyle/>
          <a:p>
            <a:pPr lvl="0" algn="ctr"/>
            <a:r>
              <a:rPr lang="uz-Cyrl-UZ" sz="2000" b="1" dirty="0">
                <a:latin typeface="Times New Roman" pitchFamily="18" charset="0"/>
                <a:cs typeface="Times New Roman" pitchFamily="18" charset="0"/>
              </a:rPr>
              <a:t>Tarmoq protokollari va ularning tasnifi.</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Bugungi kundagi telekommunikatsiyaning multiservis  tarmoqlari va infokommunikatsion tarmoqlar axborot va telekommunikatsiya texnologiyalarining jadal rivojlanishi va integratsiyasi natijasida yuzaga keldi. Ta’kidlash joizki, bu texnologiyalar integratsiyasi  ma’lumotlarni yuqori tezlikda qayta ishlash va uzatish imkonini bermoqda. </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Ushbu integratsiyaning e’tiborli tomoni shundaki, telekommunikatsion texnologiyalarining axborot texnologiyalari asosidagi dasturiy yechimlari mavjud tarmoqlar  xizmatlarining  konvergensiyasiga olib keldi. Ushbu dasturiy ta’minotlar bugungi kunda tarmoq dasturiy ilovalari deb nomlanadi. Ular bevosita barcha turdagi aloqa qurilmalari o‘rtasida aloqani tashkillashtirish, boshqarish va boshqa shu kabi asosiy vazifalarni bajaradi. </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Zamonaviy telekommunikatsiya tarmoqlarida barcha ma’lumot uzatish qurilmalari </a:t>
            </a:r>
            <a:r>
              <a:rPr lang="uz-Latn-UZ" sz="2000" dirty="0">
                <a:latin typeface="Times New Roman" pitchFamily="18" charset="0"/>
                <a:cs typeface="Times New Roman" pitchFamily="18" charset="0"/>
              </a:rPr>
              <a:t>va terminallari </a:t>
            </a:r>
            <a:r>
              <a:rPr lang="uz-Cyrl-UZ" sz="2000" dirty="0">
                <a:latin typeface="Times New Roman" pitchFamily="18" charset="0"/>
                <a:cs typeface="Times New Roman" pitchFamily="18" charset="0"/>
              </a:rPr>
              <a:t>ma’lum bir o‘rnatilgan dasturiy ta’minotlar asosida ishlaydi. Telekommunikatsiya qo‘llaniluvchi texnologiya va protokollar dasturiy ta’minotlar ko‘rinishida aloqa qurilmalarida o‘rnatiladi. Ushbu dasturiy ta’minotlar kompyuterlar va aloqa qurilmalari o‘rtasida samarali, xavfsiz va ishonchli ma’lumot  almashish imkonini beradi.</a:t>
            </a:r>
            <a:endParaRPr lang="ru-RU" sz="2000" dirty="0">
              <a:latin typeface="Times New Roman" pitchFamily="18" charset="0"/>
              <a:cs typeface="Times New Roman" pitchFamily="18" charset="0"/>
            </a:endParaRPr>
          </a:p>
          <a:p>
            <a:r>
              <a:rPr lang="uz-Cyrl-UZ" sz="2000" dirty="0">
                <a:latin typeface="Times New Roman" pitchFamily="18" charset="0"/>
                <a:cs typeface="Times New Roman" pitchFamily="18" charset="0"/>
              </a:rPr>
              <a:t>Bugungi kundagi telekommunikatsiya tarmoq dasturiy ta’minotlari va ilovalari asosan IP texnologiyasi asosida  qurilgan tarmoqlar uchun mo‘ljallangan. IP tarmoqlarning ishlash prinsiplari asosan TCP/IP modeli  asosida tavsiflanadi. Tarmoq qurilmalarini ishlab chiqarishda ham ushbu model asos bo‘lib hizmat qiladi. Shu sababli IP tarmoqlar uchun tarmoq dasturiy ta’minotlari va ilovalarini yaratish modelini TCP/IP modeli  orqali tavsiflash mumkin(1.1-rasm).</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048407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p:nvPr/>
        </p:nvPicPr>
        <p:blipFill>
          <a:blip r:embed="rId2"/>
          <a:srcRect l="29045" t="29410" r="8623" b="22871"/>
          <a:stretch>
            <a:fillRect/>
          </a:stretch>
        </p:blipFill>
        <p:spPr bwMode="auto">
          <a:xfrm>
            <a:off x="827584" y="116632"/>
            <a:ext cx="7056783" cy="3168352"/>
          </a:xfrm>
          <a:prstGeom prst="rect">
            <a:avLst/>
          </a:prstGeom>
          <a:noFill/>
          <a:ln w="9525">
            <a:noFill/>
            <a:miter lim="800000"/>
            <a:headEnd/>
            <a:tailEnd/>
          </a:ln>
        </p:spPr>
      </p:pic>
      <p:sp>
        <p:nvSpPr>
          <p:cNvPr id="5" name="Прямоугольник 4"/>
          <p:cNvSpPr/>
          <p:nvPr/>
        </p:nvSpPr>
        <p:spPr>
          <a:xfrm>
            <a:off x="2688984" y="3295641"/>
            <a:ext cx="4144020" cy="400110"/>
          </a:xfrm>
          <a:prstGeom prst="rect">
            <a:avLst/>
          </a:prstGeom>
        </p:spPr>
        <p:txBody>
          <a:bodyPr wrap="none">
            <a:spAutoFit/>
          </a:bodyPr>
          <a:lstStyle/>
          <a:p>
            <a:r>
              <a:rPr lang="uz-Cyrl-UZ" sz="2000" dirty="0">
                <a:latin typeface="Times New Roman" pitchFamily="18" charset="0"/>
                <a:cs typeface="Times New Roman" pitchFamily="18" charset="0"/>
              </a:rPr>
              <a:t>Rasm 1.1. Tarmoqni dasturlash modeli</a:t>
            </a:r>
            <a:endParaRPr lang="ru-RU" sz="2000" dirty="0">
              <a:latin typeface="Times New Roman" pitchFamily="18" charset="0"/>
              <a:cs typeface="Times New Roman" pitchFamily="18" charset="0"/>
            </a:endParaRPr>
          </a:p>
        </p:txBody>
      </p:sp>
      <p:sp>
        <p:nvSpPr>
          <p:cNvPr id="6" name="Прямоугольник 5"/>
          <p:cNvSpPr/>
          <p:nvPr/>
        </p:nvSpPr>
        <p:spPr>
          <a:xfrm>
            <a:off x="224742" y="3933056"/>
            <a:ext cx="8712968" cy="2246769"/>
          </a:xfrm>
          <a:prstGeom prst="rect">
            <a:avLst/>
          </a:prstGeom>
        </p:spPr>
        <p:txBody>
          <a:bodyPr wrap="square">
            <a:spAutoFit/>
          </a:bodyPr>
          <a:lstStyle/>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Telekommunikatsiya </a:t>
            </a:r>
            <a:r>
              <a:rPr lang="uz-Cyrl-UZ" sz="2000" dirty="0">
                <a:latin typeface="Times New Roman" pitchFamily="18" charset="0"/>
                <a:cs typeface="Times New Roman" pitchFamily="18" charset="0"/>
              </a:rPr>
              <a:t>tarmoq dasturiy ta’minotini loyihalashda uzatish muhitidan qat’iy nazar zamonaviy xizmatlarni taqdim etish va ta’minlash hisobga olinadi.   Ushbu model tarmoqda turli xizmatlarni taqdim etishda dasturiy ta’minotlarini yaratish uchun asos bo‘lib hizmat qiladi. </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Modelning </a:t>
            </a:r>
            <a:r>
              <a:rPr lang="uz-Cyrl-UZ" sz="2000" dirty="0">
                <a:latin typeface="Times New Roman" pitchFamily="18" charset="0"/>
                <a:cs typeface="Times New Roman" pitchFamily="18" charset="0"/>
              </a:rPr>
              <a:t>birinchi pog‘onasi turli uzatish muhitlari, simli va simsiz abonent kirish texnologiyalari uchun yoziladigan qurilmalar drayverlari va yordamchi ilovalarni tavsiflaydi.</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086390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07504" y="116632"/>
            <a:ext cx="9036496" cy="6524863"/>
          </a:xfrm>
          <a:prstGeom prst="rect">
            <a:avLst/>
          </a:prstGeom>
        </p:spPr>
        <p:txBody>
          <a:bodyPr wrap="square">
            <a:spAutoFit/>
          </a:bodyPr>
          <a:lstStyle/>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Modelning </a:t>
            </a:r>
            <a:r>
              <a:rPr lang="uz-Cyrl-UZ" sz="2200" dirty="0">
                <a:latin typeface="Times New Roman" pitchFamily="18" charset="0"/>
                <a:cs typeface="Times New Roman" pitchFamily="18" charset="0"/>
              </a:rPr>
              <a:t>ikkinchi pog‘onasi TCP/IP texnologiyalari asosida telekommunikatsiya tarmoqlari qurilmalarini mantiqiy bog‘lash va ular o‘rtasida ma’lumotlarni paketli ko‘rinishda almashish jarayonini dasturlashni tavsiflaydi.</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Modelning </a:t>
            </a:r>
            <a:r>
              <a:rPr lang="uz-Cyrl-UZ" sz="2200" dirty="0">
                <a:latin typeface="Times New Roman" pitchFamily="18" charset="0"/>
                <a:cs typeface="Times New Roman" pitchFamily="18" charset="0"/>
              </a:rPr>
              <a:t>uchinchi pog‘onasi telekommunikatsiya tarmoqlarida qo‘rsatiladigan xizmatlarni taqdim etish dasturiy ta’minotlari tavsiflaydi.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Tarmoq dasturiy ta’minotlari asosan biror operatsion tizim uchun yaratiladi. Bugungi kunda tarmoq qurilmalari va server dasturlarini yaratishda Linux/Unix va Microsoft Windows operatsion tizimlaridan keng foydalaniladi.   </a:t>
            </a:r>
            <a:endParaRPr lang="ru-RU" sz="2200" dirty="0">
              <a:latin typeface="Times New Roman" pitchFamily="18" charset="0"/>
              <a:cs typeface="Times New Roman" pitchFamily="18" charset="0"/>
            </a:endParaRPr>
          </a:p>
          <a:p>
            <a:pPr algn="just"/>
            <a:r>
              <a:rPr lang="uz-Cyrl-UZ" sz="2200" dirty="0">
                <a:latin typeface="Times New Roman" pitchFamily="18" charset="0"/>
                <a:cs typeface="Times New Roman" pitchFamily="18" charset="0"/>
              </a:rPr>
              <a:t>Telekommunikatsiya tarmoq dasturiy ta’minotlarini yaratishda asosan ob’ektga yo‘naltirilgan dasturlash tillaridan keng foydalaniladi. Tarmoq qurilmalarining dasturiy ta’minotlari asosan Assembler, S/S++ kabi dasturlash tillarida,  abonent terminallari,  kompyuterlarning ilovalari esa S/C++, C#, Java, Visual basic, J# va boshqa dasturlash tillarida yoziladi. </a:t>
            </a:r>
            <a:endParaRPr lang="ru-RU" sz="2200" dirty="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	</a:t>
            </a:r>
            <a:r>
              <a:rPr lang="uz-Cyrl-UZ" sz="2200" dirty="0" smtClean="0">
                <a:latin typeface="Times New Roman" pitchFamily="18" charset="0"/>
                <a:cs typeface="Times New Roman" pitchFamily="18" charset="0"/>
              </a:rPr>
              <a:t>Ta’kidlash </a:t>
            </a:r>
            <a:r>
              <a:rPr lang="uz-Cyrl-UZ" sz="2200" dirty="0">
                <a:latin typeface="Times New Roman" pitchFamily="18" charset="0"/>
                <a:cs typeface="Times New Roman" pitchFamily="18" charset="0"/>
              </a:rPr>
              <a:t>joizki, telekommunikatsiya tarmoq dasturiy ta’minotlari va ilovalari axborot-kommunikatsion texnologiyalari va multiservis tarmoqlarining rivojlanishida muhim ahamiyat kasb etadi. Zamonaviy axborot-kommunikatsiya tizimlarini loyihalashda tarmoq dasturiy ta’minotlarini yaratish modeli asosiy model bo‘lib xizmat qiladi. </a:t>
            </a:r>
            <a:endParaRPr lang="ru-RU" sz="2200" dirty="0">
              <a:latin typeface="Times New Roman" pitchFamily="18" charset="0"/>
              <a:cs typeface="Times New Roman" pitchFamily="18" charset="0"/>
            </a:endParaRPr>
          </a:p>
        </p:txBody>
      </p:sp>
    </p:spTree>
    <p:extLst>
      <p:ext uri="{BB962C8B-B14F-4D97-AF65-F5344CB8AC3E}">
        <p14:creationId xmlns:p14="http://schemas.microsoft.com/office/powerpoint/2010/main" val="1499405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15008" y="83139"/>
            <a:ext cx="8928992" cy="6232475"/>
          </a:xfrm>
          <a:prstGeom prst="rect">
            <a:avLst/>
          </a:prstGeom>
        </p:spPr>
        <p:txBody>
          <a:bodyPr wrap="square">
            <a:spAutoFit/>
          </a:bodyPr>
          <a:lstStyle/>
          <a:p>
            <a:pPr lvl="0" algn="ctr"/>
            <a:r>
              <a:rPr lang="uz-Cyrl-UZ" sz="2000" b="1" dirty="0">
                <a:latin typeface="Times New Roman" pitchFamily="18" charset="0"/>
                <a:cs typeface="Times New Roman" pitchFamily="18" charset="0"/>
              </a:rPr>
              <a:t>Tarmoq protokollarini dasturlash.</a:t>
            </a:r>
            <a:endParaRPr lang="ru-RU" sz="20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Telekommunikatsiya </a:t>
            </a:r>
            <a:r>
              <a:rPr lang="uz-Cyrl-UZ" sz="1900" dirty="0">
                <a:latin typeface="Times New Roman" pitchFamily="18" charset="0"/>
                <a:cs typeface="Times New Roman" pitchFamily="18" charset="0"/>
              </a:rPr>
              <a:t>tarmoq qurilmalarining dasturiy ta’minotlarini loyihalash va yaratishda asosan ob’ektga yo‘naltirilgan dasturlash tillari va vositalaridan keng foydalaniladi. Tarmoq qurilmalarining dasturiy ta’minotlari asosan Assembler, S/S++ kabi dasturlash tillarida,  abonent terminallari,  kompyuterlarning ilovalari esa S/C++, C#, Java, Visual basic, J# va boshqa dasturlash tillarida yoziladi. </a:t>
            </a:r>
            <a:endParaRPr lang="ru-RU"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C++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a:t>
            </a:r>
            <a:r>
              <a:rPr lang="en-US" sz="1900" dirty="0">
                <a:latin typeface="Times New Roman" pitchFamily="18" charset="0"/>
                <a:cs typeface="Times New Roman" pitchFamily="18" charset="0"/>
              </a:rPr>
              <a:t> C </a:t>
            </a:r>
            <a:r>
              <a:rPr lang="en-US" sz="1900" dirty="0" err="1">
                <a:latin typeface="Times New Roman" pitchFamily="18" charset="0"/>
                <a:cs typeface="Times New Roman" pitchFamily="18" charset="0"/>
              </a:rPr>
              <a:t>tiliga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asoslangan</a:t>
            </a:r>
            <a:r>
              <a:rPr lang="en-US" sz="1900" dirty="0">
                <a:latin typeface="Times New Roman" pitchFamily="18" charset="0"/>
                <a:cs typeface="Times New Roman" pitchFamily="18" charset="0"/>
              </a:rPr>
              <a:t>. C </a:t>
            </a:r>
            <a:r>
              <a:rPr lang="uz-Cyrl-UZ" sz="1900" dirty="0">
                <a:latin typeface="Times New Roman" pitchFamily="18" charset="0"/>
                <a:cs typeface="Times New Roman" pitchFamily="18" charset="0"/>
              </a:rPr>
              <a:t>e</a:t>
            </a:r>
            <a:r>
              <a:rPr lang="en-US" sz="1900" dirty="0" err="1">
                <a:latin typeface="Times New Roman" pitchFamily="18" charset="0"/>
                <a:cs typeface="Times New Roman" pitchFamily="18" charset="0"/>
              </a:rPr>
              <a:t>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navbatida</a:t>
            </a:r>
            <a:r>
              <a:rPr lang="en-US" sz="1900" dirty="0">
                <a:latin typeface="Times New Roman" pitchFamily="18" charset="0"/>
                <a:cs typeface="Times New Roman" pitchFamily="18" charset="0"/>
              </a:rPr>
              <a:t> B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BSPL </a:t>
            </a:r>
            <a:r>
              <a:rPr lang="en-US" sz="1900" dirty="0" err="1">
                <a:latin typeface="Times New Roman" pitchFamily="18" charset="0"/>
                <a:cs typeface="Times New Roman" pitchFamily="18" charset="0"/>
              </a:rPr>
              <a:t>tillaridan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chiqqan</a:t>
            </a:r>
            <a:r>
              <a:rPr lang="en-US" sz="1900" dirty="0">
                <a:latin typeface="Times New Roman" pitchFamily="18" charset="0"/>
                <a:cs typeface="Times New Roman" pitchFamily="18" charset="0"/>
              </a:rPr>
              <a:t>. BSPL 1967 </a:t>
            </a:r>
            <a:r>
              <a:rPr lang="en-US" sz="1900" dirty="0" err="1">
                <a:latin typeface="Times New Roman" pitchFamily="18" charset="0"/>
                <a:cs typeface="Times New Roman" pitchFamily="18" charset="0"/>
              </a:rPr>
              <a:t>yilda</a:t>
            </a:r>
            <a:r>
              <a:rPr lang="en-US" sz="1900" dirty="0">
                <a:latin typeface="Times New Roman" pitchFamily="18" charset="0"/>
                <a:cs typeface="Times New Roman" pitchFamily="18" charset="0"/>
              </a:rPr>
              <a:t> Martin Richards </a:t>
            </a:r>
            <a:r>
              <a:rPr lang="en-US" sz="1900" dirty="0" err="1">
                <a:latin typeface="Times New Roman" pitchFamily="18" charset="0"/>
                <a:cs typeface="Times New Roman" pitchFamily="18" charset="0"/>
              </a:rPr>
              <a:t>tomonidan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tuzilgan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sistemalarni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yozish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mo‘ljallangan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yedi</a:t>
            </a:r>
            <a:r>
              <a:rPr lang="en-US" sz="1900" dirty="0">
                <a:latin typeface="Times New Roman" pitchFamily="18" charset="0"/>
                <a:cs typeface="Times New Roman" pitchFamily="18" charset="0"/>
              </a:rPr>
              <a:t>. Ken </a:t>
            </a:r>
            <a:r>
              <a:rPr lang="en-US" sz="1900" dirty="0" err="1">
                <a:latin typeface="Times New Roman" pitchFamily="18" charset="0"/>
                <a:cs typeface="Times New Roman" pitchFamily="18" charset="0"/>
              </a:rPr>
              <a:t>Tompson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o‘zining</a:t>
            </a:r>
            <a:r>
              <a:rPr lang="en-US" sz="1900" dirty="0">
                <a:latin typeface="Times New Roman" pitchFamily="18" charset="0"/>
                <a:cs typeface="Times New Roman" pitchFamily="18" charset="0"/>
              </a:rPr>
              <a:t> B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BSPL </a:t>
            </a:r>
            <a:r>
              <a:rPr lang="en-US" sz="1900" dirty="0" err="1">
                <a:latin typeface="Times New Roman" pitchFamily="18" charset="0"/>
                <a:cs typeface="Times New Roman" pitchFamily="18" charset="0"/>
              </a:rPr>
              <a:t>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ko‘p</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hossalarini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kiritgan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B da Unix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sistemasining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birinchi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versiyalarini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yozgan</a:t>
            </a:r>
            <a:r>
              <a:rPr lang="en-US" sz="1900" dirty="0">
                <a:latin typeface="Times New Roman" pitchFamily="18" charset="0"/>
                <a:cs typeface="Times New Roman" pitchFamily="18" charset="0"/>
              </a:rPr>
              <a:t>. BSPL ham, B ham </a:t>
            </a:r>
            <a:r>
              <a:rPr lang="en-US" sz="1900" dirty="0" err="1">
                <a:latin typeface="Times New Roman" pitchFamily="18" charset="0"/>
                <a:cs typeface="Times New Roman" pitchFamily="18" charset="0"/>
              </a:rPr>
              <a:t>tipsiz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o‘garuvchilarning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tipi </a:t>
            </a:r>
            <a:r>
              <a:rPr lang="en-US" sz="1900" dirty="0" err="1">
                <a:latin typeface="Times New Roman" pitchFamily="18" charset="0"/>
                <a:cs typeface="Times New Roman" pitchFamily="18" charset="0"/>
              </a:rPr>
              <a:t>bo‘lmagan</a:t>
            </a:r>
            <a:r>
              <a:rPr lang="en-US" sz="1900" dirty="0">
                <a:latin typeface="Times New Roman" pitchFamily="18" charset="0"/>
                <a:cs typeface="Times New Roman" pitchFamily="18" charset="0"/>
              </a:rPr>
              <a:t> - </a:t>
            </a:r>
            <a:r>
              <a:rPr lang="en-US" sz="1900" dirty="0" err="1">
                <a:latin typeface="Times New Roman" pitchFamily="18" charset="0"/>
                <a:cs typeface="Times New Roman" pitchFamily="18" charset="0"/>
              </a:rPr>
              <a:t>har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o‘zgaruvchi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hotirasida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faqat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bayt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maydon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yegallagan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O‘zgaruvchini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qanday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butun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sonmi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kasrli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sonmi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harfdekmi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vazifasi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bo‘lgan</a:t>
            </a:r>
            <a:r>
              <a:rPr lang="en-US" sz="1900" dirty="0">
                <a:latin typeface="Times New Roman" pitchFamily="18" charset="0"/>
                <a:cs typeface="Times New Roman" pitchFamily="18" charset="0"/>
              </a:rPr>
              <a:t>. </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C </a:t>
            </a:r>
            <a:r>
              <a:rPr lang="en-US" sz="1900" dirty="0" err="1">
                <a:latin typeface="Times New Roman" pitchFamily="18" charset="0"/>
                <a:cs typeface="Times New Roman" pitchFamily="18" charset="0"/>
              </a:rPr>
              <a:t>tilini</a:t>
            </a:r>
            <a:r>
              <a:rPr lang="en-US" sz="1900" dirty="0">
                <a:latin typeface="Times New Roman" pitchFamily="18" charset="0"/>
                <a:cs typeface="Times New Roman" pitchFamily="18" charset="0"/>
              </a:rPr>
              <a:t> Dennis </a:t>
            </a:r>
            <a:r>
              <a:rPr lang="en-US" sz="1900" dirty="0" err="1">
                <a:latin typeface="Times New Roman" pitchFamily="18" charset="0"/>
                <a:cs typeface="Times New Roman" pitchFamily="18" charset="0"/>
              </a:rPr>
              <a:t>Ritchiye</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keltirib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chiqardi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a:t>
            </a:r>
            <a:r>
              <a:rPr lang="en-US" sz="1900" dirty="0">
                <a:latin typeface="Times New Roman" pitchFamily="18" charset="0"/>
                <a:cs typeface="Times New Roman" pitchFamily="18" charset="0"/>
              </a:rPr>
              <a:t> 1972 </a:t>
            </a:r>
            <a:r>
              <a:rPr lang="en-US" sz="1900" dirty="0" err="1">
                <a:latin typeface="Times New Roman" pitchFamily="18" charset="0"/>
                <a:cs typeface="Times New Roman" pitchFamily="18" charset="0"/>
              </a:rPr>
              <a:t>yili</a:t>
            </a:r>
            <a:r>
              <a:rPr lang="en-US" sz="1900" dirty="0">
                <a:latin typeface="Times New Roman" pitchFamily="18" charset="0"/>
                <a:cs typeface="Times New Roman" pitchFamily="18" charset="0"/>
              </a:rPr>
              <a:t> ilk </a:t>
            </a:r>
            <a:r>
              <a:rPr lang="en-US" sz="1900" dirty="0" err="1">
                <a:latin typeface="Times New Roman" pitchFamily="18" charset="0"/>
                <a:cs typeface="Times New Roman" pitchFamily="18" charset="0"/>
              </a:rPr>
              <a:t>bor</a:t>
            </a:r>
            <a:r>
              <a:rPr lang="en-US" sz="1900" dirty="0">
                <a:latin typeface="Times New Roman" pitchFamily="18" charset="0"/>
                <a:cs typeface="Times New Roman" pitchFamily="18" charset="0"/>
              </a:rPr>
              <a:t> Bell </a:t>
            </a:r>
            <a:r>
              <a:rPr lang="en-US" sz="1900" dirty="0" err="1">
                <a:latin typeface="Times New Roman" pitchFamily="18" charset="0"/>
                <a:cs typeface="Times New Roman" pitchFamily="18" charset="0"/>
              </a:rPr>
              <a:t>Laboratoriyasida</a:t>
            </a:r>
            <a:r>
              <a:rPr lang="en-US" sz="1900" dirty="0">
                <a:latin typeface="Times New Roman" pitchFamily="18" charset="0"/>
                <a:cs typeface="Times New Roman" pitchFamily="18" charset="0"/>
              </a:rPr>
              <a:t>, DEC PDP-11 </a:t>
            </a:r>
            <a:r>
              <a:rPr lang="en-US" sz="1900" dirty="0" err="1">
                <a:latin typeface="Times New Roman" pitchFamily="18" charset="0"/>
                <a:cs typeface="Times New Roman" pitchFamily="18" charset="0"/>
              </a:rPr>
              <a:t>kompyuterida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qo‘lladi</a:t>
            </a:r>
            <a:r>
              <a:rPr lang="en-US" sz="1900" dirty="0">
                <a:latin typeface="Times New Roman" pitchFamily="18" charset="0"/>
                <a:cs typeface="Times New Roman" pitchFamily="18" charset="0"/>
              </a:rPr>
              <a:t>. C </a:t>
            </a:r>
            <a:r>
              <a:rPr lang="en-US" sz="1900" dirty="0" err="1">
                <a:latin typeface="Times New Roman" pitchFamily="18" charset="0"/>
                <a:cs typeface="Times New Roman" pitchFamily="18" charset="0"/>
              </a:rPr>
              <a:t>o‘zidan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oldingi</a:t>
            </a:r>
            <a:r>
              <a:rPr lang="en-US" sz="1900" dirty="0">
                <a:latin typeface="Times New Roman" pitchFamily="18" charset="0"/>
                <a:cs typeface="Times New Roman" pitchFamily="18" charset="0"/>
              </a:rPr>
              <a:t> B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BSPL </a:t>
            </a:r>
            <a:r>
              <a:rPr lang="en-US" sz="1900" dirty="0" err="1">
                <a:latin typeface="Times New Roman" pitchFamily="18" charset="0"/>
                <a:cs typeface="Times New Roman" pitchFamily="18" charset="0"/>
              </a:rPr>
              <a:t>tillarining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juda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ko‘p</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muhim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tomonlarini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ichiga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olish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qatorda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o‘zgaruvchilarni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tiplashtirdi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qator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boshqa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yangiliklarni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kiritdi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Boshlanishda</a:t>
            </a:r>
            <a:r>
              <a:rPr lang="en-US" sz="1900" dirty="0">
                <a:latin typeface="Times New Roman" pitchFamily="18" charset="0"/>
                <a:cs typeface="Times New Roman" pitchFamily="18" charset="0"/>
              </a:rPr>
              <a:t> C </a:t>
            </a:r>
            <a:r>
              <a:rPr lang="en-US" sz="1900" dirty="0" err="1">
                <a:latin typeface="Times New Roman" pitchFamily="18" charset="0"/>
                <a:cs typeface="Times New Roman" pitchFamily="18" charset="0"/>
              </a:rPr>
              <a:t>asosan</a:t>
            </a:r>
            <a:r>
              <a:rPr lang="en-US" sz="1900" dirty="0">
                <a:latin typeface="Times New Roman" pitchFamily="18" charset="0"/>
                <a:cs typeface="Times New Roman" pitchFamily="18" charset="0"/>
              </a:rPr>
              <a:t> Unix </a:t>
            </a:r>
            <a:r>
              <a:rPr lang="en-US" sz="1900" dirty="0" err="1">
                <a:latin typeface="Times New Roman" pitchFamily="18" charset="0"/>
                <a:cs typeface="Times New Roman" pitchFamily="18" charset="0"/>
              </a:rPr>
              <a:t>sistemalarida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tarqaldi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Hozirda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sistemalarning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qismi</a:t>
            </a:r>
            <a:r>
              <a:rPr lang="en-US" sz="1900" dirty="0">
                <a:latin typeface="Times New Roman" pitchFamily="18" charset="0"/>
                <a:cs typeface="Times New Roman" pitchFamily="18" charset="0"/>
              </a:rPr>
              <a:t> C/C++ da </a:t>
            </a:r>
            <a:r>
              <a:rPr lang="en-US" sz="1900" dirty="0" err="1">
                <a:latin typeface="Times New Roman" pitchFamily="18" charset="0"/>
                <a:cs typeface="Times New Roman" pitchFamily="18" charset="0"/>
              </a:rPr>
              <a:t>yozilmoqda</a:t>
            </a:r>
            <a:r>
              <a:rPr lang="en-US" sz="1900" dirty="0">
                <a:latin typeface="Times New Roman" pitchFamily="18" charset="0"/>
                <a:cs typeface="Times New Roman" pitchFamily="18" charset="0"/>
              </a:rPr>
              <a:t>. C </a:t>
            </a:r>
            <a:r>
              <a:rPr lang="en-US" sz="1900" dirty="0" err="1">
                <a:latin typeface="Times New Roman" pitchFamily="18" charset="0"/>
                <a:cs typeface="Times New Roman" pitchFamily="18" charset="0"/>
              </a:rPr>
              <a:t>mashina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arhitekturasiga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bog‘langan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Lekin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yahshi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rejalashtirish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orqali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kompyuter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platformalarida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ishlaydigan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qilsa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3308483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24010" y="39975"/>
            <a:ext cx="8928992" cy="6555641"/>
          </a:xfrm>
          <a:prstGeom prst="rect">
            <a:avLst/>
          </a:prstGeom>
        </p:spPr>
        <p:txBody>
          <a:bodyPr wrap="square">
            <a:spAutoFit/>
          </a:bodyPr>
          <a:lstStyle/>
          <a:p>
            <a:pPr algn="just"/>
            <a:r>
              <a:rPr lang="en-US" sz="2000" dirty="0" smtClean="0">
                <a:latin typeface="Times New Roman" pitchFamily="18" charset="0"/>
                <a:cs typeface="Times New Roman" pitchFamily="18" charset="0"/>
              </a:rPr>
              <a:t>	1983 </a:t>
            </a:r>
            <a:r>
              <a:rPr lang="en-US" sz="2000" dirty="0" err="1">
                <a:latin typeface="Times New Roman" pitchFamily="18" charset="0"/>
                <a:cs typeface="Times New Roman" pitchFamily="18" charset="0"/>
              </a:rPr>
              <a:t>yilda</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tili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tarqalganligi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harakati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boshlandi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Amerika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Milliy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Komiteti</a:t>
            </a:r>
            <a:r>
              <a:rPr lang="en-US" sz="2000" dirty="0">
                <a:latin typeface="Times New Roman" pitchFamily="18" charset="0"/>
                <a:cs typeface="Times New Roman" pitchFamily="18" charset="0"/>
              </a:rPr>
              <a:t> (ANSI) </a:t>
            </a:r>
            <a:r>
              <a:rPr lang="en-US" sz="2000" dirty="0" err="1">
                <a:latin typeface="Times New Roman" pitchFamily="18" charset="0"/>
                <a:cs typeface="Times New Roman" pitchFamily="18" charset="0"/>
              </a:rPr>
              <a:t>qoshida</a:t>
            </a:r>
            <a:r>
              <a:rPr lang="en-US" sz="2000" dirty="0">
                <a:latin typeface="Times New Roman" pitchFamily="18" charset="0"/>
                <a:cs typeface="Times New Roman" pitchFamily="18" charset="0"/>
              </a:rPr>
              <a:t> X3J11 </a:t>
            </a:r>
            <a:r>
              <a:rPr lang="en-US" sz="2000" dirty="0" err="1">
                <a:latin typeface="Times New Roman" pitchFamily="18" charset="0"/>
                <a:cs typeface="Times New Roman" pitchFamily="18" charset="0"/>
              </a:rPr>
              <a:t>tehnik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komitet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tuzildi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1989 </a:t>
            </a:r>
            <a:r>
              <a:rPr lang="en-US" sz="2000" dirty="0" err="1">
                <a:latin typeface="Times New Roman" pitchFamily="18" charset="0"/>
                <a:cs typeface="Times New Roman" pitchFamily="18" charset="0"/>
              </a:rPr>
              <a:t>yilda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ushbu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qilindi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dunyo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bo‘yicha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tarqatish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maqsadida</a:t>
            </a:r>
            <a:r>
              <a:rPr lang="en-US" sz="2000" dirty="0">
                <a:latin typeface="Times New Roman" pitchFamily="18" charset="0"/>
                <a:cs typeface="Times New Roman" pitchFamily="18" charset="0"/>
              </a:rPr>
              <a:t> 1990 </a:t>
            </a:r>
            <a:r>
              <a:rPr lang="en-US" sz="2000" dirty="0" err="1">
                <a:latin typeface="Times New Roman" pitchFamily="18" charset="0"/>
                <a:cs typeface="Times New Roman" pitchFamily="18" charset="0"/>
              </a:rPr>
              <a:t>yilda</a:t>
            </a:r>
            <a:r>
              <a:rPr lang="en-US" sz="2000" dirty="0">
                <a:latin typeface="Times New Roman" pitchFamily="18" charset="0"/>
                <a:cs typeface="Times New Roman" pitchFamily="18" charset="0"/>
              </a:rPr>
              <a:t> ANSI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Dunyo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Tashkiloti</a:t>
            </a:r>
            <a:r>
              <a:rPr lang="en-US" sz="2000" dirty="0">
                <a:latin typeface="Times New Roman" pitchFamily="18" charset="0"/>
                <a:cs typeface="Times New Roman" pitchFamily="18" charset="0"/>
              </a:rPr>
              <a:t> (ISO) </a:t>
            </a:r>
            <a:r>
              <a:rPr lang="en-US" sz="2000" dirty="0" err="1">
                <a:latin typeface="Times New Roman" pitchFamily="18" charset="0"/>
                <a:cs typeface="Times New Roman" pitchFamily="18" charset="0"/>
              </a:rPr>
              <a:t>hamkorlikda</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ning</a:t>
            </a:r>
            <a:r>
              <a:rPr lang="en-US" sz="2000" dirty="0">
                <a:latin typeface="Times New Roman" pitchFamily="18" charset="0"/>
                <a:cs typeface="Times New Roman" pitchFamily="18" charset="0"/>
              </a:rPr>
              <a:t> ANSI/ISO 9899:1990 </a:t>
            </a:r>
            <a:r>
              <a:rPr lang="en-US" sz="2000" dirty="0" err="1">
                <a:latin typeface="Times New Roman" pitchFamily="18" charset="0"/>
                <a:cs typeface="Times New Roman" pitchFamily="18" charset="0"/>
              </a:rPr>
              <a:t>standartini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qabul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qilishdi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C da </a:t>
            </a:r>
            <a:r>
              <a:rPr lang="en-US" sz="2000" dirty="0" err="1">
                <a:latin typeface="Times New Roman" pitchFamily="18" charset="0"/>
                <a:cs typeface="Times New Roman" pitchFamily="18" charset="0"/>
              </a:rPr>
              <a:t>yozilgan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miqdordagi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o‘zgarishlar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umuman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o‘zgarishlarsiz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juda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platformalarida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ishlaydi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C++ 1980 </a:t>
            </a:r>
            <a:r>
              <a:rPr lang="en-US" sz="2000" dirty="0" err="1">
                <a:latin typeface="Times New Roman" pitchFamily="18" charset="0"/>
                <a:cs typeface="Times New Roman" pitchFamily="18" charset="0"/>
              </a:rPr>
              <a:t>yillar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Bjarne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Stroustrup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tomonidan</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tarzda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tuzildi</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juda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qo‘shimchalarni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lekin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asosiysi</a:t>
            </a:r>
            <a:r>
              <a:rPr lang="en-US" sz="2000" dirty="0">
                <a:latin typeface="Times New Roman" pitchFamily="18" charset="0"/>
                <a:cs typeface="Times New Roman" pitchFamily="18" charset="0"/>
              </a:rPr>
              <a:t> u </a:t>
            </a:r>
            <a:r>
              <a:rPr lang="en-US" sz="2000" dirty="0" err="1">
                <a:latin typeface="Times New Roman" pitchFamily="18" charset="0"/>
                <a:cs typeface="Times New Roman" pitchFamily="18" charset="0"/>
              </a:rPr>
              <a:t>ob’ektlar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imkon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Dasturlarni</a:t>
            </a:r>
            <a:r>
              <a:rPr lang="en-US" sz="2000" dirty="0" smtClean="0">
                <a:latin typeface="Times New Roman" pitchFamily="18" charset="0"/>
                <a:cs typeface="Times New Roman" pitchFamily="18" charset="0"/>
              </a:rPr>
              <a:t> </a:t>
            </a:r>
            <a:r>
              <a:rPr lang="en-US" sz="2000" dirty="0" err="1">
                <a:latin typeface="Times New Roman" pitchFamily="18" charset="0"/>
                <a:cs typeface="Times New Roman" pitchFamily="18" charset="0"/>
              </a:rPr>
              <a:t>tez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sifatli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yozish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hozirgi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katta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ahamiyat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kasb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yetmodi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ta’minlash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g‘oyasi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ilgari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surildi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Huddi</a:t>
            </a:r>
            <a:r>
              <a:rPr lang="en-US" sz="2000" dirty="0">
                <a:latin typeface="Times New Roman" pitchFamily="18" charset="0"/>
                <a:cs typeface="Times New Roman" pitchFamily="18" charset="0"/>
              </a:rPr>
              <a:t> 70-chi </a:t>
            </a:r>
            <a:r>
              <a:rPr lang="en-US" sz="2000" dirty="0" err="1">
                <a:latin typeface="Times New Roman" pitchFamily="18" charset="0"/>
                <a:cs typeface="Times New Roman" pitchFamily="18" charset="0"/>
              </a:rPr>
              <a:t>yillar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strukturali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kabi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programmalarni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hayotdagi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jismlarni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modellashtiruvchi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ob’ektlat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orqali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tuzish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sohasida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inqilob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tashqari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t>
            </a:r>
            <a:r>
              <a:rPr lang="uz-Cyrl-UZ" sz="2000" dirty="0">
                <a:latin typeface="Times New Roman" pitchFamily="18" charset="0"/>
                <a:cs typeface="Times New Roman" pitchFamily="18" charset="0"/>
              </a:rPr>
              <a:t>a</a:t>
            </a:r>
            <a:r>
              <a:rPr lang="en-US" sz="2000" dirty="0" err="1">
                <a:latin typeface="Times New Roman" pitchFamily="18" charset="0"/>
                <a:cs typeface="Times New Roman" pitchFamily="18" charset="0"/>
              </a:rPr>
              <a:t>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yo‘naltirilgan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paydo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Shulardan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ko‘zga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tashlanadigani</a:t>
            </a:r>
            <a:r>
              <a:rPr lang="en-US" sz="2000" dirty="0">
                <a:latin typeface="Times New Roman" pitchFamily="18" charset="0"/>
                <a:cs typeface="Times New Roman" pitchFamily="18" charset="0"/>
              </a:rPr>
              <a:t> Xerox </a:t>
            </a:r>
            <a:r>
              <a:rPr lang="en-US" sz="2000" dirty="0" err="1">
                <a:latin typeface="Times New Roman" pitchFamily="18" charset="0"/>
                <a:cs typeface="Times New Roman" pitchFamily="18" charset="0"/>
              </a:rPr>
              <a:t>ning</a:t>
            </a:r>
            <a:r>
              <a:rPr lang="en-US" sz="2000" dirty="0">
                <a:latin typeface="Times New Roman" pitchFamily="18" charset="0"/>
                <a:cs typeface="Times New Roman" pitchFamily="18" charset="0"/>
              </a:rPr>
              <a:t> Palo </a:t>
            </a:r>
            <a:r>
              <a:rPr lang="en-US" sz="2000" dirty="0" err="1">
                <a:latin typeface="Times New Roman" pitchFamily="18" charset="0"/>
                <a:cs typeface="Times New Roman" pitchFamily="18" charset="0"/>
              </a:rPr>
              <a:t>Altoda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joylashgan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ilmiy-qidiruv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markazida</a:t>
            </a:r>
            <a:r>
              <a:rPr lang="en-US" sz="2000" dirty="0">
                <a:latin typeface="Times New Roman" pitchFamily="18" charset="0"/>
                <a:cs typeface="Times New Roman" pitchFamily="18" charset="0"/>
              </a:rPr>
              <a:t> (PARC) </a:t>
            </a:r>
            <a:r>
              <a:rPr lang="en-US" sz="2000" dirty="0" err="1">
                <a:latin typeface="Times New Roman" pitchFamily="18" charset="0"/>
                <a:cs typeface="Times New Roman" pitchFamily="18" charset="0"/>
              </a:rPr>
              <a:t>tuzilgan</a:t>
            </a:r>
            <a:r>
              <a:rPr lang="en-US" sz="2000" dirty="0">
                <a:latin typeface="Times New Roman" pitchFamily="18" charset="0"/>
                <a:cs typeface="Times New Roman" pitchFamily="18" charset="0"/>
              </a:rPr>
              <a:t> Smalltalk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tilidir</a:t>
            </a:r>
            <a:r>
              <a:rPr lang="en-US" sz="2000" dirty="0">
                <a:latin typeface="Times New Roman" pitchFamily="18" charset="0"/>
                <a:cs typeface="Times New Roman" pitchFamily="18" charset="0"/>
              </a:rPr>
              <a:t>. Smalltalk da </a:t>
            </a:r>
            <a:r>
              <a:rPr lang="en-US" sz="2000" dirty="0" err="1">
                <a:latin typeface="Times New Roman" pitchFamily="18" charset="0"/>
                <a:cs typeface="Times New Roman" pitchFamily="18" charset="0"/>
              </a:rPr>
              <a:t>hamma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narsa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yesa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gibrid</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Unda</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o‘hshab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strukturali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yangicha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Yangicha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deyishimiz</a:t>
            </a:r>
            <a:r>
              <a:rPr lang="en-US" sz="2000" dirty="0">
                <a:latin typeface="Times New Roman" pitchFamily="18" charset="0"/>
                <a:cs typeface="Times New Roman" pitchFamily="18" charset="0"/>
              </a:rPr>
              <a:t> ham </a:t>
            </a:r>
            <a:r>
              <a:rPr lang="en-US" sz="2000" dirty="0" err="1">
                <a:latin typeface="Times New Roman" pitchFamily="18" charset="0"/>
                <a:cs typeface="Times New Roman" pitchFamily="18" charset="0"/>
              </a:rPr>
              <a:t>nisbiydir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falsafasi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paydo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bo‘lganiga</a:t>
            </a:r>
            <a:r>
              <a:rPr lang="en-US" sz="2000" dirty="0">
                <a:latin typeface="Times New Roman" pitchFamily="18" charset="0"/>
                <a:cs typeface="Times New Roman" pitchFamily="18" charset="0"/>
              </a:rPr>
              <a:t> ham </a:t>
            </a:r>
            <a:r>
              <a:rPr lang="en-US" sz="2000" dirty="0" err="1">
                <a:latin typeface="Times New Roman" pitchFamily="18" charset="0"/>
                <a:cs typeface="Times New Roman" pitchFamily="18" charset="0"/>
              </a:rPr>
              <a:t>yigirma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yildan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oshayapti</a:t>
            </a:r>
            <a:r>
              <a:rPr lang="en-US"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4103132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160273" y="116632"/>
            <a:ext cx="8784976" cy="6247864"/>
          </a:xfrm>
          <a:prstGeom prst="rect">
            <a:avLst/>
          </a:prstGeom>
        </p:spPr>
        <p:txBody>
          <a:bodyPr wrap="square">
            <a:spAutoFit/>
          </a:bodyPr>
          <a:lstStyle/>
          <a:p>
            <a:pPr algn="just"/>
            <a:r>
              <a:rPr lang="en-US" sz="2000" dirty="0" smtClean="0">
                <a:latin typeface="Times New Roman" pitchFamily="18" charset="0"/>
                <a:cs typeface="Times New Roman" pitchFamily="18" charset="0"/>
              </a:rPr>
              <a:t>	C</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funksiya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juda</a:t>
            </a:r>
            <a:r>
              <a:rPr lang="en-US" sz="2000" dirty="0">
                <a:latin typeface="Times New Roman" pitchFamily="18" charset="0"/>
                <a:cs typeface="Times New Roman" pitchFamily="18" charset="0"/>
              </a:rPr>
              <a:t> boy </a:t>
            </a:r>
            <a:r>
              <a:rPr lang="en-US" sz="2000" dirty="0" err="1">
                <a:latin typeface="Times New Roman" pitchFamily="18" charset="0"/>
                <a:cs typeface="Times New Roman" pitchFamily="18" charset="0"/>
              </a:rPr>
              <a:t>kutubhonasiga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Ya’ni</a:t>
            </a:r>
            <a:r>
              <a:rPr lang="en-US" sz="2000" dirty="0">
                <a:latin typeface="Times New Roman" pitchFamily="18" charset="0"/>
                <a:cs typeface="Times New Roman" pitchFamily="18" charset="0"/>
              </a:rPr>
              <a:t> C++ da </a:t>
            </a:r>
            <a:r>
              <a:rPr lang="en-US" sz="2000" dirty="0" err="1">
                <a:latin typeface="Times New Roman" pitchFamily="18" charset="0"/>
                <a:cs typeface="Times New Roman" pitchFamily="18" charset="0"/>
              </a:rPr>
              <a:t>dasturlashni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o‘rganish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qismga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Birinchisi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bu</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o‘rganish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ikkinchisi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yesa</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standart</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kutubhonasidagi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tayyor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a:t>
            </a:r>
            <a:r>
              <a:rPr lang="en-US" sz="2000" dirty="0">
                <a:latin typeface="Times New Roman" pitchFamily="18" charset="0"/>
                <a:cs typeface="Times New Roman" pitchFamily="18" charset="0"/>
              </a:rPr>
              <a:t>/</a:t>
            </a:r>
            <a:r>
              <a:rPr lang="en-US" sz="2000" dirty="0" err="1">
                <a:latin typeface="Times New Roman" pitchFamily="18" charset="0"/>
                <a:cs typeface="Times New Roman" pitchFamily="18" charset="0"/>
              </a:rPr>
              <a:t>funksiyalarni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qo‘llashni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o‘rganishdir</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Java </a:t>
            </a:r>
            <a:r>
              <a:rPr lang="uz-Cyrl-UZ" sz="2000" dirty="0">
                <a:latin typeface="Times New Roman" pitchFamily="18" charset="0"/>
                <a:cs typeface="Times New Roman" pitchFamily="18" charset="0"/>
              </a:rPr>
              <a:t>dasturlash tili taqsimlangan ilovaning barcha komponentlari o‘rtasida dinamik ma’lumot almashishni tashkil qilish uchun barcha vositalarga yega. Shuning uchun Java masofadan monitoring, diagnostika qilish, boshqarish uchun dasturiy ta’minot ishlab chiqish uchun mos keladi.</a:t>
            </a:r>
            <a:endParaRPr lang="ru-RU" sz="2000" dirty="0">
              <a:latin typeface="Times New Roman" pitchFamily="18" charset="0"/>
              <a:cs typeface="Times New Roman" pitchFamily="18" charset="0"/>
            </a:endParaRPr>
          </a:p>
          <a:p>
            <a:pPr algn="just" fontAlgn="base"/>
            <a:r>
              <a:rPr lang="en-US" sz="2000" dirty="0" smtClean="0">
                <a:latin typeface="Times New Roman" pitchFamily="18" charset="0"/>
                <a:cs typeface="Times New Roman" pitchFamily="18" charset="0"/>
              </a:rPr>
              <a:t>	</a:t>
            </a:r>
            <a:r>
              <a:rPr lang="uz-Cyrl-UZ" sz="2000" dirty="0" smtClean="0">
                <a:latin typeface="Times New Roman" pitchFamily="18" charset="0"/>
                <a:cs typeface="Times New Roman" pitchFamily="18" charset="0"/>
              </a:rPr>
              <a:t>Java </a:t>
            </a:r>
            <a:r>
              <a:rPr lang="uz-Cyrl-UZ" sz="2000" dirty="0">
                <a:latin typeface="Times New Roman" pitchFamily="18" charset="0"/>
                <a:cs typeface="Times New Roman" pitchFamily="18" charset="0"/>
              </a:rPr>
              <a:t>texnologiyasi o‘ta sodda, xavfsizlikni yuqori darajada ta’minlab bera oladigan, kuchli, to‘la obektga yo‘naltirilgan dasturlash tili bo‘lib, muhit (platforma)ga bog‘liq bo‘lmagan holda ishlaydi. U bilan xatto yeng kichik qurilmalarga ham dasturlar yozish mumkin. Java texnologiyasi to‘laligicha Java Virtual Machine (JVM) ga asoslangan. JVM ning vazifasi tarjimonlik ya’ni, dastlab biz yozgan *.java faylni compilyator yordamida bayt kodga o‘giriladi va JVM yordamida yesa mashina tiliga o‘giriladi. </a:t>
            </a:r>
            <a:r>
              <a:rPr lang="ru-RU" sz="2000" dirty="0" err="1">
                <a:latin typeface="Times New Roman" pitchFamily="18" charset="0"/>
                <a:cs typeface="Times New Roman" pitchFamily="18" charset="0"/>
              </a:rPr>
              <a:t>Java</a:t>
            </a:r>
            <a:r>
              <a:rPr lang="ru-RU" sz="2000" dirty="0">
                <a:latin typeface="Times New Roman" pitchFamily="18" charset="0"/>
                <a:cs typeface="Times New Roman" pitchFamily="18" charset="0"/>
              </a:rPr>
              <a:t> </a:t>
            </a:r>
            <a:r>
              <a:rPr lang="ru-RU" sz="2000" dirty="0" err="1">
                <a:latin typeface="Times New Roman" pitchFamily="18" charset="0"/>
                <a:cs typeface="Times New Roman" pitchFamily="18" charset="0"/>
              </a:rPr>
              <a:t>texnologiyalari</a:t>
            </a:r>
            <a:r>
              <a:rPr lang="ru-RU" sz="2000" dirty="0">
                <a:latin typeface="Times New Roman" pitchFamily="18" charset="0"/>
                <a:cs typeface="Times New Roman" pitchFamily="18" charset="0"/>
              </a:rPr>
              <a:t>:</a:t>
            </a:r>
          </a:p>
          <a:p>
            <a:pPr lvl="0" algn="just" fontAlgn="base"/>
            <a:r>
              <a:rPr lang="en-US" sz="2000" dirty="0" smtClean="0">
                <a:latin typeface="Times New Roman" pitchFamily="18" charset="0"/>
                <a:cs typeface="Times New Roman" pitchFamily="18" charset="0"/>
              </a:rPr>
              <a:t>	Java </a:t>
            </a:r>
            <a:r>
              <a:rPr lang="en-US" sz="2000" dirty="0">
                <a:latin typeface="Times New Roman" pitchFamily="18" charset="0"/>
                <a:cs typeface="Times New Roman" pitchFamily="18" charset="0"/>
              </a:rPr>
              <a:t>SE – Java SE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Java </a:t>
            </a:r>
            <a:r>
              <a:rPr lang="en-US" sz="2000" dirty="0" err="1">
                <a:latin typeface="Times New Roman" pitchFamily="18" charset="0"/>
                <a:cs typeface="Times New Roman" pitchFamily="18" charset="0"/>
              </a:rPr>
              <a:t>Standart</a:t>
            </a:r>
            <a:r>
              <a:rPr lang="en-US" sz="2000" dirty="0">
                <a:latin typeface="Times New Roman" pitchFamily="18" charset="0"/>
                <a:cs typeface="Times New Roman" pitchFamily="18" charset="0"/>
              </a:rPr>
              <a:t> Edition, </a:t>
            </a:r>
            <a:r>
              <a:rPr lang="en-US" sz="2000" dirty="0" err="1">
                <a:latin typeface="Times New Roman" pitchFamily="18" charset="0"/>
                <a:cs typeface="Times New Roman" pitchFamily="18" charset="0"/>
              </a:rPr>
              <a:t>serverda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shaxsiy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kompyuterda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desktoplarda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appletlar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ishlatiladi</a:t>
            </a:r>
            <a:r>
              <a:rPr lang="en-US" sz="2000" dirty="0">
                <a:latin typeface="Times New Roman" pitchFamily="18" charset="0"/>
                <a:cs typeface="Times New Roman" pitchFamily="18" charset="0"/>
              </a:rPr>
              <a:t>. Bu </a:t>
            </a:r>
            <a:r>
              <a:rPr lang="en-US" sz="2000" dirty="0" err="1">
                <a:latin typeface="Times New Roman" pitchFamily="18" charset="0"/>
                <a:cs typeface="Times New Roman" pitchFamily="18" charset="0"/>
              </a:rPr>
              <a:t>texnologiya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deyarli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barcha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Operatsion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a:t>
            </a:r>
            <a:r>
              <a:rPr lang="en-US" sz="2000" dirty="0">
                <a:latin typeface="Times New Roman" pitchFamily="18" charset="0"/>
                <a:cs typeface="Times New Roman" pitchFamily="18" charset="0"/>
              </a:rPr>
              <a:t> (Windows NT, Macintosh, Linux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Solaris).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birga</a:t>
            </a:r>
            <a:r>
              <a:rPr lang="en-US" sz="2000" dirty="0">
                <a:latin typeface="Times New Roman" pitchFamily="18" charset="0"/>
                <a:cs typeface="Times New Roman" pitchFamily="18" charset="0"/>
              </a:rPr>
              <a:t> Java SE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Java </a:t>
            </a:r>
            <a:r>
              <a:rPr lang="en-US" sz="2000" dirty="0" err="1">
                <a:latin typeface="Times New Roman" pitchFamily="18" charset="0"/>
                <a:cs typeface="Times New Roman" pitchFamily="18" charset="0"/>
              </a:rPr>
              <a:t>turlarining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hisoblanadi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24107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54590" y="0"/>
            <a:ext cx="8993875" cy="6863417"/>
          </a:xfrm>
          <a:prstGeom prst="rect">
            <a:avLst/>
          </a:prstGeom>
        </p:spPr>
        <p:txBody>
          <a:bodyPr wrap="square">
            <a:spAutoFit/>
          </a:bodyPr>
          <a:lstStyle/>
          <a:p>
            <a:pPr lvl="0" algn="just" fontAlgn="base"/>
            <a:r>
              <a:rPr lang="en-US" sz="2000" dirty="0" smtClean="0">
                <a:latin typeface="Times New Roman" pitchFamily="18" charset="0"/>
                <a:cs typeface="Times New Roman" pitchFamily="18" charset="0"/>
              </a:rPr>
              <a:t>	Java </a:t>
            </a:r>
            <a:r>
              <a:rPr lang="en-US" sz="2000" dirty="0">
                <a:latin typeface="Times New Roman" pitchFamily="18" charset="0"/>
                <a:cs typeface="Times New Roman" pitchFamily="18" charset="0"/>
              </a:rPr>
              <a:t>EE – Java Enterprise Edition Java </a:t>
            </a:r>
            <a:r>
              <a:rPr lang="en-US" sz="2000" dirty="0" err="1">
                <a:latin typeface="Times New Roman" pitchFamily="18" charset="0"/>
                <a:cs typeface="Times New Roman" pitchFamily="18" charset="0"/>
              </a:rPr>
              <a:t>texnologiyalari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orasida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tarqalgan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turi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hisoblanib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unda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serverda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foydalanuvchilarga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mo‘ljallangan</a:t>
            </a:r>
            <a:r>
              <a:rPr lang="en-US" sz="2000" dirty="0">
                <a:latin typeface="Times New Roman" pitchFamily="18" charset="0"/>
                <a:cs typeface="Times New Roman" pitchFamily="18" charset="0"/>
              </a:rPr>
              <a:t> web-</a:t>
            </a:r>
            <a:r>
              <a:rPr lang="en-US" sz="2000" dirty="0" err="1">
                <a:latin typeface="Times New Roman" pitchFamily="18" charset="0"/>
                <a:cs typeface="Times New Roman" pitchFamily="18" charset="0"/>
              </a:rPr>
              <a:t>saytlar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yaratishda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qo‘llaniladi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internetda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ishlovchi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qo‘llaniladi</a:t>
            </a:r>
            <a:r>
              <a:rPr lang="en-US" sz="2000" dirty="0">
                <a:latin typeface="Times New Roman" pitchFamily="18" charset="0"/>
                <a:cs typeface="Times New Roman" pitchFamily="18" charset="0"/>
              </a:rPr>
              <a:t>. Java SE </a:t>
            </a:r>
            <a:r>
              <a:rPr lang="en-US" sz="2000" dirty="0" err="1">
                <a:latin typeface="Times New Roman" pitchFamily="18" charset="0"/>
                <a:cs typeface="Times New Roman" pitchFamily="18" charset="0"/>
              </a:rPr>
              <a:t>ni</a:t>
            </a:r>
            <a:r>
              <a:rPr lang="en-US" sz="2000" dirty="0">
                <a:latin typeface="Times New Roman" pitchFamily="18" charset="0"/>
                <a:cs typeface="Times New Roman" pitchFamily="18" charset="0"/>
              </a:rPr>
              <a:t> Java EE </a:t>
            </a:r>
            <a:r>
              <a:rPr lang="en-US" sz="2000" dirty="0" err="1">
                <a:latin typeface="Times New Roman" pitchFamily="18" charset="0"/>
                <a:cs typeface="Times New Roman" pitchFamily="18" charset="0"/>
              </a:rPr>
              <a:t>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farqi</a:t>
            </a:r>
            <a:r>
              <a:rPr lang="en-US" sz="2000" dirty="0">
                <a:latin typeface="Times New Roman" pitchFamily="18" charset="0"/>
                <a:cs typeface="Times New Roman" pitchFamily="18" charset="0"/>
              </a:rPr>
              <a:t> Java EE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tarkibiga</a:t>
            </a:r>
            <a:r>
              <a:rPr lang="en-US" sz="2000" dirty="0">
                <a:latin typeface="Times New Roman" pitchFamily="18" charset="0"/>
                <a:cs typeface="Times New Roman" pitchFamily="18" charset="0"/>
              </a:rPr>
              <a:t>  Java SE </a:t>
            </a:r>
            <a:r>
              <a:rPr lang="en-US" sz="2000" dirty="0" err="1">
                <a:latin typeface="Times New Roman" pitchFamily="18" charset="0"/>
                <a:cs typeface="Times New Roman" pitchFamily="18" charset="0"/>
              </a:rPr>
              <a:t>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olibgina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qolmay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ko‘pgina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qo‘shimcha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kutubxonalarni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odatda</a:t>
            </a:r>
            <a:r>
              <a:rPr lang="en-US" sz="2000" dirty="0">
                <a:latin typeface="Times New Roman" pitchFamily="18" charset="0"/>
                <a:cs typeface="Times New Roman" pitchFamily="18" charset="0"/>
              </a:rPr>
              <a:t> *.jar) ham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ya’ni</a:t>
            </a:r>
            <a:r>
              <a:rPr lang="en-US" sz="2000" dirty="0">
                <a:latin typeface="Times New Roman" pitchFamily="18" charset="0"/>
                <a:cs typeface="Times New Roman" pitchFamily="18" charset="0"/>
              </a:rPr>
              <a:t>: Servlet, </a:t>
            </a:r>
            <a:r>
              <a:rPr lang="en-US" sz="2000" dirty="0" err="1">
                <a:latin typeface="Times New Roman" pitchFamily="18" charset="0"/>
                <a:cs typeface="Times New Roman" pitchFamily="18" charset="0"/>
              </a:rPr>
              <a:t>JavaMail</a:t>
            </a:r>
            <a:r>
              <a:rPr lang="en-US" sz="2000" dirty="0">
                <a:latin typeface="Times New Roman" pitchFamily="18" charset="0"/>
                <a:cs typeface="Times New Roman" pitchFamily="18" charset="0"/>
              </a:rPr>
              <a:t>, JSF(Java Server Face)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ko‘pgina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internetga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qo‘shimcha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kutubxonalar</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fontAlgn="base"/>
            <a:r>
              <a:rPr lang="en-US" sz="2000" dirty="0" smtClean="0">
                <a:latin typeface="Times New Roman" pitchFamily="18" charset="0"/>
                <a:cs typeface="Times New Roman" pitchFamily="18" charset="0"/>
              </a:rPr>
              <a:t>	Java </a:t>
            </a:r>
            <a:r>
              <a:rPr lang="en-US" sz="2000" dirty="0">
                <a:latin typeface="Times New Roman" pitchFamily="18" charset="0"/>
                <a:cs typeface="Times New Roman" pitchFamily="18" charset="0"/>
              </a:rPr>
              <a:t>ME – Java ME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Java Micro Edition Java SE </a:t>
            </a:r>
            <a:r>
              <a:rPr lang="en-US" sz="2000" dirty="0" err="1">
                <a:latin typeface="Times New Roman" pitchFamily="18" charset="0"/>
                <a:cs typeface="Times New Roman" pitchFamily="18" charset="0"/>
              </a:rPr>
              <a: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ba’zi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qismlarini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o‘z</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ichiga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JavaME</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kichik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qurilmalar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dastrular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yozish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Masalan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mobil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telefon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uchun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o‘yinlar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smtClean="0">
                <a:latin typeface="Times New Roman" pitchFamily="18" charset="0"/>
                <a:cs typeface="Times New Roman" pitchFamily="18" charset="0"/>
              </a:rPr>
              <a:t>Java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asoslangan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yechimlar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quyidagi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afzalliklarga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yega</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Java </a:t>
            </a:r>
            <a:r>
              <a:rPr lang="en-US" sz="2000" dirty="0" err="1">
                <a:latin typeface="Times New Roman" pitchFamily="18" charset="0"/>
                <a:cs typeface="Times New Roman" pitchFamily="18" charset="0"/>
              </a:rPr>
              <a:t>nisbatan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oddiyroq</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bo‘lib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hisoblanadi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Ishonchli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dasturiy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kodni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tezda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yaratishga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xotiraning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avtomatik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boshqarilishi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karrali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vorislik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ko‘rsatkichlarning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bo‘lmasligi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beradi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Java </a:t>
            </a:r>
            <a:r>
              <a:rPr lang="en-US" sz="2000" dirty="0" err="1">
                <a:latin typeface="Times New Roman" pitchFamily="18" charset="0"/>
                <a:cs typeface="Times New Roman" pitchFamily="18" charset="0"/>
              </a:rPr>
              <a:t>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baytli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ko‘p</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hollarda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operatsion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tizim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yoki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protsessordan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mustaqil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bo‘ladi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Java </a:t>
            </a:r>
            <a:r>
              <a:rPr lang="en-US" sz="2000" dirty="0" err="1">
                <a:latin typeface="Times New Roman" pitchFamily="18" charset="0"/>
                <a:cs typeface="Times New Roman" pitchFamily="18" charset="0"/>
              </a:rPr>
              <a:t>tilidagi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ilovalar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platformalarga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osonlik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o‘tkaziladi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lvl="0" algn="just"/>
            <a:r>
              <a:rPr lang="en-US" sz="2000" dirty="0">
                <a:latin typeface="Times New Roman" pitchFamily="18" charset="0"/>
                <a:cs typeface="Times New Roman" pitchFamily="18" charset="0"/>
              </a:rPr>
              <a:t>JNI </a:t>
            </a:r>
            <a:r>
              <a:rPr lang="en-US" sz="2000" dirty="0" err="1">
                <a:latin typeface="Times New Roman" pitchFamily="18" charset="0"/>
                <a:cs typeface="Times New Roman" pitchFamily="18" charset="0"/>
              </a:rPr>
              <a:t>va</a:t>
            </a:r>
            <a:r>
              <a:rPr lang="en-US" sz="2000" dirty="0">
                <a:latin typeface="Times New Roman" pitchFamily="18" charset="0"/>
                <a:cs typeface="Times New Roman" pitchFamily="18" charset="0"/>
              </a:rPr>
              <a:t> CORBA </a:t>
            </a:r>
            <a:r>
              <a:rPr lang="en-US" sz="2000" dirty="0" err="1">
                <a:latin typeface="Times New Roman" pitchFamily="18" charset="0"/>
                <a:cs typeface="Times New Roman" pitchFamily="18" charset="0"/>
              </a:rPr>
              <a:t>texnologiyalari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yordamida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boshqa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tillarida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yaratilgan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obektlar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bilan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aloqani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tashkil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qilish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mumkin</a:t>
            </a:r>
            <a:r>
              <a:rPr lang="en-US" sz="2000" dirty="0">
                <a:latin typeface="Times New Roman" pitchFamily="18" charset="0"/>
                <a:cs typeface="Times New Roman" pitchFamily="18" charset="0"/>
              </a:rPr>
              <a:t>. </a:t>
            </a:r>
            <a:endParaRPr lang="ru-RU"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Java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sintaksisi</a:t>
            </a:r>
            <a:r>
              <a:rPr lang="en-US" sz="2000" dirty="0">
                <a:latin typeface="Times New Roman" pitchFamily="18" charset="0"/>
                <a:cs typeface="Times New Roman" pitchFamily="18" charset="0"/>
              </a:rPr>
              <a:t> C# </a:t>
            </a:r>
            <a:r>
              <a:rPr lang="en-US" sz="2000" dirty="0" err="1">
                <a:latin typeface="Times New Roman" pitchFamily="18" charset="0"/>
                <a:cs typeface="Times New Roman" pitchFamily="18" charset="0"/>
              </a:rPr>
              <a:t>dasturlash</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tilining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sintaksisiga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o‘xshab</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ketadi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shu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sababli</a:t>
            </a:r>
            <a:r>
              <a:rPr lang="en-US" sz="2000" dirty="0">
                <a:latin typeface="Times New Roman" pitchFamily="18" charset="0"/>
                <a:cs typeface="Times New Roman" pitchFamily="18" charset="0"/>
              </a:rPr>
              <a:t> Java </a:t>
            </a:r>
            <a:r>
              <a:rPr lang="en-US" sz="2000" dirty="0" err="1">
                <a:latin typeface="Times New Roman" pitchFamily="18" charset="0"/>
                <a:cs typeface="Times New Roman" pitchFamily="18" charset="0"/>
              </a:rPr>
              <a:t>tilining</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sintaksisi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diplom</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loyihasida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keltirilmaydi</a:t>
            </a:r>
            <a:r>
              <a:rPr lang="en-US" sz="2000" dirty="0">
                <a:latin typeface="Times New Roman" pitchFamily="18" charset="0"/>
                <a:cs typeface="Times New Roman" pitchFamily="18" charset="0"/>
              </a:rPr>
              <a:t>.</a:t>
            </a:r>
            <a:endParaRPr lang="ru-RU" sz="2000" dirty="0">
              <a:latin typeface="Times New Roman" pitchFamily="18" charset="0"/>
              <a:cs typeface="Times New Roman" pitchFamily="18" charset="0"/>
            </a:endParaRPr>
          </a:p>
        </p:txBody>
      </p:sp>
    </p:spTree>
    <p:extLst>
      <p:ext uri="{BB962C8B-B14F-4D97-AF65-F5344CB8AC3E}">
        <p14:creationId xmlns:p14="http://schemas.microsoft.com/office/powerpoint/2010/main" val="1766266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4591" y="48394"/>
            <a:ext cx="9054182" cy="5940088"/>
          </a:xfrm>
          <a:prstGeom prst="rect">
            <a:avLst/>
          </a:prstGeom>
        </p:spPr>
        <p:txBody>
          <a:bodyPr wrap="square">
            <a:spAutoFit/>
          </a:bodyPr>
          <a:lstStyle/>
          <a:p>
            <a:pPr algn="just"/>
            <a:r>
              <a:rPr lang="en-US" sz="1900" dirty="0" smtClean="0">
                <a:latin typeface="Times New Roman" pitchFamily="18" charset="0"/>
                <a:cs typeface="Times New Roman" pitchFamily="18" charset="0"/>
              </a:rPr>
              <a:t>	Java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kamchiligi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juda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katta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apparat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resurslaridan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foydalanishi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hisoblanadi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O‘tkazilgan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tajribalarga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ko‘ra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vazifa</a:t>
            </a:r>
            <a:r>
              <a:rPr lang="en-US" sz="1900" dirty="0">
                <a:latin typeface="Times New Roman" pitchFamily="18" charset="0"/>
                <a:cs typeface="Times New Roman" pitchFamily="18" charset="0"/>
              </a:rPr>
              <a:t> C, C++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qaraganda</a:t>
            </a:r>
            <a:r>
              <a:rPr lang="en-US" sz="1900" dirty="0">
                <a:latin typeface="Times New Roman" pitchFamily="18" charset="0"/>
                <a:cs typeface="Times New Roman" pitchFamily="18" charset="0"/>
              </a:rPr>
              <a:t> </a:t>
            </a:r>
            <a:r>
              <a:rPr lang="uz-Cyrl-UZ" sz="1900" dirty="0">
                <a:latin typeface="Times New Roman" pitchFamily="18" charset="0"/>
                <a:cs typeface="Times New Roman" pitchFamily="18" charset="0"/>
              </a:rPr>
              <a:t>Java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1,5-2 </a:t>
            </a:r>
            <a:r>
              <a:rPr lang="en-US" sz="1900" dirty="0" err="1">
                <a:latin typeface="Times New Roman" pitchFamily="18" charset="0"/>
                <a:cs typeface="Times New Roman" pitchFamily="18" charset="0"/>
              </a:rPr>
              <a:t>baravar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sekinroq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operativ</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xotiraga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juda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katta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yuklanish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beriladi</a:t>
            </a:r>
            <a:r>
              <a:rPr lang="en-US" sz="1900" dirty="0">
                <a:latin typeface="Times New Roman" pitchFamily="18" charset="0"/>
                <a:cs typeface="Times New Roman" pitchFamily="18" charset="0"/>
              </a:rPr>
              <a:t>. Windows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tizimida</a:t>
            </a:r>
            <a:r>
              <a:rPr lang="en-US" sz="1900" dirty="0">
                <a:latin typeface="Times New Roman" pitchFamily="18" charset="0"/>
                <a:cs typeface="Times New Roman" pitchFamily="18" charset="0"/>
              </a:rPr>
              <a:t> Java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o‘rnatish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Java virtual machine </a:t>
            </a:r>
            <a:r>
              <a:rPr lang="en-US" sz="1900" dirty="0" err="1">
                <a:latin typeface="Times New Roman" pitchFamily="18" charset="0"/>
                <a:cs typeface="Times New Roman" pitchFamily="18" charset="0"/>
              </a:rPr>
              <a:t>komponentini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o‘rnatish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lozim</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a:t>
            </a:r>
            <a:r>
              <a:rPr lang="uz-Cyrl-UZ" sz="1900" dirty="0" smtClean="0">
                <a:latin typeface="Times New Roman" pitchFamily="18" charset="0"/>
                <a:cs typeface="Times New Roman" pitchFamily="18" charset="0"/>
              </a:rPr>
              <a:t>Obektga </a:t>
            </a:r>
            <a:r>
              <a:rPr lang="uz-Cyrl-UZ" sz="1900" dirty="0">
                <a:latin typeface="Times New Roman" pitchFamily="18" charset="0"/>
                <a:cs typeface="Times New Roman" pitchFamily="18" charset="0"/>
              </a:rPr>
              <a:t>yo‘naltirilgan dasturlash tili. 1998-2001 yillarda Microsoft .NET Framework platformasi uchun ilovalani ishlab chiqish tili sifatida Microsoft kompaniyasida Andres Xeylsberg boshchiligidagi injenerlar guruhi tomonidan ishlab chiqilgan. Microsoft kompaniyasi tomonidan yangi dasturlash tilini ishlab chiqilishining sabablaridan biri – yangi .NET platformasi uchun obektga yo‘naltirilgan tilni yaratish zarurati bo‘lsa, yana bir sabab – Java dasturlash tiliga alternativ yaratish bo‘lgan. </a:t>
            </a:r>
            <a:r>
              <a:rPr lang="en-US" sz="1900" dirty="0" smtClean="0">
                <a:latin typeface="Times New Roman" pitchFamily="18" charset="0"/>
                <a:cs typeface="Times New Roman" pitchFamily="18" charset="0"/>
              </a:rPr>
              <a:t> </a:t>
            </a:r>
          </a:p>
          <a:p>
            <a:pPr algn="just"/>
            <a:r>
              <a:rPr lang="en-US" sz="1900" dirty="0">
                <a:latin typeface="Times New Roman" pitchFamily="18" charset="0"/>
                <a:cs typeface="Times New Roman" pitchFamily="18" charset="0"/>
              </a:rPr>
              <a:t>	</a:t>
            </a:r>
            <a:r>
              <a:rPr lang="uz-Cyrl-UZ" sz="1900" dirty="0" smtClean="0">
                <a:latin typeface="Times New Roman" pitchFamily="18" charset="0"/>
                <a:cs typeface="Times New Roman" pitchFamily="18" charset="0"/>
              </a:rPr>
              <a:t>Visual </a:t>
            </a:r>
            <a:r>
              <a:rPr lang="uz-Cyrl-UZ" sz="1900" dirty="0">
                <a:latin typeface="Times New Roman" pitchFamily="18" charset="0"/>
                <a:cs typeface="Times New Roman" pitchFamily="18" charset="0"/>
              </a:rPr>
              <a:t>C# takomillashgan kod redaktori, qulay foydalanuvchi interfeysli konstruktor, integratsiyalangan xatoliklarni topuvchi (debugger) va boshqa bir qator vositalar C# tili va Microsoft .NET Framework asosida ilovalar yaratishni osonlashtiradi.</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C</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yozilgan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a:t>
            </a:r>
            <a:r>
              <a:rPr lang="en-US" sz="1900" dirty="0">
                <a:latin typeface="Times New Roman" pitchFamily="18" charset="0"/>
                <a:cs typeface="Times New Roman" pitchFamily="18" charset="0"/>
              </a:rPr>
              <a:t> . Microsoft .NET Framework </a:t>
            </a:r>
            <a:r>
              <a:rPr lang="en-US" sz="1900" dirty="0" err="1">
                <a:latin typeface="Times New Roman" pitchFamily="18" charset="0"/>
                <a:cs typeface="Times New Roman" pitchFamily="18" charset="0"/>
              </a:rPr>
              <a:t>muhitida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bajariladi</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muhit</a:t>
            </a:r>
            <a:r>
              <a:rPr lang="en-US" sz="1900" dirty="0">
                <a:latin typeface="Times New Roman" pitchFamily="18" charset="0"/>
                <a:cs typeface="Times New Roman" pitchFamily="18" charset="0"/>
              </a:rPr>
              <a:t> Windows </a:t>
            </a:r>
            <a:r>
              <a:rPr lang="en-US" sz="1900" dirty="0" err="1">
                <a:latin typeface="Times New Roman" pitchFamily="18" charset="0"/>
                <a:cs typeface="Times New Roman" pitchFamily="18" charset="0"/>
              </a:rPr>
              <a:t>operatsion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tizimiga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intergratsiyalangan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hamda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oshirishning</a:t>
            </a:r>
            <a:r>
              <a:rPr lang="en-US" sz="1900" dirty="0">
                <a:latin typeface="Times New Roman" pitchFamily="18" charset="0"/>
                <a:cs typeface="Times New Roman" pitchFamily="18" charset="0"/>
              </a:rPr>
              <a:t> virtual </a:t>
            </a:r>
            <a:r>
              <a:rPr lang="en-US" sz="1900" dirty="0" err="1">
                <a:latin typeface="Times New Roman" pitchFamily="18" charset="0"/>
                <a:cs typeface="Times New Roman" pitchFamily="18" charset="0"/>
              </a:rPr>
              <a:t>tizimi</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muhiti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sinflar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kutubxonasiga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yega</a:t>
            </a:r>
            <a:r>
              <a:rPr lang="en-US" sz="1900" dirty="0">
                <a:latin typeface="Times New Roman" pitchFamily="18" charset="0"/>
                <a:cs typeface="Times New Roman" pitchFamily="18" charset="0"/>
              </a:rPr>
              <a:t>. </a:t>
            </a:r>
            <a:endParaRPr lang="ru-RU" sz="1900" dirty="0">
              <a:latin typeface="Times New Roman" pitchFamily="18" charset="0"/>
              <a:cs typeface="Times New Roman" pitchFamily="18" charset="0"/>
            </a:endParaRPr>
          </a:p>
          <a:p>
            <a:pPr algn="just"/>
            <a:r>
              <a:rPr lang="en-US" sz="1900" dirty="0">
                <a:latin typeface="Times New Roman" pitchFamily="18" charset="0"/>
                <a:cs typeface="Times New Roman" pitchFamily="18" charset="0"/>
              </a:rPr>
              <a:t>C#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yozilgan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kod</a:t>
            </a:r>
            <a:r>
              <a:rPr lang="en-US" sz="1900" dirty="0">
                <a:latin typeface="Times New Roman" pitchFamily="18" charset="0"/>
                <a:cs typeface="Times New Roman" pitchFamily="18" charset="0"/>
              </a:rPr>
              <a:t> CLI </a:t>
            </a:r>
            <a:r>
              <a:rPr lang="en-US" sz="1900" dirty="0" err="1">
                <a:latin typeface="Times New Roman" pitchFamily="18" charset="0"/>
                <a:cs typeface="Times New Roman" pitchFamily="18" charset="0"/>
              </a:rPr>
              <a:t>tasnifiga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mos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oraliq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a:t>
            </a:r>
            <a:r>
              <a:rPr lang="en-US" sz="1900" dirty="0">
                <a:latin typeface="Times New Roman" pitchFamily="18" charset="0"/>
                <a:cs typeface="Times New Roman" pitchFamily="18" charset="0"/>
              </a:rPr>
              <a:t> (IL) </a:t>
            </a:r>
            <a:r>
              <a:rPr lang="en-US" sz="1900" dirty="0" err="1">
                <a:latin typeface="Times New Roman" pitchFamily="18" charset="0"/>
                <a:cs typeface="Times New Roman" pitchFamily="18" charset="0"/>
              </a:rPr>
              <a: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kompilyatsiyalanadi</a:t>
            </a:r>
            <a:r>
              <a:rPr lang="en-US" sz="1900" dirty="0">
                <a:latin typeface="Times New Roman" pitchFamily="18" charset="0"/>
                <a:cs typeface="Times New Roman" pitchFamily="18" charset="0"/>
              </a:rPr>
              <a:t>. IL </a:t>
            </a:r>
            <a:r>
              <a:rPr lang="en-US" sz="1900" dirty="0" err="1">
                <a:latin typeface="Times New Roman" pitchFamily="18" charset="0"/>
                <a:cs typeface="Times New Roman" pitchFamily="18" charset="0"/>
              </a:rPr>
              <a:t>kodi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hamda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satrlar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rastr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tasvirlari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YeXYe</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EXE </a:t>
            </a:r>
            <a:r>
              <a:rPr lang="en-US" sz="1900" dirty="0" err="1">
                <a:latin typeface="Times New Roman" pitchFamily="18" charset="0"/>
                <a:cs typeface="Times New Roman" pitchFamily="18" charset="0"/>
              </a:rPr>
              <a:t>kengaytmasida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diskda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to‘plam</a:t>
            </a:r>
            <a:r>
              <a:rPr lang="en-US" sz="1900" dirty="0">
                <a:latin typeface="Times New Roman" pitchFamily="18" charset="0"/>
                <a:cs typeface="Times New Roman" pitchFamily="18" charset="0"/>
              </a:rPr>
              <a:t> deb </a:t>
            </a:r>
            <a:r>
              <a:rPr lang="en-US" sz="1900" dirty="0" err="1">
                <a:latin typeface="Times New Roman" pitchFamily="18" charset="0"/>
                <a:cs typeface="Times New Roman" pitchFamily="18" charset="0"/>
              </a:rPr>
              <a:t>ataladigan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bajariladigan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faylda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saqlanadi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601253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4799" y="40943"/>
            <a:ext cx="8928992" cy="6524863"/>
          </a:xfrm>
          <a:prstGeom prst="rect">
            <a:avLst/>
          </a:prstGeom>
        </p:spPr>
        <p:txBody>
          <a:bodyPr wrap="square">
            <a:spAutoFit/>
          </a:bodyPr>
          <a:lstStyle/>
          <a:p>
            <a:pPr algn="just"/>
            <a:r>
              <a:rPr lang="en-US" sz="1900" dirty="0" smtClean="0">
                <a:latin typeface="Times New Roman" pitchFamily="18" charset="0"/>
                <a:cs typeface="Times New Roman" pitchFamily="18" charset="0"/>
              </a:rPr>
              <a:t>	C </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talaffuz</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qilingan</a:t>
            </a:r>
            <a:r>
              <a:rPr lang="en-US" sz="1900" dirty="0">
                <a:latin typeface="Times New Roman" pitchFamily="18" charset="0"/>
                <a:cs typeface="Times New Roman" pitchFamily="18" charset="0"/>
              </a:rPr>
              <a:t> C Sharp) </a:t>
            </a:r>
            <a:r>
              <a:rPr lang="en-US" sz="1900" dirty="0" err="1">
                <a:latin typeface="Times New Roman" pitchFamily="18" charset="0"/>
                <a:cs typeface="Times New Roman" pitchFamily="18" charset="0"/>
              </a:rPr>
              <a:t>ob’ektga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asoslangan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tilidir</a:t>
            </a:r>
            <a:r>
              <a:rPr lang="en-US" sz="1900" dirty="0">
                <a:latin typeface="Times New Roman" pitchFamily="18" charset="0"/>
                <a:cs typeface="Times New Roman" pitchFamily="18" charset="0"/>
              </a:rPr>
              <a:t>. 1998-2001 </a:t>
            </a:r>
            <a:r>
              <a:rPr lang="en-US" sz="1900" dirty="0" err="1">
                <a:latin typeface="Times New Roman" pitchFamily="18" charset="0"/>
                <a:cs typeface="Times New Roman" pitchFamily="18" charset="0"/>
              </a:rPr>
              <a:t>yillarda</a:t>
            </a:r>
            <a:r>
              <a:rPr lang="en-US" sz="1900" dirty="0">
                <a:latin typeface="Times New Roman" pitchFamily="18" charset="0"/>
                <a:cs typeface="Times New Roman" pitchFamily="18" charset="0"/>
              </a:rPr>
              <a:t> Microsoft </a:t>
            </a:r>
            <a:r>
              <a:rPr lang="en-US" sz="1900" dirty="0" err="1">
                <a:latin typeface="Times New Roman" pitchFamily="18" charset="0"/>
                <a:cs typeface="Times New Roman" pitchFamily="18" charset="0"/>
              </a:rPr>
              <a:t>kompaniyasining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guruh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muhandislari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tomonidan</a:t>
            </a:r>
            <a:r>
              <a:rPr lang="en-US" sz="1900" dirty="0">
                <a:latin typeface="Times New Roman" pitchFamily="18" charset="0"/>
                <a:cs typeface="Times New Roman" pitchFamily="18" charset="0"/>
              </a:rPr>
              <a:t> Anders </a:t>
            </a:r>
            <a:r>
              <a:rPr lang="en-US" sz="1900" dirty="0" err="1">
                <a:latin typeface="Times New Roman" pitchFamily="18" charset="0"/>
                <a:cs typeface="Times New Roman" pitchFamily="18" charset="0"/>
              </a:rPr>
              <a:t>Hejlesberg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Scott </a:t>
            </a:r>
            <a:r>
              <a:rPr lang="en-US" sz="1900" dirty="0" err="1">
                <a:latin typeface="Times New Roman" pitchFamily="18" charset="0"/>
                <a:cs typeface="Times New Roman" pitchFamily="18" charset="0"/>
              </a:rPr>
              <a:t>Wilthoumt</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rahbarligida</a:t>
            </a:r>
            <a:r>
              <a:rPr lang="en-US" sz="1900" dirty="0">
                <a:latin typeface="Times New Roman" pitchFamily="18" charset="0"/>
                <a:cs typeface="Times New Roman" pitchFamily="18" charset="0"/>
              </a:rPr>
              <a:t> Microsoft .</a:t>
            </a:r>
            <a:r>
              <a:rPr lang="en-US" sz="1900" dirty="0" err="1">
                <a:latin typeface="Times New Roman" pitchFamily="18" charset="0"/>
                <a:cs typeface="Times New Roman" pitchFamily="18" charset="0"/>
              </a:rPr>
              <a:t>NYeT</a:t>
            </a:r>
            <a:r>
              <a:rPr lang="en-US" sz="1900" dirty="0">
                <a:latin typeface="Times New Roman" pitchFamily="18" charset="0"/>
                <a:cs typeface="Times New Roman" pitchFamily="18" charset="0"/>
              </a:rPr>
              <a:t> Framework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chiqilgan</a:t>
            </a:r>
            <a:r>
              <a:rPr lang="en-US" sz="1900" dirty="0">
                <a:latin typeface="Times New Roman" pitchFamily="18" charset="0"/>
                <a:cs typeface="Times New Roman" pitchFamily="18" charset="0"/>
              </a:rPr>
              <a:t>. C # </a:t>
            </a:r>
            <a:r>
              <a:rPr lang="en-US" sz="1900" dirty="0" err="1">
                <a:latin typeface="Times New Roman" pitchFamily="18" charset="0"/>
                <a:cs typeface="Times New Roman" pitchFamily="18" charset="0"/>
              </a:rPr>
              <a:t>sintaksisi</a:t>
            </a:r>
            <a:r>
              <a:rPr lang="en-US" sz="1900" dirty="0">
                <a:latin typeface="Times New Roman" pitchFamily="18" charset="0"/>
                <a:cs typeface="Times New Roman" pitchFamily="18" charset="0"/>
              </a:rPr>
              <a:t> C-</a:t>
            </a:r>
            <a:r>
              <a:rPr lang="en-US" sz="1900" dirty="0" err="1">
                <a:latin typeface="Times New Roman" pitchFamily="18" charset="0"/>
                <a:cs typeface="Times New Roman" pitchFamily="18" charset="0"/>
              </a:rPr>
              <a:t>kabi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sintaksis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tillar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oilasiga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tegishlidir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sintaksisi</a:t>
            </a:r>
            <a:r>
              <a:rPr lang="en-US" sz="1900" dirty="0">
                <a:latin typeface="Times New Roman" pitchFamily="18" charset="0"/>
                <a:cs typeface="Times New Roman" pitchFamily="18" charset="0"/>
              </a:rPr>
              <a:t> C ++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Java-</a:t>
            </a:r>
            <a:r>
              <a:rPr lang="en-US" sz="1900" dirty="0" err="1">
                <a:latin typeface="Times New Roman" pitchFamily="18" charset="0"/>
                <a:cs typeface="Times New Roman" pitchFamily="18" charset="0"/>
              </a:rPr>
              <a:t>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yaqin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statik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matnga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polimorfizmni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qo‘llab-quvvatlaydi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operatorni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haddan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tashqari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yuklashga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jumladan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yopiq</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konvertatsiya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qilishga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vakillarga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atributlarga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voqealarga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xususiyatlarga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umumiy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turlarga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usullarga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yineleyicilarga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yopishtirilgan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anonim</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funktsiyalarga</a:t>
            </a:r>
            <a:r>
              <a:rPr lang="en-US" sz="1900" dirty="0">
                <a:latin typeface="Times New Roman" pitchFamily="18" charset="0"/>
                <a:cs typeface="Times New Roman" pitchFamily="18" charset="0"/>
              </a:rPr>
              <a:t>, LINK, </a:t>
            </a:r>
            <a:r>
              <a:rPr lang="en-US" sz="1900" dirty="0" err="1">
                <a:latin typeface="Times New Roman" pitchFamily="18" charset="0"/>
                <a:cs typeface="Times New Roman" pitchFamily="18" charset="0"/>
              </a:rPr>
              <a:t>istisnolardan</a:t>
            </a:r>
            <a:r>
              <a:rPr lang="en-US" sz="1900" dirty="0">
                <a:latin typeface="Times New Roman" pitchFamily="18" charset="0"/>
                <a:cs typeface="Times New Roman" pitchFamily="18" charset="0"/>
              </a:rPr>
              <a:t>, HML </a:t>
            </a:r>
            <a:r>
              <a:rPr lang="en-US" sz="1900" dirty="0" err="1">
                <a:latin typeface="Times New Roman" pitchFamily="18" charset="0"/>
                <a:cs typeface="Times New Roman" pitchFamily="18" charset="0"/>
              </a:rPr>
              <a:t>formatdagi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sharhlarni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qo‘llab-quvvatlaydi</a:t>
            </a:r>
            <a:r>
              <a:rPr lang="en-US" sz="1900" dirty="0">
                <a:latin typeface="Times New Roman" pitchFamily="18" charset="0"/>
                <a:cs typeface="Times New Roman" pitchFamily="18" charset="0"/>
              </a:rPr>
              <a:t>. C #, CLR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darajasida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dasturlash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sifatida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va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birinchi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navbatda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CLRning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o‘ziga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bog‘liq</a:t>
            </a:r>
            <a:r>
              <a:rPr lang="en-US" sz="1900" dirty="0">
                <a:latin typeface="Times New Roman" pitchFamily="18" charset="0"/>
                <a:cs typeface="Times New Roman" pitchFamily="18" charset="0"/>
              </a:rPr>
              <a:t>. Bu, </a:t>
            </a:r>
            <a:r>
              <a:rPr lang="en-US" sz="1900" dirty="0" err="1">
                <a:latin typeface="Times New Roman" pitchFamily="18" charset="0"/>
                <a:cs typeface="Times New Roman" pitchFamily="18" charset="0"/>
              </a:rPr>
              <a:t>birinchi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navbatda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BSLni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aks</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ettiruvchi</a:t>
            </a:r>
            <a:r>
              <a:rPr lang="en-US" sz="1900" dirty="0">
                <a:latin typeface="Times New Roman" pitchFamily="18" charset="0"/>
                <a:cs typeface="Times New Roman" pitchFamily="18" charset="0"/>
              </a:rPr>
              <a:t> C # </a:t>
            </a:r>
            <a:r>
              <a:rPr lang="en-US" sz="1900" dirty="0" err="1">
                <a:latin typeface="Times New Roman" pitchFamily="18" charset="0"/>
                <a:cs typeface="Times New Roman" pitchFamily="18" charset="0"/>
              </a:rPr>
              <a:t>tizimiga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taalluqlidir</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muayyan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mazmunli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xususiyatlarining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mavjudligi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yoki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yo‘qligi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muayyan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xususiyatlarining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tegishli</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tuzilmalariga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tarjima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qilinishini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xohlashi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belgilanadi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Shunday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qilib</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ning</a:t>
            </a:r>
            <a:r>
              <a:rPr lang="en-US" sz="1900" dirty="0">
                <a:latin typeface="Times New Roman" pitchFamily="18" charset="0"/>
                <a:cs typeface="Times New Roman" pitchFamily="18" charset="0"/>
              </a:rPr>
              <a:t> 1.1-dan 2.0-gachasi </a:t>
            </a:r>
            <a:r>
              <a:rPr lang="en-US" sz="1900" dirty="0" err="1">
                <a:latin typeface="Times New Roman" pitchFamily="18" charset="0"/>
                <a:cs typeface="Times New Roman" pitchFamily="18" charset="0"/>
              </a:rPr>
              <a:t>versiyasini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ishlab</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chiqish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C # </a:t>
            </a:r>
            <a:r>
              <a:rPr lang="en-US" sz="1900" dirty="0" err="1">
                <a:latin typeface="Times New Roman" pitchFamily="18" charset="0"/>
                <a:cs typeface="Times New Roman" pitchFamily="18" charset="0"/>
              </a:rPr>
              <a:t>o‘zi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boyitilgan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Bunday</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hamkorlik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kelajakda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kutilgan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bo‘lishi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kerak</a:t>
            </a:r>
            <a:r>
              <a:rPr lang="en-US" sz="1900" dirty="0">
                <a:latin typeface="Times New Roman" pitchFamily="18" charset="0"/>
                <a:cs typeface="Times New Roman" pitchFamily="18" charset="0"/>
              </a:rPr>
              <a:t> (ammo, </a:t>
            </a:r>
            <a:r>
              <a:rPr lang="en-US" sz="1900" dirty="0" err="1">
                <a:latin typeface="Times New Roman" pitchFamily="18" charset="0"/>
                <a:cs typeface="Times New Roman" pitchFamily="18" charset="0"/>
              </a:rPr>
              <a:t>bu</a:t>
            </a:r>
            <a:r>
              <a:rPr lang="en-US" sz="1900" dirty="0">
                <a:latin typeface="Times New Roman" pitchFamily="18" charset="0"/>
                <a:cs typeface="Times New Roman" pitchFamily="18" charset="0"/>
              </a:rPr>
              <a:t> model N # </a:t>
            </a:r>
            <a:r>
              <a:rPr lang="en-US" sz="1900" dirty="0" err="1">
                <a:latin typeface="Times New Roman" pitchFamily="18" charset="0"/>
                <a:cs typeface="Times New Roman" pitchFamily="18" charset="0"/>
              </a:rPr>
              <a:t>platformasining</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kengayishiga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tayanmaydigan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kengaytiradigan</a:t>
            </a:r>
            <a:r>
              <a:rPr lang="en-US" sz="1900" dirty="0">
                <a:latin typeface="Times New Roman" pitchFamily="18" charset="0"/>
                <a:cs typeface="Times New Roman" pitchFamily="18" charset="0"/>
              </a:rPr>
              <a:t> C # 3.0 </a:t>
            </a:r>
            <a:r>
              <a:rPr lang="en-US" sz="1900" dirty="0" err="1">
                <a:latin typeface="Times New Roman" pitchFamily="18" charset="0"/>
                <a:cs typeface="Times New Roman" pitchFamily="18" charset="0"/>
              </a:rPr>
              <a:t>versiyasi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bilan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buzildi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	C</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tilida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dasturi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yuklanganda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to‘plam</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muhitiga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yuklanadi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Keyin</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yesa</a:t>
            </a:r>
            <a:r>
              <a:rPr lang="en-US" sz="1900" dirty="0">
                <a:latin typeface="Times New Roman" pitchFamily="18" charset="0"/>
                <a:cs typeface="Times New Roman" pitchFamily="18" charset="0"/>
              </a:rPr>
              <a:t>, agar </a:t>
            </a:r>
            <a:r>
              <a:rPr lang="en-US" sz="1900" dirty="0" err="1">
                <a:latin typeface="Times New Roman" pitchFamily="18" charset="0"/>
                <a:cs typeface="Times New Roman" pitchFamily="18" charset="0"/>
              </a:rPr>
              <a:t>xavfsizlik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talablari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bajarilganligi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aniqlansa</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muhiti</a:t>
            </a:r>
            <a:r>
              <a:rPr lang="en-US" sz="1900" dirty="0">
                <a:latin typeface="Times New Roman" pitchFamily="18" charset="0"/>
                <a:cs typeface="Times New Roman" pitchFamily="18" charset="0"/>
              </a:rPr>
              <a:t> IL </a:t>
            </a:r>
            <a:r>
              <a:rPr lang="en-US" sz="1900" dirty="0" err="1">
                <a:latin typeface="Times New Roman" pitchFamily="18" charset="0"/>
                <a:cs typeface="Times New Roman" pitchFamily="18" charset="0"/>
              </a:rPr>
              <a:t>kodini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mashina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kodiga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o‘tkazish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uchun</a:t>
            </a:r>
            <a:r>
              <a:rPr lang="en-US" sz="1900" dirty="0">
                <a:latin typeface="Times New Roman" pitchFamily="18" charset="0"/>
                <a:cs typeface="Times New Roman" pitchFamily="18" charset="0"/>
              </a:rPr>
              <a:t> JIT -</a:t>
            </a:r>
            <a:r>
              <a:rPr lang="en-US" sz="1900" dirty="0" err="1">
                <a:latin typeface="Times New Roman" pitchFamily="18" charset="0"/>
                <a:cs typeface="Times New Roman" pitchFamily="18" charset="0"/>
              </a:rPr>
              <a:t>kompilyatsiyani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oshiradi</a:t>
            </a:r>
            <a:r>
              <a:rPr lang="en-US" sz="1900" dirty="0">
                <a:latin typeface="Times New Roman" pitchFamily="18" charset="0"/>
                <a:cs typeface="Times New Roman" pitchFamily="18" charset="0"/>
              </a:rPr>
              <a:t>. CLR </a:t>
            </a:r>
            <a:r>
              <a:rPr lang="en-US" sz="1900" dirty="0" err="1">
                <a:latin typeface="Times New Roman" pitchFamily="18" charset="0"/>
                <a:cs typeface="Times New Roman" pitchFamily="18" charset="0"/>
              </a:rPr>
              <a:t>muhiti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shuningdek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ortiqcha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ma’lumotlarni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avtomatik</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yig‘ish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resurlarni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boshqarish</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kabi</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xizmatlarni</a:t>
            </a:r>
            <a:r>
              <a:rPr lang="en-US" sz="1900" dirty="0">
                <a:latin typeface="Times New Roman" pitchFamily="18" charset="0"/>
                <a:cs typeface="Times New Roman" pitchFamily="18" charset="0"/>
              </a:rPr>
              <a:t> ham </a:t>
            </a:r>
            <a:r>
              <a:rPr lang="en-US" sz="1900" dirty="0" err="1">
                <a:latin typeface="Times New Roman" pitchFamily="18" charset="0"/>
                <a:cs typeface="Times New Roman" pitchFamily="18" charset="0"/>
              </a:rPr>
              <a:t>amalga</a:t>
            </a:r>
            <a:r>
              <a:rPr lang="en-US" sz="1900" dirty="0">
                <a:latin typeface="Times New Roman" pitchFamily="18" charset="0"/>
                <a:cs typeface="Times New Roman" pitchFamily="18" charset="0"/>
              </a:rPr>
              <a:t> </a:t>
            </a:r>
            <a:r>
              <a:rPr lang="en-US" sz="1900" dirty="0" err="1">
                <a:latin typeface="Times New Roman" pitchFamily="18" charset="0"/>
                <a:cs typeface="Times New Roman" pitchFamily="18" charset="0"/>
              </a:rPr>
              <a:t>oshiradi</a:t>
            </a:r>
            <a:r>
              <a:rPr lang="en-US" sz="1900" dirty="0">
                <a:latin typeface="Times New Roman" pitchFamily="18" charset="0"/>
                <a:cs typeface="Times New Roman" pitchFamily="18" charset="0"/>
              </a:rPr>
              <a:t>.</a:t>
            </a:r>
            <a:endParaRPr lang="ru-RU" sz="1900" dirty="0">
              <a:latin typeface="Times New Roman" pitchFamily="18" charset="0"/>
              <a:cs typeface="Times New Roman" pitchFamily="18" charset="0"/>
            </a:endParaRPr>
          </a:p>
        </p:txBody>
      </p:sp>
    </p:spTree>
    <p:extLst>
      <p:ext uri="{BB962C8B-B14F-4D97-AF65-F5344CB8AC3E}">
        <p14:creationId xmlns:p14="http://schemas.microsoft.com/office/powerpoint/2010/main" val="4085040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79512" y="260648"/>
            <a:ext cx="8712968" cy="4524315"/>
          </a:xfrm>
          <a:prstGeom prst="rect">
            <a:avLst/>
          </a:prstGeom>
        </p:spPr>
        <p:txBody>
          <a:bodyPr wrap="square">
            <a:spAutoFit/>
          </a:bodyPr>
          <a:lstStyle/>
          <a:p>
            <a:pPr algn="ctr"/>
            <a:r>
              <a:rPr lang="uz-Cyrl-UZ" sz="2400" b="1" dirty="0">
                <a:latin typeface="Times New Roman" pitchFamily="18" charset="0"/>
                <a:cs typeface="Times New Roman" pitchFamily="18" charset="0"/>
              </a:rPr>
              <a:t>Nazorat savollari</a:t>
            </a:r>
            <a:endParaRPr lang="ru-RU" sz="2400" dirty="0">
              <a:latin typeface="Times New Roman" pitchFamily="18" charset="0"/>
              <a:cs typeface="Times New Roman" pitchFamily="18" charset="0"/>
            </a:endParaRPr>
          </a:p>
          <a:p>
            <a:r>
              <a:rPr lang="uz-Latn-UZ" sz="2400" b="1" dirty="0">
                <a:latin typeface="Times New Roman" pitchFamily="18" charset="0"/>
                <a:cs typeface="Times New Roman" pitchFamily="18" charset="0"/>
              </a:rPr>
              <a:t> </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Tarmoqni dasturlashda protokollardan foydalanish.</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 protokollari va ularning tasnifi.</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 protokollarini dasturlash.</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Tarmoqni dasturlashni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a:latin typeface="Times New Roman" pitchFamily="18" charset="0"/>
                <a:cs typeface="Times New Roman" pitchFamily="18" charset="0"/>
              </a:rPr>
              <a:t>Java </a:t>
            </a:r>
            <a:r>
              <a:rPr lang="en-US" sz="2400" dirty="0" err="1">
                <a:latin typeface="Times New Roman" pitchFamily="18" charset="0"/>
                <a:cs typeface="Times New Roman" pitchFamily="18" charset="0"/>
              </a:rPr>
              <a:t>dasturlash</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tili</a:t>
            </a:r>
            <a:r>
              <a:rPr lang="uz-Cyrl-UZ" sz="2400" dirty="0">
                <a:latin typeface="Times New Roman" pitchFamily="18" charset="0"/>
                <a:cs typeface="Times New Roman" pitchFamily="18" charset="0"/>
              </a:rPr>
              <a:t>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en-US" sz="2400" dirty="0" err="1">
                <a:latin typeface="Times New Roman" pitchFamily="18" charset="0"/>
                <a:cs typeface="Times New Roman" pitchFamily="18" charset="0"/>
              </a:rPr>
              <a:t>Dasturlarni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tez</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sifatli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yozish</a:t>
            </a:r>
            <a:r>
              <a:rPr lang="uz-Cyrl-UZ" sz="2400" dirty="0">
                <a:latin typeface="Times New Roman" pitchFamily="18" charset="0"/>
                <a:cs typeface="Times New Roman" pitchFamily="18" charset="0"/>
              </a:rPr>
              <a:t>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Obektga yo‘naltirilgan dasturlashni tushintirib bering.</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 protokollarini dasturlashni qanday usullari bor.</a:t>
            </a:r>
            <a:endParaRPr lang="ru-RU" sz="2400" dirty="0">
              <a:latin typeface="Times New Roman" pitchFamily="18" charset="0"/>
              <a:cs typeface="Times New Roman" pitchFamily="18" charset="0"/>
            </a:endParaRPr>
          </a:p>
          <a:p>
            <a:pPr marL="457200" lvl="0" indent="-457200" algn="just">
              <a:buFont typeface="+mj-lt"/>
              <a:buAutoNum type="arabicPeriod"/>
            </a:pPr>
            <a:r>
              <a:rPr lang="uz-Cyrl-UZ" sz="2400" dirty="0">
                <a:latin typeface="Times New Roman" pitchFamily="18" charset="0"/>
                <a:cs typeface="Times New Roman" pitchFamily="18" charset="0"/>
              </a:rPr>
              <a:t>Tarmoqni dasturlash modelini qanday usullari bor.</a:t>
            </a:r>
            <a:endParaRPr lang="ru-RU" sz="2400" dirty="0">
              <a:latin typeface="Times New Roman" pitchFamily="18" charset="0"/>
              <a:cs typeface="Times New Roman" pitchFamily="18" charset="0"/>
            </a:endParaRPr>
          </a:p>
          <a:p>
            <a:pPr marL="457200" lvl="0" indent="-457200" algn="just">
              <a:buFont typeface="+mj-lt"/>
              <a:buAutoNum type="arabicPeriod"/>
            </a:pPr>
            <a:r>
              <a:rPr lang="uz-Latn-UZ" sz="2400" dirty="0">
                <a:latin typeface="Times New Roman" pitchFamily="18" charset="0"/>
                <a:cs typeface="Times New Roman" pitchFamily="18" charset="0"/>
              </a:rPr>
              <a:t> </a:t>
            </a:r>
            <a:r>
              <a:rPr lang="uz-Cyrl-UZ" sz="2400" dirty="0">
                <a:latin typeface="Times New Roman" pitchFamily="18" charset="0"/>
                <a:cs typeface="Times New Roman" pitchFamily="18" charset="0"/>
              </a:rPr>
              <a:t>HTTP protokoli Web-sahifalari.</a:t>
            </a:r>
            <a:endParaRPr lang="ru-RU" sz="2400" dirty="0">
              <a:latin typeface="Times New Roman" pitchFamily="18" charset="0"/>
              <a:cs typeface="Times New Roman" pitchFamily="18" charset="0"/>
            </a:endParaRPr>
          </a:p>
        </p:txBody>
      </p:sp>
    </p:spTree>
    <p:extLst>
      <p:ext uri="{BB962C8B-B14F-4D97-AF65-F5344CB8AC3E}">
        <p14:creationId xmlns:p14="http://schemas.microsoft.com/office/powerpoint/2010/main" val="21875440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539</Words>
  <Application>Microsoft Office PowerPoint</Application>
  <PresentationFormat>Экран (4:3)</PresentationFormat>
  <Paragraphs>69</Paragraphs>
  <Slides>15</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15</vt:i4>
      </vt:variant>
    </vt:vector>
  </HeadingPairs>
  <TitlesOfParts>
    <vt:vector size="16" baseType="lpstr">
      <vt:lpstr>Тема Office</vt:lpstr>
      <vt:lpstr>Презентация PowerPoint</vt:lpstr>
      <vt:lpstr>Презентация PowerPoint</vt:lpstr>
      <vt:lpstr>Reja:</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SPecialiST RePack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Пользователь</dc:creator>
  <cp:lastModifiedBy>UltraPC</cp:lastModifiedBy>
  <cp:revision>33</cp:revision>
  <dcterms:created xsi:type="dcterms:W3CDTF">2020-02-10T04:46:41Z</dcterms:created>
  <dcterms:modified xsi:type="dcterms:W3CDTF">2024-03-13T05:28:45Z</dcterms:modified>
</cp:coreProperties>
</file>