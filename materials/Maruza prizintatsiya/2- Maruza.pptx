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94" r:id="rId2"/>
    <p:sldId id="276" r:id="rId3"/>
    <p:sldId id="295" r:id="rId4"/>
    <p:sldId id="277" r:id="rId5"/>
    <p:sldId id="297" r:id="rId6"/>
    <p:sldId id="298" r:id="rId7"/>
    <p:sldId id="299" r:id="rId8"/>
    <p:sldId id="300" r:id="rId9"/>
    <p:sldId id="301" r:id="rId10"/>
    <p:sldId id="302" r:id="rId11"/>
    <p:sldId id="303" r:id="rId12"/>
    <p:sldId id="304" r:id="rId13"/>
    <p:sldId id="305" r:id="rId14"/>
    <p:sldId id="306" r:id="rId15"/>
    <p:sldId id="307" r:id="rId16"/>
    <p:sldId id="308" r:id="rId17"/>
    <p:sldId id="309" r:id="rId18"/>
    <p:sldId id="310" r:id="rId19"/>
  </p:sldIdLst>
  <p:sldSz cx="9144000" cy="6858000" type="screen4x3"/>
  <p:notesSz cx="6858000" cy="9144000"/>
  <p:defaultText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66CC"/>
    <a:srgbClr val="CC0066"/>
    <a:srgbClr val="FF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p:scale>
          <a:sx n="70" d="100"/>
          <a:sy n="70" d="100"/>
        </p:scale>
        <p:origin x="-2814" y="-954"/>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Титульный слайд">
    <p:spTree>
      <p:nvGrpSpPr>
        <p:cNvPr id="1" name=""/>
        <p:cNvGrpSpPr/>
        <p:nvPr/>
      </p:nvGrpSpPr>
      <p:grpSpPr>
        <a:xfrm>
          <a:off x="0" y="0"/>
          <a:ext cx="0" cy="0"/>
          <a:chOff x="0" y="0"/>
          <a:chExt cx="0" cy="0"/>
        </a:xfrm>
      </p:grpSpPr>
      <p:sp>
        <p:nvSpPr>
          <p:cNvPr id="2" name="Заголовок 1"/>
          <p:cNvSpPr>
            <a:spLocks noGrp="1"/>
          </p:cNvSpPr>
          <p:nvPr>
            <p:ph type="ctrTitle"/>
          </p:nvPr>
        </p:nvSpPr>
        <p:spPr>
          <a:xfrm>
            <a:off x="685800" y="2130425"/>
            <a:ext cx="7772400" cy="1470025"/>
          </a:xfrm>
        </p:spPr>
        <p:txBody>
          <a:bodyPr/>
          <a:lstStyle/>
          <a:p>
            <a:r>
              <a:rPr lang="ru-RU" smtClean="0"/>
              <a:t>Образец заголовка</a:t>
            </a:r>
            <a:endParaRPr lang="ru-RU"/>
          </a:p>
        </p:txBody>
      </p:sp>
      <p:sp>
        <p:nvSpPr>
          <p:cNvPr id="3" name="Подзаголовок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ru-RU" smtClean="0"/>
              <a:t>Образец подзаголовка</a:t>
            </a:r>
            <a:endParaRPr lang="ru-RU"/>
          </a:p>
        </p:txBody>
      </p:sp>
      <p:sp>
        <p:nvSpPr>
          <p:cNvPr id="4" name="Дата 3"/>
          <p:cNvSpPr>
            <a:spLocks noGrp="1"/>
          </p:cNvSpPr>
          <p:nvPr>
            <p:ph type="dt" sz="half" idx="10"/>
          </p:nvPr>
        </p:nvSpPr>
        <p:spPr/>
        <p:txBody>
          <a:bodyPr/>
          <a:lstStyle/>
          <a:p>
            <a:fld id="{A2F1B533-5871-489F-8DF7-633441D17A15}" type="datetimeFigureOut">
              <a:rPr lang="ru-RU" smtClean="0"/>
              <a:t>21.02.2024</a:t>
            </a:fld>
            <a:endParaRPr lang="ru-RU"/>
          </a:p>
        </p:txBody>
      </p:sp>
      <p:sp>
        <p:nvSpPr>
          <p:cNvPr id="5" name="Нижний колонтитул 4"/>
          <p:cNvSpPr>
            <a:spLocks noGrp="1"/>
          </p:cNvSpPr>
          <p:nvPr>
            <p:ph type="ftr" sz="quarter" idx="11"/>
          </p:nvPr>
        </p:nvSpPr>
        <p:spPr/>
        <p:txBody>
          <a:bodyPr/>
          <a:lstStyle/>
          <a:p>
            <a:endParaRPr lang="ru-RU"/>
          </a:p>
        </p:txBody>
      </p:sp>
      <p:sp>
        <p:nvSpPr>
          <p:cNvPr id="6" name="Номер слайда 5"/>
          <p:cNvSpPr>
            <a:spLocks noGrp="1"/>
          </p:cNvSpPr>
          <p:nvPr>
            <p:ph type="sldNum" sz="quarter" idx="12"/>
          </p:nvPr>
        </p:nvSpPr>
        <p:spPr/>
        <p:txBody>
          <a:bodyPr/>
          <a:lstStyle/>
          <a:p>
            <a:fld id="{2DE3C97E-C3BB-4CA0-80D7-A16D20B07B21}" type="slidenum">
              <a:rPr lang="ru-RU" smtClean="0"/>
              <a:t>‹#›</a:t>
            </a:fld>
            <a:endParaRPr lang="ru-RU"/>
          </a:p>
        </p:txBody>
      </p:sp>
    </p:spTree>
    <p:extLst>
      <p:ext uri="{BB962C8B-B14F-4D97-AF65-F5344CB8AC3E}">
        <p14:creationId xmlns:p14="http://schemas.microsoft.com/office/powerpoint/2010/main" val="71204825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obj" preserve="1">
  <p:cSld name="Заголовок и объект">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smtClean="0"/>
              <a:t>Образец заголовка</a:t>
            </a:r>
            <a:endParaRPr lang="ru-RU"/>
          </a:p>
        </p:txBody>
      </p:sp>
      <p:sp>
        <p:nvSpPr>
          <p:cNvPr id="3" name="Объект 2"/>
          <p:cNvSpPr>
            <a:spLocks noGrp="1"/>
          </p:cNvSpPr>
          <p:nvPr>
            <p:ph idx="1"/>
          </p:nvPr>
        </p:nvSpPr>
        <p:spPr/>
        <p:txBody>
          <a:body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4" name="Дата 3"/>
          <p:cNvSpPr>
            <a:spLocks noGrp="1"/>
          </p:cNvSpPr>
          <p:nvPr>
            <p:ph type="dt" sz="half" idx="10"/>
          </p:nvPr>
        </p:nvSpPr>
        <p:spPr/>
        <p:txBody>
          <a:bodyPr/>
          <a:lstStyle/>
          <a:p>
            <a:fld id="{A2F1B533-5871-489F-8DF7-633441D17A15}" type="datetimeFigureOut">
              <a:rPr lang="ru-RU" smtClean="0"/>
              <a:t>21.02.2024</a:t>
            </a:fld>
            <a:endParaRPr lang="ru-RU"/>
          </a:p>
        </p:txBody>
      </p:sp>
      <p:sp>
        <p:nvSpPr>
          <p:cNvPr id="5" name="Нижний колонтитул 4"/>
          <p:cNvSpPr>
            <a:spLocks noGrp="1"/>
          </p:cNvSpPr>
          <p:nvPr>
            <p:ph type="ftr" sz="quarter" idx="11"/>
          </p:nvPr>
        </p:nvSpPr>
        <p:spPr/>
        <p:txBody>
          <a:bodyPr/>
          <a:lstStyle/>
          <a:p>
            <a:endParaRPr lang="ru-RU"/>
          </a:p>
        </p:txBody>
      </p:sp>
      <p:sp>
        <p:nvSpPr>
          <p:cNvPr id="6" name="Номер слайда 5"/>
          <p:cNvSpPr>
            <a:spLocks noGrp="1"/>
          </p:cNvSpPr>
          <p:nvPr>
            <p:ph type="sldNum" sz="quarter" idx="12"/>
          </p:nvPr>
        </p:nvSpPr>
        <p:spPr/>
        <p:txBody>
          <a:bodyPr/>
          <a:lstStyle/>
          <a:p>
            <a:fld id="{2DE3C97E-C3BB-4CA0-80D7-A16D20B07B21}" type="slidenum">
              <a:rPr lang="ru-RU" smtClean="0"/>
              <a:t>‹#›</a:t>
            </a:fld>
            <a:endParaRPr lang="ru-RU"/>
          </a:p>
        </p:txBody>
      </p:sp>
    </p:spTree>
    <p:extLst>
      <p:ext uri="{BB962C8B-B14F-4D97-AF65-F5344CB8AC3E}">
        <p14:creationId xmlns:p14="http://schemas.microsoft.com/office/powerpoint/2010/main" val="327274271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Заголовок раздела">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722313" y="4406900"/>
            <a:ext cx="7772400" cy="1362075"/>
          </a:xfrm>
        </p:spPr>
        <p:txBody>
          <a:bodyPr anchor="t"/>
          <a:lstStyle>
            <a:lvl1pPr algn="l">
              <a:defRPr sz="4000" b="1" cap="all"/>
            </a:lvl1pPr>
          </a:lstStyle>
          <a:p>
            <a:r>
              <a:rPr lang="ru-RU" smtClean="0"/>
              <a:t>Образец заголовка</a:t>
            </a:r>
            <a:endParaRPr lang="ru-RU"/>
          </a:p>
        </p:txBody>
      </p:sp>
      <p:sp>
        <p:nvSpPr>
          <p:cNvPr id="3" name="Текст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ru-RU" smtClean="0"/>
              <a:t>Образец текста</a:t>
            </a:r>
          </a:p>
        </p:txBody>
      </p:sp>
      <p:sp>
        <p:nvSpPr>
          <p:cNvPr id="4" name="Дата 3"/>
          <p:cNvSpPr>
            <a:spLocks noGrp="1"/>
          </p:cNvSpPr>
          <p:nvPr>
            <p:ph type="dt" sz="half" idx="10"/>
          </p:nvPr>
        </p:nvSpPr>
        <p:spPr/>
        <p:txBody>
          <a:bodyPr/>
          <a:lstStyle/>
          <a:p>
            <a:fld id="{A2F1B533-5871-489F-8DF7-633441D17A15}" type="datetimeFigureOut">
              <a:rPr lang="ru-RU" smtClean="0"/>
              <a:t>21.02.2024</a:t>
            </a:fld>
            <a:endParaRPr lang="ru-RU"/>
          </a:p>
        </p:txBody>
      </p:sp>
      <p:sp>
        <p:nvSpPr>
          <p:cNvPr id="5" name="Нижний колонтитул 4"/>
          <p:cNvSpPr>
            <a:spLocks noGrp="1"/>
          </p:cNvSpPr>
          <p:nvPr>
            <p:ph type="ftr" sz="quarter" idx="11"/>
          </p:nvPr>
        </p:nvSpPr>
        <p:spPr/>
        <p:txBody>
          <a:bodyPr/>
          <a:lstStyle/>
          <a:p>
            <a:endParaRPr lang="ru-RU"/>
          </a:p>
        </p:txBody>
      </p:sp>
      <p:sp>
        <p:nvSpPr>
          <p:cNvPr id="6" name="Номер слайда 5"/>
          <p:cNvSpPr>
            <a:spLocks noGrp="1"/>
          </p:cNvSpPr>
          <p:nvPr>
            <p:ph type="sldNum" sz="quarter" idx="12"/>
          </p:nvPr>
        </p:nvSpPr>
        <p:spPr/>
        <p:txBody>
          <a:bodyPr/>
          <a:lstStyle/>
          <a:p>
            <a:fld id="{2DE3C97E-C3BB-4CA0-80D7-A16D20B07B21}" type="slidenum">
              <a:rPr lang="ru-RU" smtClean="0"/>
              <a:t>‹#›</a:t>
            </a:fld>
            <a:endParaRPr lang="ru-RU"/>
          </a:p>
        </p:txBody>
      </p:sp>
    </p:spTree>
    <p:extLst>
      <p:ext uri="{BB962C8B-B14F-4D97-AF65-F5344CB8AC3E}">
        <p14:creationId xmlns:p14="http://schemas.microsoft.com/office/powerpoint/2010/main" val="11276033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twoObj" preserve="1">
  <p:cSld name="Два объекта">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smtClean="0"/>
              <a:t>Образец заголовка</a:t>
            </a:r>
            <a:endParaRPr lang="ru-RU"/>
          </a:p>
        </p:txBody>
      </p:sp>
      <p:sp>
        <p:nvSpPr>
          <p:cNvPr id="3" name="Объект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4" name="Объект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5" name="Дата 4"/>
          <p:cNvSpPr>
            <a:spLocks noGrp="1"/>
          </p:cNvSpPr>
          <p:nvPr>
            <p:ph type="dt" sz="half" idx="10"/>
          </p:nvPr>
        </p:nvSpPr>
        <p:spPr/>
        <p:txBody>
          <a:bodyPr/>
          <a:lstStyle/>
          <a:p>
            <a:fld id="{A2F1B533-5871-489F-8DF7-633441D17A15}" type="datetimeFigureOut">
              <a:rPr lang="ru-RU" smtClean="0"/>
              <a:t>21.02.2024</a:t>
            </a:fld>
            <a:endParaRPr lang="ru-RU"/>
          </a:p>
        </p:txBody>
      </p:sp>
      <p:sp>
        <p:nvSpPr>
          <p:cNvPr id="6" name="Нижний колонтитул 5"/>
          <p:cNvSpPr>
            <a:spLocks noGrp="1"/>
          </p:cNvSpPr>
          <p:nvPr>
            <p:ph type="ftr" sz="quarter" idx="11"/>
          </p:nvPr>
        </p:nvSpPr>
        <p:spPr/>
        <p:txBody>
          <a:bodyPr/>
          <a:lstStyle/>
          <a:p>
            <a:endParaRPr lang="ru-RU"/>
          </a:p>
        </p:txBody>
      </p:sp>
      <p:sp>
        <p:nvSpPr>
          <p:cNvPr id="7" name="Номер слайда 6"/>
          <p:cNvSpPr>
            <a:spLocks noGrp="1"/>
          </p:cNvSpPr>
          <p:nvPr>
            <p:ph type="sldNum" sz="quarter" idx="12"/>
          </p:nvPr>
        </p:nvSpPr>
        <p:spPr/>
        <p:txBody>
          <a:bodyPr/>
          <a:lstStyle/>
          <a:p>
            <a:fld id="{2DE3C97E-C3BB-4CA0-80D7-A16D20B07B21}" type="slidenum">
              <a:rPr lang="ru-RU" smtClean="0"/>
              <a:t>‹#›</a:t>
            </a:fld>
            <a:endParaRPr lang="ru-RU"/>
          </a:p>
        </p:txBody>
      </p:sp>
    </p:spTree>
    <p:extLst>
      <p:ext uri="{BB962C8B-B14F-4D97-AF65-F5344CB8AC3E}">
        <p14:creationId xmlns:p14="http://schemas.microsoft.com/office/powerpoint/2010/main" val="398201377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Сравнение">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lvl1pPr>
              <a:defRPr/>
            </a:lvl1pPr>
          </a:lstStyle>
          <a:p>
            <a:r>
              <a:rPr lang="ru-RU" smtClean="0"/>
              <a:t>Образец заголовка</a:t>
            </a:r>
            <a:endParaRPr lang="ru-RU"/>
          </a:p>
        </p:txBody>
      </p:sp>
      <p:sp>
        <p:nvSpPr>
          <p:cNvPr id="3" name="Текст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smtClean="0"/>
              <a:t>Образец текста</a:t>
            </a:r>
          </a:p>
        </p:txBody>
      </p:sp>
      <p:sp>
        <p:nvSpPr>
          <p:cNvPr id="4" name="Объект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5" name="Текст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smtClean="0"/>
              <a:t>Образец текста</a:t>
            </a:r>
          </a:p>
        </p:txBody>
      </p:sp>
      <p:sp>
        <p:nvSpPr>
          <p:cNvPr id="6" name="Объект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7" name="Дата 6"/>
          <p:cNvSpPr>
            <a:spLocks noGrp="1"/>
          </p:cNvSpPr>
          <p:nvPr>
            <p:ph type="dt" sz="half" idx="10"/>
          </p:nvPr>
        </p:nvSpPr>
        <p:spPr/>
        <p:txBody>
          <a:bodyPr/>
          <a:lstStyle/>
          <a:p>
            <a:fld id="{A2F1B533-5871-489F-8DF7-633441D17A15}" type="datetimeFigureOut">
              <a:rPr lang="ru-RU" smtClean="0"/>
              <a:t>21.02.2024</a:t>
            </a:fld>
            <a:endParaRPr lang="ru-RU"/>
          </a:p>
        </p:txBody>
      </p:sp>
      <p:sp>
        <p:nvSpPr>
          <p:cNvPr id="8" name="Нижний колонтитул 7"/>
          <p:cNvSpPr>
            <a:spLocks noGrp="1"/>
          </p:cNvSpPr>
          <p:nvPr>
            <p:ph type="ftr" sz="quarter" idx="11"/>
          </p:nvPr>
        </p:nvSpPr>
        <p:spPr/>
        <p:txBody>
          <a:bodyPr/>
          <a:lstStyle/>
          <a:p>
            <a:endParaRPr lang="ru-RU"/>
          </a:p>
        </p:txBody>
      </p:sp>
      <p:sp>
        <p:nvSpPr>
          <p:cNvPr id="9" name="Номер слайда 8"/>
          <p:cNvSpPr>
            <a:spLocks noGrp="1"/>
          </p:cNvSpPr>
          <p:nvPr>
            <p:ph type="sldNum" sz="quarter" idx="12"/>
          </p:nvPr>
        </p:nvSpPr>
        <p:spPr/>
        <p:txBody>
          <a:bodyPr/>
          <a:lstStyle/>
          <a:p>
            <a:fld id="{2DE3C97E-C3BB-4CA0-80D7-A16D20B07B21}" type="slidenum">
              <a:rPr lang="ru-RU" smtClean="0"/>
              <a:t>‹#›</a:t>
            </a:fld>
            <a:endParaRPr lang="ru-RU"/>
          </a:p>
        </p:txBody>
      </p:sp>
    </p:spTree>
    <p:extLst>
      <p:ext uri="{BB962C8B-B14F-4D97-AF65-F5344CB8AC3E}">
        <p14:creationId xmlns:p14="http://schemas.microsoft.com/office/powerpoint/2010/main" val="121561682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titleOnly" preserve="1">
  <p:cSld name="Только заголовок">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smtClean="0"/>
              <a:t>Образец заголовка</a:t>
            </a:r>
            <a:endParaRPr lang="ru-RU"/>
          </a:p>
        </p:txBody>
      </p:sp>
      <p:sp>
        <p:nvSpPr>
          <p:cNvPr id="3" name="Дата 2"/>
          <p:cNvSpPr>
            <a:spLocks noGrp="1"/>
          </p:cNvSpPr>
          <p:nvPr>
            <p:ph type="dt" sz="half" idx="10"/>
          </p:nvPr>
        </p:nvSpPr>
        <p:spPr/>
        <p:txBody>
          <a:bodyPr/>
          <a:lstStyle/>
          <a:p>
            <a:fld id="{A2F1B533-5871-489F-8DF7-633441D17A15}" type="datetimeFigureOut">
              <a:rPr lang="ru-RU" smtClean="0"/>
              <a:t>21.02.2024</a:t>
            </a:fld>
            <a:endParaRPr lang="ru-RU"/>
          </a:p>
        </p:txBody>
      </p:sp>
      <p:sp>
        <p:nvSpPr>
          <p:cNvPr id="4" name="Нижний колонтитул 3"/>
          <p:cNvSpPr>
            <a:spLocks noGrp="1"/>
          </p:cNvSpPr>
          <p:nvPr>
            <p:ph type="ftr" sz="quarter" idx="11"/>
          </p:nvPr>
        </p:nvSpPr>
        <p:spPr/>
        <p:txBody>
          <a:bodyPr/>
          <a:lstStyle/>
          <a:p>
            <a:endParaRPr lang="ru-RU"/>
          </a:p>
        </p:txBody>
      </p:sp>
      <p:sp>
        <p:nvSpPr>
          <p:cNvPr id="5" name="Номер слайда 4"/>
          <p:cNvSpPr>
            <a:spLocks noGrp="1"/>
          </p:cNvSpPr>
          <p:nvPr>
            <p:ph type="sldNum" sz="quarter" idx="12"/>
          </p:nvPr>
        </p:nvSpPr>
        <p:spPr/>
        <p:txBody>
          <a:bodyPr/>
          <a:lstStyle/>
          <a:p>
            <a:fld id="{2DE3C97E-C3BB-4CA0-80D7-A16D20B07B21}" type="slidenum">
              <a:rPr lang="ru-RU" smtClean="0"/>
              <a:t>‹#›</a:t>
            </a:fld>
            <a:endParaRPr lang="ru-RU"/>
          </a:p>
        </p:txBody>
      </p:sp>
    </p:spTree>
    <p:extLst>
      <p:ext uri="{BB962C8B-B14F-4D97-AF65-F5344CB8AC3E}">
        <p14:creationId xmlns:p14="http://schemas.microsoft.com/office/powerpoint/2010/main" val="59609769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Пустой слайд">
    <p:spTree>
      <p:nvGrpSpPr>
        <p:cNvPr id="1" name=""/>
        <p:cNvGrpSpPr/>
        <p:nvPr/>
      </p:nvGrpSpPr>
      <p:grpSpPr>
        <a:xfrm>
          <a:off x="0" y="0"/>
          <a:ext cx="0" cy="0"/>
          <a:chOff x="0" y="0"/>
          <a:chExt cx="0" cy="0"/>
        </a:xfrm>
      </p:grpSpPr>
      <p:sp>
        <p:nvSpPr>
          <p:cNvPr id="2" name="Дата 1"/>
          <p:cNvSpPr>
            <a:spLocks noGrp="1"/>
          </p:cNvSpPr>
          <p:nvPr>
            <p:ph type="dt" sz="half" idx="10"/>
          </p:nvPr>
        </p:nvSpPr>
        <p:spPr/>
        <p:txBody>
          <a:bodyPr/>
          <a:lstStyle/>
          <a:p>
            <a:fld id="{A2F1B533-5871-489F-8DF7-633441D17A15}" type="datetimeFigureOut">
              <a:rPr lang="ru-RU" smtClean="0"/>
              <a:t>21.02.2024</a:t>
            </a:fld>
            <a:endParaRPr lang="ru-RU"/>
          </a:p>
        </p:txBody>
      </p:sp>
      <p:sp>
        <p:nvSpPr>
          <p:cNvPr id="3" name="Нижний колонтитул 2"/>
          <p:cNvSpPr>
            <a:spLocks noGrp="1"/>
          </p:cNvSpPr>
          <p:nvPr>
            <p:ph type="ftr" sz="quarter" idx="11"/>
          </p:nvPr>
        </p:nvSpPr>
        <p:spPr/>
        <p:txBody>
          <a:bodyPr/>
          <a:lstStyle/>
          <a:p>
            <a:endParaRPr lang="ru-RU"/>
          </a:p>
        </p:txBody>
      </p:sp>
      <p:sp>
        <p:nvSpPr>
          <p:cNvPr id="4" name="Номер слайда 3"/>
          <p:cNvSpPr>
            <a:spLocks noGrp="1"/>
          </p:cNvSpPr>
          <p:nvPr>
            <p:ph type="sldNum" sz="quarter" idx="12"/>
          </p:nvPr>
        </p:nvSpPr>
        <p:spPr/>
        <p:txBody>
          <a:bodyPr/>
          <a:lstStyle/>
          <a:p>
            <a:fld id="{2DE3C97E-C3BB-4CA0-80D7-A16D20B07B21}" type="slidenum">
              <a:rPr lang="ru-RU" smtClean="0"/>
              <a:t>‹#›</a:t>
            </a:fld>
            <a:endParaRPr lang="ru-RU"/>
          </a:p>
        </p:txBody>
      </p:sp>
    </p:spTree>
    <p:extLst>
      <p:ext uri="{BB962C8B-B14F-4D97-AF65-F5344CB8AC3E}">
        <p14:creationId xmlns:p14="http://schemas.microsoft.com/office/powerpoint/2010/main" val="293523339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Объект с подписью">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57200" y="273050"/>
            <a:ext cx="3008313" cy="1162050"/>
          </a:xfrm>
        </p:spPr>
        <p:txBody>
          <a:bodyPr anchor="b"/>
          <a:lstStyle>
            <a:lvl1pPr algn="l">
              <a:defRPr sz="2000" b="1"/>
            </a:lvl1pPr>
          </a:lstStyle>
          <a:p>
            <a:r>
              <a:rPr lang="ru-RU" smtClean="0"/>
              <a:t>Образец заголовка</a:t>
            </a:r>
            <a:endParaRPr lang="ru-RU"/>
          </a:p>
        </p:txBody>
      </p:sp>
      <p:sp>
        <p:nvSpPr>
          <p:cNvPr id="3" name="Объект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4" name="Текст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ru-RU" smtClean="0"/>
              <a:t>Образец текста</a:t>
            </a:r>
          </a:p>
        </p:txBody>
      </p:sp>
      <p:sp>
        <p:nvSpPr>
          <p:cNvPr id="5" name="Дата 4"/>
          <p:cNvSpPr>
            <a:spLocks noGrp="1"/>
          </p:cNvSpPr>
          <p:nvPr>
            <p:ph type="dt" sz="half" idx="10"/>
          </p:nvPr>
        </p:nvSpPr>
        <p:spPr/>
        <p:txBody>
          <a:bodyPr/>
          <a:lstStyle/>
          <a:p>
            <a:fld id="{A2F1B533-5871-489F-8DF7-633441D17A15}" type="datetimeFigureOut">
              <a:rPr lang="ru-RU" smtClean="0"/>
              <a:t>21.02.2024</a:t>
            </a:fld>
            <a:endParaRPr lang="ru-RU"/>
          </a:p>
        </p:txBody>
      </p:sp>
      <p:sp>
        <p:nvSpPr>
          <p:cNvPr id="6" name="Нижний колонтитул 5"/>
          <p:cNvSpPr>
            <a:spLocks noGrp="1"/>
          </p:cNvSpPr>
          <p:nvPr>
            <p:ph type="ftr" sz="quarter" idx="11"/>
          </p:nvPr>
        </p:nvSpPr>
        <p:spPr/>
        <p:txBody>
          <a:bodyPr/>
          <a:lstStyle/>
          <a:p>
            <a:endParaRPr lang="ru-RU"/>
          </a:p>
        </p:txBody>
      </p:sp>
      <p:sp>
        <p:nvSpPr>
          <p:cNvPr id="7" name="Номер слайда 6"/>
          <p:cNvSpPr>
            <a:spLocks noGrp="1"/>
          </p:cNvSpPr>
          <p:nvPr>
            <p:ph type="sldNum" sz="quarter" idx="12"/>
          </p:nvPr>
        </p:nvSpPr>
        <p:spPr/>
        <p:txBody>
          <a:bodyPr/>
          <a:lstStyle/>
          <a:p>
            <a:fld id="{2DE3C97E-C3BB-4CA0-80D7-A16D20B07B21}" type="slidenum">
              <a:rPr lang="ru-RU" smtClean="0"/>
              <a:t>‹#›</a:t>
            </a:fld>
            <a:endParaRPr lang="ru-RU"/>
          </a:p>
        </p:txBody>
      </p:sp>
    </p:spTree>
    <p:extLst>
      <p:ext uri="{BB962C8B-B14F-4D97-AF65-F5344CB8AC3E}">
        <p14:creationId xmlns:p14="http://schemas.microsoft.com/office/powerpoint/2010/main" val="202557234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Рисунок с подписью">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1792288" y="4800600"/>
            <a:ext cx="5486400" cy="566738"/>
          </a:xfrm>
        </p:spPr>
        <p:txBody>
          <a:bodyPr anchor="b"/>
          <a:lstStyle>
            <a:lvl1pPr algn="l">
              <a:defRPr sz="2000" b="1"/>
            </a:lvl1pPr>
          </a:lstStyle>
          <a:p>
            <a:r>
              <a:rPr lang="ru-RU" smtClean="0"/>
              <a:t>Образец заголовка</a:t>
            </a:r>
            <a:endParaRPr lang="ru-RU"/>
          </a:p>
        </p:txBody>
      </p:sp>
      <p:sp>
        <p:nvSpPr>
          <p:cNvPr id="3" name="Рисунок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ru-RU"/>
          </a:p>
        </p:txBody>
      </p:sp>
      <p:sp>
        <p:nvSpPr>
          <p:cNvPr id="4" name="Текст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ru-RU" smtClean="0"/>
              <a:t>Образец текста</a:t>
            </a:r>
          </a:p>
        </p:txBody>
      </p:sp>
      <p:sp>
        <p:nvSpPr>
          <p:cNvPr id="5" name="Дата 4"/>
          <p:cNvSpPr>
            <a:spLocks noGrp="1"/>
          </p:cNvSpPr>
          <p:nvPr>
            <p:ph type="dt" sz="half" idx="10"/>
          </p:nvPr>
        </p:nvSpPr>
        <p:spPr/>
        <p:txBody>
          <a:bodyPr/>
          <a:lstStyle/>
          <a:p>
            <a:fld id="{A2F1B533-5871-489F-8DF7-633441D17A15}" type="datetimeFigureOut">
              <a:rPr lang="ru-RU" smtClean="0"/>
              <a:t>21.02.2024</a:t>
            </a:fld>
            <a:endParaRPr lang="ru-RU"/>
          </a:p>
        </p:txBody>
      </p:sp>
      <p:sp>
        <p:nvSpPr>
          <p:cNvPr id="6" name="Нижний колонтитул 5"/>
          <p:cNvSpPr>
            <a:spLocks noGrp="1"/>
          </p:cNvSpPr>
          <p:nvPr>
            <p:ph type="ftr" sz="quarter" idx="11"/>
          </p:nvPr>
        </p:nvSpPr>
        <p:spPr/>
        <p:txBody>
          <a:bodyPr/>
          <a:lstStyle/>
          <a:p>
            <a:endParaRPr lang="ru-RU"/>
          </a:p>
        </p:txBody>
      </p:sp>
      <p:sp>
        <p:nvSpPr>
          <p:cNvPr id="7" name="Номер слайда 6"/>
          <p:cNvSpPr>
            <a:spLocks noGrp="1"/>
          </p:cNvSpPr>
          <p:nvPr>
            <p:ph type="sldNum" sz="quarter" idx="12"/>
          </p:nvPr>
        </p:nvSpPr>
        <p:spPr/>
        <p:txBody>
          <a:bodyPr/>
          <a:lstStyle/>
          <a:p>
            <a:fld id="{2DE3C97E-C3BB-4CA0-80D7-A16D20B07B21}" type="slidenum">
              <a:rPr lang="ru-RU" smtClean="0"/>
              <a:t>‹#›</a:t>
            </a:fld>
            <a:endParaRPr lang="ru-RU"/>
          </a:p>
        </p:txBody>
      </p:sp>
    </p:spTree>
    <p:extLst>
      <p:ext uri="{BB962C8B-B14F-4D97-AF65-F5344CB8AC3E}">
        <p14:creationId xmlns:p14="http://schemas.microsoft.com/office/powerpoint/2010/main" val="380776763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vertTx" preserve="1">
  <p:cSld name="Заголовок и вертикальный текст">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smtClean="0"/>
              <a:t>Образец заголовка</a:t>
            </a:r>
            <a:endParaRPr lang="ru-RU"/>
          </a:p>
        </p:txBody>
      </p:sp>
      <p:sp>
        <p:nvSpPr>
          <p:cNvPr id="3" name="Вертикальный текст 2"/>
          <p:cNvSpPr>
            <a:spLocks noGrp="1"/>
          </p:cNvSpPr>
          <p:nvPr>
            <p:ph type="body" orient="vert" idx="1"/>
          </p:nvPr>
        </p:nvSpPr>
        <p:spPr/>
        <p:txBody>
          <a:bodyPr vert="eaVert"/>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4" name="Дата 3"/>
          <p:cNvSpPr>
            <a:spLocks noGrp="1"/>
          </p:cNvSpPr>
          <p:nvPr>
            <p:ph type="dt" sz="half" idx="10"/>
          </p:nvPr>
        </p:nvSpPr>
        <p:spPr/>
        <p:txBody>
          <a:bodyPr/>
          <a:lstStyle/>
          <a:p>
            <a:fld id="{A2F1B533-5871-489F-8DF7-633441D17A15}" type="datetimeFigureOut">
              <a:rPr lang="ru-RU" smtClean="0"/>
              <a:t>21.02.2024</a:t>
            </a:fld>
            <a:endParaRPr lang="ru-RU"/>
          </a:p>
        </p:txBody>
      </p:sp>
      <p:sp>
        <p:nvSpPr>
          <p:cNvPr id="5" name="Нижний колонтитул 4"/>
          <p:cNvSpPr>
            <a:spLocks noGrp="1"/>
          </p:cNvSpPr>
          <p:nvPr>
            <p:ph type="ftr" sz="quarter" idx="11"/>
          </p:nvPr>
        </p:nvSpPr>
        <p:spPr/>
        <p:txBody>
          <a:bodyPr/>
          <a:lstStyle/>
          <a:p>
            <a:endParaRPr lang="ru-RU"/>
          </a:p>
        </p:txBody>
      </p:sp>
      <p:sp>
        <p:nvSpPr>
          <p:cNvPr id="6" name="Номер слайда 5"/>
          <p:cNvSpPr>
            <a:spLocks noGrp="1"/>
          </p:cNvSpPr>
          <p:nvPr>
            <p:ph type="sldNum" sz="quarter" idx="12"/>
          </p:nvPr>
        </p:nvSpPr>
        <p:spPr/>
        <p:txBody>
          <a:bodyPr/>
          <a:lstStyle/>
          <a:p>
            <a:fld id="{2DE3C97E-C3BB-4CA0-80D7-A16D20B07B21}" type="slidenum">
              <a:rPr lang="ru-RU" smtClean="0"/>
              <a:t>‹#›</a:t>
            </a:fld>
            <a:endParaRPr lang="ru-RU"/>
          </a:p>
        </p:txBody>
      </p:sp>
    </p:spTree>
    <p:extLst>
      <p:ext uri="{BB962C8B-B14F-4D97-AF65-F5344CB8AC3E}">
        <p14:creationId xmlns:p14="http://schemas.microsoft.com/office/powerpoint/2010/main" val="169613574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Вертикальный заголовок и текст">
    <p:spTree>
      <p:nvGrpSpPr>
        <p:cNvPr id="1" name=""/>
        <p:cNvGrpSpPr/>
        <p:nvPr/>
      </p:nvGrpSpPr>
      <p:grpSpPr>
        <a:xfrm>
          <a:off x="0" y="0"/>
          <a:ext cx="0" cy="0"/>
          <a:chOff x="0" y="0"/>
          <a:chExt cx="0" cy="0"/>
        </a:xfrm>
      </p:grpSpPr>
      <p:sp>
        <p:nvSpPr>
          <p:cNvPr id="2" name="Вертикальный заголовок 1"/>
          <p:cNvSpPr>
            <a:spLocks noGrp="1"/>
          </p:cNvSpPr>
          <p:nvPr>
            <p:ph type="title" orient="vert"/>
          </p:nvPr>
        </p:nvSpPr>
        <p:spPr>
          <a:xfrm>
            <a:off x="6629400" y="274638"/>
            <a:ext cx="2057400" cy="5851525"/>
          </a:xfrm>
        </p:spPr>
        <p:txBody>
          <a:bodyPr vert="eaVert"/>
          <a:lstStyle/>
          <a:p>
            <a:r>
              <a:rPr lang="ru-RU" smtClean="0"/>
              <a:t>Образец заголовка</a:t>
            </a:r>
            <a:endParaRPr lang="ru-RU"/>
          </a:p>
        </p:txBody>
      </p:sp>
      <p:sp>
        <p:nvSpPr>
          <p:cNvPr id="3" name="Вертикальный текст 2"/>
          <p:cNvSpPr>
            <a:spLocks noGrp="1"/>
          </p:cNvSpPr>
          <p:nvPr>
            <p:ph type="body" orient="vert" idx="1"/>
          </p:nvPr>
        </p:nvSpPr>
        <p:spPr>
          <a:xfrm>
            <a:off x="457200" y="274638"/>
            <a:ext cx="6019800" cy="5851525"/>
          </a:xfrm>
        </p:spPr>
        <p:txBody>
          <a:bodyPr vert="eaVert"/>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4" name="Дата 3"/>
          <p:cNvSpPr>
            <a:spLocks noGrp="1"/>
          </p:cNvSpPr>
          <p:nvPr>
            <p:ph type="dt" sz="half" idx="10"/>
          </p:nvPr>
        </p:nvSpPr>
        <p:spPr/>
        <p:txBody>
          <a:bodyPr/>
          <a:lstStyle/>
          <a:p>
            <a:fld id="{A2F1B533-5871-489F-8DF7-633441D17A15}" type="datetimeFigureOut">
              <a:rPr lang="ru-RU" smtClean="0"/>
              <a:t>21.02.2024</a:t>
            </a:fld>
            <a:endParaRPr lang="ru-RU"/>
          </a:p>
        </p:txBody>
      </p:sp>
      <p:sp>
        <p:nvSpPr>
          <p:cNvPr id="5" name="Нижний колонтитул 4"/>
          <p:cNvSpPr>
            <a:spLocks noGrp="1"/>
          </p:cNvSpPr>
          <p:nvPr>
            <p:ph type="ftr" sz="quarter" idx="11"/>
          </p:nvPr>
        </p:nvSpPr>
        <p:spPr/>
        <p:txBody>
          <a:bodyPr/>
          <a:lstStyle/>
          <a:p>
            <a:endParaRPr lang="ru-RU"/>
          </a:p>
        </p:txBody>
      </p:sp>
      <p:sp>
        <p:nvSpPr>
          <p:cNvPr id="6" name="Номер слайда 5"/>
          <p:cNvSpPr>
            <a:spLocks noGrp="1"/>
          </p:cNvSpPr>
          <p:nvPr>
            <p:ph type="sldNum" sz="quarter" idx="12"/>
          </p:nvPr>
        </p:nvSpPr>
        <p:spPr/>
        <p:txBody>
          <a:bodyPr/>
          <a:lstStyle/>
          <a:p>
            <a:fld id="{2DE3C97E-C3BB-4CA0-80D7-A16D20B07B21}" type="slidenum">
              <a:rPr lang="ru-RU" smtClean="0"/>
              <a:t>‹#›</a:t>
            </a:fld>
            <a:endParaRPr lang="ru-RU"/>
          </a:p>
        </p:txBody>
      </p:sp>
    </p:spTree>
    <p:extLst>
      <p:ext uri="{BB962C8B-B14F-4D97-AF65-F5344CB8AC3E}">
        <p14:creationId xmlns:p14="http://schemas.microsoft.com/office/powerpoint/2010/main" val="213382951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pattFill prst="pct10">
          <a:fgClr>
            <a:schemeClr val="accent1">
              <a:lumMod val="40000"/>
              <a:lumOff val="60000"/>
            </a:schemeClr>
          </a:fgClr>
          <a:bgClr>
            <a:schemeClr val="bg1"/>
          </a:bgClr>
        </a:pattFill>
        <a:effectLst/>
      </p:bgPr>
    </p:bg>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ru-RU" smtClean="0"/>
              <a:t>Образец заголовка</a:t>
            </a:r>
            <a:endParaRPr lang="ru-RU"/>
          </a:p>
        </p:txBody>
      </p:sp>
      <p:sp>
        <p:nvSpPr>
          <p:cNvPr id="3" name="Текст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4" name="Дата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2F1B533-5871-489F-8DF7-633441D17A15}" type="datetimeFigureOut">
              <a:rPr lang="ru-RU" smtClean="0"/>
              <a:t>21.02.2024</a:t>
            </a:fld>
            <a:endParaRPr lang="ru-RU"/>
          </a:p>
        </p:txBody>
      </p:sp>
      <p:sp>
        <p:nvSpPr>
          <p:cNvPr id="5" name="Нижний колонтитул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ru-RU"/>
          </a:p>
        </p:txBody>
      </p:sp>
      <p:sp>
        <p:nvSpPr>
          <p:cNvPr id="6" name="Номер слайда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DE3C97E-C3BB-4CA0-80D7-A16D20B07B21}" type="slidenum">
              <a:rPr lang="ru-RU" smtClean="0"/>
              <a:t>‹#›</a:t>
            </a:fld>
            <a:endParaRPr lang="ru-RU"/>
          </a:p>
        </p:txBody>
      </p:sp>
    </p:spTree>
    <p:extLst>
      <p:ext uri="{BB962C8B-B14F-4D97-AF65-F5344CB8AC3E}">
        <p14:creationId xmlns:p14="http://schemas.microsoft.com/office/powerpoint/2010/main" val="59243111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 name="Заголовок 1"/>
          <p:cNvSpPr txBox="1">
            <a:spLocks/>
          </p:cNvSpPr>
          <p:nvPr/>
        </p:nvSpPr>
        <p:spPr>
          <a:xfrm>
            <a:off x="0" y="188640"/>
            <a:ext cx="9144000" cy="2160240"/>
          </a:xfrm>
          <a:prstGeom prst="rect">
            <a:avLst/>
          </a:prstGeom>
        </p:spPr>
        <p:txBody>
          <a:bodyPr vert="horz"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sz="1800" b="1" dirty="0" smtClean="0">
                <a:latin typeface="Times New Roman" pitchFamily="18" charset="0"/>
                <a:cs typeface="Times New Roman" pitchFamily="18" charset="0"/>
              </a:rPr>
              <a:t>O‘ZBEKISTON RESPUBLIKASI </a:t>
            </a:r>
            <a:r>
              <a:rPr lang="en-US" sz="1800" b="1" dirty="0" smtClean="0">
                <a:latin typeface="Times New Roman" pitchFamily="18" charset="0"/>
                <a:cs typeface="Times New Roman" pitchFamily="18" charset="0"/>
              </a:rPr>
              <a:t>RAQAMLI TEXNOLOGIYALAR VAZIRLIGI</a:t>
            </a:r>
            <a:r>
              <a:rPr lang="ru-RU" sz="1800" dirty="0" smtClean="0">
                <a:latin typeface="Times New Roman" pitchFamily="18" charset="0"/>
                <a:cs typeface="Times New Roman" pitchFamily="18" charset="0"/>
              </a:rPr>
              <a:t/>
            </a:r>
            <a:br>
              <a:rPr lang="ru-RU" sz="1800" dirty="0" smtClean="0">
                <a:latin typeface="Times New Roman" pitchFamily="18" charset="0"/>
                <a:cs typeface="Times New Roman" pitchFamily="18" charset="0"/>
              </a:rPr>
            </a:br>
            <a:r>
              <a:rPr lang="tt-RU" sz="1800" b="1" dirty="0" smtClean="0">
                <a:latin typeface="Times New Roman" pitchFamily="18" charset="0"/>
                <a:cs typeface="Times New Roman" pitchFamily="18" charset="0"/>
              </a:rPr>
              <a:t>MUXAMMAD AL-XORAZMIY NOMIDAGI </a:t>
            </a:r>
            <a:r>
              <a:rPr lang="en-US" sz="1800" b="1" dirty="0" smtClean="0">
                <a:latin typeface="Times New Roman" pitchFamily="18" charset="0"/>
                <a:cs typeface="Times New Roman" pitchFamily="18" charset="0"/>
              </a:rPr>
              <a:t>TOSHKENT AXBOROT TEXNOLOGIYALARI UNIVERSITETI</a:t>
            </a:r>
            <a:r>
              <a:rPr lang="ru-RU" sz="1800" dirty="0" smtClean="0">
                <a:latin typeface="Times New Roman" pitchFamily="18" charset="0"/>
                <a:cs typeface="Times New Roman" pitchFamily="18" charset="0"/>
              </a:rPr>
              <a:t/>
            </a:r>
            <a:br>
              <a:rPr lang="ru-RU" sz="1800" dirty="0" smtClean="0">
                <a:latin typeface="Times New Roman" pitchFamily="18" charset="0"/>
                <a:cs typeface="Times New Roman" pitchFamily="18" charset="0"/>
              </a:rPr>
            </a:br>
            <a:r>
              <a:rPr lang="en-US" sz="1800" b="1" dirty="0" smtClean="0">
                <a:latin typeface="Times New Roman" pitchFamily="18" charset="0"/>
                <a:cs typeface="Times New Roman" pitchFamily="18" charset="0"/>
              </a:rPr>
              <a:t>SAMAR</a:t>
            </a:r>
            <a:r>
              <a:rPr lang="uz-Cyrl-UZ" sz="1800" b="1" dirty="0" smtClean="0">
                <a:latin typeface="Times New Roman" pitchFamily="18" charset="0"/>
                <a:cs typeface="Times New Roman" pitchFamily="18" charset="0"/>
              </a:rPr>
              <a:t>Q</a:t>
            </a:r>
            <a:r>
              <a:rPr lang="en-US" sz="1800" b="1" dirty="0" smtClean="0">
                <a:latin typeface="Times New Roman" pitchFamily="18" charset="0"/>
                <a:cs typeface="Times New Roman" pitchFamily="18" charset="0"/>
              </a:rPr>
              <a:t>AND FILIALI </a:t>
            </a:r>
            <a:r>
              <a:rPr lang="ru-RU" sz="1800" dirty="0" smtClean="0">
                <a:latin typeface="Times New Roman" pitchFamily="18" charset="0"/>
                <a:cs typeface="Times New Roman" pitchFamily="18" charset="0"/>
              </a:rPr>
              <a:t/>
            </a:r>
            <a:br>
              <a:rPr lang="ru-RU" sz="1800" dirty="0" smtClean="0">
                <a:latin typeface="Times New Roman" pitchFamily="18" charset="0"/>
                <a:cs typeface="Times New Roman" pitchFamily="18" charset="0"/>
              </a:rPr>
            </a:br>
            <a:r>
              <a:rPr lang="en-US" sz="1800" b="1" dirty="0" smtClean="0">
                <a:latin typeface="Times New Roman" pitchFamily="18" charset="0"/>
                <a:cs typeface="Times New Roman" pitchFamily="18" charset="0"/>
              </a:rPr>
              <a:t>TELEKOMMUNIKATSIYA </a:t>
            </a:r>
            <a:r>
              <a:rPr lang="uz-Cyrl-UZ" sz="1800" b="1" dirty="0" smtClean="0">
                <a:latin typeface="Times New Roman" pitchFamily="18" charset="0"/>
                <a:cs typeface="Times New Roman" pitchFamily="18" charset="0"/>
              </a:rPr>
              <a:t>TEXNOLOGIYALARI </a:t>
            </a:r>
            <a:r>
              <a:rPr lang="en-US" sz="1800" b="1" dirty="0" smtClean="0">
                <a:latin typeface="Times New Roman" pitchFamily="18" charset="0"/>
                <a:cs typeface="Times New Roman" pitchFamily="18" charset="0"/>
              </a:rPr>
              <a:t>VA KASB TA’LIM </a:t>
            </a:r>
            <a:r>
              <a:rPr lang="uz-Cyrl-UZ" sz="1800" b="1" dirty="0" smtClean="0">
                <a:latin typeface="Times New Roman" pitchFamily="18" charset="0"/>
                <a:cs typeface="Times New Roman" pitchFamily="18" charset="0"/>
              </a:rPr>
              <a:t>FAKULTETI</a:t>
            </a:r>
            <a:r>
              <a:rPr lang="ru-RU" sz="1800" dirty="0" smtClean="0">
                <a:latin typeface="Times New Roman" pitchFamily="18" charset="0"/>
                <a:cs typeface="Times New Roman" pitchFamily="18" charset="0"/>
              </a:rPr>
              <a:t/>
            </a:r>
            <a:br>
              <a:rPr lang="ru-RU" sz="1800" dirty="0" smtClean="0">
                <a:latin typeface="Times New Roman" pitchFamily="18" charset="0"/>
                <a:cs typeface="Times New Roman" pitchFamily="18" charset="0"/>
              </a:rPr>
            </a:br>
            <a:r>
              <a:rPr lang="uz-Cyrl-UZ" sz="1800" b="1" dirty="0" smtClean="0">
                <a:latin typeface="Times New Roman" pitchFamily="18" charset="0"/>
                <a:cs typeface="Times New Roman" pitchFamily="18" charset="0"/>
              </a:rPr>
              <a:t>«TELEKOMMUNIKATSIYA INJINIRINGI» KAFEDRASI</a:t>
            </a:r>
            <a:r>
              <a:rPr lang="ru-RU" sz="1800" dirty="0" smtClean="0">
                <a:latin typeface="Times New Roman" pitchFamily="18" charset="0"/>
                <a:cs typeface="Times New Roman" pitchFamily="18" charset="0"/>
              </a:rPr>
              <a:t/>
            </a:r>
            <a:br>
              <a:rPr lang="ru-RU" sz="1800" dirty="0" smtClean="0">
                <a:latin typeface="Times New Roman" pitchFamily="18" charset="0"/>
                <a:cs typeface="Times New Roman" pitchFamily="18" charset="0"/>
              </a:rPr>
            </a:br>
            <a:endParaRPr lang="ru-RU" sz="1800" dirty="0">
              <a:latin typeface="Times New Roman" pitchFamily="18" charset="0"/>
              <a:cs typeface="Times New Roman" pitchFamily="18" charset="0"/>
            </a:endParaRPr>
          </a:p>
        </p:txBody>
      </p:sp>
      <p:sp>
        <p:nvSpPr>
          <p:cNvPr id="6" name="Подзаголовок 2"/>
          <p:cNvSpPr txBox="1">
            <a:spLocks/>
          </p:cNvSpPr>
          <p:nvPr/>
        </p:nvSpPr>
        <p:spPr>
          <a:xfrm>
            <a:off x="1007604" y="2204864"/>
            <a:ext cx="7128792" cy="648072"/>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buNone/>
            </a:pPr>
            <a:r>
              <a:rPr lang="en-US" sz="2400" b="1" dirty="0" smtClean="0">
                <a:latin typeface="Times New Roman" pitchFamily="18" charset="0"/>
                <a:cs typeface="Times New Roman" pitchFamily="18" charset="0"/>
              </a:rPr>
              <a:t>  “</a:t>
            </a:r>
            <a:r>
              <a:rPr lang="en-US" sz="2400" b="1" dirty="0" err="1" smtClean="0">
                <a:latin typeface="Times New Roman" pitchFamily="18" charset="0"/>
                <a:cs typeface="Times New Roman" pitchFamily="18" charset="0"/>
              </a:rPr>
              <a:t>Tarmoqni</a:t>
            </a:r>
            <a:r>
              <a:rPr lang="en-US" sz="2400" b="1" dirty="0" smtClean="0">
                <a:latin typeface="Times New Roman" pitchFamily="18" charset="0"/>
                <a:cs typeface="Times New Roman" pitchFamily="18" charset="0"/>
              </a:rPr>
              <a:t> </a:t>
            </a:r>
            <a:r>
              <a:rPr lang="en-US" sz="2400" b="1" dirty="0" err="1" smtClean="0">
                <a:latin typeface="Times New Roman" pitchFamily="18" charset="0"/>
                <a:cs typeface="Times New Roman" pitchFamily="18" charset="0"/>
              </a:rPr>
              <a:t>dasturlash</a:t>
            </a:r>
            <a:r>
              <a:rPr lang="en-US" sz="2400" b="1" dirty="0" smtClean="0">
                <a:latin typeface="Times New Roman" pitchFamily="18" charset="0"/>
                <a:cs typeface="Times New Roman" pitchFamily="18" charset="0"/>
              </a:rPr>
              <a:t> </a:t>
            </a:r>
            <a:r>
              <a:rPr lang="en-US" sz="2400" b="1" dirty="0" err="1" smtClean="0">
                <a:latin typeface="Times New Roman" pitchFamily="18" charset="0"/>
                <a:cs typeface="Times New Roman" pitchFamily="18" charset="0"/>
              </a:rPr>
              <a:t>asoslari</a:t>
            </a:r>
            <a:r>
              <a:rPr lang="en-US" sz="2400" b="1" dirty="0" smtClean="0">
                <a:latin typeface="Times New Roman" pitchFamily="18" charset="0"/>
                <a:cs typeface="Times New Roman" pitchFamily="18" charset="0"/>
              </a:rPr>
              <a:t>”</a:t>
            </a:r>
          </a:p>
          <a:p>
            <a:pPr marL="0" indent="0" algn="ctr">
              <a:buNone/>
            </a:pPr>
            <a:r>
              <a:rPr lang="en-US" sz="2400" b="1" dirty="0" err="1" smtClean="0">
                <a:latin typeface="Times New Roman" pitchFamily="18" charset="0"/>
                <a:cs typeface="Times New Roman" pitchFamily="18" charset="0"/>
              </a:rPr>
              <a:t>fanidan</a:t>
            </a:r>
            <a:r>
              <a:rPr lang="en-US" sz="2400" b="1" dirty="0" smtClean="0">
                <a:latin typeface="Times New Roman" pitchFamily="18" charset="0"/>
                <a:cs typeface="Times New Roman" pitchFamily="18" charset="0"/>
              </a:rPr>
              <a:t> 2 – </a:t>
            </a:r>
            <a:r>
              <a:rPr lang="en-US" sz="2400" b="1" dirty="0" err="1" smtClean="0">
                <a:latin typeface="Times New Roman" pitchFamily="18" charset="0"/>
                <a:cs typeface="Times New Roman" pitchFamily="18" charset="0"/>
              </a:rPr>
              <a:t>ma’ruza</a:t>
            </a:r>
            <a:endParaRPr lang="ru-RU" sz="2400" b="1" dirty="0">
              <a:latin typeface="Times New Roman" pitchFamily="18" charset="0"/>
              <a:cs typeface="Times New Roman" pitchFamily="18" charset="0"/>
            </a:endParaRPr>
          </a:p>
        </p:txBody>
      </p:sp>
      <p:sp>
        <p:nvSpPr>
          <p:cNvPr id="7" name="Подзаголовок 2"/>
          <p:cNvSpPr txBox="1">
            <a:spLocks/>
          </p:cNvSpPr>
          <p:nvPr/>
        </p:nvSpPr>
        <p:spPr>
          <a:xfrm>
            <a:off x="307975" y="3140968"/>
            <a:ext cx="8724033" cy="648072"/>
          </a:xfrm>
          <a:prstGeom prst="rect">
            <a:avLst/>
          </a:prstGeom>
        </p:spPr>
        <p:txBody>
          <a:bodyPr vert="horz" lIns="91440" tIns="45720" rIns="91440" bIns="45720" rtlCol="0">
            <a:normAutofit fontScale="62500" lnSpcReduction="20000"/>
          </a:bodyPr>
          <a:lstStyle>
            <a:lvl1pPr marL="0" indent="0" algn="ctr" defTabSz="914400" rtl="0" eaLnBrk="1" latinLnBrk="0" hangingPunct="1">
              <a:spcBef>
                <a:spcPct val="20000"/>
              </a:spcBef>
              <a:buFont typeface="Arial" pitchFamily="34" charset="0"/>
              <a:buNone/>
              <a:defRPr sz="3200" kern="1200">
                <a:solidFill>
                  <a:schemeClr val="tx1">
                    <a:tint val="75000"/>
                  </a:schemeClr>
                </a:solidFill>
                <a:latin typeface="+mn-lt"/>
                <a:ea typeface="+mn-ea"/>
                <a:cs typeface="+mn-cs"/>
              </a:defRPr>
            </a:lvl1pPr>
            <a:lvl2pPr marL="457200" indent="0" algn="ctr" defTabSz="914400" rtl="0" eaLnBrk="1" latinLnBrk="0" hangingPunct="1">
              <a:spcBef>
                <a:spcPct val="20000"/>
              </a:spcBef>
              <a:buFont typeface="Arial" pitchFamily="34" charset="0"/>
              <a:buNone/>
              <a:defRPr sz="2800" kern="1200">
                <a:solidFill>
                  <a:schemeClr val="tx1">
                    <a:tint val="75000"/>
                  </a:schemeClr>
                </a:solidFill>
                <a:latin typeface="+mn-lt"/>
                <a:ea typeface="+mn-ea"/>
                <a:cs typeface="+mn-cs"/>
              </a:defRPr>
            </a:lvl2pPr>
            <a:lvl3pPr marL="914400" indent="0" algn="ctr" defTabSz="914400" rtl="0" eaLnBrk="1" latinLnBrk="0" hangingPunct="1">
              <a:spcBef>
                <a:spcPct val="20000"/>
              </a:spcBef>
              <a:buFont typeface="Arial" pitchFamily="34" charset="0"/>
              <a:buNone/>
              <a:defRPr sz="2400" kern="1200">
                <a:solidFill>
                  <a:schemeClr val="tx1">
                    <a:tint val="75000"/>
                  </a:schemeClr>
                </a:solidFill>
                <a:latin typeface="+mn-lt"/>
                <a:ea typeface="+mn-ea"/>
                <a:cs typeface="+mn-cs"/>
              </a:defRPr>
            </a:lvl3pPr>
            <a:lvl4pPr marL="1371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4pPr>
            <a:lvl5pPr marL="18288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5pPr>
            <a:lvl6pPr marL="22860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9pPr>
          </a:lstStyle>
          <a:p>
            <a:endParaRPr lang="en-US" sz="2400" dirty="0" smtClean="0">
              <a:solidFill>
                <a:srgbClr val="FF66CC"/>
              </a:solidFill>
              <a:latin typeface="Times New Roman" pitchFamily="18" charset="0"/>
              <a:cs typeface="Times New Roman" pitchFamily="18" charset="0"/>
            </a:endParaRPr>
          </a:p>
          <a:p>
            <a:r>
              <a:rPr lang="en-US" dirty="0" err="1" smtClean="0">
                <a:solidFill>
                  <a:schemeClr val="tx1"/>
                </a:solidFill>
                <a:latin typeface="Times New Roman" pitchFamily="18" charset="0"/>
                <a:cs typeface="Times New Roman" pitchFamily="18" charset="0"/>
              </a:rPr>
              <a:t>Mavzu</a:t>
            </a:r>
            <a:r>
              <a:rPr lang="en-US" dirty="0" smtClean="0">
                <a:solidFill>
                  <a:schemeClr val="tx1"/>
                </a:solidFill>
                <a:latin typeface="Times New Roman" pitchFamily="18" charset="0"/>
                <a:cs typeface="Times New Roman" pitchFamily="18" charset="0"/>
              </a:rPr>
              <a:t>: </a:t>
            </a:r>
            <a:r>
              <a:rPr lang="uz-Cyrl-UZ" dirty="0">
                <a:solidFill>
                  <a:schemeClr val="tx1"/>
                </a:solidFill>
                <a:latin typeface="Times New Roman" pitchFamily="18" charset="0"/>
                <a:cs typeface="Times New Roman" pitchFamily="18" charset="0"/>
              </a:rPr>
              <a:t>Tarmoqni dasturlashda ko‘poqimlilik va funksiyalarni paralellashtirish</a:t>
            </a:r>
            <a:endParaRPr lang="ru-RU" dirty="0">
              <a:solidFill>
                <a:schemeClr val="tx1"/>
              </a:solidFill>
              <a:latin typeface="Times New Roman" pitchFamily="18" charset="0"/>
              <a:cs typeface="Times New Roman" pitchFamily="18" charset="0"/>
            </a:endParaRPr>
          </a:p>
          <a:p>
            <a:endParaRPr lang="ru-RU" sz="2400" dirty="0">
              <a:solidFill>
                <a:schemeClr val="tx1"/>
              </a:solidFill>
              <a:latin typeface="Times New Roman" pitchFamily="18" charset="0"/>
              <a:cs typeface="Times New Roman" pitchFamily="18" charset="0"/>
            </a:endParaRPr>
          </a:p>
        </p:txBody>
      </p:sp>
      <p:sp>
        <p:nvSpPr>
          <p:cNvPr id="8" name="Прямоугольник 7"/>
          <p:cNvSpPr/>
          <p:nvPr/>
        </p:nvSpPr>
        <p:spPr>
          <a:xfrm>
            <a:off x="3707904" y="6237312"/>
            <a:ext cx="2412071" cy="461665"/>
          </a:xfrm>
          <a:prstGeom prst="rect">
            <a:avLst/>
          </a:prstGeom>
        </p:spPr>
        <p:txBody>
          <a:bodyPr wrap="none">
            <a:spAutoFit/>
          </a:bodyPr>
          <a:lstStyle/>
          <a:p>
            <a:r>
              <a:rPr lang="uz-Cyrl-UZ" sz="2400" b="1" dirty="0" smtClean="0">
                <a:latin typeface="Times New Roman" pitchFamily="18" charset="0"/>
                <a:cs typeface="Times New Roman" pitchFamily="18" charset="0"/>
              </a:rPr>
              <a:t>Samarqand </a:t>
            </a:r>
            <a:r>
              <a:rPr lang="en-US" sz="2400" b="1" dirty="0" smtClean="0">
                <a:latin typeface="Times New Roman" pitchFamily="18" charset="0"/>
                <a:cs typeface="Times New Roman" pitchFamily="18" charset="0"/>
              </a:rPr>
              <a:t>202</a:t>
            </a:r>
            <a:r>
              <a:rPr lang="ru-RU" sz="2400" b="1" dirty="0" smtClean="0">
                <a:latin typeface="Times New Roman" pitchFamily="18" charset="0"/>
                <a:cs typeface="Times New Roman" pitchFamily="18" charset="0"/>
              </a:rPr>
              <a:t>4</a:t>
            </a:r>
            <a:endParaRPr lang="ru-RU" sz="2400" dirty="0">
              <a:latin typeface="Times New Roman" pitchFamily="18" charset="0"/>
              <a:cs typeface="Times New Roman" pitchFamily="18" charset="0"/>
            </a:endParaRPr>
          </a:p>
        </p:txBody>
      </p:sp>
      <p:sp>
        <p:nvSpPr>
          <p:cNvPr id="9" name="AutoShape 2" descr="Картинки по запросу &quot;INTERNET&quot;"/>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ru-RU"/>
          </a:p>
        </p:txBody>
      </p:sp>
      <p:pic>
        <p:nvPicPr>
          <p:cNvPr id="10" name="Picture 2" descr="C:\Users\User\Desktop\1024px-Applications-internet.svg.png"/>
          <p:cNvPicPr>
            <a:picLocks noGrp="1" noChangeAspect="1" noChangeArrowheads="1"/>
          </p:cNvPicPr>
          <p:nvPr>
            <p:ph idx="1"/>
          </p:nvPr>
        </p:nvPicPr>
        <p:blipFill>
          <a:blip r:embed="rId2" cstate="print">
            <a:extLst>
              <a:ext uri="{28A0092B-C50C-407E-A947-70E740481C1C}">
                <a14:useLocalDpi xmlns:a14="http://schemas.microsoft.com/office/drawing/2010/main" val="0"/>
              </a:ext>
            </a:extLst>
          </a:blip>
          <a:srcRect/>
          <a:stretch>
            <a:fillRect/>
          </a:stretch>
        </p:blipFill>
        <p:spPr bwMode="auto">
          <a:xfrm>
            <a:off x="19537" y="3933055"/>
            <a:ext cx="3180321" cy="292494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38273005"/>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4" name="Рисунок 3"/>
          <p:cNvPicPr/>
          <p:nvPr/>
        </p:nvPicPr>
        <p:blipFill>
          <a:blip r:embed="rId2"/>
          <a:stretch>
            <a:fillRect/>
          </a:stretch>
        </p:blipFill>
        <p:spPr>
          <a:xfrm>
            <a:off x="460" y="21277"/>
            <a:ext cx="9143540" cy="6836723"/>
          </a:xfrm>
          <a:prstGeom prst="rect">
            <a:avLst/>
          </a:prstGeom>
        </p:spPr>
      </p:pic>
    </p:spTree>
    <p:extLst>
      <p:ext uri="{BB962C8B-B14F-4D97-AF65-F5344CB8AC3E}">
        <p14:creationId xmlns:p14="http://schemas.microsoft.com/office/powerpoint/2010/main" val="1399642898"/>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67544" y="188640"/>
            <a:ext cx="8229600" cy="576064"/>
          </a:xfrm>
        </p:spPr>
        <p:txBody>
          <a:bodyPr>
            <a:normAutofit fontScale="90000"/>
          </a:bodyPr>
          <a:lstStyle/>
          <a:p>
            <a:r>
              <a:rPr lang="en-US" sz="2600" dirty="0" err="1" smtClean="0">
                <a:latin typeface="Times New Roman" pitchFamily="18" charset="0"/>
                <a:cs typeface="Times New Roman" pitchFamily="18" charset="0"/>
              </a:rPr>
              <a:t>Reja</a:t>
            </a:r>
            <a:r>
              <a:rPr lang="en-US" dirty="0" smtClean="0"/>
              <a:t>:</a:t>
            </a:r>
            <a:endParaRPr lang="ru-RU" dirty="0"/>
          </a:p>
        </p:txBody>
      </p:sp>
      <p:sp>
        <p:nvSpPr>
          <p:cNvPr id="3" name="Объект 2"/>
          <p:cNvSpPr>
            <a:spLocks noGrp="1"/>
          </p:cNvSpPr>
          <p:nvPr>
            <p:ph idx="1"/>
          </p:nvPr>
        </p:nvSpPr>
        <p:spPr>
          <a:xfrm>
            <a:off x="215008" y="836712"/>
            <a:ext cx="8928992" cy="1872208"/>
          </a:xfrm>
        </p:spPr>
        <p:txBody>
          <a:bodyPr>
            <a:normAutofit/>
          </a:bodyPr>
          <a:lstStyle/>
          <a:p>
            <a:pPr marL="457200" lvl="0" indent="-457200">
              <a:buFont typeface="+mj-lt"/>
              <a:buAutoNum type="arabicPeriod"/>
            </a:pPr>
            <a:r>
              <a:rPr lang="uz-Cyrl-UZ" sz="2400" dirty="0"/>
              <a:t>Guruhli manzillash.</a:t>
            </a:r>
            <a:endParaRPr lang="ru-RU" sz="2400" dirty="0"/>
          </a:p>
          <a:p>
            <a:pPr marL="457200" lvl="0" indent="-457200">
              <a:buFont typeface="+mj-lt"/>
              <a:buAutoNum type="arabicPeriod"/>
            </a:pPr>
            <a:r>
              <a:rPr lang="uz-Cyrl-UZ" sz="2400" dirty="0"/>
              <a:t>Oqimlarni tashkil etish.</a:t>
            </a:r>
            <a:endParaRPr lang="ru-RU" sz="2400" dirty="0"/>
          </a:p>
          <a:p>
            <a:pPr marL="457200" lvl="0" indent="-457200">
              <a:buFont typeface="+mj-lt"/>
              <a:buAutoNum type="arabicPeriod"/>
            </a:pPr>
            <a:r>
              <a:rPr lang="ru-RU" sz="2400" dirty="0"/>
              <a:t>O</a:t>
            </a:r>
            <a:r>
              <a:rPr lang="uz-Cyrl-UZ" sz="2400" dirty="0"/>
              <a:t>qim klasslari bilan ishlash</a:t>
            </a:r>
            <a:r>
              <a:rPr lang="uz-Cyrl-UZ" sz="2400" dirty="0" smtClean="0"/>
              <a:t>.</a:t>
            </a:r>
            <a:endParaRPr lang="ru-RU" sz="2400" dirty="0"/>
          </a:p>
        </p:txBody>
      </p:sp>
      <p:pic>
        <p:nvPicPr>
          <p:cNvPr id="5122" name="Picture 2" descr="Картинки по запросу &quot;INTERNET&quot;"/>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2708920"/>
            <a:ext cx="9144000" cy="414908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59226425"/>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Прямоугольник 2"/>
          <p:cNvSpPr/>
          <p:nvPr/>
        </p:nvSpPr>
        <p:spPr>
          <a:xfrm>
            <a:off x="173009" y="116632"/>
            <a:ext cx="8856984" cy="6494085"/>
          </a:xfrm>
          <a:prstGeom prst="rect">
            <a:avLst/>
          </a:prstGeom>
        </p:spPr>
        <p:txBody>
          <a:bodyPr wrap="square">
            <a:spAutoFit/>
          </a:bodyPr>
          <a:lstStyle/>
          <a:p>
            <a:pPr lvl="0" algn="ctr"/>
            <a:r>
              <a:rPr lang="uz-Cyrl-UZ" sz="2000" b="1" dirty="0">
                <a:latin typeface="Times New Roman" pitchFamily="18" charset="0"/>
                <a:cs typeface="Times New Roman" pitchFamily="18" charset="0"/>
              </a:rPr>
              <a:t>Guruhli manzillash.</a:t>
            </a:r>
            <a:endParaRPr lang="ru-RU" sz="2000" dirty="0">
              <a:latin typeface="Times New Roman" pitchFamily="18" charset="0"/>
              <a:cs typeface="Times New Roman" pitchFamily="18" charset="0"/>
            </a:endParaRPr>
          </a:p>
          <a:p>
            <a:pPr algn="just"/>
            <a:r>
              <a:rPr lang="uz-Cyrl-UZ" sz="2000" dirty="0">
                <a:latin typeface="Times New Roman" pitchFamily="18" charset="0"/>
                <a:cs typeface="Times New Roman" pitchFamily="18" charset="0"/>
              </a:rPr>
              <a:t>Lokal tarmoqda guruhli manzillashni amalga oshirish uchun quyidagilar kerak: </a:t>
            </a:r>
            <a:endParaRPr lang="ru-RU" sz="2000" dirty="0">
              <a:latin typeface="Times New Roman" pitchFamily="18" charset="0"/>
              <a:cs typeface="Times New Roman" pitchFamily="18" charset="0"/>
            </a:endParaRPr>
          </a:p>
          <a:p>
            <a:pPr algn="just"/>
            <a:r>
              <a:rPr lang="uz-Cyrl-UZ" sz="2000" dirty="0">
                <a:latin typeface="Times New Roman" pitchFamily="18" charset="0"/>
                <a:cs typeface="Times New Roman" pitchFamily="18" charset="0"/>
              </a:rPr>
              <a:t>-      </a:t>
            </a:r>
            <a:r>
              <a:rPr lang="en-US" sz="2000" dirty="0">
                <a:latin typeface="Times New Roman" pitchFamily="18" charset="0"/>
                <a:cs typeface="Times New Roman" pitchFamily="18" charset="0"/>
              </a:rPr>
              <a:t>TCP/IP </a:t>
            </a:r>
            <a:r>
              <a:rPr lang="en-US" sz="2000" dirty="0" err="1">
                <a:latin typeface="Times New Roman" pitchFamily="18" charset="0"/>
                <a:cs typeface="Times New Roman" pitchFamily="18" charset="0"/>
              </a:rPr>
              <a:t>protokol</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steki</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bilan</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guruhli</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manzillashni</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quvvatlash</a:t>
            </a:r>
            <a:r>
              <a:rPr lang="en-US" sz="2000" dirty="0">
                <a:latin typeface="Times New Roman" pitchFamily="18" charset="0"/>
                <a:cs typeface="Times New Roman" pitchFamily="18" charset="0"/>
              </a:rPr>
              <a:t>; </a:t>
            </a:r>
            <a:endParaRPr lang="ru-RU" sz="2000" dirty="0">
              <a:latin typeface="Times New Roman" pitchFamily="18" charset="0"/>
              <a:cs typeface="Times New Roman" pitchFamily="18" charset="0"/>
            </a:endParaRPr>
          </a:p>
          <a:p>
            <a:pPr algn="just"/>
            <a:r>
              <a:rPr lang="uz-Cyrl-UZ"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guruhga</a:t>
            </a:r>
            <a:r>
              <a:rPr lang="en-US" sz="2000" dirty="0">
                <a:latin typeface="Times New Roman" pitchFamily="18" charset="0"/>
                <a:cs typeface="Times New Roman" pitchFamily="18" charset="0"/>
              </a:rPr>
              <a:t> </a:t>
            </a:r>
            <a:r>
              <a:rPr lang="uz-Cyrl-UZ" sz="2000" dirty="0">
                <a:latin typeface="Times New Roman" pitchFamily="18" charset="0"/>
                <a:cs typeface="Times New Roman" pitchFamily="18" charset="0"/>
              </a:rPr>
              <a:t>qo‘</a:t>
            </a:r>
            <a:r>
              <a:rPr lang="en-US" sz="2000" dirty="0" err="1">
                <a:latin typeface="Times New Roman" pitchFamily="18" charset="0"/>
                <a:cs typeface="Times New Roman" pitchFamily="18" charset="0"/>
              </a:rPr>
              <a:t>shilgan</a:t>
            </a:r>
            <a:r>
              <a:rPr lang="en-US" sz="2000" dirty="0">
                <a:latin typeface="Times New Roman" pitchFamily="18" charset="0"/>
                <a:cs typeface="Times New Roman" pitchFamily="18" charset="0"/>
              </a:rPr>
              <a:t>  s</a:t>
            </a:r>
            <a:r>
              <a:rPr lang="uz-Cyrl-UZ" sz="2000" dirty="0">
                <a:latin typeface="Times New Roman" pitchFamily="18" charset="0"/>
                <a:cs typeface="Times New Roman" pitchFamily="18" charset="0"/>
              </a:rPr>
              <a:t>o‘</a:t>
            </a:r>
            <a:r>
              <a:rPr lang="en-US" sz="2000" dirty="0" err="1">
                <a:latin typeface="Times New Roman" pitchFamily="18" charset="0"/>
                <a:cs typeface="Times New Roman" pitchFamily="18" charset="0"/>
              </a:rPr>
              <a:t>rovni</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yuborish</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va</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guruhli</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trafikni</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qabul</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qilish</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uchun</a:t>
            </a:r>
            <a:r>
              <a:rPr lang="en-US" sz="2000" dirty="0">
                <a:latin typeface="Times New Roman" pitchFamily="18" charset="0"/>
                <a:cs typeface="Times New Roman" pitchFamily="18" charset="0"/>
              </a:rPr>
              <a:t> IGMP </a:t>
            </a:r>
            <a:r>
              <a:rPr lang="en-US" sz="2000" dirty="0" err="1">
                <a:latin typeface="Times New Roman" pitchFamily="18" charset="0"/>
                <a:cs typeface="Times New Roman" pitchFamily="18" charset="0"/>
              </a:rPr>
              <a:t>protokolini</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dasturiy</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quvvatlash</a:t>
            </a:r>
            <a:r>
              <a:rPr lang="en-US" sz="2000" dirty="0">
                <a:latin typeface="Times New Roman" pitchFamily="18" charset="0"/>
                <a:cs typeface="Times New Roman" pitchFamily="18" charset="0"/>
              </a:rPr>
              <a:t>; </a:t>
            </a:r>
            <a:endParaRPr lang="ru-RU" sz="2000" dirty="0">
              <a:latin typeface="Times New Roman" pitchFamily="18" charset="0"/>
              <a:cs typeface="Times New Roman" pitchFamily="18" charset="0"/>
            </a:endParaRPr>
          </a:p>
          <a:p>
            <a:pPr algn="just"/>
            <a:r>
              <a:rPr lang="uz-Cyrl-UZ"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tarmoq</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kartasi</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bilan</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guruhli</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manzillashni</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quvvatlash</a:t>
            </a:r>
            <a:r>
              <a:rPr lang="en-US" sz="2000" dirty="0">
                <a:latin typeface="Times New Roman" pitchFamily="18" charset="0"/>
                <a:cs typeface="Times New Roman" pitchFamily="18" charset="0"/>
              </a:rPr>
              <a:t>; </a:t>
            </a:r>
            <a:endParaRPr lang="ru-RU" sz="2000" dirty="0">
              <a:latin typeface="Times New Roman" pitchFamily="18" charset="0"/>
              <a:cs typeface="Times New Roman" pitchFamily="18" charset="0"/>
            </a:endParaRPr>
          </a:p>
          <a:p>
            <a:pPr algn="just"/>
            <a:r>
              <a:rPr lang="uz-Cyrl-UZ"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guruhli</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manzillashdan</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foydalanuvchi</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ilova</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masalan</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videokonferensiya</a:t>
            </a:r>
            <a:r>
              <a:rPr lang="en-US" sz="2000" dirty="0">
                <a:latin typeface="Times New Roman" pitchFamily="18" charset="0"/>
                <a:cs typeface="Times New Roman" pitchFamily="18" charset="0"/>
              </a:rPr>
              <a:t>. </a:t>
            </a:r>
            <a:r>
              <a:rPr lang="uz-Cyrl-UZ" sz="2000" dirty="0">
                <a:latin typeface="Times New Roman" pitchFamily="18" charset="0"/>
                <a:cs typeface="Times New Roman" pitchFamily="18" charset="0"/>
              </a:rPr>
              <a:t>         </a:t>
            </a:r>
            <a:endParaRPr lang="ru-RU" sz="2000" dirty="0">
              <a:latin typeface="Times New Roman" pitchFamily="18" charset="0"/>
              <a:cs typeface="Times New Roman" pitchFamily="18" charset="0"/>
            </a:endParaRPr>
          </a:p>
          <a:p>
            <a:pPr algn="just"/>
            <a:r>
              <a:rPr lang="uz-Cyrl-UZ" sz="2000" dirty="0">
                <a:latin typeface="Times New Roman" pitchFamily="18" charset="0"/>
                <a:cs typeface="Times New Roman" pitchFamily="18" charset="0"/>
              </a:rPr>
              <a:t>Bu imkoniyatni global tarmoqka kengaytirish uchun ko‘shimcha tarzda xamma oradagi yo‘naltiruvchilar guruhli manzillashni quvvatlashi va ishlayotgan firewall-lar tomonidan guruhli trafik o‘tkazilishi kerak. Lokal tarmoqda ishlashini optimallashtirish uchun guruhli trafikni filtrlovchi kommutatorlardan foydalanish mumkin. </a:t>
            </a:r>
            <a:endParaRPr lang="ru-RU" sz="2000" dirty="0">
              <a:latin typeface="Times New Roman" pitchFamily="18" charset="0"/>
              <a:cs typeface="Times New Roman" pitchFamily="18" charset="0"/>
            </a:endParaRPr>
          </a:p>
          <a:p>
            <a:pPr algn="just"/>
            <a:r>
              <a:rPr lang="en-US" sz="2000" dirty="0">
                <a:latin typeface="Times New Roman" pitchFamily="18" charset="0"/>
                <a:cs typeface="Times New Roman" pitchFamily="18" charset="0"/>
              </a:rPr>
              <a:t>IP Multicast </a:t>
            </a:r>
            <a:r>
              <a:rPr lang="en-US" sz="2000" dirty="0" err="1">
                <a:latin typeface="Times New Roman" pitchFamily="18" charset="0"/>
                <a:cs typeface="Times New Roman" pitchFamily="18" charset="0"/>
              </a:rPr>
              <a:t>texnologiyasi</a:t>
            </a:r>
            <a:r>
              <a:rPr lang="en-US" sz="2000" dirty="0">
                <a:latin typeface="Times New Roman" pitchFamily="18" charset="0"/>
                <a:cs typeface="Times New Roman" pitchFamily="18" charset="0"/>
              </a:rPr>
              <a:t>  224.0.0.0 - 239.255.255.255 </a:t>
            </a:r>
            <a:r>
              <a:rPr lang="en-US" sz="2000" dirty="0" err="1">
                <a:latin typeface="Times New Roman" pitchFamily="18" charset="0"/>
                <a:cs typeface="Times New Roman" pitchFamily="18" charset="0"/>
              </a:rPr>
              <a:t>manzillaridan</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foydalanadi</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Statik</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va</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dinamik</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manzillash</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ishlatiladi</a:t>
            </a:r>
            <a:r>
              <a:rPr lang="en-US" sz="2000" dirty="0">
                <a:latin typeface="Times New Roman" pitchFamily="18" charset="0"/>
                <a:cs typeface="Times New Roman" pitchFamily="18" charset="0"/>
              </a:rPr>
              <a:t>. </a:t>
            </a:r>
            <a:endParaRPr lang="ru-RU" sz="2000" dirty="0">
              <a:latin typeface="Times New Roman" pitchFamily="18" charset="0"/>
              <a:cs typeface="Times New Roman" pitchFamily="18" charset="0"/>
            </a:endParaRPr>
          </a:p>
          <a:p>
            <a:pPr algn="just"/>
            <a:r>
              <a:rPr lang="uz-Cyrl-UZ" sz="2000" dirty="0">
                <a:latin typeface="Times New Roman" pitchFamily="18" charset="0"/>
                <a:cs typeface="Times New Roman" pitchFamily="18" charset="0"/>
              </a:rPr>
              <a:t>Statik manzillarning misoli  224.0.0.1 — lokal tarmoq tugunlarini ichiga oluvchi guruh manzillari, 224.0.0.2 — lokal tarmoqning xamma marshrutizatorlari. </a:t>
            </a:r>
            <a:r>
              <a:rPr lang="en-US" sz="2000" dirty="0">
                <a:latin typeface="Times New Roman" pitchFamily="18" charset="0"/>
                <a:cs typeface="Times New Roman" pitchFamily="18" charset="0"/>
              </a:rPr>
              <a:t>224.0.0.0 - 224.0.0.255 </a:t>
            </a:r>
            <a:r>
              <a:rPr lang="en-US" sz="2000" dirty="0" err="1">
                <a:latin typeface="Times New Roman" pitchFamily="18" charset="0"/>
                <a:cs typeface="Times New Roman" pitchFamily="18" charset="0"/>
              </a:rPr>
              <a:t>diapazonidagi</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manzillar</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marshrutizatsiya</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protokollari</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va</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guruhli</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manzillashning</a:t>
            </a:r>
            <a:r>
              <a:rPr lang="en-US" sz="2000" dirty="0">
                <a:latin typeface="Times New Roman" pitchFamily="18" charset="0"/>
                <a:cs typeface="Times New Roman" pitchFamily="18" charset="0"/>
              </a:rPr>
              <a:t> past </a:t>
            </a:r>
            <a:r>
              <a:rPr lang="en-US" sz="2000" dirty="0" err="1">
                <a:latin typeface="Times New Roman" pitchFamily="18" charset="0"/>
                <a:cs typeface="Times New Roman" pitchFamily="18" charset="0"/>
              </a:rPr>
              <a:t>darajali</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protokollari</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uchun</a:t>
            </a:r>
            <a:r>
              <a:rPr lang="en-US" sz="2000" dirty="0">
                <a:latin typeface="Times New Roman" pitchFamily="18" charset="0"/>
                <a:cs typeface="Times New Roman" pitchFamily="18" charset="0"/>
              </a:rPr>
              <a:t> m</a:t>
            </a:r>
            <a:r>
              <a:rPr lang="uz-Cyrl-UZ" sz="2000" dirty="0">
                <a:latin typeface="Times New Roman" pitchFamily="18" charset="0"/>
                <a:cs typeface="Times New Roman" pitchFamily="18" charset="0"/>
              </a:rPr>
              <a:t>o‘</a:t>
            </a:r>
            <a:r>
              <a:rPr lang="en-US" sz="2000" dirty="0" err="1">
                <a:latin typeface="Times New Roman" pitchFamily="18" charset="0"/>
                <a:cs typeface="Times New Roman" pitchFamily="18" charset="0"/>
              </a:rPr>
              <a:t>ljallangan</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Kolgan</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manzillar</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ilovalar</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tomonidan</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dinamik</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tarzda</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ishlatiladi</a:t>
            </a:r>
            <a:r>
              <a:rPr lang="en-US" sz="2000" dirty="0">
                <a:latin typeface="Times New Roman" pitchFamily="18" charset="0"/>
                <a:cs typeface="Times New Roman" pitchFamily="18" charset="0"/>
              </a:rPr>
              <a:t>.</a:t>
            </a:r>
            <a:endParaRPr lang="ru-RU" sz="2000" dirty="0">
              <a:latin typeface="Times New Roman" pitchFamily="18" charset="0"/>
              <a:cs typeface="Times New Roman" pitchFamily="18" charset="0"/>
            </a:endParaRPr>
          </a:p>
          <a:p>
            <a:pPr algn="just"/>
            <a:r>
              <a:rPr lang="uz-Cyrl-UZ" sz="2000" dirty="0">
                <a:latin typeface="Times New Roman" pitchFamily="18" charset="0"/>
                <a:cs typeface="Times New Roman" pitchFamily="18" charset="0"/>
              </a:rPr>
              <a:t>Tarmoq qurilmalari lokal tarmoqning xar xil guruhlarida a’zoligini aniqlash uchun yo‘naltiruvchi IGMP protokolidan foydalanadi. </a:t>
            </a:r>
            <a:endParaRPr lang="ru-RU" sz="2000" dirty="0">
              <a:latin typeface="Times New Roman" pitchFamily="18" charset="0"/>
              <a:cs typeface="Times New Roman" pitchFamily="18" charset="0"/>
            </a:endParaRPr>
          </a:p>
        </p:txBody>
      </p:sp>
    </p:spTree>
    <p:extLst>
      <p:ext uri="{BB962C8B-B14F-4D97-AF65-F5344CB8AC3E}">
        <p14:creationId xmlns:p14="http://schemas.microsoft.com/office/powerpoint/2010/main" val="4070482278"/>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Прямоугольник 1"/>
          <p:cNvSpPr/>
          <p:nvPr/>
        </p:nvSpPr>
        <p:spPr>
          <a:xfrm>
            <a:off x="81886" y="47557"/>
            <a:ext cx="8980227" cy="6524863"/>
          </a:xfrm>
          <a:prstGeom prst="rect">
            <a:avLst/>
          </a:prstGeom>
        </p:spPr>
        <p:txBody>
          <a:bodyPr wrap="square">
            <a:spAutoFit/>
          </a:bodyPr>
          <a:lstStyle/>
          <a:p>
            <a:pPr algn="just"/>
            <a:r>
              <a:rPr lang="en-US" sz="2200" dirty="0" smtClean="0">
                <a:latin typeface="Times New Roman" pitchFamily="18" charset="0"/>
                <a:cs typeface="Times New Roman" pitchFamily="18" charset="0"/>
              </a:rPr>
              <a:t>	</a:t>
            </a:r>
            <a:r>
              <a:rPr lang="uz-Cyrl-UZ" sz="2200" dirty="0" smtClean="0">
                <a:latin typeface="Times New Roman" pitchFamily="18" charset="0"/>
                <a:cs typeface="Times New Roman" pitchFamily="18" charset="0"/>
              </a:rPr>
              <a:t>Lokal </a:t>
            </a:r>
            <a:r>
              <a:rPr lang="uz-Cyrl-UZ" sz="2200" dirty="0">
                <a:latin typeface="Times New Roman" pitchFamily="18" charset="0"/>
                <a:cs typeface="Times New Roman" pitchFamily="18" charset="0"/>
              </a:rPr>
              <a:t>tarmoqning bitta marshrutizatori tugunlarning ilovalari tomonidan qaysi guruhlar ishlatilayotganini bilish uchun lokal tarmoqning tugunlariga so‘rov yuboradi. Xar bir guruhga lokal tarmoqda bitta javob beriladi. Yangi guruhning a’zosi bo‘lish uchun qabul qiluvchining tuguni lokal tarmoqning yo‘naltiruvchisiga so‘rov jo‘natadi. Qabul qiluvchi tugunning tarmoqli interfeysi shu guruh manzilli paketlarni qabul qilishga sozlanadi. 	Xar bir tugun o‘zining faol guruhli manzillarni mustaqil nazorat qiladi, bu guruhda katnishishga extiyoj qolmaganda esa  IGMP-so‘rovlarga tasdiqlashlarni yuborishni to‘xtatadi. IGMP-so‘rovlar natijalari guruhli marshrutizator protokollari tomonidan qo‘shni marshrutizatorlarga va tarmoq bo‘yicha guruhga a’zoligi to‘g‘risida axborotni yuborish uchun ishlatiladi. </a:t>
            </a:r>
            <a:endParaRPr lang="ru-RU" sz="2200" dirty="0">
              <a:latin typeface="Times New Roman" pitchFamily="18" charset="0"/>
              <a:cs typeface="Times New Roman" pitchFamily="18" charset="0"/>
            </a:endParaRPr>
          </a:p>
          <a:p>
            <a:pPr algn="just"/>
            <a:r>
              <a:rPr lang="en-US" sz="2200" dirty="0" smtClean="0">
                <a:latin typeface="Times New Roman" pitchFamily="18" charset="0"/>
                <a:cs typeface="Times New Roman" pitchFamily="18" charset="0"/>
              </a:rPr>
              <a:t>	</a:t>
            </a:r>
            <a:r>
              <a:rPr lang="uz-Cyrl-UZ" sz="2200" dirty="0" smtClean="0">
                <a:latin typeface="Times New Roman" pitchFamily="18" charset="0"/>
                <a:cs typeface="Times New Roman" pitchFamily="18" charset="0"/>
              </a:rPr>
              <a:t>Guruhli </a:t>
            </a:r>
            <a:r>
              <a:rPr lang="uz-Cyrl-UZ" sz="2200" dirty="0">
                <a:latin typeface="Times New Roman" pitchFamily="18" charset="0"/>
                <a:cs typeface="Times New Roman" pitchFamily="18" charset="0"/>
              </a:rPr>
              <a:t>marshrutizatorning asosiy g‘oyasi shundaki, marshrutizatorlar axborot almashuvi yordamida kerakli lokal tarmoqlarga paketlarni yuborish yo‘llarini quradilar. Marshrutizatorlarning xar biri qabul qilingan paketni bitta yoki bir nechta marshrutizatorlarga yuboradi, bunda bitta kanaldan bitta paketning qayta yuborilishining oldini olamiz va guruhning hamma qabul qiluvchilariga yetkaziladi. Guruxning tarkibi vakt o‘tgani sayin o‘zgarishi mumkinligi uchun guruhning yangi kirgan va chiqib ketgan a’zolarini marshrutizator yo‘llarini qurishda dinamik tarzda inobatga olinadi.</a:t>
            </a:r>
            <a:endParaRPr lang="ru-RU" sz="2200" dirty="0">
              <a:latin typeface="Times New Roman" pitchFamily="18" charset="0"/>
              <a:cs typeface="Times New Roman" pitchFamily="18" charset="0"/>
            </a:endParaRPr>
          </a:p>
        </p:txBody>
      </p:sp>
    </p:spTree>
    <p:extLst>
      <p:ext uri="{BB962C8B-B14F-4D97-AF65-F5344CB8AC3E}">
        <p14:creationId xmlns:p14="http://schemas.microsoft.com/office/powerpoint/2010/main" val="2700980114"/>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Прямоугольник 3"/>
          <p:cNvSpPr/>
          <p:nvPr/>
        </p:nvSpPr>
        <p:spPr>
          <a:xfrm>
            <a:off x="176261" y="260648"/>
            <a:ext cx="8856984" cy="5262979"/>
          </a:xfrm>
          <a:prstGeom prst="rect">
            <a:avLst/>
          </a:prstGeom>
        </p:spPr>
        <p:txBody>
          <a:bodyPr wrap="square">
            <a:spAutoFit/>
          </a:bodyPr>
          <a:lstStyle/>
          <a:p>
            <a:pPr lvl="0" algn="ctr"/>
            <a:r>
              <a:rPr lang="uz-Cyrl-UZ" sz="2400" b="1" dirty="0">
                <a:latin typeface="Times New Roman" pitchFamily="18" charset="0"/>
                <a:cs typeface="Times New Roman" pitchFamily="18" charset="0"/>
              </a:rPr>
              <a:t>Oqimlarni tashkil etish</a:t>
            </a:r>
            <a:endParaRPr lang="ru-RU" sz="2400" dirty="0">
              <a:latin typeface="Times New Roman" pitchFamily="18" charset="0"/>
              <a:cs typeface="Times New Roman" pitchFamily="18" charset="0"/>
            </a:endParaRPr>
          </a:p>
          <a:p>
            <a:pPr algn="just"/>
            <a:r>
              <a:rPr lang="en-US" sz="2400" dirty="0" smtClean="0">
                <a:latin typeface="Times New Roman" pitchFamily="18" charset="0"/>
                <a:cs typeface="Times New Roman" pitchFamily="18" charset="0"/>
              </a:rPr>
              <a:t>	</a:t>
            </a:r>
            <a:r>
              <a:rPr lang="uz-Cyrl-UZ" sz="2400" dirty="0" smtClean="0">
                <a:latin typeface="Times New Roman" pitchFamily="18" charset="0"/>
                <a:cs typeface="Times New Roman" pitchFamily="18" charset="0"/>
              </a:rPr>
              <a:t>IGMP</a:t>
            </a:r>
            <a:r>
              <a:rPr lang="uz-Cyrl-UZ" sz="2400" b="1" dirty="0" smtClean="0">
                <a:latin typeface="Times New Roman" pitchFamily="18" charset="0"/>
                <a:cs typeface="Times New Roman" pitchFamily="18" charset="0"/>
              </a:rPr>
              <a:t> </a:t>
            </a:r>
            <a:r>
              <a:rPr lang="uz-Cyrl-UZ" sz="2400" dirty="0">
                <a:latin typeface="Times New Roman" pitchFamily="18" charset="0"/>
                <a:cs typeface="Times New Roman" pitchFamily="18" charset="0"/>
              </a:rPr>
              <a:t>(ingl. Internet Group Management Protocol — Internet guruhlarini boshqarish protokoli) — IP protokoliga asoslangan  tarmoqlarda ma’lumotlarni guruhli yuborish (multicast)ni boshqarish protokoli. IGMP tarmoq qurilmalarni guruhlarga tashkillash uchun marshrutizator va IP-tugunlar tomonidan ishlatiladi.</a:t>
            </a:r>
            <a:endParaRPr lang="ru-RU" sz="2400" dirty="0">
              <a:latin typeface="Times New Roman" pitchFamily="18" charset="0"/>
              <a:cs typeface="Times New Roman" pitchFamily="18" charset="0"/>
            </a:endParaRPr>
          </a:p>
          <a:p>
            <a:pPr algn="just"/>
            <a:r>
              <a:rPr lang="uz-Cyrl-UZ" sz="2400" dirty="0">
                <a:latin typeface="Times New Roman" pitchFamily="18" charset="0"/>
                <a:cs typeface="Times New Roman" pitchFamily="18" charset="0"/>
              </a:rPr>
              <a:t>Bu </a:t>
            </a:r>
            <a:r>
              <a:rPr lang="en-US" sz="2400" dirty="0" err="1">
                <a:latin typeface="Times New Roman" pitchFamily="18" charset="0"/>
                <a:cs typeface="Times New Roman" pitchFamily="18" charset="0"/>
              </a:rPr>
              <a:t>protokol</a:t>
            </a:r>
            <a:r>
              <a:rPr lang="en-US" sz="2400" dirty="0">
                <a:latin typeface="Times New Roman" pitchFamily="18" charset="0"/>
                <a:cs typeface="Times New Roman" pitchFamily="18" charset="0"/>
              </a:rPr>
              <a:t> IP-</a:t>
            </a:r>
            <a:r>
              <a:rPr lang="uz-Cyrl-UZ" sz="2400" dirty="0">
                <a:latin typeface="Times New Roman" pitchFamily="18" charset="0"/>
                <a:cs typeface="Times New Roman" pitchFamily="18" charset="0"/>
              </a:rPr>
              <a:t>tarmoqlarda paketlarni guruhli yuborishning spetsifikatsiyasining qismidir</a:t>
            </a:r>
            <a:r>
              <a:rPr lang="en-US" sz="2400" dirty="0">
                <a:latin typeface="Times New Roman" pitchFamily="18" charset="0"/>
                <a:cs typeface="Times New Roman" pitchFamily="18" charset="0"/>
              </a:rPr>
              <a:t>. IGMP </a:t>
            </a:r>
            <a:r>
              <a:rPr lang="uz-Cyrl-UZ" sz="2400" dirty="0">
                <a:latin typeface="Times New Roman" pitchFamily="18" charset="0"/>
                <a:cs typeface="Times New Roman" pitchFamily="18" charset="0"/>
              </a:rPr>
              <a:t>tarmoq qatlamida joylashadi</a:t>
            </a:r>
            <a:r>
              <a:rPr lang="en-US" sz="2400" dirty="0">
                <a:latin typeface="Times New Roman" pitchFamily="18" charset="0"/>
                <a:cs typeface="Times New Roman" pitchFamily="18" charset="0"/>
              </a:rPr>
              <a:t>. </a:t>
            </a:r>
            <a:r>
              <a:rPr lang="uz-Cyrl-UZ" sz="2400" dirty="0">
                <a:latin typeface="Times New Roman" pitchFamily="18" charset="0"/>
                <a:cs typeface="Times New Roman" pitchFamily="18" charset="0"/>
              </a:rPr>
              <a:t>U ko‘p jixatdan bir tomonlama yuborishga mo‘ljallangan </a:t>
            </a:r>
            <a:r>
              <a:rPr lang="en-US" sz="2400" dirty="0">
                <a:latin typeface="Times New Roman" pitchFamily="18" charset="0"/>
                <a:cs typeface="Times New Roman" pitchFamily="18" charset="0"/>
              </a:rPr>
              <a:t>ICMP</a:t>
            </a:r>
            <a:r>
              <a:rPr lang="uz-Cyrl-UZ" sz="2400" dirty="0">
                <a:latin typeface="Times New Roman" pitchFamily="18" charset="0"/>
                <a:cs typeface="Times New Roman" pitchFamily="18" charset="0"/>
              </a:rPr>
              <a:t>ga o‘xshaydi</a:t>
            </a:r>
            <a:r>
              <a:rPr lang="en-US" sz="2400" dirty="0">
                <a:latin typeface="Times New Roman" pitchFamily="18" charset="0"/>
                <a:cs typeface="Times New Roman" pitchFamily="18" charset="0"/>
              </a:rPr>
              <a:t>. IGMP </a:t>
            </a:r>
            <a:r>
              <a:rPr lang="uz-Cyrl-UZ" sz="2400" dirty="0">
                <a:latin typeface="Times New Roman" pitchFamily="18" charset="0"/>
                <a:cs typeface="Times New Roman" pitchFamily="18" charset="0"/>
              </a:rPr>
              <a:t>oqimli video va onlayn</a:t>
            </a:r>
            <a:r>
              <a:rPr lang="en-US" sz="2400" dirty="0">
                <a:latin typeface="Times New Roman" pitchFamily="18" charset="0"/>
                <a:cs typeface="Times New Roman" pitchFamily="18" charset="0"/>
              </a:rPr>
              <a:t>-</a:t>
            </a:r>
            <a:r>
              <a:rPr lang="uz-Cyrl-UZ" sz="2400" dirty="0">
                <a:latin typeface="Times New Roman" pitchFamily="18" charset="0"/>
                <a:cs typeface="Times New Roman" pitchFamily="18" charset="0"/>
              </a:rPr>
              <a:t>o‘</a:t>
            </a:r>
            <a:r>
              <a:rPr lang="en-US" sz="2400" dirty="0" err="1">
                <a:latin typeface="Times New Roman" pitchFamily="18" charset="0"/>
                <a:cs typeface="Times New Roman" pitchFamily="18" charset="0"/>
              </a:rPr>
              <a:t>yinlarni</a:t>
            </a:r>
            <a:r>
              <a:rPr lang="en-US" sz="2400" dirty="0">
                <a:latin typeface="Times New Roman" pitchFamily="18" charset="0"/>
                <a:cs typeface="Times New Roman" pitchFamily="18" charset="0"/>
              </a:rPr>
              <a:t> </a:t>
            </a:r>
            <a:r>
              <a:rPr lang="uz-Cyrl-UZ" sz="2400" dirty="0">
                <a:latin typeface="Times New Roman" pitchFamily="18" charset="0"/>
                <a:cs typeface="Times New Roman" pitchFamily="18" charset="0"/>
              </a:rPr>
              <a:t>q</a:t>
            </a:r>
            <a:r>
              <a:rPr lang="en-US" sz="2400" dirty="0" err="1">
                <a:latin typeface="Times New Roman" pitchFamily="18" charset="0"/>
                <a:cs typeface="Times New Roman" pitchFamily="18" charset="0"/>
              </a:rPr>
              <a:t>uvvatlash</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uchun</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ishlatilishi</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mumkin</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bu</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turdagi</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ilovalar</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uchun</a:t>
            </a:r>
            <a:r>
              <a:rPr lang="en-US" sz="2400" dirty="0">
                <a:latin typeface="Times New Roman" pitchFamily="18" charset="0"/>
                <a:cs typeface="Times New Roman" pitchFamily="18" charset="0"/>
              </a:rPr>
              <a:t> u </a:t>
            </a:r>
            <a:r>
              <a:rPr lang="en-US" sz="2400" dirty="0" err="1">
                <a:latin typeface="Times New Roman" pitchFamily="18" charset="0"/>
                <a:cs typeface="Times New Roman" pitchFamily="18" charset="0"/>
              </a:rPr>
              <a:t>tarmo</a:t>
            </a:r>
            <a:r>
              <a:rPr lang="uz-Cyrl-UZ" sz="2400" dirty="0">
                <a:latin typeface="Times New Roman" pitchFamily="18" charset="0"/>
                <a:cs typeface="Times New Roman" pitchFamily="18" charset="0"/>
              </a:rPr>
              <a:t>q </a:t>
            </a:r>
            <a:r>
              <a:rPr lang="en-US" sz="2400" dirty="0" err="1">
                <a:latin typeface="Times New Roman" pitchFamily="18" charset="0"/>
                <a:cs typeface="Times New Roman" pitchFamily="18" charset="0"/>
              </a:rPr>
              <a:t>resurslaridan</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samarali</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foydalanishga</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imkon</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beradi</a:t>
            </a:r>
            <a:r>
              <a:rPr lang="en-US" sz="2400" dirty="0">
                <a:latin typeface="Times New Roman" pitchFamily="18" charset="0"/>
                <a:cs typeface="Times New Roman" pitchFamily="18" charset="0"/>
              </a:rPr>
              <a:t>. IGMP </a:t>
            </a:r>
            <a:r>
              <a:rPr lang="en-US" sz="2400" dirty="0" err="1">
                <a:latin typeface="Times New Roman" pitchFamily="18" charset="0"/>
                <a:cs typeface="Times New Roman" pitchFamily="18" charset="0"/>
              </a:rPr>
              <a:t>ba’zi</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taxdidlarga</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ximoyasiz</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va</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odatda</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brandmauerlar</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foydalanuvchiga</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bu</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protokolni</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extiyoj</a:t>
            </a:r>
            <a:r>
              <a:rPr lang="en-US" sz="2400" dirty="0">
                <a:latin typeface="Times New Roman" pitchFamily="18" charset="0"/>
                <a:cs typeface="Times New Roman" pitchFamily="18" charset="0"/>
              </a:rPr>
              <a:t> y</a:t>
            </a:r>
            <a:r>
              <a:rPr lang="uz-Cyrl-UZ" sz="2400" dirty="0">
                <a:latin typeface="Times New Roman" pitchFamily="18" charset="0"/>
                <a:cs typeface="Times New Roman" pitchFamily="18" charset="0"/>
              </a:rPr>
              <a:t>o‘q </a:t>
            </a:r>
            <a:r>
              <a:rPr lang="en-US" sz="2400" dirty="0">
                <a:latin typeface="Times New Roman" pitchFamily="18" charset="0"/>
                <a:cs typeface="Times New Roman" pitchFamily="18" charset="0"/>
              </a:rPr>
              <a:t>b</a:t>
            </a:r>
            <a:r>
              <a:rPr lang="uz-Cyrl-UZ" sz="2400" dirty="0">
                <a:latin typeface="Times New Roman" pitchFamily="18" charset="0"/>
                <a:cs typeface="Times New Roman" pitchFamily="18" charset="0"/>
              </a:rPr>
              <a:t>o‘</a:t>
            </a:r>
            <a:r>
              <a:rPr lang="en-US" sz="2400" dirty="0" err="1">
                <a:latin typeface="Times New Roman" pitchFamily="18" charset="0"/>
                <a:cs typeface="Times New Roman" pitchFamily="18" charset="0"/>
              </a:rPr>
              <a:t>lsa</a:t>
            </a:r>
            <a:r>
              <a:rPr lang="en-US" sz="2400" dirty="0">
                <a:latin typeface="Times New Roman" pitchFamily="18" charset="0"/>
                <a:cs typeface="Times New Roman" pitchFamily="18" charset="0"/>
              </a:rPr>
              <a:t> </a:t>
            </a:r>
            <a:r>
              <a:rPr lang="uz-Cyrl-UZ" sz="2400" dirty="0">
                <a:latin typeface="Times New Roman" pitchFamily="18" charset="0"/>
                <a:cs typeface="Times New Roman" pitchFamily="18" charset="0"/>
              </a:rPr>
              <a:t>o‘</a:t>
            </a:r>
            <a:r>
              <a:rPr lang="en-US" sz="2400" dirty="0" err="1">
                <a:latin typeface="Times New Roman" pitchFamily="18" charset="0"/>
                <a:cs typeface="Times New Roman" pitchFamily="18" charset="0"/>
              </a:rPr>
              <a:t>chirishga</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ruxsat</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beradi</a:t>
            </a:r>
            <a:r>
              <a:rPr lang="en-US" sz="2400" dirty="0">
                <a:latin typeface="Times New Roman" pitchFamily="18" charset="0"/>
                <a:cs typeface="Times New Roman" pitchFamily="18" charset="0"/>
              </a:rPr>
              <a:t>.</a:t>
            </a:r>
            <a:endParaRPr lang="ru-RU" sz="2400" dirty="0">
              <a:latin typeface="Times New Roman" pitchFamily="18" charset="0"/>
              <a:cs typeface="Times New Roman" pitchFamily="18" charset="0"/>
            </a:endParaRPr>
          </a:p>
        </p:txBody>
      </p:sp>
    </p:spTree>
    <p:extLst>
      <p:ext uri="{BB962C8B-B14F-4D97-AF65-F5344CB8AC3E}">
        <p14:creationId xmlns:p14="http://schemas.microsoft.com/office/powerpoint/2010/main" val="105834937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Прямоугольник 3"/>
          <p:cNvSpPr/>
          <p:nvPr/>
        </p:nvSpPr>
        <p:spPr>
          <a:xfrm>
            <a:off x="0" y="11219"/>
            <a:ext cx="9144000" cy="6863417"/>
          </a:xfrm>
          <a:prstGeom prst="rect">
            <a:avLst/>
          </a:prstGeom>
        </p:spPr>
        <p:txBody>
          <a:bodyPr wrap="square">
            <a:spAutoFit/>
          </a:bodyPr>
          <a:lstStyle/>
          <a:p>
            <a:pPr lvl="0" algn="ctr"/>
            <a:r>
              <a:rPr lang="ru-RU" sz="2200" b="1" dirty="0">
                <a:latin typeface="Times New Roman" pitchFamily="18" charset="0"/>
                <a:cs typeface="Times New Roman" pitchFamily="18" charset="0"/>
              </a:rPr>
              <a:t>O</a:t>
            </a:r>
            <a:r>
              <a:rPr lang="uz-Cyrl-UZ" sz="2200" b="1" dirty="0">
                <a:latin typeface="Times New Roman" pitchFamily="18" charset="0"/>
                <a:cs typeface="Times New Roman" pitchFamily="18" charset="0"/>
              </a:rPr>
              <a:t>qim klasslari bilan ishlash.</a:t>
            </a:r>
            <a:endParaRPr lang="ru-RU" sz="2200" dirty="0">
              <a:latin typeface="Times New Roman" pitchFamily="18" charset="0"/>
              <a:cs typeface="Times New Roman" pitchFamily="18" charset="0"/>
            </a:endParaRPr>
          </a:p>
          <a:p>
            <a:pPr algn="just"/>
            <a:r>
              <a:rPr lang="ru-RU" sz="2200" dirty="0" err="1">
                <a:latin typeface="Times New Roman" pitchFamily="18" charset="0"/>
                <a:cs typeface="Times New Roman" pitchFamily="18" charset="0"/>
              </a:rPr>
              <a:t>Ushbu</a:t>
            </a:r>
            <a:r>
              <a:rPr lang="ru-RU" sz="2200" dirty="0">
                <a:latin typeface="Times New Roman" pitchFamily="18" charset="0"/>
                <a:cs typeface="Times New Roman" pitchFamily="18" charset="0"/>
              </a:rPr>
              <a:t> </a:t>
            </a:r>
            <a:r>
              <a:rPr lang="ru-RU" sz="2200" dirty="0" err="1">
                <a:latin typeface="Times New Roman" pitchFamily="18" charset="0"/>
                <a:cs typeface="Times New Roman" pitchFamily="18" charset="0"/>
              </a:rPr>
              <a:t>ma’ruzada</a:t>
            </a:r>
            <a:r>
              <a:rPr lang="ru-RU" sz="2200" dirty="0">
                <a:latin typeface="Times New Roman" pitchFamily="18" charset="0"/>
                <a:cs typeface="Times New Roman" pitchFamily="18" charset="0"/>
              </a:rPr>
              <a:t> s</a:t>
            </a:r>
            <a:r>
              <a:rPr lang="en-US" sz="2200" dirty="0">
                <a:latin typeface="Times New Roman" pitchFamily="18" charset="0"/>
                <a:cs typeface="Times New Roman" pitchFamily="18" charset="0"/>
              </a:rPr>
              <a:t>o</a:t>
            </a:r>
            <a:r>
              <a:rPr lang="ru-RU" sz="2200" dirty="0" err="1">
                <a:latin typeface="Times New Roman" pitchFamily="18" charset="0"/>
                <a:cs typeface="Times New Roman" pitchFamily="18" charset="0"/>
              </a:rPr>
              <a:t>ket</a:t>
            </a:r>
            <a:r>
              <a:rPr lang="ru-RU" sz="2200" dirty="0">
                <a:latin typeface="Times New Roman" pitchFamily="18" charset="0"/>
                <a:cs typeface="Times New Roman" pitchFamily="18" charset="0"/>
              </a:rPr>
              <a:t> </a:t>
            </a:r>
            <a:r>
              <a:rPr lang="ru-RU" sz="2200" dirty="0" err="1">
                <a:latin typeface="Times New Roman" pitchFamily="18" charset="0"/>
                <a:cs typeface="Times New Roman" pitchFamily="18" charset="0"/>
              </a:rPr>
              <a:t>sinfidagi</a:t>
            </a:r>
            <a:r>
              <a:rPr lang="ru-RU" sz="2200" dirty="0">
                <a:latin typeface="Times New Roman" pitchFamily="18" charset="0"/>
                <a:cs typeface="Times New Roman" pitchFamily="18" charset="0"/>
              </a:rPr>
              <a:t> s</a:t>
            </a:r>
            <a:r>
              <a:rPr lang="en-US" sz="2200" dirty="0">
                <a:latin typeface="Times New Roman" pitchFamily="18" charset="0"/>
                <a:cs typeface="Times New Roman" pitchFamily="18" charset="0"/>
              </a:rPr>
              <a:t>o</a:t>
            </a:r>
            <a:r>
              <a:rPr lang="ru-RU" sz="2200" dirty="0" err="1">
                <a:latin typeface="Times New Roman" pitchFamily="18" charset="0"/>
                <a:cs typeface="Times New Roman" pitchFamily="18" charset="0"/>
              </a:rPr>
              <a:t>ketlar</a:t>
            </a:r>
            <a:r>
              <a:rPr lang="ru-RU" sz="2200" dirty="0">
                <a:latin typeface="Times New Roman" pitchFamily="18" charset="0"/>
                <a:cs typeface="Times New Roman" pitchFamily="18" charset="0"/>
              </a:rPr>
              <a:t> </a:t>
            </a:r>
            <a:r>
              <a:rPr lang="ru-RU" sz="2200" dirty="0" err="1">
                <a:latin typeface="Times New Roman" pitchFamily="18" charset="0"/>
                <a:cs typeface="Times New Roman" pitchFamily="18" charset="0"/>
              </a:rPr>
              <a:t>bilan</a:t>
            </a:r>
            <a:r>
              <a:rPr lang="ru-RU" sz="2200" dirty="0">
                <a:latin typeface="Times New Roman" pitchFamily="18" charset="0"/>
                <a:cs typeface="Times New Roman" pitchFamily="18" charset="0"/>
              </a:rPr>
              <a:t> </a:t>
            </a:r>
            <a:r>
              <a:rPr lang="ru-RU" sz="2200" dirty="0" err="1">
                <a:latin typeface="Times New Roman" pitchFamily="18" charset="0"/>
                <a:cs typeface="Times New Roman" pitchFamily="18" charset="0"/>
              </a:rPr>
              <a:t>ishl</a:t>
            </a:r>
            <a:r>
              <a:rPr lang="en-US" sz="2200" dirty="0">
                <a:latin typeface="Times New Roman" pitchFamily="18" charset="0"/>
                <a:cs typeface="Times New Roman" pitchFamily="18" charset="0"/>
              </a:rPr>
              <a:t>o</a:t>
            </a:r>
            <a:r>
              <a:rPr lang="ru-RU" sz="2200" dirty="0" err="1">
                <a:latin typeface="Times New Roman" pitchFamily="18" charset="0"/>
                <a:cs typeface="Times New Roman" pitchFamily="18" charset="0"/>
              </a:rPr>
              <a:t>vchi</a:t>
            </a:r>
            <a:r>
              <a:rPr lang="ru-RU" sz="2200" dirty="0">
                <a:latin typeface="Times New Roman" pitchFamily="18" charset="0"/>
                <a:cs typeface="Times New Roman" pitchFamily="18" charset="0"/>
              </a:rPr>
              <a:t> </a:t>
            </a:r>
            <a:r>
              <a:rPr lang="ru-RU" sz="2200" dirty="0" err="1">
                <a:latin typeface="Times New Roman" pitchFamily="18" charset="0"/>
                <a:cs typeface="Times New Roman" pitchFamily="18" charset="0"/>
              </a:rPr>
              <a:t>mij</a:t>
            </a:r>
            <a:r>
              <a:rPr lang="en-US" sz="2200" dirty="0">
                <a:latin typeface="Times New Roman" pitchFamily="18" charset="0"/>
                <a:cs typeface="Times New Roman" pitchFamily="18" charset="0"/>
              </a:rPr>
              <a:t>o</a:t>
            </a:r>
            <a:r>
              <a:rPr lang="ru-RU" sz="2200" dirty="0">
                <a:latin typeface="Times New Roman" pitchFamily="18" charset="0"/>
                <a:cs typeface="Times New Roman" pitchFamily="18" charset="0"/>
              </a:rPr>
              <a:t>z </a:t>
            </a:r>
            <a:r>
              <a:rPr lang="ru-RU" sz="2200" dirty="0" err="1">
                <a:latin typeface="Times New Roman" pitchFamily="18" charset="0"/>
                <a:cs typeface="Times New Roman" pitchFamily="18" charset="0"/>
              </a:rPr>
              <a:t>dasturlarini</a:t>
            </a:r>
            <a:r>
              <a:rPr lang="ru-RU" sz="2200" dirty="0">
                <a:latin typeface="Times New Roman" pitchFamily="18" charset="0"/>
                <a:cs typeface="Times New Roman" pitchFamily="18" charset="0"/>
              </a:rPr>
              <a:t> </a:t>
            </a:r>
            <a:r>
              <a:rPr lang="ru-RU" sz="2200" dirty="0" err="1">
                <a:latin typeface="Times New Roman" pitchFamily="18" charset="0"/>
                <a:cs typeface="Times New Roman" pitchFamily="18" charset="0"/>
              </a:rPr>
              <a:t>ko‘rsatib</a:t>
            </a:r>
            <a:r>
              <a:rPr lang="ru-RU" sz="2200" dirty="0">
                <a:latin typeface="Times New Roman" pitchFamily="18" charset="0"/>
                <a:cs typeface="Times New Roman" pitchFamily="18" charset="0"/>
              </a:rPr>
              <a:t> </a:t>
            </a:r>
            <a:r>
              <a:rPr lang="uz-Cyrl-UZ" sz="2200" dirty="0">
                <a:latin typeface="Times New Roman" pitchFamily="18" charset="0"/>
                <a:cs typeface="Times New Roman" pitchFamily="18" charset="0"/>
              </a:rPr>
              <a:t>o‘tamiz.</a:t>
            </a:r>
            <a:endParaRPr lang="ru-RU" sz="2200" dirty="0">
              <a:latin typeface="Times New Roman" pitchFamily="18" charset="0"/>
              <a:cs typeface="Times New Roman" pitchFamily="18" charset="0"/>
            </a:endParaRPr>
          </a:p>
          <a:p>
            <a:pPr algn="just"/>
            <a:r>
              <a:rPr lang="uz-Cyrl-UZ" sz="2200" dirty="0">
                <a:latin typeface="Times New Roman" pitchFamily="18" charset="0"/>
                <a:cs typeface="Times New Roman" pitchFamily="18" charset="0"/>
              </a:rPr>
              <a:t>Mijoz dasturini initsializatsiya qilganda soket sinfi ob’ekti sifatida soket yaratib, server dasturining IP manzili va ishlatadigan port raqamini ko‘rsatish kerak: </a:t>
            </a:r>
            <a:endParaRPr lang="ru-RU" sz="2200" dirty="0">
              <a:latin typeface="Times New Roman" pitchFamily="18" charset="0"/>
              <a:cs typeface="Times New Roman" pitchFamily="18" charset="0"/>
            </a:endParaRPr>
          </a:p>
          <a:p>
            <a:pPr algn="just"/>
            <a:r>
              <a:rPr lang="uz-Cyrl-UZ" sz="2200" i="1" dirty="0">
                <a:latin typeface="Times New Roman" pitchFamily="18" charset="0"/>
                <a:cs typeface="Times New Roman" pitchFamily="18" charset="0"/>
              </a:rPr>
              <a:t>Socket s;</a:t>
            </a:r>
            <a:endParaRPr lang="ru-RU" sz="2200" dirty="0">
              <a:latin typeface="Times New Roman" pitchFamily="18" charset="0"/>
              <a:cs typeface="Times New Roman" pitchFamily="18" charset="0"/>
            </a:endParaRPr>
          </a:p>
          <a:p>
            <a:pPr algn="just"/>
            <a:r>
              <a:rPr lang="uz-Cyrl-UZ" sz="2200" i="1" dirty="0">
                <a:latin typeface="Times New Roman" pitchFamily="18" charset="0"/>
                <a:cs typeface="Times New Roman" pitchFamily="18" charset="0"/>
              </a:rPr>
              <a:t>s = new Socket("localhost", 8000);</a:t>
            </a:r>
            <a:endParaRPr lang="ru-RU" sz="2200" dirty="0">
              <a:latin typeface="Times New Roman" pitchFamily="18" charset="0"/>
              <a:cs typeface="Times New Roman" pitchFamily="18" charset="0"/>
            </a:endParaRPr>
          </a:p>
          <a:p>
            <a:pPr algn="just"/>
            <a:r>
              <a:rPr lang="uz-Cyrl-UZ" sz="2200" dirty="0">
                <a:latin typeface="Times New Roman" pitchFamily="18" charset="0"/>
                <a:cs typeface="Times New Roman" pitchFamily="18" charset="0"/>
              </a:rPr>
              <a:t>Bu yerda IP manzil sifatiida tarmoq dasturlarini tekshirish uchun mo‘ljallangan local hostning maxsus manzilini, port sifatida server tomonidan ServerSocket sinfidagi ob’ektni yaratganda ishlatigan 8000 raqamini ko‘rsatdik. Endi kirish va chiqish oqimlarini yaratsak bo‘ladi. Mijoz tomonida bu operatsiya server tomonida qanday qilinsa shunday qilinadi:</a:t>
            </a:r>
            <a:endParaRPr lang="ru-RU" sz="2200" dirty="0">
              <a:latin typeface="Times New Roman" pitchFamily="18" charset="0"/>
              <a:cs typeface="Times New Roman" pitchFamily="18" charset="0"/>
            </a:endParaRPr>
          </a:p>
          <a:p>
            <a:pPr algn="just"/>
            <a:r>
              <a:rPr lang="en-US" sz="2200" i="1" dirty="0" err="1">
                <a:latin typeface="Times New Roman" pitchFamily="18" charset="0"/>
                <a:cs typeface="Times New Roman" pitchFamily="18" charset="0"/>
              </a:rPr>
              <a:t>InputStream</a:t>
            </a:r>
            <a:r>
              <a:rPr lang="en-US" sz="2200" i="1" dirty="0">
                <a:latin typeface="Times New Roman" pitchFamily="18" charset="0"/>
                <a:cs typeface="Times New Roman" pitchFamily="18" charset="0"/>
              </a:rPr>
              <a:t> is;</a:t>
            </a:r>
            <a:endParaRPr lang="ru-RU" sz="2200" dirty="0">
              <a:latin typeface="Times New Roman" pitchFamily="18" charset="0"/>
              <a:cs typeface="Times New Roman" pitchFamily="18" charset="0"/>
            </a:endParaRPr>
          </a:p>
          <a:p>
            <a:pPr algn="just"/>
            <a:r>
              <a:rPr lang="en-US" sz="2200" i="1" dirty="0" err="1">
                <a:latin typeface="Times New Roman" pitchFamily="18" charset="0"/>
                <a:cs typeface="Times New Roman" pitchFamily="18" charset="0"/>
              </a:rPr>
              <a:t>OutputStream</a:t>
            </a:r>
            <a:r>
              <a:rPr lang="en-US" sz="2200" i="1" dirty="0">
                <a:latin typeface="Times New Roman" pitchFamily="18" charset="0"/>
                <a:cs typeface="Times New Roman" pitchFamily="18" charset="0"/>
              </a:rPr>
              <a:t> </a:t>
            </a:r>
            <a:r>
              <a:rPr lang="en-US" sz="2200" i="1" dirty="0" err="1">
                <a:latin typeface="Times New Roman" pitchFamily="18" charset="0"/>
                <a:cs typeface="Times New Roman" pitchFamily="18" charset="0"/>
              </a:rPr>
              <a:t>os</a:t>
            </a:r>
            <a:r>
              <a:rPr lang="en-US" sz="2200" i="1" dirty="0">
                <a:latin typeface="Times New Roman" pitchFamily="18" charset="0"/>
                <a:cs typeface="Times New Roman" pitchFamily="18" charset="0"/>
              </a:rPr>
              <a:t>;</a:t>
            </a:r>
            <a:endParaRPr lang="ru-RU" sz="2200" dirty="0">
              <a:latin typeface="Times New Roman" pitchFamily="18" charset="0"/>
              <a:cs typeface="Times New Roman" pitchFamily="18" charset="0"/>
            </a:endParaRPr>
          </a:p>
          <a:p>
            <a:pPr algn="just"/>
            <a:r>
              <a:rPr lang="en-US" sz="2200" i="1" dirty="0">
                <a:latin typeface="Times New Roman" pitchFamily="18" charset="0"/>
                <a:cs typeface="Times New Roman" pitchFamily="18" charset="0"/>
              </a:rPr>
              <a:t>is = </a:t>
            </a:r>
            <a:r>
              <a:rPr lang="en-US" sz="2200" i="1" dirty="0" err="1">
                <a:latin typeface="Times New Roman" pitchFamily="18" charset="0"/>
                <a:cs typeface="Times New Roman" pitchFamily="18" charset="0"/>
              </a:rPr>
              <a:t>s.getInputStream</a:t>
            </a:r>
            <a:r>
              <a:rPr lang="en-US" sz="2200" i="1" dirty="0">
                <a:latin typeface="Times New Roman" pitchFamily="18" charset="0"/>
                <a:cs typeface="Times New Roman" pitchFamily="18" charset="0"/>
              </a:rPr>
              <a:t>();</a:t>
            </a:r>
            <a:endParaRPr lang="ru-RU" sz="2200" dirty="0">
              <a:latin typeface="Times New Roman" pitchFamily="18" charset="0"/>
              <a:cs typeface="Times New Roman" pitchFamily="18" charset="0"/>
            </a:endParaRPr>
          </a:p>
          <a:p>
            <a:pPr algn="just"/>
            <a:r>
              <a:rPr lang="en-US" sz="2200" i="1" dirty="0" err="1">
                <a:latin typeface="Times New Roman" pitchFamily="18" charset="0"/>
                <a:cs typeface="Times New Roman" pitchFamily="18" charset="0"/>
              </a:rPr>
              <a:t>os</a:t>
            </a:r>
            <a:r>
              <a:rPr lang="en-US" sz="2200" i="1" dirty="0">
                <a:latin typeface="Times New Roman" pitchFamily="18" charset="0"/>
                <a:cs typeface="Times New Roman" pitchFamily="18" charset="0"/>
              </a:rPr>
              <a:t> = </a:t>
            </a:r>
            <a:r>
              <a:rPr lang="en-US" sz="2200" i="1" dirty="0" err="1">
                <a:latin typeface="Times New Roman" pitchFamily="18" charset="0"/>
                <a:cs typeface="Times New Roman" pitchFamily="18" charset="0"/>
              </a:rPr>
              <a:t>s.getOutputStream</a:t>
            </a:r>
            <a:r>
              <a:rPr lang="en-US" sz="2200" i="1" dirty="0">
                <a:latin typeface="Times New Roman" pitchFamily="18" charset="0"/>
                <a:cs typeface="Times New Roman" pitchFamily="18" charset="0"/>
              </a:rPr>
              <a:t>();</a:t>
            </a:r>
            <a:endParaRPr lang="ru-RU" sz="2200" dirty="0">
              <a:latin typeface="Times New Roman" pitchFamily="18" charset="0"/>
              <a:cs typeface="Times New Roman" pitchFamily="18" charset="0"/>
            </a:endParaRPr>
          </a:p>
          <a:p>
            <a:pPr algn="just"/>
            <a:r>
              <a:rPr lang="uz-Cyrl-UZ" sz="2200" dirty="0">
                <a:latin typeface="Times New Roman" pitchFamily="18" charset="0"/>
                <a:cs typeface="Times New Roman" pitchFamily="18" charset="0"/>
              </a:rPr>
              <a:t>Boshlang‘ich tekstlari oldingi qismda tushintirilgan bizning mijozda turiserver bilan ishlashi lozim, bunda oldin serverda turini keyin esa mijozda turini ishga tushirish kerak.</a:t>
            </a:r>
            <a:endParaRPr lang="ru-RU" sz="2200" dirty="0">
              <a:latin typeface="Times New Roman" pitchFamily="18" charset="0"/>
              <a:cs typeface="Times New Roman" pitchFamily="18" charset="0"/>
            </a:endParaRPr>
          </a:p>
        </p:txBody>
      </p:sp>
    </p:spTree>
    <p:extLst>
      <p:ext uri="{BB962C8B-B14F-4D97-AF65-F5344CB8AC3E}">
        <p14:creationId xmlns:p14="http://schemas.microsoft.com/office/powerpoint/2010/main" val="61367912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Прямоугольник 3"/>
          <p:cNvSpPr/>
          <p:nvPr/>
        </p:nvSpPr>
        <p:spPr>
          <a:xfrm>
            <a:off x="134282" y="116632"/>
            <a:ext cx="8928992" cy="6524863"/>
          </a:xfrm>
          <a:prstGeom prst="rect">
            <a:avLst/>
          </a:prstGeom>
        </p:spPr>
        <p:txBody>
          <a:bodyPr wrap="square">
            <a:spAutoFit/>
          </a:bodyPr>
          <a:lstStyle/>
          <a:p>
            <a:pPr algn="just"/>
            <a:r>
              <a:rPr lang="en-US" sz="2200" dirty="0" smtClean="0">
                <a:latin typeface="Times New Roman" pitchFamily="18" charset="0"/>
                <a:cs typeface="Times New Roman" pitchFamily="18" charset="0"/>
              </a:rPr>
              <a:t>	</a:t>
            </a:r>
            <a:r>
              <a:rPr lang="uz-Cyrl-UZ" sz="2200" dirty="0" smtClean="0">
                <a:latin typeface="Times New Roman" pitchFamily="18" charset="0"/>
                <a:cs typeface="Times New Roman" pitchFamily="18" charset="0"/>
              </a:rPr>
              <a:t>Bizning </a:t>
            </a:r>
            <a:r>
              <a:rPr lang="uz-Cyrl-UZ" sz="2200" dirty="0">
                <a:latin typeface="Times New Roman" pitchFamily="18" charset="0"/>
                <a:cs typeface="Times New Roman" pitchFamily="18" charset="0"/>
              </a:rPr>
              <a:t>kliyent ishga tushgandan keyin darhol server bilan bog‘lanib, ishlatilgan lokal port raqamini konsolga chiqaradi:</a:t>
            </a:r>
            <a:endParaRPr lang="ru-RU" sz="2200" dirty="0">
              <a:latin typeface="Times New Roman" pitchFamily="18" charset="0"/>
              <a:cs typeface="Times New Roman" pitchFamily="18" charset="0"/>
            </a:endParaRPr>
          </a:p>
          <a:p>
            <a:pPr algn="just"/>
            <a:r>
              <a:rPr lang="en-US" sz="2200" i="1" dirty="0">
                <a:latin typeface="Times New Roman" pitchFamily="18" charset="0"/>
                <a:cs typeface="Times New Roman" pitchFamily="18" charset="0"/>
              </a:rPr>
              <a:t>* Socket Client *</a:t>
            </a:r>
            <a:endParaRPr lang="ru-RU" sz="2200" dirty="0">
              <a:latin typeface="Times New Roman" pitchFamily="18" charset="0"/>
              <a:cs typeface="Times New Roman" pitchFamily="18" charset="0"/>
            </a:endParaRPr>
          </a:p>
          <a:p>
            <a:pPr algn="just"/>
            <a:r>
              <a:rPr lang="en-US" sz="2200" i="1" dirty="0">
                <a:latin typeface="Times New Roman" pitchFamily="18" charset="0"/>
                <a:cs typeface="Times New Roman" pitchFamily="18" charset="0"/>
              </a:rPr>
              <a:t>Local Port: 1180</a:t>
            </a:r>
            <a:endParaRPr lang="ru-RU" sz="2200" dirty="0">
              <a:latin typeface="Times New Roman" pitchFamily="18" charset="0"/>
              <a:cs typeface="Times New Roman" pitchFamily="18" charset="0"/>
            </a:endParaRPr>
          </a:p>
          <a:p>
            <a:pPr algn="just"/>
            <a:r>
              <a:rPr lang="en-US" sz="2200" i="1" dirty="0">
                <a:latin typeface="Times New Roman" pitchFamily="18" charset="0"/>
                <a:cs typeface="Times New Roman" pitchFamily="18" charset="0"/>
              </a:rPr>
              <a:t>Hello from client Application!</a:t>
            </a:r>
            <a:endParaRPr lang="ru-RU" sz="2200" dirty="0">
              <a:latin typeface="Times New Roman" pitchFamily="18" charset="0"/>
              <a:cs typeface="Times New Roman" pitchFamily="18" charset="0"/>
            </a:endParaRPr>
          </a:p>
          <a:p>
            <a:pPr algn="just"/>
            <a:r>
              <a:rPr lang="en-US" sz="2200" i="1" dirty="0">
                <a:latin typeface="Times New Roman" pitchFamily="18" charset="0"/>
                <a:cs typeface="Times New Roman" pitchFamily="18" charset="0"/>
              </a:rPr>
              <a:t>* Hello from client Application! *</a:t>
            </a:r>
            <a:endParaRPr lang="ru-RU" sz="2200" dirty="0">
              <a:latin typeface="Times New Roman" pitchFamily="18" charset="0"/>
              <a:cs typeface="Times New Roman" pitchFamily="18" charset="0"/>
            </a:endParaRPr>
          </a:p>
          <a:p>
            <a:pPr algn="just"/>
            <a:r>
              <a:rPr lang="en-US" sz="2200" i="1" dirty="0">
                <a:latin typeface="Times New Roman" pitchFamily="18" charset="0"/>
                <a:cs typeface="Times New Roman" pitchFamily="18" charset="0"/>
              </a:rPr>
              <a:t>qwerty</a:t>
            </a:r>
            <a:endParaRPr lang="ru-RU" sz="2200" dirty="0">
              <a:latin typeface="Times New Roman" pitchFamily="18" charset="0"/>
              <a:cs typeface="Times New Roman" pitchFamily="18" charset="0"/>
            </a:endParaRPr>
          </a:p>
          <a:p>
            <a:pPr algn="just"/>
            <a:r>
              <a:rPr lang="en-US" sz="2200" i="1" dirty="0">
                <a:latin typeface="Times New Roman" pitchFamily="18" charset="0"/>
                <a:cs typeface="Times New Roman" pitchFamily="18" charset="0"/>
              </a:rPr>
              <a:t>* qwerty *</a:t>
            </a:r>
            <a:endParaRPr lang="ru-RU" sz="2200" dirty="0">
              <a:latin typeface="Times New Roman" pitchFamily="18" charset="0"/>
              <a:cs typeface="Times New Roman" pitchFamily="18" charset="0"/>
            </a:endParaRPr>
          </a:p>
          <a:p>
            <a:pPr algn="just"/>
            <a:r>
              <a:rPr lang="en-US" sz="2200" i="1" dirty="0">
                <a:latin typeface="Times New Roman" pitchFamily="18" charset="0"/>
                <a:cs typeface="Times New Roman" pitchFamily="18" charset="0"/>
              </a:rPr>
              <a:t>quit</a:t>
            </a:r>
            <a:endParaRPr lang="ru-RU" sz="2200" dirty="0">
              <a:latin typeface="Times New Roman" pitchFamily="18" charset="0"/>
              <a:cs typeface="Times New Roman" pitchFamily="18" charset="0"/>
            </a:endParaRPr>
          </a:p>
          <a:p>
            <a:pPr algn="just"/>
            <a:r>
              <a:rPr lang="en-US" sz="2200" dirty="0" smtClean="0">
                <a:latin typeface="Times New Roman" pitchFamily="18" charset="0"/>
                <a:cs typeface="Times New Roman" pitchFamily="18" charset="0"/>
              </a:rPr>
              <a:t>	</a:t>
            </a:r>
            <a:r>
              <a:rPr lang="en-US" sz="2200" dirty="0" err="1" smtClean="0">
                <a:latin typeface="Times New Roman" pitchFamily="18" charset="0"/>
                <a:cs typeface="Times New Roman" pitchFamily="18" charset="0"/>
              </a:rPr>
              <a:t>So‘ng</a:t>
            </a:r>
            <a:r>
              <a:rPr lang="en-US" sz="2200" dirty="0" smtClean="0">
                <a:latin typeface="Times New Roman" pitchFamily="18" charset="0"/>
                <a:cs typeface="Times New Roman" pitchFamily="18" charset="0"/>
              </a:rPr>
              <a:t> </a:t>
            </a:r>
            <a:r>
              <a:rPr lang="en-US" sz="2200" dirty="0" err="1">
                <a:latin typeface="Times New Roman" pitchFamily="18" charset="0"/>
                <a:cs typeface="Times New Roman" pitchFamily="18" charset="0"/>
              </a:rPr>
              <a:t>siz</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serverga</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jo‘natil</a:t>
            </a:r>
            <a:r>
              <a:rPr lang="uz-Cyrl-UZ" sz="2200" dirty="0">
                <a:latin typeface="Times New Roman" pitchFamily="18" charset="0"/>
                <a:cs typeface="Times New Roman" pitchFamily="18" charset="0"/>
              </a:rPr>
              <a:t>a</a:t>
            </a:r>
            <a:r>
              <a:rPr lang="en-US" sz="2200" dirty="0" err="1">
                <a:latin typeface="Times New Roman" pitchFamily="18" charset="0"/>
                <a:cs typeface="Times New Roman" pitchFamily="18" charset="0"/>
              </a:rPr>
              <a:t>digan</a:t>
            </a:r>
            <a:r>
              <a:rPr lang="en-US" sz="2200" dirty="0">
                <a:latin typeface="Times New Roman" pitchFamily="18" charset="0"/>
                <a:cs typeface="Times New Roman" pitchFamily="18" charset="0"/>
              </a:rPr>
              <a:t> ho</a:t>
            </a:r>
            <a:r>
              <a:rPr lang="uz-Cyrl-UZ" sz="2200" dirty="0">
                <a:latin typeface="Times New Roman" pitchFamily="18" charset="0"/>
                <a:cs typeface="Times New Roman" pitchFamily="18" charset="0"/>
              </a:rPr>
              <a:t>x</a:t>
            </a:r>
            <a:r>
              <a:rPr lang="en-US" sz="2200" dirty="0">
                <a:latin typeface="Times New Roman" pitchFamily="18" charset="0"/>
                <a:cs typeface="Times New Roman" pitchFamily="18" charset="0"/>
              </a:rPr>
              <a:t>lagan </a:t>
            </a:r>
            <a:r>
              <a:rPr lang="en-US" sz="2200" dirty="0" err="1">
                <a:latin typeface="Times New Roman" pitchFamily="18" charset="0"/>
                <a:cs typeface="Times New Roman" pitchFamily="18" charset="0"/>
              </a:rPr>
              <a:t>qatorlarini</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kiritishingiz</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mumkin</a:t>
            </a:r>
            <a:r>
              <a:rPr lang="en-US" sz="2200" dirty="0">
                <a:latin typeface="Times New Roman" pitchFamily="18" charset="0"/>
                <a:cs typeface="Times New Roman" pitchFamily="18" charset="0"/>
              </a:rPr>
              <a:t>. Server </a:t>
            </a:r>
            <a:r>
              <a:rPr lang="en-US" sz="2200" dirty="0" err="1">
                <a:latin typeface="Times New Roman" pitchFamily="18" charset="0"/>
                <a:cs typeface="Times New Roman" pitchFamily="18" charset="0"/>
              </a:rPr>
              <a:t>ularga</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yulduzchani</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qo‘shib</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mijozga</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qaytaradi</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mijoz</a:t>
            </a:r>
            <a:r>
              <a:rPr lang="en-US" sz="2200" dirty="0">
                <a:latin typeface="Times New Roman" pitchFamily="18" charset="0"/>
                <a:cs typeface="Times New Roman" pitchFamily="18" charset="0"/>
              </a:rPr>
              <a:t> </a:t>
            </a:r>
            <a:r>
              <a:rPr lang="uz-Cyrl-UZ" sz="2200" dirty="0">
                <a:latin typeface="Times New Roman" pitchFamily="18" charset="0"/>
                <a:cs typeface="Times New Roman" pitchFamily="18" charset="0"/>
              </a:rPr>
              <a:t>e</a:t>
            </a:r>
            <a:r>
              <a:rPr lang="en-US" sz="2200" dirty="0" err="1">
                <a:latin typeface="Times New Roman" pitchFamily="18" charset="0"/>
                <a:cs typeface="Times New Roman" pitchFamily="18" charset="0"/>
              </a:rPr>
              <a:t>sa</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qabul</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qilingan</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ma’lumotlarni</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konsolda</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ko‘rstadi</a:t>
            </a:r>
            <a:r>
              <a:rPr lang="en-US" sz="2200" dirty="0">
                <a:latin typeface="Times New Roman" pitchFamily="18" charset="0"/>
                <a:cs typeface="Times New Roman" pitchFamily="18" charset="0"/>
              </a:rPr>
              <a:t>.</a:t>
            </a:r>
            <a:endParaRPr lang="ru-RU" sz="2200" dirty="0">
              <a:latin typeface="Times New Roman" pitchFamily="18" charset="0"/>
              <a:cs typeface="Times New Roman" pitchFamily="18" charset="0"/>
            </a:endParaRPr>
          </a:p>
          <a:p>
            <a:pPr algn="just"/>
            <a:r>
              <a:rPr lang="en-US" sz="2200" dirty="0" smtClean="0">
                <a:latin typeface="Times New Roman" pitchFamily="18" charset="0"/>
                <a:cs typeface="Times New Roman" pitchFamily="18" charset="0"/>
              </a:rPr>
              <a:t>	</a:t>
            </a:r>
            <a:r>
              <a:rPr lang="en-US" sz="2200" dirty="0" err="1" smtClean="0">
                <a:latin typeface="Times New Roman" pitchFamily="18" charset="0"/>
                <a:cs typeface="Times New Roman" pitchFamily="18" charset="0"/>
              </a:rPr>
              <a:t>Agarda</a:t>
            </a:r>
            <a:r>
              <a:rPr lang="en-US" sz="2200" dirty="0" smtClean="0">
                <a:latin typeface="Times New Roman" pitchFamily="18" charset="0"/>
                <a:cs typeface="Times New Roman" pitchFamily="18" charset="0"/>
              </a:rPr>
              <a:t> </a:t>
            </a:r>
            <a:r>
              <a:rPr lang="en-US" sz="2200" dirty="0">
                <a:latin typeface="Times New Roman" pitchFamily="18" charset="0"/>
                <a:cs typeface="Times New Roman" pitchFamily="18" charset="0"/>
              </a:rPr>
              <a:t>“quit” </a:t>
            </a:r>
            <a:r>
              <a:rPr lang="en-US" sz="2200" dirty="0" err="1">
                <a:latin typeface="Times New Roman" pitchFamily="18" charset="0"/>
                <a:cs typeface="Times New Roman" pitchFamily="18" charset="0"/>
              </a:rPr>
              <a:t>qatorini</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kiritsak</a:t>
            </a:r>
            <a:r>
              <a:rPr lang="uz-Cyrl-UZ" sz="2200" dirty="0">
                <a:latin typeface="Times New Roman" pitchFamily="18" charset="0"/>
                <a:cs typeface="Times New Roman" pitchFamily="18" charset="0"/>
              </a:rPr>
              <a:t>, </a:t>
            </a:r>
            <a:r>
              <a:rPr lang="en-US" sz="2200" dirty="0">
                <a:latin typeface="Times New Roman" pitchFamily="18" charset="0"/>
                <a:cs typeface="Times New Roman" pitchFamily="18" charset="0"/>
              </a:rPr>
              <a:t>server ham </a:t>
            </a:r>
            <a:r>
              <a:rPr lang="en-US" sz="2200" dirty="0" err="1">
                <a:latin typeface="Times New Roman" pitchFamily="18" charset="0"/>
                <a:cs typeface="Times New Roman" pitchFamily="18" charset="0"/>
              </a:rPr>
              <a:t>mijoz</a:t>
            </a:r>
            <a:r>
              <a:rPr lang="en-US" sz="2200" dirty="0">
                <a:latin typeface="Times New Roman" pitchFamily="18" charset="0"/>
                <a:cs typeface="Times New Roman" pitchFamily="18" charset="0"/>
              </a:rPr>
              <a:t> ham </a:t>
            </a:r>
            <a:r>
              <a:rPr lang="en-US" sz="2200" dirty="0" err="1">
                <a:latin typeface="Times New Roman" pitchFamily="18" charset="0"/>
                <a:cs typeface="Times New Roman" pitchFamily="18" charset="0"/>
              </a:rPr>
              <a:t>ishini</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tugatadi</a:t>
            </a:r>
            <a:r>
              <a:rPr lang="en-US" sz="2200" dirty="0">
                <a:latin typeface="Times New Roman" pitchFamily="18" charset="0"/>
                <a:cs typeface="Times New Roman" pitchFamily="18" charset="0"/>
              </a:rPr>
              <a:t>.</a:t>
            </a:r>
            <a:endParaRPr lang="ru-RU" sz="2200" dirty="0">
              <a:latin typeface="Times New Roman" pitchFamily="18" charset="0"/>
              <a:cs typeface="Times New Roman" pitchFamily="18" charset="0"/>
            </a:endParaRPr>
          </a:p>
          <a:p>
            <a:pPr algn="just"/>
            <a:r>
              <a:rPr lang="en-US" sz="2200" dirty="0" err="1">
                <a:latin typeface="Times New Roman" pitchFamily="18" charset="0"/>
                <a:cs typeface="Times New Roman" pitchFamily="18" charset="0"/>
              </a:rPr>
              <a:t>Agarda</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siz</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mijoz</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dasturini</a:t>
            </a:r>
            <a:r>
              <a:rPr lang="en-US" sz="2200" dirty="0">
                <a:latin typeface="Times New Roman" pitchFamily="18" charset="0"/>
                <a:cs typeface="Times New Roman" pitchFamily="18" charset="0"/>
              </a:rPr>
              <a:t> server </a:t>
            </a:r>
            <a:r>
              <a:rPr lang="en-US" sz="2200" dirty="0" err="1">
                <a:latin typeface="Times New Roman" pitchFamily="18" charset="0"/>
                <a:cs typeface="Times New Roman" pitchFamily="18" charset="0"/>
              </a:rPr>
              <a:t>dasturidan</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oldin</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ishga</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tushirsangi</a:t>
            </a:r>
            <a:r>
              <a:rPr lang="uz-Cyrl-UZ" sz="2200" dirty="0">
                <a:latin typeface="Times New Roman" pitchFamily="18" charset="0"/>
                <a:cs typeface="Times New Roman" pitchFamily="18" charset="0"/>
              </a:rPr>
              <a:t>z</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unda</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mijoz</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dasturi</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ConnectException</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mustasno</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bilan</a:t>
            </a:r>
            <a:r>
              <a:rPr lang="en-US" sz="2200" dirty="0">
                <a:latin typeface="Times New Roman" pitchFamily="18" charset="0"/>
                <a:cs typeface="Times New Roman" pitchFamily="18" charset="0"/>
              </a:rPr>
              <a:t> tug</a:t>
            </a:r>
            <a:r>
              <a:rPr lang="uz-Cyrl-UZ" sz="2200" dirty="0">
                <a:latin typeface="Times New Roman" pitchFamily="18" charset="0"/>
                <a:cs typeface="Times New Roman" pitchFamily="18" charset="0"/>
              </a:rPr>
              <a:t>a</a:t>
            </a:r>
            <a:r>
              <a:rPr lang="en-US" sz="2200" dirty="0" err="1">
                <a:latin typeface="Times New Roman" pitchFamily="18" charset="0"/>
                <a:cs typeface="Times New Roman" pitchFamily="18" charset="0"/>
              </a:rPr>
              <a:t>ydi</a:t>
            </a:r>
            <a:r>
              <a:rPr lang="en-US" sz="2200" dirty="0">
                <a:latin typeface="Times New Roman" pitchFamily="18" charset="0"/>
                <a:cs typeface="Times New Roman" pitchFamily="18" charset="0"/>
              </a:rPr>
              <a:t>:</a:t>
            </a:r>
            <a:endParaRPr lang="ru-RU" sz="2200" dirty="0">
              <a:latin typeface="Times New Roman" pitchFamily="18" charset="0"/>
              <a:cs typeface="Times New Roman" pitchFamily="18" charset="0"/>
            </a:endParaRPr>
          </a:p>
          <a:p>
            <a:pPr algn="just"/>
            <a:r>
              <a:rPr lang="en-US" sz="2200" i="1" dirty="0">
                <a:latin typeface="Times New Roman" pitchFamily="18" charset="0"/>
                <a:cs typeface="Times New Roman" pitchFamily="18" charset="0"/>
              </a:rPr>
              <a:t>* Socket Client *</a:t>
            </a:r>
            <a:endParaRPr lang="ru-RU" sz="2200" dirty="0">
              <a:latin typeface="Times New Roman" pitchFamily="18" charset="0"/>
              <a:cs typeface="Times New Roman" pitchFamily="18" charset="0"/>
            </a:endParaRPr>
          </a:p>
          <a:p>
            <a:pPr algn="just"/>
            <a:r>
              <a:rPr lang="en-US" sz="2200" i="1" dirty="0" err="1">
                <a:latin typeface="Times New Roman" pitchFamily="18" charset="0"/>
                <a:cs typeface="Times New Roman" pitchFamily="18" charset="0"/>
              </a:rPr>
              <a:t>java.net.ConnectException</a:t>
            </a:r>
            <a:r>
              <a:rPr lang="en-US" sz="2200" i="1" dirty="0">
                <a:latin typeface="Times New Roman" pitchFamily="18" charset="0"/>
                <a:cs typeface="Times New Roman" pitchFamily="18" charset="0"/>
              </a:rPr>
              <a:t>: Connection refused</a:t>
            </a:r>
            <a:endParaRPr lang="ru-RU" sz="2200" dirty="0">
              <a:latin typeface="Times New Roman" pitchFamily="18" charset="0"/>
              <a:cs typeface="Times New Roman" pitchFamily="18" charset="0"/>
            </a:endParaRPr>
          </a:p>
          <a:p>
            <a:pPr algn="just"/>
            <a:r>
              <a:rPr lang="uz-Latn-UZ" sz="2200" dirty="0">
                <a:latin typeface="Times New Roman" pitchFamily="18" charset="0"/>
                <a:cs typeface="Times New Roman" pitchFamily="18" charset="0"/>
              </a:rPr>
              <a:t>E</a:t>
            </a:r>
            <a:r>
              <a:rPr lang="en-US" sz="2200" dirty="0" err="1">
                <a:latin typeface="Times New Roman" pitchFamily="18" charset="0"/>
                <a:cs typeface="Times New Roman" pitchFamily="18" charset="0"/>
              </a:rPr>
              <a:t>ndi</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mijoz</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dasturining</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boshlang‘ich</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matnlari</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haqida</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Bizni</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faqatgina</a:t>
            </a:r>
            <a:r>
              <a:rPr lang="en-US" sz="2200" dirty="0">
                <a:latin typeface="Times New Roman" pitchFamily="18" charset="0"/>
                <a:cs typeface="Times New Roman" pitchFamily="18" charset="0"/>
              </a:rPr>
              <a:t> </a:t>
            </a:r>
            <a:r>
              <a:rPr lang="en-US" sz="2200" i="1" dirty="0">
                <a:latin typeface="Times New Roman" pitchFamily="18" charset="0"/>
                <a:cs typeface="Times New Roman" pitchFamily="18" charset="0"/>
              </a:rPr>
              <a:t>main</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usuli</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qiziqtiradi</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chunki</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foydali</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ishning</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hammasini</a:t>
            </a:r>
            <a:r>
              <a:rPr lang="en-US" sz="2200" dirty="0">
                <a:latin typeface="Times New Roman" pitchFamily="18" charset="0"/>
                <a:cs typeface="Times New Roman" pitchFamily="18" charset="0"/>
              </a:rPr>
              <a:t> u </a:t>
            </a:r>
            <a:r>
              <a:rPr lang="en-US" sz="2200" dirty="0" err="1">
                <a:latin typeface="Times New Roman" pitchFamily="18" charset="0"/>
                <a:cs typeface="Times New Roman" pitchFamily="18" charset="0"/>
              </a:rPr>
              <a:t>bajaradi</a:t>
            </a:r>
            <a:r>
              <a:rPr lang="en-US" sz="2200" dirty="0">
                <a:latin typeface="Times New Roman" pitchFamily="18" charset="0"/>
                <a:cs typeface="Times New Roman" pitchFamily="18" charset="0"/>
              </a:rPr>
              <a:t>.</a:t>
            </a:r>
            <a:endParaRPr lang="ru-RU" sz="2200" dirty="0">
              <a:latin typeface="Times New Roman" pitchFamily="18" charset="0"/>
              <a:cs typeface="Times New Roman" pitchFamily="18" charset="0"/>
            </a:endParaRPr>
          </a:p>
        </p:txBody>
      </p:sp>
    </p:spTree>
    <p:extLst>
      <p:ext uri="{BB962C8B-B14F-4D97-AF65-F5344CB8AC3E}">
        <p14:creationId xmlns:p14="http://schemas.microsoft.com/office/powerpoint/2010/main" val="359739410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Прямоугольник 3"/>
          <p:cNvSpPr/>
          <p:nvPr/>
        </p:nvSpPr>
        <p:spPr>
          <a:xfrm>
            <a:off x="107504" y="28854"/>
            <a:ext cx="8928992" cy="6555641"/>
          </a:xfrm>
          <a:prstGeom prst="rect">
            <a:avLst/>
          </a:prstGeom>
        </p:spPr>
        <p:txBody>
          <a:bodyPr wrap="square">
            <a:spAutoFit/>
          </a:bodyPr>
          <a:lstStyle/>
          <a:p>
            <a:pPr algn="just"/>
            <a:r>
              <a:rPr lang="en-US" sz="2000" dirty="0" smtClean="0">
                <a:latin typeface="Times New Roman" pitchFamily="18" charset="0"/>
                <a:cs typeface="Times New Roman" pitchFamily="18" charset="0"/>
              </a:rPr>
              <a:t>	</a:t>
            </a:r>
            <a:r>
              <a:rPr lang="uz-Cyrl-UZ" sz="2000" dirty="0" smtClean="0">
                <a:latin typeface="Times New Roman" pitchFamily="18" charset="0"/>
                <a:cs typeface="Times New Roman" pitchFamily="18" charset="0"/>
              </a:rPr>
              <a:t>Darhol </a:t>
            </a:r>
            <a:r>
              <a:rPr lang="uz-Cyrl-UZ" sz="2000" dirty="0">
                <a:latin typeface="Times New Roman" pitchFamily="18" charset="0"/>
                <a:cs typeface="Times New Roman" pitchFamily="18" charset="0"/>
              </a:rPr>
              <a:t>mijozda turishga tushgandan keyin </a:t>
            </a:r>
            <a:r>
              <a:rPr lang="uz-Cyrl-UZ" sz="2000" i="1" dirty="0">
                <a:latin typeface="Times New Roman" pitchFamily="18" charset="0"/>
                <a:cs typeface="Times New Roman" pitchFamily="18" charset="0"/>
              </a:rPr>
              <a:t>main</a:t>
            </a:r>
            <a:r>
              <a:rPr lang="uz-Cyrl-UZ" sz="2000" dirty="0">
                <a:latin typeface="Times New Roman" pitchFamily="18" charset="0"/>
                <a:cs typeface="Times New Roman" pitchFamily="18" charset="0"/>
              </a:rPr>
              <a:t> usuli “localhost” IP manzili uchun (bu 127.0.0.1 manzili) 9999 raqami bilan soket yaratishga harakat qiladi.</a:t>
            </a:r>
            <a:endParaRPr lang="ru-RU" sz="2000" dirty="0">
              <a:latin typeface="Times New Roman" pitchFamily="18" charset="0"/>
              <a:cs typeface="Times New Roman" pitchFamily="18" charset="0"/>
            </a:endParaRPr>
          </a:p>
          <a:p>
            <a:pPr algn="just"/>
            <a:r>
              <a:rPr lang="en-US" sz="2000" i="1" dirty="0">
                <a:latin typeface="Times New Roman" pitchFamily="18" charset="0"/>
                <a:cs typeface="Times New Roman" pitchFamily="18" charset="0"/>
              </a:rPr>
              <a:t>* Socket Client *</a:t>
            </a:r>
            <a:endParaRPr lang="ru-RU" sz="2000" dirty="0">
              <a:latin typeface="Times New Roman" pitchFamily="18" charset="0"/>
              <a:cs typeface="Times New Roman" pitchFamily="18" charset="0"/>
            </a:endParaRPr>
          </a:p>
          <a:p>
            <a:pPr algn="just"/>
            <a:r>
              <a:rPr lang="en-US" sz="2000" i="1" dirty="0">
                <a:latin typeface="Times New Roman" pitchFamily="18" charset="0"/>
                <a:cs typeface="Times New Roman" pitchFamily="18" charset="0"/>
              </a:rPr>
              <a:t>Local Port: 1180</a:t>
            </a:r>
            <a:endParaRPr lang="ru-RU" sz="2000" dirty="0">
              <a:latin typeface="Times New Roman" pitchFamily="18" charset="0"/>
              <a:cs typeface="Times New Roman" pitchFamily="18" charset="0"/>
            </a:endParaRPr>
          </a:p>
          <a:p>
            <a:pPr algn="just"/>
            <a:r>
              <a:rPr lang="en-US" sz="2000" i="1" dirty="0">
                <a:latin typeface="Times New Roman" pitchFamily="18" charset="0"/>
                <a:cs typeface="Times New Roman" pitchFamily="18" charset="0"/>
              </a:rPr>
              <a:t>Hello from client Application!</a:t>
            </a:r>
            <a:endParaRPr lang="ru-RU" sz="2000" dirty="0">
              <a:latin typeface="Times New Roman" pitchFamily="18" charset="0"/>
              <a:cs typeface="Times New Roman" pitchFamily="18" charset="0"/>
            </a:endParaRPr>
          </a:p>
          <a:p>
            <a:pPr algn="just"/>
            <a:r>
              <a:rPr lang="en-US" sz="2000" i="1" dirty="0">
                <a:latin typeface="Times New Roman" pitchFamily="18" charset="0"/>
                <a:cs typeface="Times New Roman" pitchFamily="18" charset="0"/>
              </a:rPr>
              <a:t>* Hello from client Application! *</a:t>
            </a:r>
            <a:endParaRPr lang="ru-RU" sz="2000" dirty="0">
              <a:latin typeface="Times New Roman" pitchFamily="18" charset="0"/>
              <a:cs typeface="Times New Roman" pitchFamily="18" charset="0"/>
            </a:endParaRPr>
          </a:p>
          <a:p>
            <a:pPr algn="just"/>
            <a:r>
              <a:rPr lang="en-US" sz="2000" i="1" dirty="0">
                <a:latin typeface="Times New Roman" pitchFamily="18" charset="0"/>
                <a:cs typeface="Times New Roman" pitchFamily="18" charset="0"/>
              </a:rPr>
              <a:t>qwerty</a:t>
            </a:r>
            <a:endParaRPr lang="ru-RU" sz="2000" dirty="0">
              <a:latin typeface="Times New Roman" pitchFamily="18" charset="0"/>
              <a:cs typeface="Times New Roman" pitchFamily="18" charset="0"/>
            </a:endParaRPr>
          </a:p>
          <a:p>
            <a:pPr algn="just"/>
            <a:r>
              <a:rPr lang="en-US" sz="2000" i="1" dirty="0">
                <a:latin typeface="Times New Roman" pitchFamily="18" charset="0"/>
                <a:cs typeface="Times New Roman" pitchFamily="18" charset="0"/>
              </a:rPr>
              <a:t>* qwerty *</a:t>
            </a:r>
            <a:endParaRPr lang="ru-RU" sz="2000" dirty="0">
              <a:latin typeface="Times New Roman" pitchFamily="18" charset="0"/>
              <a:cs typeface="Times New Roman" pitchFamily="18" charset="0"/>
            </a:endParaRPr>
          </a:p>
          <a:p>
            <a:pPr algn="just"/>
            <a:r>
              <a:rPr lang="en-US" sz="2000" i="1" dirty="0">
                <a:latin typeface="Times New Roman" pitchFamily="18" charset="0"/>
                <a:cs typeface="Times New Roman" pitchFamily="18" charset="0"/>
              </a:rPr>
              <a:t>Quit</a:t>
            </a:r>
            <a:endParaRPr lang="ru-RU" sz="2000" dirty="0">
              <a:latin typeface="Times New Roman" pitchFamily="18" charset="0"/>
              <a:cs typeface="Times New Roman" pitchFamily="18" charset="0"/>
            </a:endParaRPr>
          </a:p>
          <a:p>
            <a:pPr algn="just"/>
            <a:r>
              <a:rPr lang="en-US" sz="2000" dirty="0" smtClean="0">
                <a:latin typeface="Times New Roman" pitchFamily="18" charset="0"/>
                <a:cs typeface="Times New Roman" pitchFamily="18" charset="0"/>
              </a:rPr>
              <a:t>	</a:t>
            </a:r>
            <a:r>
              <a:rPr lang="en-US" sz="2000" dirty="0" err="1" smtClean="0">
                <a:latin typeface="Times New Roman" pitchFamily="18" charset="0"/>
                <a:cs typeface="Times New Roman" pitchFamily="18" charset="0"/>
              </a:rPr>
              <a:t>Bizning</a:t>
            </a:r>
            <a:r>
              <a:rPr lang="en-US" sz="2000" dirty="0" smtClean="0">
                <a:latin typeface="Times New Roman" pitchFamily="18" charset="0"/>
                <a:cs typeface="Times New Roman" pitchFamily="18" charset="0"/>
              </a:rPr>
              <a:t> </a:t>
            </a:r>
            <a:r>
              <a:rPr lang="en-US" sz="2000" dirty="0" err="1">
                <a:latin typeface="Times New Roman" pitchFamily="18" charset="0"/>
                <a:cs typeface="Times New Roman" pitchFamily="18" charset="0"/>
              </a:rPr>
              <a:t>ko‘rsatgan</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dasturimiz</a:t>
            </a:r>
            <a:r>
              <a:rPr lang="en-US" sz="2000" dirty="0">
                <a:latin typeface="Times New Roman" pitchFamily="18" charset="0"/>
                <a:cs typeface="Times New Roman" pitchFamily="18" charset="0"/>
              </a:rPr>
              <a:t> server </a:t>
            </a:r>
            <a:r>
              <a:rPr lang="en-US" sz="2000" dirty="0" err="1">
                <a:latin typeface="Times New Roman" pitchFamily="18" charset="0"/>
                <a:cs typeface="Times New Roman" pitchFamily="18" charset="0"/>
              </a:rPr>
              <a:t>bilan</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bitta</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kompyuterda</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ishlamoqda</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Shuning</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uchun</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maxsus</a:t>
            </a:r>
            <a:r>
              <a:rPr lang="en-US" sz="2000" dirty="0">
                <a:latin typeface="Times New Roman" pitchFamily="18" charset="0"/>
                <a:cs typeface="Times New Roman" pitchFamily="18" charset="0"/>
              </a:rPr>
              <a:t> 127.0.0.1 </a:t>
            </a:r>
            <a:r>
              <a:rPr lang="en-US" sz="2000" dirty="0" err="1">
                <a:latin typeface="Times New Roman" pitchFamily="18" charset="0"/>
                <a:cs typeface="Times New Roman" pitchFamily="18" charset="0"/>
              </a:rPr>
              <a:t>nomerli</a:t>
            </a:r>
            <a:r>
              <a:rPr lang="en-US" sz="2000" dirty="0">
                <a:latin typeface="Times New Roman" pitchFamily="18" charset="0"/>
                <a:cs typeface="Times New Roman" pitchFamily="18" charset="0"/>
              </a:rPr>
              <a:t> IP </a:t>
            </a:r>
            <a:r>
              <a:rPr lang="en-US" sz="2000" dirty="0" err="1">
                <a:latin typeface="Times New Roman" pitchFamily="18" charset="0"/>
                <a:cs typeface="Times New Roman" pitchFamily="18" charset="0"/>
              </a:rPr>
              <a:t>manzilni</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qo‘llay</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oldik</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Lekin</a:t>
            </a:r>
            <a:r>
              <a:rPr lang="en-US" sz="2000" dirty="0">
                <a:latin typeface="Times New Roman" pitchFamily="18" charset="0"/>
                <a:cs typeface="Times New Roman" pitchFamily="18" charset="0"/>
              </a:rPr>
              <a:t> server </a:t>
            </a:r>
            <a:r>
              <a:rPr lang="en-US" sz="2000" dirty="0" err="1">
                <a:latin typeface="Times New Roman" pitchFamily="18" charset="0"/>
                <a:cs typeface="Times New Roman" pitchFamily="18" charset="0"/>
              </a:rPr>
              <a:t>va</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mijoz</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har</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xil</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kompmyuterlarda</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ishlaganda</a:t>
            </a:r>
            <a:r>
              <a:rPr lang="en-US" sz="2000" dirty="0">
                <a:latin typeface="Times New Roman" pitchFamily="18" charset="0"/>
                <a:cs typeface="Times New Roman" pitchFamily="18" charset="0"/>
              </a:rPr>
              <a:t>, So</a:t>
            </a:r>
            <a:r>
              <a:rPr lang="uz-Cyrl-UZ" sz="2000" dirty="0">
                <a:latin typeface="Times New Roman" pitchFamily="18" charset="0"/>
                <a:cs typeface="Times New Roman" pitchFamily="18" charset="0"/>
              </a:rPr>
              <a:t>k</a:t>
            </a:r>
            <a:r>
              <a:rPr lang="en-US" sz="2000" dirty="0">
                <a:latin typeface="Times New Roman" pitchFamily="18" charset="0"/>
                <a:cs typeface="Times New Roman" pitchFamily="18" charset="0"/>
              </a:rPr>
              <a:t>et </a:t>
            </a:r>
            <a:r>
              <a:rPr lang="en-US" sz="2000" dirty="0" err="1">
                <a:latin typeface="Times New Roman" pitchFamily="18" charset="0"/>
                <a:cs typeface="Times New Roman" pitchFamily="18" charset="0"/>
              </a:rPr>
              <a:t>sinfining</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birinchi</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konstruktori</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sifatida</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siz</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InetAddress</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sinfining</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ob</a:t>
            </a:r>
            <a:r>
              <a:rPr lang="uz-Cyrl-UZ" sz="2000" dirty="0">
                <a:latin typeface="Times New Roman" pitchFamily="18" charset="0"/>
                <a:cs typeface="Times New Roman" pitchFamily="18" charset="0"/>
              </a:rPr>
              <a:t>’</a:t>
            </a:r>
            <a:r>
              <a:rPr lang="en-US" sz="2000" dirty="0" err="1">
                <a:latin typeface="Times New Roman" pitchFamily="18" charset="0"/>
                <a:cs typeface="Times New Roman" pitchFamily="18" charset="0"/>
              </a:rPr>
              <a:t>ektiga</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ss</a:t>
            </a:r>
            <a:r>
              <a:rPr lang="ru-RU" sz="2000" dirty="0">
                <a:latin typeface="Times New Roman" pitchFamily="18" charset="0"/>
                <a:cs typeface="Times New Roman" pitchFamily="18" charset="0"/>
              </a:rPr>
              <a:t>ы</a:t>
            </a:r>
            <a:r>
              <a:rPr lang="en-US" sz="2000" dirty="0" err="1">
                <a:latin typeface="Times New Roman" pitchFamily="18" charset="0"/>
                <a:cs typeface="Times New Roman" pitchFamily="18" charset="0"/>
              </a:rPr>
              <a:t>ka</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berib</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yuborishingiz</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kerak</a:t>
            </a:r>
            <a:r>
              <a:rPr lang="en-US" sz="2000" dirty="0">
                <a:latin typeface="Times New Roman" pitchFamily="18" charset="0"/>
                <a:cs typeface="Times New Roman" pitchFamily="18" charset="0"/>
              </a:rPr>
              <a:t>. Bu </a:t>
            </a:r>
            <a:r>
              <a:rPr lang="en-US" sz="2000" dirty="0" err="1">
                <a:latin typeface="Times New Roman" pitchFamily="18" charset="0"/>
                <a:cs typeface="Times New Roman" pitchFamily="18" charset="0"/>
              </a:rPr>
              <a:t>ob’ekt</a:t>
            </a:r>
            <a:r>
              <a:rPr lang="en-US" sz="2000" dirty="0">
                <a:latin typeface="Times New Roman" pitchFamily="18" charset="0"/>
                <a:cs typeface="Times New Roman" pitchFamily="18" charset="0"/>
              </a:rPr>
              <a:t> server </a:t>
            </a:r>
            <a:r>
              <a:rPr lang="en-US" sz="2000" dirty="0" err="1">
                <a:latin typeface="Times New Roman" pitchFamily="18" charset="0"/>
                <a:cs typeface="Times New Roman" pitchFamily="18" charset="0"/>
              </a:rPr>
              <a:t>ishlayotgan</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haqiqiy</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kompyuterning</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manziliga</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ega</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bo‘lishi</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kerak</a:t>
            </a:r>
            <a:r>
              <a:rPr lang="en-US" sz="2000" dirty="0">
                <a:latin typeface="Times New Roman" pitchFamily="18" charset="0"/>
                <a:cs typeface="Times New Roman" pitchFamily="18" charset="0"/>
              </a:rPr>
              <a:t>. </a:t>
            </a:r>
            <a:endParaRPr lang="ru-RU" sz="2000" dirty="0">
              <a:latin typeface="Times New Roman" pitchFamily="18" charset="0"/>
              <a:cs typeface="Times New Roman" pitchFamily="18" charset="0"/>
            </a:endParaRPr>
          </a:p>
          <a:p>
            <a:pPr algn="just"/>
            <a:r>
              <a:rPr lang="en-US" sz="2000" dirty="0" smtClean="0">
                <a:latin typeface="Times New Roman" pitchFamily="18" charset="0"/>
                <a:cs typeface="Times New Roman" pitchFamily="18" charset="0"/>
              </a:rPr>
              <a:t>	</a:t>
            </a:r>
            <a:r>
              <a:rPr lang="en-US" sz="2000" dirty="0" err="1" smtClean="0">
                <a:latin typeface="Times New Roman" pitchFamily="18" charset="0"/>
                <a:cs typeface="Times New Roman" pitchFamily="18" charset="0"/>
              </a:rPr>
              <a:t>Domen</a:t>
            </a:r>
            <a:r>
              <a:rPr lang="en-US" sz="2000" dirty="0" smtClean="0">
                <a:latin typeface="Times New Roman" pitchFamily="18" charset="0"/>
                <a:cs typeface="Times New Roman" pitchFamily="18" charset="0"/>
              </a:rPr>
              <a:t> </a:t>
            </a:r>
            <a:r>
              <a:rPr lang="en-US" sz="2000" dirty="0" err="1">
                <a:latin typeface="Times New Roman" pitchFamily="18" charset="0"/>
                <a:cs typeface="Times New Roman" pitchFamily="18" charset="0"/>
              </a:rPr>
              <a:t>manzili</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yoki</a:t>
            </a:r>
            <a:r>
              <a:rPr lang="en-US" sz="2000" dirty="0">
                <a:latin typeface="Times New Roman" pitchFamily="18" charset="0"/>
                <a:cs typeface="Times New Roman" pitchFamily="18" charset="0"/>
              </a:rPr>
              <a:t> IP </a:t>
            </a:r>
            <a:r>
              <a:rPr lang="en-US" sz="2000" dirty="0" err="1">
                <a:latin typeface="Times New Roman" pitchFamily="18" charset="0"/>
                <a:cs typeface="Times New Roman" pitchFamily="18" charset="0"/>
              </a:rPr>
              <a:t>manzilini</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matnli</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satr</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ko‘rinishida</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ko‘rsatishni</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qabul</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qila</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oladigan</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Soket</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sinfining</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boshqa</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konstruktorlaridan</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foydalanish</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mumkin</a:t>
            </a:r>
            <a:r>
              <a:rPr lang="en-US" sz="2000" dirty="0">
                <a:latin typeface="Times New Roman" pitchFamily="18" charset="0"/>
                <a:cs typeface="Times New Roman" pitchFamily="18" charset="0"/>
              </a:rPr>
              <a:t>.</a:t>
            </a:r>
            <a:endParaRPr lang="ru-RU" sz="2000" dirty="0">
              <a:latin typeface="Times New Roman" pitchFamily="18" charset="0"/>
              <a:cs typeface="Times New Roman" pitchFamily="18" charset="0"/>
            </a:endParaRPr>
          </a:p>
          <a:p>
            <a:pPr algn="just"/>
            <a:r>
              <a:rPr lang="en-US" sz="2000" dirty="0">
                <a:latin typeface="Times New Roman" pitchFamily="18" charset="0"/>
                <a:cs typeface="Times New Roman" pitchFamily="18" charset="0"/>
              </a:rPr>
              <a:t>socket </a:t>
            </a:r>
            <a:r>
              <a:rPr lang="en-US" sz="2000" dirty="0" err="1">
                <a:latin typeface="Times New Roman" pitchFamily="18" charset="0"/>
                <a:cs typeface="Times New Roman" pitchFamily="18" charset="0"/>
              </a:rPr>
              <a:t>tuzish</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paytida</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serverga</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bo</a:t>
            </a:r>
            <a:r>
              <a:rPr lang="uz-Cyrl-UZ" sz="2000" dirty="0">
                <a:latin typeface="Times New Roman" pitchFamily="18" charset="0"/>
                <a:cs typeface="Times New Roman" pitchFamily="18" charset="0"/>
              </a:rPr>
              <a:t>g‘</a:t>
            </a:r>
            <a:r>
              <a:rPr lang="en-US" sz="2000" dirty="0" err="1">
                <a:latin typeface="Times New Roman" pitchFamily="18" charset="0"/>
                <a:cs typeface="Times New Roman" pitchFamily="18" charset="0"/>
              </a:rPr>
              <a:t>lanish</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amalga</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oshiriladi</a:t>
            </a:r>
            <a:r>
              <a:rPr lang="en-US" sz="2000" dirty="0">
                <a:latin typeface="Times New Roman" pitchFamily="18" charset="0"/>
                <a:cs typeface="Times New Roman" pitchFamily="18" charset="0"/>
              </a:rPr>
              <a:t>. Server </a:t>
            </a:r>
            <a:r>
              <a:rPr lang="en-US" sz="2000" dirty="0" err="1">
                <a:latin typeface="Times New Roman" pitchFamily="18" charset="0"/>
                <a:cs typeface="Times New Roman" pitchFamily="18" charset="0"/>
              </a:rPr>
              <a:t>kutish</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holatidan</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chiqib</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mijoz</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tomonidan</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yuborilayotgan</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komandalarni</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tushinishni</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boshlaydi</a:t>
            </a:r>
            <a:r>
              <a:rPr lang="en-US" sz="2000" dirty="0">
                <a:latin typeface="Times New Roman" pitchFamily="18" charset="0"/>
                <a:cs typeface="Times New Roman" pitchFamily="18" charset="0"/>
              </a:rPr>
              <a:t>. </a:t>
            </a:r>
            <a:r>
              <a:rPr lang="uz-Cyrl-UZ" sz="2000" dirty="0">
                <a:latin typeface="Times New Roman" pitchFamily="18" charset="0"/>
                <a:cs typeface="Times New Roman" pitchFamily="18" charset="0"/>
              </a:rPr>
              <a:t>Nazorat uchun </a:t>
            </a:r>
            <a:r>
              <a:rPr lang="uz-Cyrl-UZ" sz="2000" i="1" dirty="0">
                <a:latin typeface="Times New Roman" pitchFamily="18" charset="0"/>
                <a:cs typeface="Times New Roman" pitchFamily="18" charset="0"/>
              </a:rPr>
              <a:t>main</a:t>
            </a:r>
            <a:r>
              <a:rPr lang="uz-Cyrl-UZ" sz="2000" dirty="0">
                <a:latin typeface="Times New Roman" pitchFamily="18" charset="0"/>
                <a:cs typeface="Times New Roman" pitchFamily="18" charset="0"/>
              </a:rPr>
              <a:t> vositasi lokal port raqamini olib, konsolda ko‘rsatadi:</a:t>
            </a:r>
            <a:endParaRPr lang="ru-RU" sz="2000" dirty="0">
              <a:latin typeface="Times New Roman" pitchFamily="18" charset="0"/>
              <a:cs typeface="Times New Roman" pitchFamily="18" charset="0"/>
            </a:endParaRPr>
          </a:p>
          <a:p>
            <a:pPr algn="just"/>
            <a:r>
              <a:rPr lang="en-US" sz="2000" i="1" dirty="0" err="1">
                <a:latin typeface="Times New Roman" pitchFamily="18" charset="0"/>
                <a:cs typeface="Times New Roman" pitchFamily="18" charset="0"/>
              </a:rPr>
              <a:t>int</a:t>
            </a:r>
            <a:r>
              <a:rPr lang="en-US" sz="2000" i="1" dirty="0">
                <a:latin typeface="Times New Roman" pitchFamily="18" charset="0"/>
                <a:cs typeface="Times New Roman" pitchFamily="18" charset="0"/>
              </a:rPr>
              <a:t> </a:t>
            </a:r>
            <a:r>
              <a:rPr lang="en-US" sz="2000" i="1" dirty="0" err="1">
                <a:latin typeface="Times New Roman" pitchFamily="18" charset="0"/>
                <a:cs typeface="Times New Roman" pitchFamily="18" charset="0"/>
              </a:rPr>
              <a:t>nPort</a:t>
            </a:r>
            <a:r>
              <a:rPr lang="en-US" sz="2000" i="1" dirty="0">
                <a:latin typeface="Times New Roman" pitchFamily="18" charset="0"/>
                <a:cs typeface="Times New Roman" pitchFamily="18" charset="0"/>
              </a:rPr>
              <a:t> = </a:t>
            </a:r>
            <a:r>
              <a:rPr lang="en-US" sz="2000" i="1" dirty="0" err="1">
                <a:latin typeface="Times New Roman" pitchFamily="18" charset="0"/>
                <a:cs typeface="Times New Roman" pitchFamily="18" charset="0"/>
              </a:rPr>
              <a:t>s.getLocalPort</a:t>
            </a:r>
            <a:r>
              <a:rPr lang="en-US" sz="2000" i="1" dirty="0">
                <a:latin typeface="Times New Roman" pitchFamily="18" charset="0"/>
                <a:cs typeface="Times New Roman" pitchFamily="18" charset="0"/>
              </a:rPr>
              <a:t>();</a:t>
            </a:r>
            <a:endParaRPr lang="ru-RU" sz="2000" dirty="0">
              <a:latin typeface="Times New Roman" pitchFamily="18" charset="0"/>
              <a:cs typeface="Times New Roman" pitchFamily="18" charset="0"/>
            </a:endParaRPr>
          </a:p>
          <a:p>
            <a:pPr algn="just"/>
            <a:r>
              <a:rPr lang="en-US" sz="2000" i="1" dirty="0" err="1">
                <a:latin typeface="Times New Roman" pitchFamily="18" charset="0"/>
                <a:cs typeface="Times New Roman" pitchFamily="18" charset="0"/>
              </a:rPr>
              <a:t>System.out.println</a:t>
            </a:r>
            <a:r>
              <a:rPr lang="en-US" sz="2000" i="1" dirty="0">
                <a:latin typeface="Times New Roman" pitchFamily="18" charset="0"/>
                <a:cs typeface="Times New Roman" pitchFamily="18" charset="0"/>
              </a:rPr>
              <a:t>("Local Port:" + </a:t>
            </a:r>
            <a:r>
              <a:rPr lang="en-US" sz="2000" i="1" dirty="0" err="1">
                <a:latin typeface="Times New Roman" pitchFamily="18" charset="0"/>
                <a:cs typeface="Times New Roman" pitchFamily="18" charset="0"/>
              </a:rPr>
              <a:t>nPort</a:t>
            </a:r>
            <a:r>
              <a:rPr lang="en-US" sz="2000" i="1" dirty="0">
                <a:latin typeface="Times New Roman" pitchFamily="18" charset="0"/>
                <a:cs typeface="Times New Roman" pitchFamily="18" charset="0"/>
              </a:rPr>
              <a:t>);</a:t>
            </a:r>
            <a:endParaRPr lang="ru-RU" sz="2000" dirty="0">
              <a:latin typeface="Times New Roman" pitchFamily="18" charset="0"/>
              <a:cs typeface="Times New Roman" pitchFamily="18" charset="0"/>
            </a:endParaRPr>
          </a:p>
        </p:txBody>
      </p:sp>
    </p:spTree>
    <p:extLst>
      <p:ext uri="{BB962C8B-B14F-4D97-AF65-F5344CB8AC3E}">
        <p14:creationId xmlns:p14="http://schemas.microsoft.com/office/powerpoint/2010/main" val="314776096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Прямоугольник 3"/>
          <p:cNvSpPr/>
          <p:nvPr/>
        </p:nvSpPr>
        <p:spPr>
          <a:xfrm>
            <a:off x="179512" y="116632"/>
            <a:ext cx="8856984" cy="6463308"/>
          </a:xfrm>
          <a:prstGeom prst="rect">
            <a:avLst/>
          </a:prstGeom>
        </p:spPr>
        <p:txBody>
          <a:bodyPr wrap="square">
            <a:spAutoFit/>
          </a:bodyPr>
          <a:lstStyle/>
          <a:p>
            <a:r>
              <a:rPr lang="uz-Cyrl-UZ" sz="2200" dirty="0">
                <a:latin typeface="Times New Roman" pitchFamily="18" charset="0"/>
                <a:cs typeface="Times New Roman" pitchFamily="18" charset="0"/>
              </a:rPr>
              <a:t>Keyin u server bilan ma’lumotlarni ayirboshlash uchun kirish va chiqish oqimlarini tashkil etadi:</a:t>
            </a:r>
            <a:endParaRPr lang="ru-RU" sz="2200" dirty="0">
              <a:latin typeface="Times New Roman" pitchFamily="18" charset="0"/>
              <a:cs typeface="Times New Roman" pitchFamily="18" charset="0"/>
            </a:endParaRPr>
          </a:p>
          <a:p>
            <a:r>
              <a:rPr lang="en-US" sz="2200" i="1" dirty="0" err="1">
                <a:latin typeface="Times New Roman" pitchFamily="18" charset="0"/>
                <a:cs typeface="Times New Roman" pitchFamily="18" charset="0"/>
              </a:rPr>
              <a:t>InputStream</a:t>
            </a:r>
            <a:r>
              <a:rPr lang="en-US" sz="2200" i="1" dirty="0">
                <a:latin typeface="Times New Roman" pitchFamily="18" charset="0"/>
                <a:cs typeface="Times New Roman" pitchFamily="18" charset="0"/>
              </a:rPr>
              <a:t> is;</a:t>
            </a:r>
            <a:endParaRPr lang="ru-RU" sz="2200" dirty="0">
              <a:latin typeface="Times New Roman" pitchFamily="18" charset="0"/>
              <a:cs typeface="Times New Roman" pitchFamily="18" charset="0"/>
            </a:endParaRPr>
          </a:p>
          <a:p>
            <a:r>
              <a:rPr lang="en-US" sz="2200" i="1" dirty="0" err="1">
                <a:latin typeface="Times New Roman" pitchFamily="18" charset="0"/>
                <a:cs typeface="Times New Roman" pitchFamily="18" charset="0"/>
              </a:rPr>
              <a:t>OutputStream</a:t>
            </a:r>
            <a:r>
              <a:rPr lang="en-US" sz="2200" i="1" dirty="0">
                <a:latin typeface="Times New Roman" pitchFamily="18" charset="0"/>
                <a:cs typeface="Times New Roman" pitchFamily="18" charset="0"/>
              </a:rPr>
              <a:t> </a:t>
            </a:r>
            <a:r>
              <a:rPr lang="en-US" sz="2200" i="1" dirty="0" err="1">
                <a:latin typeface="Times New Roman" pitchFamily="18" charset="0"/>
                <a:cs typeface="Times New Roman" pitchFamily="18" charset="0"/>
              </a:rPr>
              <a:t>os</a:t>
            </a:r>
            <a:r>
              <a:rPr lang="en-US" sz="2200" i="1" dirty="0">
                <a:latin typeface="Times New Roman" pitchFamily="18" charset="0"/>
                <a:cs typeface="Times New Roman" pitchFamily="18" charset="0"/>
              </a:rPr>
              <a:t>;</a:t>
            </a:r>
            <a:endParaRPr lang="ru-RU" sz="2200" dirty="0">
              <a:latin typeface="Times New Roman" pitchFamily="18" charset="0"/>
              <a:cs typeface="Times New Roman" pitchFamily="18" charset="0"/>
            </a:endParaRPr>
          </a:p>
          <a:p>
            <a:r>
              <a:rPr lang="en-US" sz="2200" i="1" dirty="0">
                <a:latin typeface="Times New Roman" pitchFamily="18" charset="0"/>
                <a:cs typeface="Times New Roman" pitchFamily="18" charset="0"/>
              </a:rPr>
              <a:t>try</a:t>
            </a:r>
            <a:endParaRPr lang="ru-RU" sz="2200" dirty="0">
              <a:latin typeface="Times New Roman" pitchFamily="18" charset="0"/>
              <a:cs typeface="Times New Roman" pitchFamily="18" charset="0"/>
            </a:endParaRPr>
          </a:p>
          <a:p>
            <a:r>
              <a:rPr lang="en-US" sz="2200" i="1" dirty="0">
                <a:latin typeface="Times New Roman" pitchFamily="18" charset="0"/>
                <a:cs typeface="Times New Roman" pitchFamily="18" charset="0"/>
              </a:rPr>
              <a:t>{</a:t>
            </a:r>
            <a:endParaRPr lang="ru-RU" sz="2200" dirty="0">
              <a:latin typeface="Times New Roman" pitchFamily="18" charset="0"/>
              <a:cs typeface="Times New Roman" pitchFamily="18" charset="0"/>
            </a:endParaRPr>
          </a:p>
          <a:p>
            <a:r>
              <a:rPr lang="en-US" sz="2200" i="1" dirty="0">
                <a:latin typeface="Times New Roman" pitchFamily="18" charset="0"/>
                <a:cs typeface="Times New Roman" pitchFamily="18" charset="0"/>
              </a:rPr>
              <a:t>  is = </a:t>
            </a:r>
            <a:r>
              <a:rPr lang="en-US" sz="2200" i="1" dirty="0" err="1">
                <a:latin typeface="Times New Roman" pitchFamily="18" charset="0"/>
                <a:cs typeface="Times New Roman" pitchFamily="18" charset="0"/>
              </a:rPr>
              <a:t>s.getInputStream</a:t>
            </a:r>
            <a:r>
              <a:rPr lang="en-US" sz="2200" i="1" dirty="0">
                <a:latin typeface="Times New Roman" pitchFamily="18" charset="0"/>
                <a:cs typeface="Times New Roman" pitchFamily="18" charset="0"/>
              </a:rPr>
              <a:t>();</a:t>
            </a:r>
            <a:endParaRPr lang="ru-RU" sz="2200" dirty="0">
              <a:latin typeface="Times New Roman" pitchFamily="18" charset="0"/>
              <a:cs typeface="Times New Roman" pitchFamily="18" charset="0"/>
            </a:endParaRPr>
          </a:p>
          <a:p>
            <a:r>
              <a:rPr lang="en-US" sz="2200" i="1" dirty="0">
                <a:latin typeface="Times New Roman" pitchFamily="18" charset="0"/>
                <a:cs typeface="Times New Roman" pitchFamily="18" charset="0"/>
              </a:rPr>
              <a:t>  </a:t>
            </a:r>
            <a:r>
              <a:rPr lang="en-US" sz="2200" i="1" dirty="0" err="1">
                <a:latin typeface="Times New Roman" pitchFamily="18" charset="0"/>
                <a:cs typeface="Times New Roman" pitchFamily="18" charset="0"/>
              </a:rPr>
              <a:t>os</a:t>
            </a:r>
            <a:r>
              <a:rPr lang="en-US" sz="2200" i="1" dirty="0">
                <a:latin typeface="Times New Roman" pitchFamily="18" charset="0"/>
                <a:cs typeface="Times New Roman" pitchFamily="18" charset="0"/>
              </a:rPr>
              <a:t> = </a:t>
            </a:r>
            <a:r>
              <a:rPr lang="en-US" sz="2200" i="1" dirty="0" err="1">
                <a:latin typeface="Times New Roman" pitchFamily="18" charset="0"/>
                <a:cs typeface="Times New Roman" pitchFamily="18" charset="0"/>
              </a:rPr>
              <a:t>s.getOutputStream</a:t>
            </a:r>
            <a:r>
              <a:rPr lang="en-US" sz="2200" i="1" dirty="0">
                <a:latin typeface="Times New Roman" pitchFamily="18" charset="0"/>
                <a:cs typeface="Times New Roman" pitchFamily="18" charset="0"/>
              </a:rPr>
              <a:t>();</a:t>
            </a:r>
            <a:endParaRPr lang="ru-RU" sz="2200" dirty="0">
              <a:latin typeface="Times New Roman" pitchFamily="18" charset="0"/>
              <a:cs typeface="Times New Roman" pitchFamily="18" charset="0"/>
            </a:endParaRPr>
          </a:p>
          <a:p>
            <a:r>
              <a:rPr lang="en-US" sz="2200" i="1" dirty="0">
                <a:latin typeface="Times New Roman" pitchFamily="18" charset="0"/>
                <a:cs typeface="Times New Roman" pitchFamily="18" charset="0"/>
              </a:rPr>
              <a:t>  . . .</a:t>
            </a:r>
            <a:endParaRPr lang="ru-RU" sz="2200" dirty="0">
              <a:latin typeface="Times New Roman" pitchFamily="18" charset="0"/>
              <a:cs typeface="Times New Roman" pitchFamily="18" charset="0"/>
            </a:endParaRPr>
          </a:p>
          <a:p>
            <a:r>
              <a:rPr lang="en-US" sz="2200" i="1" dirty="0">
                <a:latin typeface="Times New Roman" pitchFamily="18" charset="0"/>
                <a:cs typeface="Times New Roman" pitchFamily="18" charset="0"/>
              </a:rPr>
              <a:t>}</a:t>
            </a:r>
            <a:endParaRPr lang="ru-RU" sz="2200" dirty="0">
              <a:latin typeface="Times New Roman" pitchFamily="18" charset="0"/>
              <a:cs typeface="Times New Roman" pitchFamily="18" charset="0"/>
            </a:endParaRPr>
          </a:p>
          <a:p>
            <a:r>
              <a:rPr lang="en-US" sz="2200" i="1" dirty="0">
                <a:latin typeface="Times New Roman" pitchFamily="18" charset="0"/>
                <a:cs typeface="Times New Roman" pitchFamily="18" charset="0"/>
              </a:rPr>
              <a:t>catch(Exception ex)</a:t>
            </a:r>
            <a:endParaRPr lang="ru-RU" sz="2200" dirty="0">
              <a:latin typeface="Times New Roman" pitchFamily="18" charset="0"/>
              <a:cs typeface="Times New Roman" pitchFamily="18" charset="0"/>
            </a:endParaRPr>
          </a:p>
          <a:p>
            <a:r>
              <a:rPr lang="en-US" sz="2200" i="1" dirty="0">
                <a:latin typeface="Times New Roman" pitchFamily="18" charset="0"/>
                <a:cs typeface="Times New Roman" pitchFamily="18" charset="0"/>
              </a:rPr>
              <a:t>{</a:t>
            </a:r>
            <a:endParaRPr lang="ru-RU" sz="2200" dirty="0">
              <a:latin typeface="Times New Roman" pitchFamily="18" charset="0"/>
              <a:cs typeface="Times New Roman" pitchFamily="18" charset="0"/>
            </a:endParaRPr>
          </a:p>
          <a:p>
            <a:r>
              <a:rPr lang="en-US" sz="2200" i="1" dirty="0">
                <a:latin typeface="Times New Roman" pitchFamily="18" charset="0"/>
                <a:cs typeface="Times New Roman" pitchFamily="18" charset="0"/>
              </a:rPr>
              <a:t>  </a:t>
            </a:r>
            <a:r>
              <a:rPr lang="en-US" sz="2200" i="1" dirty="0" err="1">
                <a:latin typeface="Times New Roman" pitchFamily="18" charset="0"/>
                <a:cs typeface="Times New Roman" pitchFamily="18" charset="0"/>
              </a:rPr>
              <a:t>System.out.println</a:t>
            </a:r>
            <a:r>
              <a:rPr lang="en-US" sz="2200" i="1" dirty="0">
                <a:latin typeface="Times New Roman" pitchFamily="18" charset="0"/>
                <a:cs typeface="Times New Roman" pitchFamily="18" charset="0"/>
              </a:rPr>
              <a:t>(</a:t>
            </a:r>
            <a:r>
              <a:rPr lang="en-US" sz="2200" i="1" dirty="0" err="1">
                <a:latin typeface="Times New Roman" pitchFamily="18" charset="0"/>
                <a:cs typeface="Times New Roman" pitchFamily="18" charset="0"/>
              </a:rPr>
              <a:t>ex.toString</a:t>
            </a:r>
            <a:r>
              <a:rPr lang="en-US" sz="2200" i="1" dirty="0">
                <a:latin typeface="Times New Roman" pitchFamily="18" charset="0"/>
                <a:cs typeface="Times New Roman" pitchFamily="18" charset="0"/>
              </a:rPr>
              <a:t>());</a:t>
            </a:r>
            <a:endParaRPr lang="ru-RU" sz="2200" dirty="0">
              <a:latin typeface="Times New Roman" pitchFamily="18" charset="0"/>
              <a:cs typeface="Times New Roman" pitchFamily="18" charset="0"/>
            </a:endParaRPr>
          </a:p>
          <a:p>
            <a:r>
              <a:rPr lang="en-US" sz="2200" i="1" dirty="0">
                <a:latin typeface="Times New Roman" pitchFamily="18" charset="0"/>
                <a:cs typeface="Times New Roman" pitchFamily="18" charset="0"/>
              </a:rPr>
              <a:t>}  </a:t>
            </a:r>
            <a:endParaRPr lang="ru-RU" sz="2200" dirty="0">
              <a:latin typeface="Times New Roman" pitchFamily="18" charset="0"/>
              <a:cs typeface="Times New Roman" pitchFamily="18" charset="0"/>
            </a:endParaRPr>
          </a:p>
          <a:p>
            <a:r>
              <a:rPr lang="uz-Cyrl-UZ" sz="2200" i="1" dirty="0">
                <a:latin typeface="Times New Roman" pitchFamily="18" charset="0"/>
                <a:cs typeface="Times New Roman" pitchFamily="18" charset="0"/>
              </a:rPr>
              <a:t>Ayirboshlashning o‘zi quyidagi siklda amalga oshiriladi:</a:t>
            </a:r>
            <a:endParaRPr lang="ru-RU" sz="2200" dirty="0">
              <a:latin typeface="Times New Roman" pitchFamily="18" charset="0"/>
              <a:cs typeface="Times New Roman" pitchFamily="18" charset="0"/>
            </a:endParaRPr>
          </a:p>
          <a:p>
            <a:r>
              <a:rPr lang="en-US" sz="2200" i="1" dirty="0">
                <a:latin typeface="Times New Roman" pitchFamily="18" charset="0"/>
                <a:cs typeface="Times New Roman" pitchFamily="18" charset="0"/>
              </a:rPr>
              <a:t>String </a:t>
            </a:r>
            <a:r>
              <a:rPr lang="en-US" sz="2200" i="1" dirty="0" err="1">
                <a:latin typeface="Times New Roman" pitchFamily="18" charset="0"/>
                <a:cs typeface="Times New Roman" pitchFamily="18" charset="0"/>
              </a:rPr>
              <a:t>szStr</a:t>
            </a:r>
            <a:r>
              <a:rPr lang="en-US" sz="2200" i="1" dirty="0">
                <a:latin typeface="Times New Roman" pitchFamily="18" charset="0"/>
                <a:cs typeface="Times New Roman" pitchFamily="18" charset="0"/>
              </a:rPr>
              <a:t>;</a:t>
            </a:r>
            <a:endParaRPr lang="ru-RU" sz="2200" dirty="0">
              <a:latin typeface="Times New Roman" pitchFamily="18" charset="0"/>
              <a:cs typeface="Times New Roman" pitchFamily="18" charset="0"/>
            </a:endParaRPr>
          </a:p>
          <a:p>
            <a:r>
              <a:rPr lang="en-US" sz="2200" i="1" dirty="0">
                <a:latin typeface="Times New Roman" pitchFamily="18" charset="0"/>
                <a:cs typeface="Times New Roman" pitchFamily="18" charset="0"/>
              </a:rPr>
              <a:t>while(true)</a:t>
            </a:r>
            <a:endParaRPr lang="ru-RU" sz="2200" dirty="0">
              <a:latin typeface="Times New Roman" pitchFamily="18" charset="0"/>
              <a:cs typeface="Times New Roman" pitchFamily="18" charset="0"/>
            </a:endParaRPr>
          </a:p>
          <a:p>
            <a:r>
              <a:rPr lang="en-US" sz="2200" i="1" dirty="0">
                <a:latin typeface="Times New Roman" pitchFamily="18" charset="0"/>
                <a:cs typeface="Times New Roman" pitchFamily="18" charset="0"/>
              </a:rPr>
              <a:t>{</a:t>
            </a:r>
            <a:endParaRPr lang="ru-RU" sz="2200" dirty="0">
              <a:latin typeface="Times New Roman" pitchFamily="18" charset="0"/>
              <a:cs typeface="Times New Roman" pitchFamily="18" charset="0"/>
            </a:endParaRPr>
          </a:p>
          <a:p>
            <a:r>
              <a:rPr lang="en-US" i="1" dirty="0"/>
              <a:t>  </a:t>
            </a:r>
            <a:endParaRPr lang="ru-RU" dirty="0"/>
          </a:p>
        </p:txBody>
      </p:sp>
    </p:spTree>
    <p:extLst>
      <p:ext uri="{BB962C8B-B14F-4D97-AF65-F5344CB8AC3E}">
        <p14:creationId xmlns:p14="http://schemas.microsoft.com/office/powerpoint/2010/main" val="330760770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Прямоугольник 3"/>
          <p:cNvSpPr/>
          <p:nvPr/>
        </p:nvSpPr>
        <p:spPr>
          <a:xfrm>
            <a:off x="107504" y="188640"/>
            <a:ext cx="8856984" cy="6524863"/>
          </a:xfrm>
          <a:prstGeom prst="rect">
            <a:avLst/>
          </a:prstGeom>
        </p:spPr>
        <p:txBody>
          <a:bodyPr wrap="square">
            <a:spAutoFit/>
          </a:bodyPr>
          <a:lstStyle/>
          <a:p>
            <a:pPr algn="just"/>
            <a:r>
              <a:rPr lang="en-US" sz="2200" i="1" dirty="0" err="1">
                <a:latin typeface="Times New Roman" pitchFamily="18" charset="0"/>
                <a:cs typeface="Times New Roman" pitchFamily="18" charset="0"/>
              </a:rPr>
              <a:t>szStr</a:t>
            </a:r>
            <a:r>
              <a:rPr lang="en-US" sz="2200" i="1" dirty="0">
                <a:latin typeface="Times New Roman" pitchFamily="18" charset="0"/>
                <a:cs typeface="Times New Roman" pitchFamily="18" charset="0"/>
              </a:rPr>
              <a:t> = </a:t>
            </a:r>
            <a:r>
              <a:rPr lang="en-US" sz="2200" i="1" dirty="0" err="1">
                <a:latin typeface="Times New Roman" pitchFamily="18" charset="0"/>
                <a:cs typeface="Times New Roman" pitchFamily="18" charset="0"/>
              </a:rPr>
              <a:t>getKbdString</a:t>
            </a:r>
            <a:r>
              <a:rPr lang="en-US" sz="2200" i="1" dirty="0">
                <a:latin typeface="Times New Roman" pitchFamily="18" charset="0"/>
                <a:cs typeface="Times New Roman" pitchFamily="18" charset="0"/>
              </a:rPr>
              <a:t>();</a:t>
            </a:r>
            <a:endParaRPr lang="ru-RU" sz="2200" dirty="0">
              <a:latin typeface="Times New Roman" pitchFamily="18" charset="0"/>
              <a:cs typeface="Times New Roman" pitchFamily="18" charset="0"/>
            </a:endParaRPr>
          </a:p>
          <a:p>
            <a:pPr algn="just"/>
            <a:r>
              <a:rPr lang="en-US" sz="2200" i="1" dirty="0">
                <a:latin typeface="Times New Roman" pitchFamily="18" charset="0"/>
                <a:cs typeface="Times New Roman" pitchFamily="18" charset="0"/>
              </a:rPr>
              <a:t>  </a:t>
            </a:r>
            <a:r>
              <a:rPr lang="en-US" sz="2200" i="1" dirty="0" err="1">
                <a:latin typeface="Times New Roman" pitchFamily="18" charset="0"/>
                <a:cs typeface="Times New Roman" pitchFamily="18" charset="0"/>
              </a:rPr>
              <a:t>sendString</a:t>
            </a:r>
            <a:r>
              <a:rPr lang="en-US" sz="2200" i="1" dirty="0">
                <a:latin typeface="Times New Roman" pitchFamily="18" charset="0"/>
                <a:cs typeface="Times New Roman" pitchFamily="18" charset="0"/>
              </a:rPr>
              <a:t>(</a:t>
            </a:r>
            <a:r>
              <a:rPr lang="en-US" sz="2200" i="1" dirty="0" err="1">
                <a:latin typeface="Times New Roman" pitchFamily="18" charset="0"/>
                <a:cs typeface="Times New Roman" pitchFamily="18" charset="0"/>
              </a:rPr>
              <a:t>os</a:t>
            </a:r>
            <a:r>
              <a:rPr lang="en-US" sz="2200" i="1" dirty="0">
                <a:latin typeface="Times New Roman" pitchFamily="18" charset="0"/>
                <a:cs typeface="Times New Roman" pitchFamily="18" charset="0"/>
              </a:rPr>
              <a:t>, </a:t>
            </a:r>
            <a:r>
              <a:rPr lang="en-US" sz="2200" i="1" dirty="0" err="1">
                <a:latin typeface="Times New Roman" pitchFamily="18" charset="0"/>
                <a:cs typeface="Times New Roman" pitchFamily="18" charset="0"/>
              </a:rPr>
              <a:t>szStr</a:t>
            </a:r>
            <a:r>
              <a:rPr lang="en-US" sz="2200" i="1" dirty="0">
                <a:latin typeface="Times New Roman" pitchFamily="18" charset="0"/>
                <a:cs typeface="Times New Roman" pitchFamily="18" charset="0"/>
              </a:rPr>
              <a:t>);</a:t>
            </a:r>
            <a:endParaRPr lang="ru-RU" sz="2200" dirty="0">
              <a:latin typeface="Times New Roman" pitchFamily="18" charset="0"/>
              <a:cs typeface="Times New Roman" pitchFamily="18" charset="0"/>
            </a:endParaRPr>
          </a:p>
          <a:p>
            <a:pPr algn="just"/>
            <a:r>
              <a:rPr lang="en-US" sz="2200" i="1" dirty="0">
                <a:latin typeface="Times New Roman" pitchFamily="18" charset="0"/>
                <a:cs typeface="Times New Roman" pitchFamily="18" charset="0"/>
              </a:rPr>
              <a:t>  </a:t>
            </a:r>
            <a:r>
              <a:rPr lang="en-US" sz="2200" i="1" dirty="0" err="1">
                <a:latin typeface="Times New Roman" pitchFamily="18" charset="0"/>
                <a:cs typeface="Times New Roman" pitchFamily="18" charset="0"/>
              </a:rPr>
              <a:t>os.flush</a:t>
            </a:r>
            <a:r>
              <a:rPr lang="en-US" sz="2200" i="1" dirty="0">
                <a:latin typeface="Times New Roman" pitchFamily="18" charset="0"/>
                <a:cs typeface="Times New Roman" pitchFamily="18" charset="0"/>
              </a:rPr>
              <a:t>();</a:t>
            </a:r>
            <a:endParaRPr lang="ru-RU" sz="2200" dirty="0">
              <a:latin typeface="Times New Roman" pitchFamily="18" charset="0"/>
              <a:cs typeface="Times New Roman" pitchFamily="18" charset="0"/>
            </a:endParaRPr>
          </a:p>
          <a:p>
            <a:pPr algn="just"/>
            <a:r>
              <a:rPr lang="en-US" sz="2200" i="1" dirty="0">
                <a:latin typeface="Times New Roman" pitchFamily="18" charset="0"/>
                <a:cs typeface="Times New Roman" pitchFamily="18" charset="0"/>
              </a:rPr>
              <a:t>  if(</a:t>
            </a:r>
            <a:r>
              <a:rPr lang="en-US" sz="2200" i="1" dirty="0" err="1">
                <a:latin typeface="Times New Roman" pitchFamily="18" charset="0"/>
                <a:cs typeface="Times New Roman" pitchFamily="18" charset="0"/>
              </a:rPr>
              <a:t>szStr.equals</a:t>
            </a:r>
            <a:r>
              <a:rPr lang="en-US" sz="2200" i="1" dirty="0">
                <a:latin typeface="Times New Roman" pitchFamily="18" charset="0"/>
                <a:cs typeface="Times New Roman" pitchFamily="18" charset="0"/>
              </a:rPr>
              <a:t>("quit"))</a:t>
            </a:r>
            <a:endParaRPr lang="ru-RU" sz="2200" dirty="0">
              <a:latin typeface="Times New Roman" pitchFamily="18" charset="0"/>
              <a:cs typeface="Times New Roman" pitchFamily="18" charset="0"/>
            </a:endParaRPr>
          </a:p>
          <a:p>
            <a:pPr algn="just"/>
            <a:r>
              <a:rPr lang="en-US" sz="2200" i="1" dirty="0">
                <a:latin typeface="Times New Roman" pitchFamily="18" charset="0"/>
                <a:cs typeface="Times New Roman" pitchFamily="18" charset="0"/>
              </a:rPr>
              <a:t>    break;    </a:t>
            </a:r>
            <a:endParaRPr lang="ru-RU" sz="2200" dirty="0">
              <a:latin typeface="Times New Roman" pitchFamily="18" charset="0"/>
              <a:cs typeface="Times New Roman" pitchFamily="18" charset="0"/>
            </a:endParaRPr>
          </a:p>
          <a:p>
            <a:pPr algn="just"/>
            <a:r>
              <a:rPr lang="en-US" sz="2200" i="1" dirty="0">
                <a:latin typeface="Times New Roman" pitchFamily="18" charset="0"/>
                <a:cs typeface="Times New Roman" pitchFamily="18" charset="0"/>
              </a:rPr>
              <a:t>  </a:t>
            </a:r>
            <a:r>
              <a:rPr lang="en-US" sz="2200" i="1" dirty="0" err="1">
                <a:latin typeface="Times New Roman" pitchFamily="18" charset="0"/>
                <a:cs typeface="Times New Roman" pitchFamily="18" charset="0"/>
              </a:rPr>
              <a:t>szStr</a:t>
            </a:r>
            <a:r>
              <a:rPr lang="en-US" sz="2200" i="1" dirty="0">
                <a:latin typeface="Times New Roman" pitchFamily="18" charset="0"/>
                <a:cs typeface="Times New Roman" pitchFamily="18" charset="0"/>
              </a:rPr>
              <a:t> = </a:t>
            </a:r>
            <a:r>
              <a:rPr lang="en-US" sz="2200" i="1" dirty="0" err="1">
                <a:latin typeface="Times New Roman" pitchFamily="18" charset="0"/>
                <a:cs typeface="Times New Roman" pitchFamily="18" charset="0"/>
              </a:rPr>
              <a:t>recvString</a:t>
            </a:r>
            <a:r>
              <a:rPr lang="en-US" sz="2200" i="1" dirty="0">
                <a:latin typeface="Times New Roman" pitchFamily="18" charset="0"/>
                <a:cs typeface="Times New Roman" pitchFamily="18" charset="0"/>
              </a:rPr>
              <a:t>(is);</a:t>
            </a:r>
            <a:endParaRPr lang="ru-RU" sz="2200" dirty="0">
              <a:latin typeface="Times New Roman" pitchFamily="18" charset="0"/>
              <a:cs typeface="Times New Roman" pitchFamily="18" charset="0"/>
            </a:endParaRPr>
          </a:p>
          <a:p>
            <a:pPr algn="just"/>
            <a:r>
              <a:rPr lang="en-US" sz="2200" i="1" dirty="0">
                <a:latin typeface="Times New Roman" pitchFamily="18" charset="0"/>
                <a:cs typeface="Times New Roman" pitchFamily="18" charset="0"/>
              </a:rPr>
              <a:t>  </a:t>
            </a:r>
            <a:r>
              <a:rPr lang="en-US" sz="2200" i="1" dirty="0" err="1">
                <a:latin typeface="Times New Roman" pitchFamily="18" charset="0"/>
                <a:cs typeface="Times New Roman" pitchFamily="18" charset="0"/>
              </a:rPr>
              <a:t>System.out.println</a:t>
            </a:r>
            <a:r>
              <a:rPr lang="en-US" sz="2200" i="1" dirty="0">
                <a:latin typeface="Times New Roman" pitchFamily="18" charset="0"/>
                <a:cs typeface="Times New Roman" pitchFamily="18" charset="0"/>
              </a:rPr>
              <a:t>(</a:t>
            </a:r>
            <a:r>
              <a:rPr lang="en-US" sz="2200" i="1" dirty="0" err="1">
                <a:latin typeface="Times New Roman" pitchFamily="18" charset="0"/>
                <a:cs typeface="Times New Roman" pitchFamily="18" charset="0"/>
              </a:rPr>
              <a:t>szStr</a:t>
            </a:r>
            <a:r>
              <a:rPr lang="en-US" sz="2200" i="1" dirty="0">
                <a:latin typeface="Times New Roman" pitchFamily="18" charset="0"/>
                <a:cs typeface="Times New Roman" pitchFamily="18" charset="0"/>
              </a:rPr>
              <a:t>);</a:t>
            </a:r>
            <a:endParaRPr lang="ru-RU" sz="2200" dirty="0">
              <a:latin typeface="Times New Roman" pitchFamily="18" charset="0"/>
              <a:cs typeface="Times New Roman" pitchFamily="18" charset="0"/>
            </a:endParaRPr>
          </a:p>
          <a:p>
            <a:pPr algn="just"/>
            <a:r>
              <a:rPr lang="en-US" sz="2200" i="1" dirty="0">
                <a:latin typeface="Times New Roman" pitchFamily="18" charset="0"/>
                <a:cs typeface="Times New Roman" pitchFamily="18" charset="0"/>
              </a:rPr>
              <a:t>}</a:t>
            </a:r>
            <a:endParaRPr lang="ru-RU" sz="2200" dirty="0">
              <a:latin typeface="Times New Roman" pitchFamily="18" charset="0"/>
              <a:cs typeface="Times New Roman" pitchFamily="18" charset="0"/>
            </a:endParaRPr>
          </a:p>
          <a:p>
            <a:pPr algn="just"/>
            <a:r>
              <a:rPr lang="en-US" sz="2200" dirty="0" err="1">
                <a:latin typeface="Times New Roman" pitchFamily="18" charset="0"/>
                <a:cs typeface="Times New Roman" pitchFamily="18" charset="0"/>
              </a:rPr>
              <a:t>Har</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bir</a:t>
            </a:r>
            <a:r>
              <a:rPr lang="en-US" sz="2200" dirty="0">
                <a:latin typeface="Times New Roman" pitchFamily="18" charset="0"/>
                <a:cs typeface="Times New Roman" pitchFamily="18" charset="0"/>
              </a:rPr>
              <a:t> </a:t>
            </a:r>
            <a:r>
              <a:rPr lang="en-US" sz="2200" dirty="0" err="1" smtClean="0">
                <a:latin typeface="Times New Roman" pitchFamily="18" charset="0"/>
                <a:cs typeface="Times New Roman" pitchFamily="18" charset="0"/>
              </a:rPr>
              <a:t>integra</a:t>
            </a:r>
            <a:r>
              <a:rPr lang="uz-Cyrl-UZ" sz="2200" dirty="0">
                <a:latin typeface="Times New Roman" pitchFamily="18" charset="0"/>
                <a:cs typeface="Times New Roman" pitchFamily="18" charset="0"/>
              </a:rPr>
              <a:t>ts</a:t>
            </a:r>
            <a:r>
              <a:rPr lang="en-US" sz="2200" dirty="0" err="1">
                <a:latin typeface="Times New Roman" pitchFamily="18" charset="0"/>
                <a:cs typeface="Times New Roman" pitchFamily="18" charset="0"/>
              </a:rPr>
              <a:t>iyada</a:t>
            </a:r>
            <a:r>
              <a:rPr lang="en-US" sz="2200" dirty="0">
                <a:latin typeface="Times New Roman" pitchFamily="18" charset="0"/>
                <a:cs typeface="Times New Roman" pitchFamily="18" charset="0"/>
              </a:rPr>
              <a:t> </a:t>
            </a:r>
            <a:r>
              <a:rPr lang="en-US" sz="2200" i="1" dirty="0">
                <a:latin typeface="Times New Roman" pitchFamily="18" charset="0"/>
                <a:cs typeface="Times New Roman" pitchFamily="18" charset="0"/>
              </a:rPr>
              <a:t>main</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vositasi</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satrni</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konsoldan</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kiritadi</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biznin</a:t>
            </a:r>
            <a:r>
              <a:rPr lang="uz-Latn-UZ" sz="2200" dirty="0">
                <a:latin typeface="Times New Roman" pitchFamily="18" charset="0"/>
                <a:cs typeface="Times New Roman" pitchFamily="18" charset="0"/>
              </a:rPr>
              <a:t>g </a:t>
            </a:r>
            <a:r>
              <a:rPr lang="en-US" sz="2200" dirty="0" err="1">
                <a:latin typeface="Times New Roman" pitchFamily="18" charset="0"/>
                <a:cs typeface="Times New Roman" pitchFamily="18" charset="0"/>
              </a:rPr>
              <a:t>dasturimizda</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belgilangan</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getKbdString</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vositasi</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bilan</a:t>
            </a:r>
            <a:r>
              <a:rPr lang="en-US" sz="2200" dirty="0">
                <a:latin typeface="Times New Roman" pitchFamily="18" charset="0"/>
                <a:cs typeface="Times New Roman" pitchFamily="18" charset="0"/>
              </a:rPr>
              <a:t>.)</a:t>
            </a:r>
            <a:endParaRPr lang="ru-RU" sz="2200" dirty="0">
              <a:latin typeface="Times New Roman" pitchFamily="18" charset="0"/>
              <a:cs typeface="Times New Roman" pitchFamily="18" charset="0"/>
            </a:endParaRPr>
          </a:p>
          <a:p>
            <a:pPr algn="just"/>
            <a:r>
              <a:rPr lang="en-US" sz="2200" dirty="0" smtClean="0">
                <a:latin typeface="Times New Roman" pitchFamily="18" charset="0"/>
                <a:cs typeface="Times New Roman" pitchFamily="18" charset="0"/>
              </a:rPr>
              <a:t>	</a:t>
            </a:r>
            <a:r>
              <a:rPr lang="en-US" sz="2200" dirty="0" err="1" smtClean="0">
                <a:latin typeface="Times New Roman" pitchFamily="18" charset="0"/>
                <a:cs typeface="Times New Roman" pitchFamily="18" charset="0"/>
              </a:rPr>
              <a:t>Oldingi</a:t>
            </a:r>
            <a:r>
              <a:rPr lang="en-US" sz="2200" dirty="0" smtClean="0">
                <a:latin typeface="Times New Roman" pitchFamily="18" charset="0"/>
                <a:cs typeface="Times New Roman" pitchFamily="18" charset="0"/>
              </a:rPr>
              <a:t> </a:t>
            </a:r>
            <a:r>
              <a:rPr lang="en-US" sz="2200" dirty="0" err="1">
                <a:latin typeface="Times New Roman" pitchFamily="18" charset="0"/>
                <a:cs typeface="Times New Roman" pitchFamily="18" charset="0"/>
              </a:rPr>
              <a:t>bobda</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keltirilgan</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misollarda</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ko‘rsatilgan</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SendString</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vositasi</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orqali</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satr</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serverga</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uzatiladi</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Javob</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recvString</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vositasi</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bu</a:t>
            </a:r>
            <a:r>
              <a:rPr lang="en-US" sz="2200" dirty="0">
                <a:latin typeface="Times New Roman" pitchFamily="18" charset="0"/>
                <a:cs typeface="Times New Roman" pitchFamily="18" charset="0"/>
              </a:rPr>
              <a:t> ham </a:t>
            </a:r>
            <a:r>
              <a:rPr lang="en-US" sz="2200" dirty="0" err="1">
                <a:latin typeface="Times New Roman" pitchFamily="18" charset="0"/>
                <a:cs typeface="Times New Roman" pitchFamily="18" charset="0"/>
              </a:rPr>
              <a:t>oldingi</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misolda</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ko‘rsatilgan</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orqali</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qabul</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qilinadi</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va</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mijozda</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turi</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konsoliga</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chiqariladi</a:t>
            </a:r>
            <a:r>
              <a:rPr lang="en-US" sz="2200" dirty="0">
                <a:latin typeface="Times New Roman" pitchFamily="18" charset="0"/>
                <a:cs typeface="Times New Roman" pitchFamily="18" charset="0"/>
              </a:rPr>
              <a:t>.</a:t>
            </a:r>
            <a:endParaRPr lang="ru-RU" sz="2200" dirty="0">
              <a:latin typeface="Times New Roman" pitchFamily="18" charset="0"/>
              <a:cs typeface="Times New Roman" pitchFamily="18" charset="0"/>
            </a:endParaRPr>
          </a:p>
          <a:p>
            <a:pPr algn="just"/>
            <a:r>
              <a:rPr lang="en-US" sz="2200" dirty="0" smtClean="0">
                <a:latin typeface="Times New Roman" pitchFamily="18" charset="0"/>
                <a:cs typeface="Times New Roman" pitchFamily="18" charset="0"/>
              </a:rPr>
              <a:t>	Agar </a:t>
            </a:r>
            <a:r>
              <a:rPr lang="en-US" sz="2200" dirty="0" err="1">
                <a:latin typeface="Times New Roman" pitchFamily="18" charset="0"/>
                <a:cs typeface="Times New Roman" pitchFamily="18" charset="0"/>
              </a:rPr>
              <a:t>foydalanuvchi</a:t>
            </a:r>
            <a:r>
              <a:rPr lang="en-US" sz="2200" dirty="0">
                <a:latin typeface="Times New Roman" pitchFamily="18" charset="0"/>
                <a:cs typeface="Times New Roman" pitchFamily="18" charset="0"/>
              </a:rPr>
              <a:t> "Quit" </a:t>
            </a:r>
            <a:r>
              <a:rPr lang="en-US" sz="2200" dirty="0" err="1">
                <a:latin typeface="Times New Roman" pitchFamily="18" charset="0"/>
                <a:cs typeface="Times New Roman" pitchFamily="18" charset="0"/>
              </a:rPr>
              <a:t>satrini</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kiritsa</a:t>
            </a:r>
            <a:r>
              <a:rPr lang="en-US" sz="2200" dirty="0">
                <a:latin typeface="Times New Roman" pitchFamily="18" charset="0"/>
                <a:cs typeface="Times New Roman" pitchFamily="18" charset="0"/>
              </a:rPr>
              <a:t> </a:t>
            </a:r>
            <a:r>
              <a:rPr lang="uz-Cyrl-UZ" sz="2200" dirty="0">
                <a:latin typeface="Times New Roman" pitchFamily="18" charset="0"/>
                <a:cs typeface="Times New Roman" pitchFamily="18" charset="0"/>
              </a:rPr>
              <a:t>sikl </a:t>
            </a:r>
            <a:r>
              <a:rPr lang="en-US" sz="2200" dirty="0" err="1">
                <a:latin typeface="Times New Roman" pitchFamily="18" charset="0"/>
                <a:cs typeface="Times New Roman" pitchFamily="18" charset="0"/>
              </a:rPr>
              <a:t>o‘z</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ishin</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yakunlaydi</a:t>
            </a:r>
            <a:r>
              <a:rPr lang="en-US" sz="2200" dirty="0">
                <a:latin typeface="Times New Roman" pitchFamily="18" charset="0"/>
                <a:cs typeface="Times New Roman" pitchFamily="18" charset="0"/>
              </a:rPr>
              <a:t>. </a:t>
            </a:r>
            <a:r>
              <a:rPr lang="uz-Cyrl-UZ" sz="2200" dirty="0">
                <a:latin typeface="Times New Roman" pitchFamily="18" charset="0"/>
                <a:cs typeface="Times New Roman" pitchFamily="18" charset="0"/>
              </a:rPr>
              <a:t>Bundan so‘ng </a:t>
            </a:r>
            <a:r>
              <a:rPr lang="uz-Cyrl-UZ" sz="2200" i="1" dirty="0">
                <a:latin typeface="Times New Roman" pitchFamily="18" charset="0"/>
                <a:cs typeface="Times New Roman" pitchFamily="18" charset="0"/>
              </a:rPr>
              <a:t>main</a:t>
            </a:r>
            <a:r>
              <a:rPr lang="uz-Cyrl-UZ" sz="2200" dirty="0">
                <a:latin typeface="Times New Roman" pitchFamily="18" charset="0"/>
                <a:cs typeface="Times New Roman" pitchFamily="18" charset="0"/>
              </a:rPr>
              <a:t> vositasi oqim va soketlarni yopadi:</a:t>
            </a:r>
            <a:endParaRPr lang="ru-RU" sz="2200" dirty="0">
              <a:latin typeface="Times New Roman" pitchFamily="18" charset="0"/>
              <a:cs typeface="Times New Roman" pitchFamily="18" charset="0"/>
            </a:endParaRPr>
          </a:p>
          <a:p>
            <a:pPr algn="just"/>
            <a:r>
              <a:rPr lang="uz-Cyrl-UZ" sz="2200" i="1" dirty="0">
                <a:latin typeface="Times New Roman" pitchFamily="18" charset="0"/>
                <a:cs typeface="Times New Roman" pitchFamily="18" charset="0"/>
              </a:rPr>
              <a:t>is.close();</a:t>
            </a:r>
            <a:endParaRPr lang="ru-RU" sz="2200" dirty="0">
              <a:latin typeface="Times New Roman" pitchFamily="18" charset="0"/>
              <a:cs typeface="Times New Roman" pitchFamily="18" charset="0"/>
            </a:endParaRPr>
          </a:p>
          <a:p>
            <a:pPr algn="just"/>
            <a:r>
              <a:rPr lang="uz-Cyrl-UZ" sz="2200" i="1" dirty="0">
                <a:latin typeface="Times New Roman" pitchFamily="18" charset="0"/>
                <a:cs typeface="Times New Roman" pitchFamily="18" charset="0"/>
              </a:rPr>
              <a:t>os.close();</a:t>
            </a:r>
            <a:endParaRPr lang="ru-RU" sz="2200" dirty="0">
              <a:latin typeface="Times New Roman" pitchFamily="18" charset="0"/>
              <a:cs typeface="Times New Roman" pitchFamily="18" charset="0"/>
            </a:endParaRPr>
          </a:p>
          <a:p>
            <a:pPr algn="just"/>
            <a:r>
              <a:rPr lang="uz-Cyrl-UZ" sz="2200" i="1" dirty="0">
                <a:latin typeface="Times New Roman" pitchFamily="18" charset="0"/>
                <a:cs typeface="Times New Roman" pitchFamily="18" charset="0"/>
              </a:rPr>
              <a:t>s.close();</a:t>
            </a:r>
            <a:endParaRPr lang="ru-RU" sz="2200" dirty="0">
              <a:latin typeface="Times New Roman" pitchFamily="18" charset="0"/>
              <a:cs typeface="Times New Roman" pitchFamily="18" charset="0"/>
            </a:endParaRPr>
          </a:p>
        </p:txBody>
      </p:sp>
    </p:spTree>
    <p:extLst>
      <p:ext uri="{BB962C8B-B14F-4D97-AF65-F5344CB8AC3E}">
        <p14:creationId xmlns:p14="http://schemas.microsoft.com/office/powerpoint/2010/main" val="230770337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Прямоугольник 3"/>
          <p:cNvSpPr/>
          <p:nvPr/>
        </p:nvSpPr>
        <p:spPr>
          <a:xfrm>
            <a:off x="101912" y="116632"/>
            <a:ext cx="8928992" cy="6186309"/>
          </a:xfrm>
          <a:prstGeom prst="rect">
            <a:avLst/>
          </a:prstGeom>
        </p:spPr>
        <p:txBody>
          <a:bodyPr wrap="square">
            <a:spAutoFit/>
          </a:bodyPr>
          <a:lstStyle/>
          <a:p>
            <a:pPr algn="ctr"/>
            <a:r>
              <a:rPr lang="uz-Cyrl-UZ" sz="2200" b="1" dirty="0">
                <a:latin typeface="Times New Roman" pitchFamily="18" charset="0"/>
                <a:cs typeface="Times New Roman" pitchFamily="18" charset="0"/>
              </a:rPr>
              <a:t>Ajratilgan server va Protokol</a:t>
            </a:r>
            <a:endParaRPr lang="ru-RU" sz="2200" dirty="0">
              <a:latin typeface="Times New Roman" pitchFamily="18" charset="0"/>
              <a:cs typeface="Times New Roman" pitchFamily="18" charset="0"/>
            </a:endParaRPr>
          </a:p>
          <a:p>
            <a:pPr algn="just"/>
            <a:r>
              <a:rPr lang="en-US" sz="2200" dirty="0" smtClean="0">
                <a:latin typeface="Times New Roman" pitchFamily="18" charset="0"/>
                <a:cs typeface="Times New Roman" pitchFamily="18" charset="0"/>
              </a:rPr>
              <a:t>	</a:t>
            </a:r>
            <a:r>
              <a:rPr lang="uz-Cyrl-UZ" sz="2200" dirty="0" smtClean="0">
                <a:latin typeface="Times New Roman" pitchFamily="18" charset="0"/>
                <a:cs typeface="Times New Roman" pitchFamily="18" charset="0"/>
              </a:rPr>
              <a:t>Xar </a:t>
            </a:r>
            <a:r>
              <a:rPr lang="uz-Cyrl-UZ" sz="2200" dirty="0">
                <a:latin typeface="Times New Roman" pitchFamily="18" charset="0"/>
                <a:cs typeface="Times New Roman" pitchFamily="18" charset="0"/>
              </a:rPr>
              <a:t>xil kompyuterlar va turli dasturlar tarmoq aloqasi jarayonida bir- birlarini tushunish uchun maxsus texnik qoidalar qo‘llaniladi. Tarmoq soxasida bunday qoidalar to‘plami protokol (bayonnoma) deb ataladi. Xozirgi kunda eng ko‘p qo‘llanilayotgan protokol – TCP/IP dir. Bu protokol funksiyasini oddiy pochta xizmatiga o‘xshatsa bo‘ladi. Agar siz xatni jo‘natmoqchi bo‘lsangiz, uni konvertga joylashtirasiz, konvert ustiga jo‘natuvchi va qabul qiluvchi manzillarni yozasiz va keyin pochta qutisiga tashlaysiz. Xatingiz qanday qilib manzilga yetadi, qaysi pochta bo‘limlarida bo‘ladi, qaysi pochtachi olib boradi sizga farqsiz. Asosiysi xat tez va butun yetib borishi. Xuddi shunday TCP/IP protokoli tarmoqda ishlaydi. Jo‘natiladigan ma’lumot paketga joylashtiriladi va paketga jo‘natuvchi va qabul qiluvchi kompyuter manzillari yoziladi va tarmoqqa uzatiladi. Shunday qilib tarmoqning bitta marshrutizatoridan (yo‘l ko‘rsatadigan maxsus qurilma yoki kompyuter) manzilga qarab eng qisqa yo‘llarini tanlab, keyingi marshrutizatorga uzatilib, paket kerakli manzilga etkaziladi. Faqat oddiy pochtadan farqi ma’lumotni etkazish vaqti kunlar bilan emas, soniyalar bilan o‘lchanadi</a:t>
            </a:r>
            <a:r>
              <a:rPr lang="uz-Cyrl-UZ" sz="2200" dirty="0" smtClean="0">
                <a:latin typeface="Times New Roman" pitchFamily="18" charset="0"/>
                <a:cs typeface="Times New Roman" pitchFamily="18" charset="0"/>
              </a:rPr>
              <a:t>.</a:t>
            </a:r>
            <a:endParaRPr lang="ru-RU" sz="2200" dirty="0">
              <a:latin typeface="Times New Roman" pitchFamily="18" charset="0"/>
              <a:cs typeface="Times New Roman" pitchFamily="18" charset="0"/>
            </a:endParaRPr>
          </a:p>
        </p:txBody>
      </p:sp>
    </p:spTree>
    <p:extLst>
      <p:ext uri="{BB962C8B-B14F-4D97-AF65-F5344CB8AC3E}">
        <p14:creationId xmlns:p14="http://schemas.microsoft.com/office/powerpoint/2010/main" val="339362985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Прямоугольник 3"/>
          <p:cNvSpPr/>
          <p:nvPr/>
        </p:nvSpPr>
        <p:spPr>
          <a:xfrm>
            <a:off x="179512" y="188640"/>
            <a:ext cx="8784976" cy="2800767"/>
          </a:xfrm>
          <a:prstGeom prst="rect">
            <a:avLst/>
          </a:prstGeom>
        </p:spPr>
        <p:txBody>
          <a:bodyPr wrap="square">
            <a:spAutoFit/>
          </a:bodyPr>
          <a:lstStyle/>
          <a:p>
            <a:pPr algn="just"/>
            <a:r>
              <a:rPr lang="en-US" sz="2000" dirty="0" smtClean="0">
                <a:latin typeface="Times New Roman" pitchFamily="18" charset="0"/>
                <a:cs typeface="Times New Roman" pitchFamily="18" charset="0"/>
              </a:rPr>
              <a:t>	</a:t>
            </a:r>
            <a:r>
              <a:rPr lang="uz-Cyrl-UZ" sz="2200" dirty="0" smtClean="0">
                <a:latin typeface="Times New Roman" pitchFamily="18" charset="0"/>
                <a:cs typeface="Times New Roman" pitchFamily="18" charset="0"/>
              </a:rPr>
              <a:t>Tarmoqning </a:t>
            </a:r>
            <a:r>
              <a:rPr lang="uz-Cyrl-UZ" sz="2200" dirty="0">
                <a:latin typeface="Times New Roman" pitchFamily="18" charset="0"/>
                <a:cs typeface="Times New Roman" pitchFamily="18" charset="0"/>
              </a:rPr>
              <a:t>uzatish yo‘llari tiqilib qolmasligi uchun TCP protokoli katta xajmli ma’lumotlarni kichik qismlarga bo‘lib, aloxida paketlarda uzatadi. Xar bir paket internetda IP protokol xizmati yordamida aloxida sayoxat qiladi. Paketlar manzilga etgach, TCP protokoli bo‘lingan ma’lumotni yig‘adi va boshlang‘ich xolatiga keltiradi. Agar qandaydir paket manzilga etib kelmasa, TCP protokol uni takroran jo‘natishni talab etadi, toki ma’lumot butun etib kelmagungacha. Shuning uchun TCP/IP ishonchli protokol deb aytiladi.</a:t>
            </a:r>
            <a:endParaRPr lang="ru-RU" sz="2200" dirty="0">
              <a:latin typeface="Times New Roman" pitchFamily="18" charset="0"/>
              <a:cs typeface="Times New Roman" pitchFamily="18" charset="0"/>
            </a:endParaRPr>
          </a:p>
        </p:txBody>
      </p:sp>
      <p:pic>
        <p:nvPicPr>
          <p:cNvPr id="5" name="Рисунок 4"/>
          <p:cNvPicPr/>
          <p:nvPr/>
        </p:nvPicPr>
        <p:blipFill>
          <a:blip r:embed="rId2"/>
          <a:srcRect t="5817"/>
          <a:stretch>
            <a:fillRect/>
          </a:stretch>
        </p:blipFill>
        <p:spPr bwMode="auto">
          <a:xfrm>
            <a:off x="2195736" y="2974958"/>
            <a:ext cx="5256584" cy="3622394"/>
          </a:xfrm>
          <a:prstGeom prst="rect">
            <a:avLst/>
          </a:prstGeom>
          <a:noFill/>
          <a:ln w="9525">
            <a:noFill/>
            <a:miter lim="800000"/>
            <a:headEnd/>
            <a:tailEnd/>
          </a:ln>
        </p:spPr>
      </p:pic>
    </p:spTree>
    <p:extLst>
      <p:ext uri="{BB962C8B-B14F-4D97-AF65-F5344CB8AC3E}">
        <p14:creationId xmlns:p14="http://schemas.microsoft.com/office/powerpoint/2010/main" val="363584274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Прямоугольник 3"/>
          <p:cNvSpPr/>
          <p:nvPr/>
        </p:nvSpPr>
        <p:spPr>
          <a:xfrm>
            <a:off x="107504" y="116632"/>
            <a:ext cx="8856984" cy="6247864"/>
          </a:xfrm>
          <a:prstGeom prst="rect">
            <a:avLst/>
          </a:prstGeom>
        </p:spPr>
        <p:txBody>
          <a:bodyPr wrap="square">
            <a:spAutoFit/>
          </a:bodyPr>
          <a:lstStyle/>
          <a:p>
            <a:pPr algn="just"/>
            <a:r>
              <a:rPr lang="uz-Cyrl-UZ" sz="2000" dirty="0">
                <a:latin typeface="Times New Roman" pitchFamily="18" charset="0"/>
                <a:cs typeface="Times New Roman" pitchFamily="18" charset="0"/>
              </a:rPr>
              <a:t>Aslida, TCP/IP – bu protokollar oilasi xisoblanadi. Un</a:t>
            </a:r>
            <a:r>
              <a:rPr lang="en-US" sz="2000" dirty="0">
                <a:latin typeface="Times New Roman" pitchFamily="18" charset="0"/>
                <a:cs typeface="Times New Roman" pitchFamily="18" charset="0"/>
              </a:rPr>
              <a:t>in</a:t>
            </a:r>
            <a:r>
              <a:rPr lang="uz-Cyrl-UZ" sz="2000" dirty="0">
                <a:latin typeface="Times New Roman" pitchFamily="18" charset="0"/>
                <a:cs typeface="Times New Roman" pitchFamily="18" charset="0"/>
              </a:rPr>
              <a:t>g ichida bir necha boshqa protokollar xam mavjud:</a:t>
            </a:r>
            <a:endParaRPr lang="ru-RU" sz="2000" dirty="0">
              <a:latin typeface="Times New Roman" pitchFamily="18" charset="0"/>
              <a:cs typeface="Times New Roman" pitchFamily="18" charset="0"/>
            </a:endParaRPr>
          </a:p>
          <a:p>
            <a:pPr algn="just"/>
            <a:r>
              <a:rPr lang="uz-Cyrl-UZ" sz="2000" dirty="0">
                <a:latin typeface="Times New Roman" pitchFamily="18" charset="0"/>
                <a:cs typeface="Times New Roman" pitchFamily="18" charset="0"/>
              </a:rPr>
              <a:t>* </a:t>
            </a:r>
            <a:r>
              <a:rPr lang="uz-Cyrl-UZ" sz="2000" b="1" dirty="0">
                <a:latin typeface="Times New Roman" pitchFamily="18" charset="0"/>
                <a:cs typeface="Times New Roman" pitchFamily="18" charset="0"/>
              </a:rPr>
              <a:t>UDP</a:t>
            </a:r>
            <a:r>
              <a:rPr lang="uz-Cyrl-UZ" sz="2000" dirty="0">
                <a:latin typeface="Times New Roman" pitchFamily="18" charset="0"/>
                <a:cs typeface="Times New Roman" pitchFamily="18" charset="0"/>
              </a:rPr>
              <a:t> (User datagram protocol) – TCP protokoliga o‘xshash, lekin ishonchsiz (paket etib borganini e’tiborga olmasdan ishlaydi). Bu protokol baland tezlikda ishlaydigan jarayonlarda, masalan, videokonferensialarda va tarmoqning maxsus xizmatlari uchun qo‘llaniladi.</a:t>
            </a:r>
            <a:endParaRPr lang="ru-RU" sz="2000" dirty="0">
              <a:latin typeface="Times New Roman" pitchFamily="18" charset="0"/>
              <a:cs typeface="Times New Roman" pitchFamily="18" charset="0"/>
            </a:endParaRPr>
          </a:p>
          <a:p>
            <a:pPr algn="just"/>
            <a:r>
              <a:rPr lang="uz-Cyrl-UZ" sz="2000" dirty="0">
                <a:latin typeface="Times New Roman" pitchFamily="18" charset="0"/>
                <a:cs typeface="Times New Roman" pitchFamily="18" charset="0"/>
              </a:rPr>
              <a:t> * </a:t>
            </a:r>
            <a:r>
              <a:rPr lang="uz-Cyrl-UZ" sz="2000" b="1" dirty="0">
                <a:latin typeface="Times New Roman" pitchFamily="18" charset="0"/>
                <a:cs typeface="Times New Roman" pitchFamily="18" charset="0"/>
              </a:rPr>
              <a:t>FTP</a:t>
            </a:r>
            <a:r>
              <a:rPr lang="uz-Cyrl-UZ" sz="2000" dirty="0">
                <a:latin typeface="Times New Roman" pitchFamily="18" charset="0"/>
                <a:cs typeface="Times New Roman" pitchFamily="18" charset="0"/>
              </a:rPr>
              <a:t> (File Transfer protocol – bu fayllarni tarmoqda uzatish protokoli. Kompyuterdan kompyuterga fayllarni uzatish imkoniyatini yaratadi va o‘zining ishida TCP protokoliga tayanadi.</a:t>
            </a:r>
            <a:endParaRPr lang="ru-RU" sz="2000" dirty="0">
              <a:latin typeface="Times New Roman" pitchFamily="18" charset="0"/>
              <a:cs typeface="Times New Roman" pitchFamily="18" charset="0"/>
            </a:endParaRPr>
          </a:p>
          <a:p>
            <a:pPr algn="just"/>
            <a:r>
              <a:rPr lang="uz-Cyrl-UZ" sz="2000" dirty="0">
                <a:latin typeface="Times New Roman" pitchFamily="18" charset="0"/>
                <a:cs typeface="Times New Roman" pitchFamily="18" charset="0"/>
              </a:rPr>
              <a:t> * </a:t>
            </a:r>
            <a:r>
              <a:rPr lang="uz-Cyrl-UZ" sz="2000" b="1" dirty="0">
                <a:latin typeface="Times New Roman" pitchFamily="18" charset="0"/>
                <a:cs typeface="Times New Roman" pitchFamily="18" charset="0"/>
              </a:rPr>
              <a:t>SMTP</a:t>
            </a:r>
            <a:r>
              <a:rPr lang="uz-Cyrl-UZ" sz="2000" dirty="0">
                <a:latin typeface="Times New Roman" pitchFamily="18" charset="0"/>
                <a:cs typeface="Times New Roman" pitchFamily="18" charset="0"/>
              </a:rPr>
              <a:t> (Simple Mail Transfer Protocol) – elektron pochtaning uzatish sodda protokoli. Tarmoqning ikkita ixtiyoriy nuqtasi orasida pochta jo‘natuvini ta’minlaydi.</a:t>
            </a:r>
            <a:endParaRPr lang="ru-RU" sz="2000" dirty="0">
              <a:latin typeface="Times New Roman" pitchFamily="18" charset="0"/>
              <a:cs typeface="Times New Roman" pitchFamily="18" charset="0"/>
            </a:endParaRPr>
          </a:p>
          <a:p>
            <a:pPr algn="just"/>
            <a:r>
              <a:rPr lang="uz-Cyrl-UZ" sz="2000" dirty="0">
                <a:latin typeface="Times New Roman" pitchFamily="18" charset="0"/>
                <a:cs typeface="Times New Roman" pitchFamily="18" charset="0"/>
              </a:rPr>
              <a:t> * </a:t>
            </a:r>
            <a:r>
              <a:rPr lang="uz-Cyrl-UZ" sz="2000" b="1" dirty="0">
                <a:latin typeface="Times New Roman" pitchFamily="18" charset="0"/>
                <a:cs typeface="Times New Roman" pitchFamily="18" charset="0"/>
              </a:rPr>
              <a:t>Telnet</a:t>
            </a:r>
            <a:r>
              <a:rPr lang="uz-Cyrl-UZ" sz="2000" dirty="0">
                <a:latin typeface="Times New Roman" pitchFamily="18" charset="0"/>
                <a:cs typeface="Times New Roman" pitchFamily="18" charset="0"/>
              </a:rPr>
              <a:t> – masofadagi kompyuterlarda xar xil amallarning bajarilishini ta’minlaydi. Bu xolatda foydalanuvchining kompyuteri terminal (ma’lumot jo‘natuvchi) rolini o‘ynaydi. Siz buyruqlarni kiritasiz, ular masofadagi kompyuterda bajariladi va sizning ekraningizda ularning natijasi namoyon bo‘ladi.</a:t>
            </a:r>
            <a:endParaRPr lang="ru-RU" sz="2000" dirty="0">
              <a:latin typeface="Times New Roman" pitchFamily="18" charset="0"/>
              <a:cs typeface="Times New Roman" pitchFamily="18" charset="0"/>
            </a:endParaRPr>
          </a:p>
          <a:p>
            <a:pPr algn="just"/>
            <a:r>
              <a:rPr lang="uz-Cyrl-UZ" sz="2000" dirty="0">
                <a:latin typeface="Times New Roman" pitchFamily="18" charset="0"/>
                <a:cs typeface="Times New Roman" pitchFamily="18" charset="0"/>
              </a:rPr>
              <a:t> * </a:t>
            </a:r>
            <a:r>
              <a:rPr lang="uz-Cyrl-UZ" sz="2000" b="1" dirty="0">
                <a:latin typeface="Times New Roman" pitchFamily="18" charset="0"/>
                <a:cs typeface="Times New Roman" pitchFamily="18" charset="0"/>
              </a:rPr>
              <a:t>HTTP</a:t>
            </a:r>
            <a:r>
              <a:rPr lang="uz-Cyrl-UZ" sz="2000" dirty="0">
                <a:latin typeface="Times New Roman" pitchFamily="18" charset="0"/>
                <a:cs typeface="Times New Roman" pitchFamily="18" charset="0"/>
              </a:rPr>
              <a:t> (Hyper Text Transfer Protokol) – gipermatnni uzatish protokoli. WWW – texnologiyasi asosida ishlaydi.</a:t>
            </a:r>
            <a:endParaRPr lang="ru-RU" sz="2000" dirty="0">
              <a:latin typeface="Times New Roman" pitchFamily="18" charset="0"/>
              <a:cs typeface="Times New Roman" pitchFamily="18" charset="0"/>
            </a:endParaRPr>
          </a:p>
          <a:p>
            <a:pPr algn="just"/>
            <a:r>
              <a:rPr lang="en-US" sz="2000" dirty="0" smtClean="0">
                <a:latin typeface="Times New Roman" pitchFamily="18" charset="0"/>
                <a:cs typeface="Times New Roman" pitchFamily="18" charset="0"/>
              </a:rPr>
              <a:t>	</a:t>
            </a:r>
            <a:r>
              <a:rPr lang="uz-Cyrl-UZ" sz="2000" dirty="0" smtClean="0">
                <a:latin typeface="Times New Roman" pitchFamily="18" charset="0"/>
                <a:cs typeface="Times New Roman" pitchFamily="18" charset="0"/>
              </a:rPr>
              <a:t>Bundan </a:t>
            </a:r>
            <a:r>
              <a:rPr lang="uz-Cyrl-UZ" sz="2000" dirty="0">
                <a:latin typeface="Times New Roman" pitchFamily="18" charset="0"/>
                <a:cs typeface="Times New Roman" pitchFamily="18" charset="0"/>
              </a:rPr>
              <a:t>tashqari, ko‘plab, boshqa protokollar xam mavjud, lekin ular bilan foydalanuvchilar kamroq uchrashishadi. Kerak bo‘lsa maxsus adabiyotlardan ular xaqida ma’lumot olish mumkin.</a:t>
            </a:r>
            <a:endParaRPr lang="ru-RU" sz="2000" dirty="0">
              <a:latin typeface="Times New Roman" pitchFamily="18" charset="0"/>
              <a:cs typeface="Times New Roman" pitchFamily="18" charset="0"/>
            </a:endParaRPr>
          </a:p>
        </p:txBody>
      </p:sp>
    </p:spTree>
    <p:extLst>
      <p:ext uri="{BB962C8B-B14F-4D97-AF65-F5344CB8AC3E}">
        <p14:creationId xmlns:p14="http://schemas.microsoft.com/office/powerpoint/2010/main" val="123396998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Прямоугольник 3"/>
          <p:cNvSpPr/>
          <p:nvPr/>
        </p:nvSpPr>
        <p:spPr>
          <a:xfrm>
            <a:off x="107504" y="116632"/>
            <a:ext cx="8928992" cy="6524863"/>
          </a:xfrm>
          <a:prstGeom prst="rect">
            <a:avLst/>
          </a:prstGeom>
        </p:spPr>
        <p:txBody>
          <a:bodyPr wrap="square">
            <a:spAutoFit/>
          </a:bodyPr>
          <a:lstStyle/>
          <a:p>
            <a:pPr algn="ctr"/>
            <a:r>
              <a:rPr lang="uz-Cyrl-UZ" sz="2200" b="1" dirty="0">
                <a:latin typeface="Times New Roman" pitchFamily="18" charset="0"/>
                <a:cs typeface="Times New Roman" pitchFamily="18" charset="0"/>
              </a:rPr>
              <a:t>Tarmoqning dasturiy ta’minoti</a:t>
            </a:r>
            <a:endParaRPr lang="ru-RU" sz="2200" dirty="0">
              <a:latin typeface="Times New Roman" pitchFamily="18" charset="0"/>
              <a:cs typeface="Times New Roman" pitchFamily="18" charset="0"/>
            </a:endParaRPr>
          </a:p>
          <a:p>
            <a:pPr algn="just"/>
            <a:r>
              <a:rPr lang="uz-Cyrl-UZ" sz="2200" dirty="0">
                <a:latin typeface="Times New Roman" pitchFamily="18" charset="0"/>
                <a:cs typeface="Times New Roman" pitchFamily="18" charset="0"/>
              </a:rPr>
              <a:t>	Tarmoqning imkoniyati uning foydalanuvchiga ko‘rsatadigan xizmati bilan o‘lchanadi. Tarmoqning har bir xizmat turi hamda unga kirish uchun dasturiy ta’minot ishlab chiqiladi. Tarmoqda ishlash uchun belgilangan dastur bir vaqtda ko‘plab foydalanuvchilar uchun mo‘ljallangan bo‘lishi kerak. Hozirda shunday dasturiy ta’minot tuzishning ikki xil asosiy tamoyili joriy etilgan.</a:t>
            </a:r>
            <a:endParaRPr lang="ru-RU" sz="2200" dirty="0">
              <a:latin typeface="Times New Roman" pitchFamily="18" charset="0"/>
              <a:cs typeface="Times New Roman" pitchFamily="18" charset="0"/>
            </a:endParaRPr>
          </a:p>
          <a:p>
            <a:pPr algn="just"/>
            <a:r>
              <a:rPr lang="uz-Cyrl-UZ" sz="2200" dirty="0">
                <a:latin typeface="Times New Roman" pitchFamily="18" charset="0"/>
                <a:cs typeface="Times New Roman" pitchFamily="18" charset="0"/>
              </a:rPr>
              <a:t>	Birinchi tamoyilda tarmoqning dasturlashtirilgan ta’minoti ko‘pgina foydalanuvchilarga hamma kirishi mumkin bo‘lgan bosh kompyuter resurslarini taqdim etishga mo‘ljallangan. </a:t>
            </a:r>
            <a:r>
              <a:rPr lang="en-US" sz="2200" dirty="0">
                <a:latin typeface="Times New Roman" pitchFamily="18" charset="0"/>
                <a:cs typeface="Times New Roman" pitchFamily="18" charset="0"/>
              </a:rPr>
              <a:t>U </a:t>
            </a:r>
            <a:r>
              <a:rPr lang="en-US" sz="2200" dirty="0" err="1">
                <a:latin typeface="Times New Roman" pitchFamily="18" charset="0"/>
                <a:cs typeface="Times New Roman" pitchFamily="18" charset="0"/>
              </a:rPr>
              <a:t>fayl</a:t>
            </a:r>
            <a:r>
              <a:rPr lang="en-US" sz="2200" dirty="0">
                <a:latin typeface="Times New Roman" pitchFamily="18" charset="0"/>
                <a:cs typeface="Times New Roman" pitchFamily="18" charset="0"/>
              </a:rPr>
              <a:t>-server deb </a:t>
            </a:r>
            <a:r>
              <a:rPr lang="en-US" sz="2200" dirty="0" err="1">
                <a:latin typeface="Times New Roman" pitchFamily="18" charset="0"/>
                <a:cs typeface="Times New Roman" pitchFamily="18" charset="0"/>
              </a:rPr>
              <a:t>yuritiladi</a:t>
            </a:r>
            <a:r>
              <a:rPr lang="en-US" sz="2200" dirty="0">
                <a:latin typeface="Times New Roman" pitchFamily="18" charset="0"/>
                <a:cs typeface="Times New Roman" pitchFamily="18" charset="0"/>
              </a:rPr>
              <a:t>. Bosh </a:t>
            </a:r>
            <a:r>
              <a:rPr lang="en-US" sz="2200" dirty="0" err="1">
                <a:latin typeface="Times New Roman" pitchFamily="18" charset="0"/>
                <a:cs typeface="Times New Roman" pitchFamily="18" charset="0"/>
              </a:rPr>
              <a:t>kompyuterning</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asosiy</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resursi</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fayllar</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bo‘lgani</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uchun</a:t>
            </a:r>
            <a:r>
              <a:rPr lang="en-US" sz="2200" dirty="0">
                <a:latin typeface="Times New Roman" pitchFamily="18" charset="0"/>
                <a:cs typeface="Times New Roman" pitchFamily="18" charset="0"/>
              </a:rPr>
              <a:t> u </a:t>
            </a:r>
            <a:r>
              <a:rPr lang="en-US" sz="2200" dirty="0" err="1">
                <a:latin typeface="Times New Roman" pitchFamily="18" charset="0"/>
                <a:cs typeface="Times New Roman" pitchFamily="18" charset="0"/>
              </a:rPr>
              <a:t>shu</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nomni</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olgan</a:t>
            </a:r>
            <a:r>
              <a:rPr lang="en-US" sz="2200" dirty="0">
                <a:latin typeface="Times New Roman" pitchFamily="18" charset="0"/>
                <a:cs typeface="Times New Roman" pitchFamily="18" charset="0"/>
              </a:rPr>
              <a:t>. Bu </a:t>
            </a:r>
            <a:r>
              <a:rPr lang="en-US" sz="2200" dirty="0" err="1">
                <a:latin typeface="Times New Roman" pitchFamily="18" charset="0"/>
                <a:cs typeface="Times New Roman" pitchFamily="18" charset="0"/>
              </a:rPr>
              <a:t>dasturli</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modullar</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yoki</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ma’lumotlarga</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ega</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fayllar</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bo‘lishi</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mumkin</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Fayl</a:t>
            </a:r>
            <a:r>
              <a:rPr lang="en-US" sz="2200" dirty="0">
                <a:latin typeface="Times New Roman" pitchFamily="18" charset="0"/>
                <a:cs typeface="Times New Roman" pitchFamily="18" charset="0"/>
              </a:rPr>
              <a:t>-server - </a:t>
            </a:r>
            <a:r>
              <a:rPr lang="en-US" sz="2200" dirty="0" err="1">
                <a:latin typeface="Times New Roman" pitchFamily="18" charset="0"/>
                <a:cs typeface="Times New Roman" pitchFamily="18" charset="0"/>
              </a:rPr>
              <a:t>bu</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serverning</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eng</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umumiy</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turi</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Shunisi</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qiziqki</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fayl-serverini</a:t>
            </a:r>
            <a:r>
              <a:rPr lang="en-US" sz="2200" dirty="0">
                <a:latin typeface="Times New Roman" pitchFamily="18" charset="0"/>
                <a:cs typeface="Times New Roman" pitchFamily="18" charset="0"/>
              </a:rPr>
              <a:t> disk </a:t>
            </a:r>
            <a:r>
              <a:rPr lang="en-US" sz="2200" dirty="0" err="1">
                <a:latin typeface="Times New Roman" pitchFamily="18" charset="0"/>
                <a:cs typeface="Times New Roman" pitchFamily="18" charset="0"/>
              </a:rPr>
              <a:t>hajmi</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odatdagi</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kompyuterdagidan</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ko‘p</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bo‘lishi</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kerak</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chunki</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undan</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ko‘pgina</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kompyuterlarda</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foydalaniladi</a:t>
            </a:r>
            <a:r>
              <a:rPr lang="en-US" sz="2200" dirty="0">
                <a:latin typeface="Times New Roman" pitchFamily="18" charset="0"/>
                <a:cs typeface="Times New Roman" pitchFamily="18" charset="0"/>
              </a:rPr>
              <a:t>. </a:t>
            </a:r>
            <a:endParaRPr lang="ru-RU" sz="2200" dirty="0">
              <a:latin typeface="Times New Roman" pitchFamily="18" charset="0"/>
              <a:cs typeface="Times New Roman" pitchFamily="18" charset="0"/>
            </a:endParaRPr>
          </a:p>
          <a:p>
            <a:pPr algn="ctr"/>
            <a:r>
              <a:rPr lang="uz-Cyrl-UZ" sz="2200" b="1" dirty="0">
                <a:latin typeface="Times New Roman" pitchFamily="18" charset="0"/>
                <a:cs typeface="Times New Roman" pitchFamily="18" charset="0"/>
              </a:rPr>
              <a:t>Ma’lumotlar uzatish tarmoqlariga va xizmatlariga qo‘yiladigan talablar</a:t>
            </a:r>
            <a:endParaRPr lang="ru-RU" sz="2200" dirty="0">
              <a:latin typeface="Times New Roman" pitchFamily="18" charset="0"/>
              <a:cs typeface="Times New Roman" pitchFamily="18" charset="0"/>
            </a:endParaRPr>
          </a:p>
          <a:p>
            <a:pPr algn="just"/>
            <a:r>
              <a:rPr lang="en-US" sz="2200" dirty="0" smtClean="0">
                <a:latin typeface="Times New Roman" pitchFamily="18" charset="0"/>
                <a:cs typeface="Times New Roman" pitchFamily="18" charset="0"/>
              </a:rPr>
              <a:t>	</a:t>
            </a:r>
            <a:r>
              <a:rPr lang="uz-Cyrl-UZ" sz="2200" dirty="0" smtClean="0">
                <a:latin typeface="Times New Roman" pitchFamily="18" charset="0"/>
                <a:cs typeface="Times New Roman" pitchFamily="18" charset="0"/>
              </a:rPr>
              <a:t>Aholining </a:t>
            </a:r>
            <a:r>
              <a:rPr lang="uz-Cyrl-UZ" sz="2200" dirty="0">
                <a:latin typeface="Times New Roman" pitchFamily="18" charset="0"/>
                <a:cs typeface="Times New Roman" pitchFamily="18" charset="0"/>
              </a:rPr>
              <a:t>yangi turdagi xizmatlarga bo‘lgan talabining ortib borishi asosida ma’lumotlarni uzatuvchi zamonaviy yuqori tezlikli telekommunikatsiya tizimlarini takomillashtirish talab etiladi. </a:t>
            </a:r>
            <a:endParaRPr lang="ru-RU" sz="2200" dirty="0">
              <a:latin typeface="Times New Roman" pitchFamily="18" charset="0"/>
              <a:cs typeface="Times New Roman" pitchFamily="18" charset="0"/>
            </a:endParaRPr>
          </a:p>
        </p:txBody>
      </p:sp>
    </p:spTree>
    <p:extLst>
      <p:ext uri="{BB962C8B-B14F-4D97-AF65-F5344CB8AC3E}">
        <p14:creationId xmlns:p14="http://schemas.microsoft.com/office/powerpoint/2010/main" val="248320218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Прямоугольник 3"/>
          <p:cNvSpPr/>
          <p:nvPr/>
        </p:nvSpPr>
        <p:spPr>
          <a:xfrm>
            <a:off x="191855" y="116632"/>
            <a:ext cx="8784976" cy="6555641"/>
          </a:xfrm>
          <a:prstGeom prst="rect">
            <a:avLst/>
          </a:prstGeom>
        </p:spPr>
        <p:txBody>
          <a:bodyPr wrap="square">
            <a:spAutoFit/>
          </a:bodyPr>
          <a:lstStyle/>
          <a:p>
            <a:pPr algn="ctr"/>
            <a:r>
              <a:rPr lang="uz-Cyrl-UZ" sz="2000" dirty="0" smtClean="0">
                <a:latin typeface="Times New Roman" pitchFamily="18" charset="0"/>
                <a:cs typeface="Times New Roman" pitchFamily="18" charset="0"/>
              </a:rPr>
              <a:t>Quyidagilarga </a:t>
            </a:r>
            <a:r>
              <a:rPr lang="uz-Cyrl-UZ" sz="2000" dirty="0">
                <a:latin typeface="Times New Roman" pitchFamily="18" charset="0"/>
                <a:cs typeface="Times New Roman" pitchFamily="18" charset="0"/>
              </a:rPr>
              <a:t>asosan aloqa tizimlari va tarmoqlariga nisbatan bo‘lgan talab doimiy ravishda ortib boradi:</a:t>
            </a:r>
            <a:endParaRPr lang="ru-RU" sz="2000" dirty="0">
              <a:latin typeface="Times New Roman" pitchFamily="18" charset="0"/>
              <a:cs typeface="Times New Roman" pitchFamily="18" charset="0"/>
            </a:endParaRPr>
          </a:p>
          <a:p>
            <a:pPr lvl="0" algn="just"/>
            <a:r>
              <a:rPr lang="uz-Cyrl-UZ" sz="2000" dirty="0">
                <a:latin typeface="Times New Roman" pitchFamily="18" charset="0"/>
                <a:cs typeface="Times New Roman" pitchFamily="18" charset="0"/>
              </a:rPr>
              <a:t>foydalanuvchilar sonining ortishi;</a:t>
            </a:r>
            <a:endParaRPr lang="ru-RU" sz="2000" dirty="0">
              <a:latin typeface="Times New Roman" pitchFamily="18" charset="0"/>
              <a:cs typeface="Times New Roman" pitchFamily="18" charset="0"/>
            </a:endParaRPr>
          </a:p>
          <a:p>
            <a:pPr lvl="0" algn="just"/>
            <a:r>
              <a:rPr lang="uz-Cyrl-UZ" sz="2000" dirty="0">
                <a:latin typeface="Times New Roman" pitchFamily="18" charset="0"/>
                <a:cs typeface="Times New Roman" pitchFamily="18" charset="0"/>
              </a:rPr>
              <a:t>foydalanuvchilarni qiziqtirgan xizmat turlari sonining ortishi;</a:t>
            </a:r>
            <a:endParaRPr lang="ru-RU" sz="2000" dirty="0">
              <a:latin typeface="Times New Roman" pitchFamily="18" charset="0"/>
              <a:cs typeface="Times New Roman" pitchFamily="18" charset="0"/>
            </a:endParaRPr>
          </a:p>
          <a:p>
            <a:pPr lvl="0" algn="just"/>
            <a:r>
              <a:rPr lang="uz-Cyrl-UZ" sz="2000" dirty="0">
                <a:latin typeface="Times New Roman" pitchFamily="18" charset="0"/>
                <a:cs typeface="Times New Roman" pitchFamily="18" charset="0"/>
              </a:rPr>
              <a:t>xizmat ko‘rsatish sifatiga bo‘lgan talabning ortishi (qabul qilinadigan axborotlarning ishonchliligini, yetkazilish vaqti va maxfiyligiga bo‘lgan talab asosiy hisoblanadi).</a:t>
            </a:r>
            <a:endParaRPr lang="ru-RU" sz="2000" dirty="0">
              <a:latin typeface="Times New Roman" pitchFamily="18" charset="0"/>
              <a:cs typeface="Times New Roman" pitchFamily="18" charset="0"/>
            </a:endParaRPr>
          </a:p>
          <a:p>
            <a:pPr algn="just"/>
            <a:r>
              <a:rPr lang="uz-Cyrl-UZ" sz="2000" dirty="0">
                <a:latin typeface="Times New Roman" pitchFamily="18" charset="0"/>
                <a:cs typeface="Times New Roman" pitchFamily="18" charset="0"/>
              </a:rPr>
              <a:t>Shu bilan bir qatorda ma’lumotlarni uzatuvchi yuqori tezlikli tizimlarga qo‘yiladigan talablar quyidagilardan iborat:</a:t>
            </a:r>
            <a:endParaRPr lang="ru-RU" sz="2000" dirty="0">
              <a:latin typeface="Times New Roman" pitchFamily="18" charset="0"/>
              <a:cs typeface="Times New Roman" pitchFamily="18" charset="0"/>
            </a:endParaRPr>
          </a:p>
          <a:p>
            <a:pPr lvl="0" algn="just"/>
            <a:r>
              <a:rPr lang="uz-Cyrl-UZ" sz="2000" dirty="0">
                <a:latin typeface="Times New Roman" pitchFamily="18" charset="0"/>
                <a:cs typeface="Times New Roman" pitchFamily="18" charset="0"/>
              </a:rPr>
              <a:t>uzatilayotgan axborotning to‘g‘rililigi, aniqligi;</a:t>
            </a:r>
            <a:endParaRPr lang="ru-RU" sz="2000" dirty="0">
              <a:latin typeface="Times New Roman" pitchFamily="18" charset="0"/>
              <a:cs typeface="Times New Roman" pitchFamily="18" charset="0"/>
            </a:endParaRPr>
          </a:p>
          <a:p>
            <a:pPr lvl="0" algn="just"/>
            <a:r>
              <a:rPr lang="uz-Cyrl-UZ" sz="2000" dirty="0">
                <a:latin typeface="Times New Roman" pitchFamily="18" charset="0"/>
                <a:cs typeface="Times New Roman" pitchFamily="18" charset="0"/>
              </a:rPr>
              <a:t>tezlik;</a:t>
            </a:r>
            <a:endParaRPr lang="ru-RU" sz="2000" dirty="0">
              <a:latin typeface="Times New Roman" pitchFamily="18" charset="0"/>
              <a:cs typeface="Times New Roman" pitchFamily="18" charset="0"/>
            </a:endParaRPr>
          </a:p>
          <a:p>
            <a:pPr lvl="0" algn="just"/>
            <a:r>
              <a:rPr lang="uz-Cyrl-UZ" sz="2000" dirty="0">
                <a:latin typeface="Times New Roman" pitchFamily="18" charset="0"/>
                <a:cs typeface="Times New Roman" pitchFamily="18" charset="0"/>
              </a:rPr>
              <a:t>ishonchlilik;</a:t>
            </a:r>
            <a:endParaRPr lang="ru-RU" sz="2000" dirty="0">
              <a:latin typeface="Times New Roman" pitchFamily="18" charset="0"/>
              <a:cs typeface="Times New Roman" pitchFamily="18" charset="0"/>
            </a:endParaRPr>
          </a:p>
          <a:p>
            <a:pPr lvl="0" algn="just"/>
            <a:r>
              <a:rPr lang="uz-Cyrl-UZ" sz="2000" dirty="0">
                <a:latin typeface="Times New Roman" pitchFamily="18" charset="0"/>
                <a:cs typeface="Times New Roman" pitchFamily="18" charset="0"/>
              </a:rPr>
              <a:t>axborot xavfsizligi.</a:t>
            </a:r>
            <a:endParaRPr lang="ru-RU" sz="2000" dirty="0">
              <a:latin typeface="Times New Roman" pitchFamily="18" charset="0"/>
              <a:cs typeface="Times New Roman" pitchFamily="18" charset="0"/>
            </a:endParaRPr>
          </a:p>
          <a:p>
            <a:pPr algn="just"/>
            <a:r>
              <a:rPr lang="en-US" sz="2000" dirty="0" smtClean="0">
                <a:latin typeface="Times New Roman" pitchFamily="18" charset="0"/>
                <a:cs typeface="Times New Roman" pitchFamily="18" charset="0"/>
              </a:rPr>
              <a:t>	</a:t>
            </a:r>
            <a:r>
              <a:rPr lang="uz-Cyrl-UZ" sz="2000" dirty="0" smtClean="0">
                <a:latin typeface="Times New Roman" pitchFamily="18" charset="0"/>
                <a:cs typeface="Times New Roman" pitchFamily="18" charset="0"/>
              </a:rPr>
              <a:t>Uzatish </a:t>
            </a:r>
            <a:r>
              <a:rPr lang="uz-Cyrl-UZ" sz="2000" dirty="0">
                <a:latin typeface="Times New Roman" pitchFamily="18" charset="0"/>
                <a:cs typeface="Times New Roman" pitchFamily="18" charset="0"/>
              </a:rPr>
              <a:t>tizimlariga bo‘lgan asosiy talab – yuqori aniqlikdir. Xalqaro Elektraloqa Ittifoqi (XEAI) (MSE-T) tomonidan o‘rnatilgan me’yorga asosan, bitta belgini uzatishdagi xatolik extimolligi:</a:t>
            </a:r>
            <a:endParaRPr lang="ru-RU" sz="2000" dirty="0">
              <a:latin typeface="Times New Roman" pitchFamily="18" charset="0"/>
              <a:cs typeface="Times New Roman" pitchFamily="18" charset="0"/>
            </a:endParaRPr>
          </a:p>
          <a:p>
            <a:pPr lvl="0" algn="just"/>
            <a:r>
              <a:rPr lang="uz-Cyrl-UZ" sz="2000" dirty="0">
                <a:latin typeface="Times New Roman" pitchFamily="18" charset="0"/>
                <a:cs typeface="Times New Roman" pitchFamily="18" charset="0"/>
              </a:rPr>
              <a:t>ma’lumotlarni uzatish uchun  - 10</a:t>
            </a:r>
            <a:r>
              <a:rPr lang="uz-Cyrl-UZ" sz="2000" baseline="30000" dirty="0">
                <a:latin typeface="Times New Roman" pitchFamily="18" charset="0"/>
                <a:cs typeface="Times New Roman" pitchFamily="18" charset="0"/>
              </a:rPr>
              <a:t>-6</a:t>
            </a:r>
            <a:r>
              <a:rPr lang="uz-Cyrl-UZ" sz="2000" dirty="0">
                <a:latin typeface="Times New Roman" pitchFamily="18" charset="0"/>
                <a:cs typeface="Times New Roman" pitchFamily="18" charset="0"/>
              </a:rPr>
              <a:t>;</a:t>
            </a:r>
            <a:endParaRPr lang="ru-RU" sz="2000" dirty="0">
              <a:latin typeface="Times New Roman" pitchFamily="18" charset="0"/>
              <a:cs typeface="Times New Roman" pitchFamily="18" charset="0"/>
            </a:endParaRPr>
          </a:p>
          <a:p>
            <a:pPr lvl="0" algn="just"/>
            <a:r>
              <a:rPr lang="uz-Cyrl-UZ" sz="2000" dirty="0">
                <a:latin typeface="Times New Roman" pitchFamily="18" charset="0"/>
                <a:cs typeface="Times New Roman" pitchFamily="18" charset="0"/>
              </a:rPr>
              <a:t>telegraf aloqasi uchun  3 · 10</a:t>
            </a:r>
            <a:r>
              <a:rPr lang="uz-Cyrl-UZ" sz="2000" baseline="30000" dirty="0">
                <a:latin typeface="Times New Roman" pitchFamily="18" charset="0"/>
                <a:cs typeface="Times New Roman" pitchFamily="18" charset="0"/>
              </a:rPr>
              <a:t>-5</a:t>
            </a:r>
            <a:r>
              <a:rPr lang="uz-Cyrl-UZ" sz="2000" dirty="0">
                <a:latin typeface="Times New Roman" pitchFamily="18" charset="0"/>
                <a:cs typeface="Times New Roman" pitchFamily="18" charset="0"/>
              </a:rPr>
              <a:t> dan oshmasligi lozim.</a:t>
            </a:r>
            <a:endParaRPr lang="ru-RU" sz="2000" dirty="0">
              <a:latin typeface="Times New Roman" pitchFamily="18" charset="0"/>
              <a:cs typeface="Times New Roman" pitchFamily="18" charset="0"/>
            </a:endParaRPr>
          </a:p>
          <a:p>
            <a:pPr algn="just"/>
            <a:r>
              <a:rPr lang="en-US" sz="2000" dirty="0" smtClean="0">
                <a:latin typeface="Times New Roman" pitchFamily="18" charset="0"/>
                <a:cs typeface="Times New Roman" pitchFamily="18" charset="0"/>
              </a:rPr>
              <a:t>	</a:t>
            </a:r>
            <a:r>
              <a:rPr lang="uz-Cyrl-UZ" sz="2000" dirty="0" smtClean="0">
                <a:latin typeface="Times New Roman" pitchFamily="18" charset="0"/>
                <a:cs typeface="Times New Roman" pitchFamily="18" charset="0"/>
              </a:rPr>
              <a:t>Lekin </a:t>
            </a:r>
            <a:r>
              <a:rPr lang="uz-Cyrl-UZ" sz="2000" dirty="0">
                <a:latin typeface="Times New Roman" pitchFamily="18" charset="0"/>
                <a:cs typeface="Times New Roman" pitchFamily="18" charset="0"/>
              </a:rPr>
              <a:t>o‘tkazgichli uzatish tizimlaridagi TCh kanallarda va real telegraf kanallarida bu ko‘rsatkich o‘rtacha 10</a:t>
            </a:r>
            <a:r>
              <a:rPr lang="uz-Cyrl-UZ" sz="2000" baseline="30000" dirty="0">
                <a:latin typeface="Times New Roman" pitchFamily="18" charset="0"/>
                <a:cs typeface="Times New Roman" pitchFamily="18" charset="0"/>
              </a:rPr>
              <a:t>-3</a:t>
            </a:r>
            <a:r>
              <a:rPr lang="uz-Cyrl-UZ" sz="2000" dirty="0">
                <a:latin typeface="Times New Roman" pitchFamily="18" charset="0"/>
                <a:cs typeface="Times New Roman" pitchFamily="18" charset="0"/>
              </a:rPr>
              <a:t> – 10</a:t>
            </a:r>
            <a:r>
              <a:rPr lang="uz-Cyrl-UZ" sz="2000" baseline="30000" dirty="0">
                <a:latin typeface="Times New Roman" pitchFamily="18" charset="0"/>
                <a:cs typeface="Times New Roman" pitchFamily="18" charset="0"/>
              </a:rPr>
              <a:t>-4</a:t>
            </a:r>
            <a:r>
              <a:rPr lang="uz-Cyrl-UZ" sz="2000" dirty="0">
                <a:latin typeface="Times New Roman" pitchFamily="18" charset="0"/>
                <a:cs typeface="Times New Roman" pitchFamily="18" charset="0"/>
              </a:rPr>
              <a:t> ni, radiokanallarda esa yanada ko‘proq bo‘lgan 10</a:t>
            </a:r>
            <a:r>
              <a:rPr lang="uz-Cyrl-UZ" sz="2000" baseline="30000" dirty="0">
                <a:latin typeface="Times New Roman" pitchFamily="18" charset="0"/>
                <a:cs typeface="Times New Roman" pitchFamily="18" charset="0"/>
              </a:rPr>
              <a:t>-3</a:t>
            </a:r>
            <a:r>
              <a:rPr lang="uz-Cyrl-UZ" sz="2000" dirty="0">
                <a:latin typeface="Times New Roman" pitchFamily="18" charset="0"/>
                <a:cs typeface="Times New Roman" pitchFamily="18" charset="0"/>
              </a:rPr>
              <a:t> – 10</a:t>
            </a:r>
            <a:r>
              <a:rPr lang="uz-Cyrl-UZ" sz="2000" baseline="30000" dirty="0">
                <a:latin typeface="Times New Roman" pitchFamily="18" charset="0"/>
                <a:cs typeface="Times New Roman" pitchFamily="18" charset="0"/>
              </a:rPr>
              <a:t>-2</a:t>
            </a:r>
            <a:r>
              <a:rPr lang="uz-Cyrl-UZ" sz="2000" dirty="0">
                <a:latin typeface="Times New Roman" pitchFamily="18" charset="0"/>
                <a:cs typeface="Times New Roman" pitchFamily="18" charset="0"/>
              </a:rPr>
              <a:t> qiymatni tashkil etadi. Shuning uchun uzatish aniqliligini 2 – 3 marotaba oshirish zaruriyati tug‘iladi. </a:t>
            </a:r>
            <a:endParaRPr lang="ru-RU" sz="2000" dirty="0">
              <a:latin typeface="Times New Roman" pitchFamily="18" charset="0"/>
              <a:cs typeface="Times New Roman" pitchFamily="18" charset="0"/>
            </a:endParaRPr>
          </a:p>
        </p:txBody>
      </p:sp>
    </p:spTree>
    <p:extLst>
      <p:ext uri="{BB962C8B-B14F-4D97-AF65-F5344CB8AC3E}">
        <p14:creationId xmlns:p14="http://schemas.microsoft.com/office/powerpoint/2010/main" val="119142340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Прямоугольник 3"/>
          <p:cNvSpPr/>
          <p:nvPr/>
        </p:nvSpPr>
        <p:spPr>
          <a:xfrm>
            <a:off x="185228" y="116632"/>
            <a:ext cx="8784976" cy="6524863"/>
          </a:xfrm>
          <a:prstGeom prst="rect">
            <a:avLst/>
          </a:prstGeom>
        </p:spPr>
        <p:txBody>
          <a:bodyPr wrap="square">
            <a:spAutoFit/>
          </a:bodyPr>
          <a:lstStyle/>
          <a:p>
            <a:pPr algn="ctr"/>
            <a:r>
              <a:rPr lang="uz-Cyrl-UZ" sz="2200" b="1" dirty="0">
                <a:latin typeface="Times New Roman" pitchFamily="18" charset="0"/>
                <a:cs typeface="Times New Roman" pitchFamily="18" charset="0"/>
              </a:rPr>
              <a:t>Tarmoq protokol modeli.</a:t>
            </a:r>
            <a:endParaRPr lang="ru-RU" sz="2200" dirty="0">
              <a:latin typeface="Times New Roman" pitchFamily="18" charset="0"/>
              <a:cs typeface="Times New Roman" pitchFamily="18" charset="0"/>
            </a:endParaRPr>
          </a:p>
          <a:p>
            <a:pPr algn="just"/>
            <a:r>
              <a:rPr lang="en-US" sz="2200" dirty="0" smtClean="0">
                <a:latin typeface="Times New Roman" pitchFamily="18" charset="0"/>
                <a:cs typeface="Times New Roman" pitchFamily="18" charset="0"/>
              </a:rPr>
              <a:t>	</a:t>
            </a:r>
            <a:r>
              <a:rPr lang="uz-Cyrl-UZ" sz="2200" dirty="0" smtClean="0">
                <a:latin typeface="Times New Roman" pitchFamily="18" charset="0"/>
                <a:cs typeface="Times New Roman" pitchFamily="18" charset="0"/>
              </a:rPr>
              <a:t>Protokol </a:t>
            </a:r>
            <a:r>
              <a:rPr lang="uz-Cyrl-UZ" sz="2200" dirty="0">
                <a:latin typeface="Times New Roman" pitchFamily="18" charset="0"/>
                <a:cs typeface="Times New Roman" pitchFamily="18" charset="0"/>
              </a:rPr>
              <a:t>modeli axborotni uzatish va ishlov berish asosiy jarayonlarni amalga oshirishda ob’ekt va mantiqiy modullar o‘zaro ta’sir pog‘onasida tarmoq ishi qoidalarini tasvirlab beradi. Bu modelda o‘zaro ta’sirning xamma qoidalari (protokollari) funksional ma’nosiga ko‘ra aloxida guruxlarga-</a:t>
            </a:r>
            <a:r>
              <a:rPr lang="uz-Cyrl-UZ" sz="2200" i="1" dirty="0">
                <a:latin typeface="Times New Roman" pitchFamily="18" charset="0"/>
                <a:cs typeface="Times New Roman" pitchFamily="18" charset="0"/>
              </a:rPr>
              <a:t>protokol bloklarga</a:t>
            </a:r>
            <a:r>
              <a:rPr lang="uz-Cyrl-UZ" sz="2200" dirty="0">
                <a:latin typeface="Times New Roman" pitchFamily="18" charset="0"/>
                <a:cs typeface="Times New Roman" pitchFamily="18" charset="0"/>
              </a:rPr>
              <a:t> birlashadi. Protokol bloklar iyerarxik tartibda joylashgan va ulardan xar biri ba’zi pog‘onadagi ob’ektlar o‘zaro ta’sir protokollar ro‘yxatidir.</a:t>
            </a:r>
            <a:endParaRPr lang="ru-RU" sz="2200" dirty="0">
              <a:latin typeface="Times New Roman" pitchFamily="18" charset="0"/>
              <a:cs typeface="Times New Roman" pitchFamily="18" charset="0"/>
            </a:endParaRPr>
          </a:p>
          <a:p>
            <a:pPr algn="just"/>
            <a:r>
              <a:rPr lang="en-US" sz="2200" dirty="0" smtClean="0">
                <a:latin typeface="Times New Roman" pitchFamily="18" charset="0"/>
                <a:cs typeface="Times New Roman" pitchFamily="18" charset="0"/>
              </a:rPr>
              <a:t>	N </a:t>
            </a:r>
            <a:r>
              <a:rPr lang="en-US" sz="2200" dirty="0" err="1">
                <a:latin typeface="Times New Roman" pitchFamily="18" charset="0"/>
                <a:cs typeface="Times New Roman" pitchFamily="18" charset="0"/>
              </a:rPr>
              <a:t>pog‘onadagi</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vazifani</a:t>
            </a:r>
            <a:r>
              <a:rPr lang="en-US" sz="2200" dirty="0">
                <a:latin typeface="Times New Roman" pitchFamily="18" charset="0"/>
                <a:cs typeface="Times New Roman" pitchFamily="18" charset="0"/>
              </a:rPr>
              <a:t> N-</a:t>
            </a:r>
            <a:r>
              <a:rPr lang="en-US" sz="2200" dirty="0" err="1">
                <a:latin typeface="Times New Roman" pitchFamily="18" charset="0"/>
                <a:cs typeface="Times New Roman" pitchFamily="18" charset="0"/>
              </a:rPr>
              <a:t>ob’ektlar</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bajaradi</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ular</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mazkur</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pog‘onaning</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maxalliy</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funksiyalariga</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ega</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Protokol</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bloklar</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pog‘onalar</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bo‘yicha</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shunday</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bo‘lganki</a:t>
            </a:r>
            <a:r>
              <a:rPr lang="en-US" sz="2200" dirty="0">
                <a:latin typeface="Times New Roman" pitchFamily="18" charset="0"/>
                <a:cs typeface="Times New Roman" pitchFamily="18" charset="0"/>
              </a:rPr>
              <a:t>, N </a:t>
            </a:r>
            <a:r>
              <a:rPr lang="en-US" sz="2200" dirty="0" err="1">
                <a:latin typeface="Times New Roman" pitchFamily="18" charset="0"/>
                <a:cs typeface="Times New Roman" pitchFamily="18" charset="0"/>
              </a:rPr>
              <a:t>pog‘ona</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vazifalarini</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bajarishiga</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avvalgi</a:t>
            </a:r>
            <a:r>
              <a:rPr lang="en-US" sz="2200" dirty="0">
                <a:latin typeface="Times New Roman" pitchFamily="18" charset="0"/>
                <a:cs typeface="Times New Roman" pitchFamily="18" charset="0"/>
              </a:rPr>
              <a:t> (N-1) </a:t>
            </a:r>
            <a:r>
              <a:rPr lang="en-US" sz="2200" dirty="0" err="1">
                <a:latin typeface="Times New Roman" pitchFamily="18" charset="0"/>
                <a:cs typeface="Times New Roman" pitchFamily="18" charset="0"/>
              </a:rPr>
              <a:t>pog‘ona</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ob’ektlari</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ishtirokiga</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to‘liq</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tobe</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va</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to‘liq</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ishtiroki</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bilan</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ta’minlanadi</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Shunday</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qilib</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xar</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quyi</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pog‘ona</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yuqori</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pog‘onaga</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xizmat</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ko‘rsatadi</a:t>
            </a:r>
            <a:r>
              <a:rPr lang="en-US" sz="2200" dirty="0">
                <a:latin typeface="Times New Roman" pitchFamily="18" charset="0"/>
                <a:cs typeface="Times New Roman" pitchFamily="18" charset="0"/>
              </a:rPr>
              <a:t>. N </a:t>
            </a:r>
            <a:r>
              <a:rPr lang="en-US" sz="2200" dirty="0" err="1">
                <a:latin typeface="Times New Roman" pitchFamily="18" charset="0"/>
                <a:cs typeface="Times New Roman" pitchFamily="18" charset="0"/>
              </a:rPr>
              <a:t>pog‘onadagi</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xar</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qanday</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ob’ekt</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faol</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xolatga</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o‘tganda</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quyidagilarni</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beradi</a:t>
            </a:r>
            <a:r>
              <a:rPr lang="en-US" sz="2200" dirty="0">
                <a:latin typeface="Times New Roman" pitchFamily="18" charset="0"/>
                <a:cs typeface="Times New Roman" pitchFamily="18" charset="0"/>
              </a:rPr>
              <a:t>:</a:t>
            </a:r>
            <a:endParaRPr lang="ru-RU" sz="2200" dirty="0">
              <a:latin typeface="Times New Roman" pitchFamily="18" charset="0"/>
              <a:cs typeface="Times New Roman" pitchFamily="18" charset="0"/>
            </a:endParaRPr>
          </a:p>
          <a:p>
            <a:pPr lvl="0" algn="just"/>
            <a:r>
              <a:rPr lang="en-US" sz="2200" dirty="0" smtClean="0">
                <a:latin typeface="Times New Roman" pitchFamily="18" charset="0"/>
                <a:cs typeface="Times New Roman" pitchFamily="18" charset="0"/>
              </a:rPr>
              <a:t>	</a:t>
            </a:r>
            <a:r>
              <a:rPr lang="uz-Cyrl-UZ" sz="2200" dirty="0" smtClean="0">
                <a:latin typeface="Times New Roman" pitchFamily="18" charset="0"/>
                <a:cs typeface="Times New Roman" pitchFamily="18" charset="0"/>
              </a:rPr>
              <a:t>N-ob’ektlar </a:t>
            </a:r>
            <a:r>
              <a:rPr lang="uz-Cyrl-UZ" sz="2200" dirty="0">
                <a:latin typeface="Times New Roman" pitchFamily="18" charset="0"/>
                <a:cs typeface="Times New Roman" pitchFamily="18" charset="0"/>
              </a:rPr>
              <a:t>foydalanuvchi ma’lumotlari o‘rtasida uzatilayotgan va mazkur ob’ektlar birlashishi operatsiyasi bilan bog‘liq bo‘lmagan axborot;</a:t>
            </a:r>
            <a:endParaRPr lang="ru-RU" sz="2200" dirty="0">
              <a:latin typeface="Times New Roman" pitchFamily="18" charset="0"/>
              <a:cs typeface="Times New Roman" pitchFamily="18" charset="0"/>
            </a:endParaRPr>
          </a:p>
          <a:p>
            <a:pPr lvl="0" algn="just"/>
            <a:r>
              <a:rPr lang="uz-Cyrl-UZ" sz="2200" dirty="0">
                <a:latin typeface="Times New Roman" pitchFamily="18" charset="0"/>
                <a:cs typeface="Times New Roman" pitchFamily="18" charset="0"/>
              </a:rPr>
              <a:t>(N-1) pog‘ona uchun boshqaruvchi axborotni, uning yordamida N-ob’ektlarni «birlashish» muammosini muvofiqlashtiradi.</a:t>
            </a:r>
            <a:endParaRPr lang="ru-RU" sz="2200" dirty="0">
              <a:latin typeface="Times New Roman" pitchFamily="18" charset="0"/>
              <a:cs typeface="Times New Roman" pitchFamily="18" charset="0"/>
            </a:endParaRPr>
          </a:p>
        </p:txBody>
      </p:sp>
    </p:spTree>
    <p:extLst>
      <p:ext uri="{BB962C8B-B14F-4D97-AF65-F5344CB8AC3E}">
        <p14:creationId xmlns:p14="http://schemas.microsoft.com/office/powerpoint/2010/main" val="410406897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Прямоугольник 3"/>
          <p:cNvSpPr/>
          <p:nvPr/>
        </p:nvSpPr>
        <p:spPr>
          <a:xfrm>
            <a:off x="107504" y="116632"/>
            <a:ext cx="8928991" cy="4893647"/>
          </a:xfrm>
          <a:prstGeom prst="rect">
            <a:avLst/>
          </a:prstGeom>
        </p:spPr>
        <p:txBody>
          <a:bodyPr wrap="square">
            <a:spAutoFit/>
          </a:bodyPr>
          <a:lstStyle/>
          <a:p>
            <a:pPr algn="ctr"/>
            <a:r>
              <a:rPr lang="uz-Cyrl-UZ" sz="2400" b="1" dirty="0">
                <a:latin typeface="Times New Roman" pitchFamily="18" charset="0"/>
                <a:cs typeface="Times New Roman" pitchFamily="18" charset="0"/>
              </a:rPr>
              <a:t>Nazorat savollari</a:t>
            </a:r>
            <a:endParaRPr lang="ru-RU" sz="2400" dirty="0">
              <a:latin typeface="Times New Roman" pitchFamily="18" charset="0"/>
              <a:cs typeface="Times New Roman" pitchFamily="18" charset="0"/>
            </a:endParaRPr>
          </a:p>
          <a:p>
            <a:r>
              <a:rPr lang="uz-Cyrl-UZ" sz="2400" b="1" dirty="0">
                <a:latin typeface="Times New Roman" pitchFamily="18" charset="0"/>
                <a:cs typeface="Times New Roman" pitchFamily="18" charset="0"/>
              </a:rPr>
              <a:t> </a:t>
            </a:r>
            <a:endParaRPr lang="ru-RU" sz="2400" dirty="0">
              <a:latin typeface="Times New Roman" pitchFamily="18" charset="0"/>
              <a:cs typeface="Times New Roman" pitchFamily="18" charset="0"/>
            </a:endParaRPr>
          </a:p>
          <a:p>
            <a:pPr marL="457200" lvl="0" indent="-457200">
              <a:buFont typeface="+mj-lt"/>
              <a:buAutoNum type="arabicPeriod"/>
            </a:pPr>
            <a:r>
              <a:rPr lang="uz-Cyrl-UZ" sz="2400" dirty="0">
                <a:latin typeface="Times New Roman" pitchFamily="18" charset="0"/>
                <a:cs typeface="Times New Roman" pitchFamily="18" charset="0"/>
              </a:rPr>
              <a:t>Guruhli manzillashni amalga oshirish uchun nimalar kerak?</a:t>
            </a:r>
            <a:endParaRPr lang="ru-RU" sz="2400" dirty="0">
              <a:latin typeface="Times New Roman" pitchFamily="18" charset="0"/>
              <a:cs typeface="Times New Roman" pitchFamily="18" charset="0"/>
            </a:endParaRPr>
          </a:p>
          <a:p>
            <a:pPr marL="457200" lvl="0" indent="-457200">
              <a:buFont typeface="+mj-lt"/>
              <a:buAutoNum type="arabicPeriod"/>
            </a:pPr>
            <a:r>
              <a:rPr lang="uz-Cyrl-UZ" sz="2400" dirty="0">
                <a:latin typeface="Times New Roman" pitchFamily="18" charset="0"/>
                <a:cs typeface="Times New Roman" pitchFamily="18" charset="0"/>
              </a:rPr>
              <a:t>Oqimlarni tashkil etishga tushuncha bering?</a:t>
            </a:r>
            <a:endParaRPr lang="ru-RU" sz="2400" dirty="0">
              <a:latin typeface="Times New Roman" pitchFamily="18" charset="0"/>
              <a:cs typeface="Times New Roman" pitchFamily="18" charset="0"/>
            </a:endParaRPr>
          </a:p>
          <a:p>
            <a:pPr marL="457200" lvl="0" indent="-457200">
              <a:buFont typeface="+mj-lt"/>
              <a:buAutoNum type="arabicPeriod"/>
            </a:pPr>
            <a:r>
              <a:rPr lang="uz-Cyrl-UZ" sz="2400" dirty="0">
                <a:latin typeface="Times New Roman" pitchFamily="18" charset="0"/>
                <a:cs typeface="Times New Roman" pitchFamily="18" charset="0"/>
              </a:rPr>
              <a:t>Guruhli manzillash.</a:t>
            </a:r>
            <a:endParaRPr lang="ru-RU" sz="2400" dirty="0">
              <a:latin typeface="Times New Roman" pitchFamily="18" charset="0"/>
              <a:cs typeface="Times New Roman" pitchFamily="18" charset="0"/>
            </a:endParaRPr>
          </a:p>
          <a:p>
            <a:pPr marL="457200" lvl="0" indent="-457200">
              <a:buFont typeface="+mj-lt"/>
              <a:buAutoNum type="arabicPeriod"/>
            </a:pPr>
            <a:r>
              <a:rPr lang="uz-Cyrl-UZ" sz="2400" dirty="0">
                <a:latin typeface="Times New Roman" pitchFamily="18" charset="0"/>
                <a:cs typeface="Times New Roman" pitchFamily="18" charset="0"/>
              </a:rPr>
              <a:t>Oqimlarni tashkil etish.</a:t>
            </a:r>
            <a:endParaRPr lang="ru-RU" sz="2400" dirty="0">
              <a:latin typeface="Times New Roman" pitchFamily="18" charset="0"/>
              <a:cs typeface="Times New Roman" pitchFamily="18" charset="0"/>
            </a:endParaRPr>
          </a:p>
          <a:p>
            <a:pPr marL="457200" lvl="0" indent="-457200">
              <a:buFont typeface="+mj-lt"/>
              <a:buAutoNum type="arabicPeriod"/>
            </a:pPr>
            <a:r>
              <a:rPr lang="ru-RU" sz="2400" dirty="0">
                <a:latin typeface="Times New Roman" pitchFamily="18" charset="0"/>
                <a:cs typeface="Times New Roman" pitchFamily="18" charset="0"/>
              </a:rPr>
              <a:t>O</a:t>
            </a:r>
            <a:r>
              <a:rPr lang="uz-Cyrl-UZ" sz="2400" dirty="0">
                <a:latin typeface="Times New Roman" pitchFamily="18" charset="0"/>
                <a:cs typeface="Times New Roman" pitchFamily="18" charset="0"/>
              </a:rPr>
              <a:t>qim klasslari bilan ishlash.</a:t>
            </a:r>
            <a:endParaRPr lang="ru-RU" sz="2400" dirty="0">
              <a:latin typeface="Times New Roman" pitchFamily="18" charset="0"/>
              <a:cs typeface="Times New Roman" pitchFamily="18" charset="0"/>
            </a:endParaRPr>
          </a:p>
          <a:p>
            <a:pPr marL="457200" lvl="0" indent="-457200">
              <a:buFont typeface="+mj-lt"/>
              <a:buAutoNum type="arabicPeriod"/>
            </a:pPr>
            <a:r>
              <a:rPr lang="en-US" sz="2400" dirty="0">
                <a:latin typeface="Times New Roman" pitchFamily="18" charset="0"/>
                <a:cs typeface="Times New Roman" pitchFamily="18" charset="0"/>
              </a:rPr>
              <a:t>O</a:t>
            </a:r>
            <a:r>
              <a:rPr lang="uz-Cyrl-UZ" sz="2400" dirty="0">
                <a:latin typeface="Times New Roman" pitchFamily="18" charset="0"/>
                <a:cs typeface="Times New Roman" pitchFamily="18" charset="0"/>
              </a:rPr>
              <a:t>qim klasslari va Guruhli manzillashni amalga oshirish uchun nimalar kerak?</a:t>
            </a:r>
            <a:endParaRPr lang="ru-RU" sz="2400" dirty="0">
              <a:latin typeface="Times New Roman" pitchFamily="18" charset="0"/>
              <a:cs typeface="Times New Roman" pitchFamily="18" charset="0"/>
            </a:endParaRPr>
          </a:p>
          <a:p>
            <a:pPr marL="457200" lvl="0" indent="-457200">
              <a:buFont typeface="+mj-lt"/>
              <a:buAutoNum type="arabicPeriod"/>
            </a:pPr>
            <a:r>
              <a:rPr lang="uz-Cyrl-UZ" sz="2400" dirty="0">
                <a:latin typeface="Times New Roman" pitchFamily="18" charset="0"/>
                <a:cs typeface="Times New Roman" pitchFamily="18" charset="0"/>
              </a:rPr>
              <a:t>Guruhli manzillashni tushuntiring?</a:t>
            </a:r>
            <a:endParaRPr lang="ru-RU" sz="2400" dirty="0">
              <a:latin typeface="Times New Roman" pitchFamily="18" charset="0"/>
              <a:cs typeface="Times New Roman" pitchFamily="18" charset="0"/>
            </a:endParaRPr>
          </a:p>
          <a:p>
            <a:pPr marL="457200" lvl="0" indent="-457200">
              <a:buFont typeface="+mj-lt"/>
              <a:buAutoNum type="arabicPeriod"/>
            </a:pPr>
            <a:r>
              <a:rPr lang="uz-Cyrl-UZ" sz="2400" dirty="0">
                <a:latin typeface="Times New Roman" pitchFamily="18" charset="0"/>
                <a:cs typeface="Times New Roman" pitchFamily="18" charset="0"/>
              </a:rPr>
              <a:t>Oqimlarni tashkil etishni tushuntiring?</a:t>
            </a:r>
            <a:endParaRPr lang="ru-RU" sz="2400" dirty="0">
              <a:latin typeface="Times New Roman" pitchFamily="18" charset="0"/>
              <a:cs typeface="Times New Roman" pitchFamily="18" charset="0"/>
            </a:endParaRPr>
          </a:p>
          <a:p>
            <a:pPr marL="457200" lvl="0" indent="-457200">
              <a:buFont typeface="+mj-lt"/>
              <a:buAutoNum type="arabicPeriod"/>
            </a:pPr>
            <a:r>
              <a:rPr lang="ru-RU" sz="2400" dirty="0">
                <a:latin typeface="Times New Roman" pitchFamily="18" charset="0"/>
                <a:cs typeface="Times New Roman" pitchFamily="18" charset="0"/>
              </a:rPr>
              <a:t>O</a:t>
            </a:r>
            <a:r>
              <a:rPr lang="uz-Cyrl-UZ" sz="2400" dirty="0">
                <a:latin typeface="Times New Roman" pitchFamily="18" charset="0"/>
                <a:cs typeface="Times New Roman" pitchFamily="18" charset="0"/>
              </a:rPr>
              <a:t>qim klasslari tushuntiring?</a:t>
            </a:r>
            <a:endParaRPr lang="ru-RU" sz="2400" dirty="0">
              <a:latin typeface="Times New Roman" pitchFamily="18" charset="0"/>
              <a:cs typeface="Times New Roman" pitchFamily="18" charset="0"/>
            </a:endParaRPr>
          </a:p>
          <a:p>
            <a:pPr marL="457200" lvl="0" indent="-457200">
              <a:buFont typeface="+mj-lt"/>
              <a:buAutoNum type="arabicPeriod"/>
            </a:pPr>
            <a:r>
              <a:rPr lang="uz-Latn-UZ" sz="2400" dirty="0">
                <a:latin typeface="Times New Roman" pitchFamily="18" charset="0"/>
                <a:cs typeface="Times New Roman" pitchFamily="18" charset="0"/>
              </a:rPr>
              <a:t> </a:t>
            </a:r>
            <a:r>
              <a:rPr lang="uz-Cyrl-UZ" sz="2400" dirty="0">
                <a:latin typeface="Times New Roman" pitchFamily="18" charset="0"/>
                <a:cs typeface="Times New Roman" pitchFamily="18" charset="0"/>
              </a:rPr>
              <a:t>Ajratilgan server va Protokollarini tushintirib bering.</a:t>
            </a:r>
            <a:endParaRPr lang="ru-RU" sz="2400" dirty="0">
              <a:latin typeface="Times New Roman" pitchFamily="18" charset="0"/>
              <a:cs typeface="Times New Roman" pitchFamily="18" charset="0"/>
            </a:endParaRPr>
          </a:p>
        </p:txBody>
      </p:sp>
    </p:spTree>
    <p:extLst>
      <p:ext uri="{BB962C8B-B14F-4D97-AF65-F5344CB8AC3E}">
        <p14:creationId xmlns:p14="http://schemas.microsoft.com/office/powerpoint/2010/main" val="755419157"/>
      </p:ext>
    </p:extLst>
  </p:cSld>
  <p:clrMapOvr>
    <a:masterClrMapping/>
  </p:clrMapOvr>
</p:sld>
</file>

<file path=ppt/theme/theme1.xml><?xml version="1.0" encoding="utf-8"?>
<a:theme xmlns:a="http://schemas.openxmlformats.org/drawingml/2006/main" name="Тема Office">
  <a:themeElements>
    <a:clrScheme name="Стандартная">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Стандартная">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Стандартная">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201</TotalTime>
  <Words>722</Words>
  <Application>Microsoft Office PowerPoint</Application>
  <PresentationFormat>Экран (4:3)</PresentationFormat>
  <Paragraphs>140</Paragraphs>
  <Slides>18</Slides>
  <Notes>0</Notes>
  <HiddenSlides>0</HiddenSlides>
  <MMClips>0</MMClips>
  <ScaleCrop>false</ScaleCrop>
  <HeadingPairs>
    <vt:vector size="4" baseType="variant">
      <vt:variant>
        <vt:lpstr>Тема</vt:lpstr>
      </vt:variant>
      <vt:variant>
        <vt:i4>1</vt:i4>
      </vt:variant>
      <vt:variant>
        <vt:lpstr>Заголовки слайдов</vt:lpstr>
      </vt:variant>
      <vt:variant>
        <vt:i4>18</vt:i4>
      </vt:variant>
    </vt:vector>
  </HeadingPairs>
  <TitlesOfParts>
    <vt:vector size="19" baseType="lpstr">
      <vt:lpstr>Тема Office</vt:lpstr>
      <vt:lpstr>Презентация PowerPoint</vt:lpstr>
      <vt:lpstr>Презентация PowerPoint</vt:lpstr>
      <vt:lpstr>Reja:</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vector>
  </TitlesOfParts>
  <Company>SPecialiST RePack</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Презентация PowerPoint</dc:title>
  <dc:creator>Пользователь</dc:creator>
  <cp:lastModifiedBy>UltraPC</cp:lastModifiedBy>
  <cp:revision>25</cp:revision>
  <dcterms:created xsi:type="dcterms:W3CDTF">2020-02-10T04:46:41Z</dcterms:created>
  <dcterms:modified xsi:type="dcterms:W3CDTF">2024-02-21T05:29:29Z</dcterms:modified>
</cp:coreProperties>
</file>