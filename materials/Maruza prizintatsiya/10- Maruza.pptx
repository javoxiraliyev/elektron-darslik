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 id="308" r:id="rId17"/>
    <p:sldId id="309" r:id="rId18"/>
    <p:sldId id="310" r:id="rId19"/>
    <p:sldId id="311" r:id="rId20"/>
    <p:sldId id="312" r:id="rId21"/>
    <p:sldId id="313" r:id="rId22"/>
    <p:sldId id="314" r:id="rId23"/>
    <p:sldId id="315" r:id="rId2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18.03.2024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18.03.2024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18.03.2024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18.03.2024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18.03.2024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18.03.2024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18.03.2024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AXBOROT TEXNOLOGIYALARI VA KOMMUNIKATSIYALARINI RIVOJLANTIRISH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10–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18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1800" dirty="0">
                <a:solidFill>
                  <a:schemeClr val="tx1"/>
                </a:solidFill>
                <a:latin typeface="Times New Roman" pitchFamily="18" charset="0"/>
                <a:cs typeface="Times New Roman" pitchFamily="18" charset="0"/>
              </a:rPr>
              <a:t>Tarmoqqa ulanishni dasturlash. Autentifikatsiya, identifikatsiya va avtorizatsiya</a:t>
            </a:r>
            <a:endParaRPr lang="ru-RU" sz="1800" dirty="0">
              <a:solidFill>
                <a:schemeClr val="tx1"/>
              </a:solidFill>
              <a:latin typeface="Times New Roman" pitchFamily="18" charset="0"/>
              <a:cs typeface="Times New Roman" pitchFamily="18" charset="0"/>
            </a:endParaRPr>
          </a:p>
          <a:p>
            <a:endParaRPr lang="ru-RU" sz="18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Asosiy tushunchalar va sinflanishi </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Parollar asosida autentifikatsiyalash</a:t>
            </a:r>
            <a:endParaRPr lang="ru-RU" sz="2400" dirty="0">
              <a:latin typeface="Times New Roman" pitchFamily="18" charset="0"/>
              <a:cs typeface="Times New Roman" pitchFamily="18" charset="0"/>
            </a:endParaRPr>
          </a:p>
          <a:p>
            <a:pPr marL="457200" lvl="0" indent="-457200">
              <a:buFont typeface="+mj-lt"/>
              <a:buAutoNum type="arabicPeriod"/>
            </a:pPr>
            <a:r>
              <a:rPr lang="ru-RU" sz="2400" dirty="0" err="1">
                <a:latin typeface="Times New Roman" pitchFamily="18" charset="0"/>
                <a:cs typeface="Times New Roman" pitchFamily="18" charset="0"/>
              </a:rPr>
              <a:t>Sertifikatlar</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asosida</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autentifikatsiyalash</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Q</a:t>
            </a:r>
            <a:r>
              <a:rPr lang="ru-RU" sz="2400" dirty="0" err="1">
                <a:latin typeface="Times New Roman" pitchFamily="18" charset="0"/>
                <a:cs typeface="Times New Roman" pitchFamily="18" charset="0"/>
              </a:rPr>
              <a:t>at’iy</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autentifikatsiyalash</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1887" y="67441"/>
            <a:ext cx="8993875" cy="6524863"/>
          </a:xfrm>
          <a:prstGeom prst="rect">
            <a:avLst/>
          </a:prstGeom>
        </p:spPr>
        <p:txBody>
          <a:bodyPr wrap="square">
            <a:spAutoFit/>
          </a:bodyPr>
          <a:lstStyle/>
          <a:p>
            <a:pPr algn="ctr"/>
            <a:r>
              <a:rPr lang="uz-Cyrl-UZ" sz="1900" b="1" dirty="0">
                <a:latin typeface="Times New Roman" pitchFamily="18" charset="0"/>
                <a:cs typeface="Times New Roman" pitchFamily="18" charset="0"/>
              </a:rPr>
              <a:t>Asosiy tushunchalar va sinflanishi</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Kompyuter </a:t>
            </a:r>
            <a:r>
              <a:rPr lang="uz-Cyrl-UZ" sz="1900" dirty="0">
                <a:latin typeface="Times New Roman" pitchFamily="18" charset="0"/>
                <a:cs typeface="Times New Roman" pitchFamily="18" charset="0"/>
              </a:rPr>
              <a:t>tizimida ro‘yxatga olingan xar bir sub’ekt (foydalanuvchi yoki foydalanuvchi nomidan xarakatlanuvchi jarayon) bilan uni bir ma’noda indentifikatsiyalovchi axborotga bog‘liq.</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Bu </a:t>
            </a:r>
            <a:r>
              <a:rPr lang="en-US" sz="1900" dirty="0" err="1">
                <a:latin typeface="Times New Roman" pitchFamily="18" charset="0"/>
                <a:cs typeface="Times New Roman" pitchFamily="18" charset="0"/>
              </a:rPr>
              <a:t>ushbu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sub’ektga</a:t>
            </a:r>
            <a:r>
              <a:rPr lang="en-US" sz="1900" dirty="0">
                <a:latin typeface="Times New Roman" pitchFamily="18" charset="0"/>
                <a:cs typeface="Times New Roman" pitchFamily="18" charset="0"/>
              </a:rPr>
              <a:t> nom </a:t>
            </a:r>
            <a:r>
              <a:rPr lang="en-US" sz="1900" dirty="0" err="1">
                <a:latin typeface="Times New Roman" pitchFamily="18" charset="0"/>
                <a:cs typeface="Times New Roman" pitchFamily="18" charset="0"/>
              </a:rPr>
              <a:t>beruvchi</a:t>
            </a:r>
            <a:r>
              <a:rPr lang="en-US" sz="1900" dirty="0">
                <a:latin typeface="Times New Roman" pitchFamily="18" charset="0"/>
                <a:cs typeface="Times New Roman" pitchFamily="18" charset="0"/>
              </a:rPr>
              <a:t> son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simvollar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satri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sub’ekt</a:t>
            </a:r>
            <a:r>
              <a:rPr lang="en-US" sz="1900" dirty="0">
                <a:latin typeface="Times New Roman" pitchFamily="18" charset="0"/>
                <a:cs typeface="Times New Roman" pitchFamily="18" charset="0"/>
              </a:rPr>
              <a:t> </a:t>
            </a:r>
            <a:r>
              <a:rPr lang="en-US" sz="1900" i="1" dirty="0" err="1">
                <a:latin typeface="Times New Roman" pitchFamily="18" charset="0"/>
                <a:cs typeface="Times New Roman" pitchFamily="18" charset="0"/>
              </a:rPr>
              <a:t>indentifiqatori</a:t>
            </a:r>
            <a:r>
              <a:rPr lang="en-US" sz="1900" i="1" dirty="0">
                <a:latin typeface="Times New Roman" pitchFamily="18" charset="0"/>
                <a:cs typeface="Times New Roman" pitchFamily="18" charset="0"/>
              </a:rPr>
              <a:t> </a:t>
            </a:r>
            <a:r>
              <a:rPr lang="en-US" sz="1900" dirty="0">
                <a:latin typeface="Times New Roman" pitchFamily="18" charset="0"/>
                <a:cs typeface="Times New Roman" pitchFamily="18" charset="0"/>
              </a:rPr>
              <a:t>deb </a:t>
            </a:r>
            <a:r>
              <a:rPr lang="en-US" sz="1900" dirty="0" err="1">
                <a:latin typeface="Times New Roman" pitchFamily="18" charset="0"/>
                <a:cs typeface="Times New Roman" pitchFamily="18" charset="0"/>
              </a:rPr>
              <a:t>yuritiladi</a:t>
            </a:r>
            <a:r>
              <a:rPr lang="en-US" sz="1900" dirty="0">
                <a:latin typeface="Times New Roman" pitchFamily="18" charset="0"/>
                <a:cs typeface="Times New Roman" pitchFamily="18" charset="0"/>
              </a:rPr>
              <a:t>. Agar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ro‘yxatga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olingan</a:t>
            </a:r>
            <a:r>
              <a:rPr lang="en-US" sz="1900" dirty="0">
                <a:latin typeface="Times New Roman" pitchFamily="18" charset="0"/>
                <a:cs typeface="Times New Roman" pitchFamily="18" charset="0"/>
              </a:rPr>
              <a:t> </a:t>
            </a:r>
            <a:r>
              <a:rPr lang="en-US" sz="1900" dirty="0" err="1" smtClean="0">
                <a:latin typeface="Times New Roman" pitchFamily="18" charset="0"/>
                <a:cs typeface="Times New Roman" pitchFamily="18" charset="0"/>
              </a:rPr>
              <a:t>indentifiqatorga</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ega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bo‘lsa</a:t>
            </a:r>
            <a:r>
              <a:rPr lang="en-US" sz="1900" dirty="0">
                <a:latin typeface="Times New Roman" pitchFamily="18" charset="0"/>
                <a:cs typeface="Times New Roman" pitchFamily="18" charset="0"/>
              </a:rPr>
              <a:t> u legal, </a:t>
            </a:r>
            <a:r>
              <a:rPr lang="en-US" sz="1900" dirty="0" err="1">
                <a:latin typeface="Times New Roman" pitchFamily="18" charset="0"/>
                <a:cs typeface="Times New Roman" pitchFamily="18" charset="0"/>
              </a:rPr>
              <a:t>aks</a:t>
            </a:r>
            <a:r>
              <a:rPr lang="en-US" sz="1900" dirty="0">
                <a:latin typeface="Times New Roman" pitchFamily="18" charset="0"/>
                <a:cs typeface="Times New Roman" pitchFamily="18" charset="0"/>
              </a:rPr>
              <a:t> x</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lda</a:t>
            </a:r>
            <a:r>
              <a:rPr lang="en-US" sz="1900" dirty="0">
                <a:latin typeface="Times New Roman" pitchFamily="18" charset="0"/>
                <a:cs typeface="Times New Roman" pitchFamily="18" charset="0"/>
              </a:rPr>
              <a:t> legal </a:t>
            </a:r>
            <a:r>
              <a:rPr lang="en-US" sz="1900" dirty="0" err="1">
                <a:latin typeface="Times New Roman" pitchFamily="18" charset="0"/>
                <a:cs typeface="Times New Roman" pitchFamily="18" charset="0"/>
              </a:rPr>
              <a:t>bo‘lmagan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noqonuniy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xisoblanadi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Kompyuter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resurslaridan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foydalanishdan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avval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kompyuter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tizimining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identifikatsiya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jarayonidan</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tishi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smtClean="0">
                <a:latin typeface="Times New Roman" pitchFamily="18" charset="0"/>
                <a:cs typeface="Times New Roman" pitchFamily="18" charset="0"/>
              </a:rPr>
              <a:t>	</a:t>
            </a:r>
            <a:r>
              <a:rPr lang="en-US" sz="1900" i="1" dirty="0" err="1" smtClean="0">
                <a:latin typeface="Times New Roman" pitchFamily="18" charset="0"/>
                <a:cs typeface="Times New Roman" pitchFamily="18" charset="0"/>
              </a:rPr>
              <a:t>Identifikatsiya</a:t>
            </a:r>
            <a:r>
              <a:rPr lang="en-US" sz="1900" i="1" dirty="0" smtClean="0">
                <a:latin typeface="Times New Roman" pitchFamily="18" charset="0"/>
                <a:cs typeface="Times New Roman" pitchFamily="18" charset="0"/>
              </a:rPr>
              <a:t> </a:t>
            </a:r>
            <a:r>
              <a:rPr lang="en-US" sz="1900" dirty="0">
                <a:latin typeface="Times New Roman" pitchFamily="18" charset="0"/>
                <a:cs typeface="Times New Roman" pitchFamily="18" charset="0"/>
              </a:rPr>
              <a:t>(Identification) - </a:t>
            </a:r>
            <a:r>
              <a:rPr lang="en-US" sz="1900" dirty="0" err="1">
                <a:latin typeface="Times New Roman" pitchFamily="18" charset="0"/>
                <a:cs typeface="Times New Roman" pitchFamily="18" charset="0"/>
              </a:rPr>
              <a:t>foydalanuvchini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identifiqatori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nomi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jarayoni</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foydalanishga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uringanida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birinchi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galda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bajariladigan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funksiyadir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tizimga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so‘rovi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identifiqatorini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bildiradi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tizim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bazasida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borligini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smtClean="0">
                <a:latin typeface="Times New Roman" pitchFamily="18" charset="0"/>
                <a:cs typeface="Times New Roman" pitchFamily="18" charset="0"/>
              </a:rPr>
              <a:t>	</a:t>
            </a:r>
            <a:r>
              <a:rPr lang="en-US" sz="1900" i="1" dirty="0" err="1" smtClean="0">
                <a:latin typeface="Times New Roman" pitchFamily="18" charset="0"/>
                <a:cs typeface="Times New Roman" pitchFamily="18" charset="0"/>
              </a:rPr>
              <a:t>Autentifikatsiya</a:t>
            </a:r>
            <a:r>
              <a:rPr lang="en-US" sz="1900" i="1" dirty="0" smtClean="0">
                <a:latin typeface="Times New Roman" pitchFamily="18" charset="0"/>
                <a:cs typeface="Times New Roman" pitchFamily="18" charset="0"/>
              </a:rPr>
              <a:t> </a:t>
            </a:r>
            <a:r>
              <a:rPr lang="en-US" sz="1900" dirty="0">
                <a:latin typeface="Times New Roman" pitchFamily="18" charset="0"/>
                <a:cs typeface="Times New Roman" pitchFamily="18" charset="0"/>
              </a:rPr>
              <a:t>(Authentication) - </a:t>
            </a:r>
            <a:r>
              <a:rPr lang="en-US" sz="1900" dirty="0" err="1">
                <a:latin typeface="Times New Roman" pitchFamily="18" charset="0"/>
                <a:cs typeface="Times New Roman" pitchFamily="18" charset="0"/>
              </a:rPr>
              <a:t>ma’lum</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ilingan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urilmaning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xaqiqiy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ekanligini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muolajasi</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tekshirish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urilma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xaqiqatan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aynan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ekanligiga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ishonch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xosil</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ilishiga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imkon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tkazishda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tekshiriluvchi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xaqiqiy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ekanligiga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ishonch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xrsil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atorda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tekshiriluvchi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almashinuv</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faol</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atnashadi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Odatda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tizimga</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o‘</a:t>
            </a:r>
            <a:r>
              <a:rPr lang="en-US" sz="1900" dirty="0">
                <a:latin typeface="Times New Roman" pitchFamily="18" charset="0"/>
                <a:cs typeface="Times New Roman" pitchFamily="18" charset="0"/>
              </a:rPr>
              <a:t>z </a:t>
            </a:r>
            <a:r>
              <a:rPr lang="en-US" sz="1900" dirty="0" err="1">
                <a:latin typeface="Times New Roman" pitchFamily="18" charset="0"/>
                <a:cs typeface="Times New Roman" pitchFamily="18" charset="0"/>
              </a:rPr>
              <a:t>xususidagi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noyob</a:t>
            </a:r>
            <a:r>
              <a:rPr lang="en-US" sz="1900" dirty="0">
                <a:latin typeface="Times New Roman" pitchFamily="18" charset="0"/>
                <a:cs typeface="Times New Roman" pitchFamily="18" charset="0"/>
              </a:rPr>
              <a:t>, bosh</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alarga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bo‘lmagan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masalan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parol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sertifikat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kiritishi</a:t>
            </a:r>
            <a:r>
              <a:rPr lang="en-US" sz="1900" dirty="0">
                <a:latin typeface="Times New Roman" pitchFamily="18" charset="0"/>
                <a:cs typeface="Times New Roman" pitchFamily="18" charset="0"/>
              </a:rPr>
              <a:t> or</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identifikatsiyani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tasdi</a:t>
            </a:r>
            <a:r>
              <a:rPr lang="uz-Cyrl-UZ" sz="1900" dirty="0">
                <a:latin typeface="Times New Roman" pitchFamily="18" charset="0"/>
                <a:cs typeface="Times New Roman" pitchFamily="18" charset="0"/>
              </a:rPr>
              <a:t>ql</a:t>
            </a:r>
            <a:r>
              <a:rPr lang="en-US" sz="1900" dirty="0" err="1">
                <a:latin typeface="Times New Roman" pitchFamily="18" charset="0"/>
                <a:cs typeface="Times New Roman" pitchFamily="18" charset="0"/>
              </a:rPr>
              <a:t>aydi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72798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62095" y="43684"/>
            <a:ext cx="8928992" cy="7171194"/>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Identifikatsiya</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ekanligini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aniqlash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tekshirishning</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zaro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jarayonidir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Muayyan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resurslaridan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ruxsati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aynan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identifikatsiyalash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autentifikatsiyalashdan</a:t>
            </a:r>
            <a:r>
              <a:rPr lang="en-US" sz="2000" dirty="0">
                <a:latin typeface="Times New Roman" pitchFamily="18" charset="0"/>
                <a:cs typeface="Times New Roman" pitchFamily="18" charset="0"/>
              </a:rPr>
              <a:t>   s</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avtorizatsiyalash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boshlanadi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smtClean="0">
                <a:latin typeface="Times New Roman" pitchFamily="18" charset="0"/>
                <a:cs typeface="Times New Roman" pitchFamily="18" charset="0"/>
              </a:rPr>
              <a:t>	</a:t>
            </a:r>
            <a:r>
              <a:rPr lang="en-US" sz="2000" i="1" dirty="0" err="1" smtClean="0">
                <a:latin typeface="Times New Roman" pitchFamily="18" charset="0"/>
                <a:cs typeface="Times New Roman" pitchFamily="18" charset="0"/>
              </a:rPr>
              <a:t>Avtorizatsiya</a:t>
            </a:r>
            <a:r>
              <a:rPr lang="en-US" sz="2000" i="1"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(Authorization) - sub</a:t>
            </a:r>
            <a:r>
              <a:rPr lang="uz-Cyrl-UZ"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ektga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vakolat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resurslarni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muolajasi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avtorizatsiya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a:t>
            </a:r>
            <a:r>
              <a:rPr lang="en-US" sz="2000" dirty="0">
                <a:latin typeface="Times New Roman" pitchFamily="18" charset="0"/>
                <a:cs typeface="Times New Roman" pitchFamily="18" charset="0"/>
              </a:rPr>
              <a:t> x</a:t>
            </a:r>
            <a:r>
              <a:rPr lang="uz-Cyrl-UZ" sz="2000" dirty="0">
                <a:latin typeface="Times New Roman" pitchFamily="18" charset="0"/>
                <a:cs typeface="Times New Roman" pitchFamily="18" charset="0"/>
              </a:rPr>
              <a:t>a</a:t>
            </a:r>
            <a:r>
              <a:rPr lang="en-US" sz="2000" dirty="0" err="1">
                <a:latin typeface="Times New Roman" pitchFamily="18" charset="0"/>
                <a:cs typeface="Times New Roman" pitchFamily="18" charset="0"/>
              </a:rPr>
              <a:t>rakati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doirasini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foydalanadigan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resurslarni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belgilaydi</a:t>
            </a:r>
            <a:r>
              <a:rPr lang="en-US" sz="2000" dirty="0">
                <a:latin typeface="Times New Roman" pitchFamily="18" charset="0"/>
                <a:cs typeface="Times New Roman" pitchFamily="18" charset="0"/>
              </a:rPr>
              <a:t>. Agar </a:t>
            </a:r>
            <a:r>
              <a:rPr lang="en-US" sz="2000" dirty="0" err="1">
                <a:latin typeface="Times New Roman" pitchFamily="18" charset="0"/>
                <a:cs typeface="Times New Roman" pitchFamily="18" charset="0"/>
              </a:rPr>
              <a:t>tizim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avtorizatsiyalangan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shaxsni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avtorizatsiyalanmagan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shaxsdan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ajrata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olmasa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konfidensialligi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yaxlitligi</a:t>
            </a:r>
            <a:r>
              <a:rPr lang="en-US" sz="2000" dirty="0">
                <a:latin typeface="Times New Roman" pitchFamily="18" charset="0"/>
                <a:cs typeface="Times New Roman" pitchFamily="18" charset="0"/>
              </a:rPr>
              <a:t> b</a:t>
            </a:r>
            <a:r>
              <a:rPr lang="uz-Cyrl-UZ" sz="2000" dirty="0">
                <a:latin typeface="Times New Roman" pitchFamily="18" charset="0"/>
                <a:cs typeface="Times New Roman" pitchFamily="18" charset="0"/>
              </a:rPr>
              <a:t>u</a:t>
            </a:r>
            <a:r>
              <a:rPr lang="en-US" sz="2000" dirty="0" err="1">
                <a:latin typeface="Times New Roman" pitchFamily="18" charset="0"/>
                <a:cs typeface="Times New Roman" pitchFamily="18" charset="0"/>
              </a:rPr>
              <a:t>zilishi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avtorizatsiya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muolajalari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xarakatini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ma’murlash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muolajasi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uzviy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bog‘langan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i="1" dirty="0" err="1">
                <a:latin typeface="Times New Roman" pitchFamily="18" charset="0"/>
                <a:cs typeface="Times New Roman" pitchFamily="18" charset="0"/>
              </a:rPr>
              <a:t>Ma’murlash</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(Accounting) -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xarakatini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jumladan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resurslardan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urinishini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qayd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xisobot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xavfsizlik</a:t>
            </a:r>
            <a:r>
              <a:rPr lang="en-US" sz="2000" dirty="0">
                <a:latin typeface="Times New Roman" pitchFamily="18" charset="0"/>
                <a:cs typeface="Times New Roman" pitchFamily="18" charset="0"/>
              </a:rPr>
              <a:t> nu</a:t>
            </a:r>
            <a:r>
              <a:rPr lang="uz-Cyrl-UZ" sz="2000" dirty="0">
                <a:latin typeface="Times New Roman" pitchFamily="18" charset="0"/>
                <a:cs typeface="Times New Roman" pitchFamily="18" charset="0"/>
              </a:rPr>
              <a:t>q</a:t>
            </a:r>
            <a:r>
              <a:rPr lang="en-US" sz="2000" dirty="0">
                <a:latin typeface="Times New Roman" pitchFamily="18" charset="0"/>
                <a:cs typeface="Times New Roman" pitchFamily="18" charset="0"/>
              </a:rPr>
              <a:t>tai </a:t>
            </a:r>
            <a:r>
              <a:rPr lang="en-US" sz="2000" dirty="0" err="1">
                <a:latin typeface="Times New Roman" pitchFamily="18" charset="0"/>
                <a:cs typeface="Times New Roman" pitchFamily="18" charset="0"/>
              </a:rPr>
              <a:t>nazaridan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xavfsizlik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xodisalarini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oshkor</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ilish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taxlillash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a:t>
            </a:r>
            <a:r>
              <a:rPr lang="uz-Cyrl-UZ" sz="2000" dirty="0">
                <a:latin typeface="Times New Roman" pitchFamily="18" charset="0"/>
                <a:cs typeface="Times New Roman" pitchFamily="18" charset="0"/>
              </a:rPr>
              <a:t>s </a:t>
            </a:r>
            <a:r>
              <a:rPr lang="en-US" sz="2000" dirty="0" err="1">
                <a:latin typeface="Times New Roman" pitchFamily="18" charset="0"/>
                <a:cs typeface="Times New Roman" pitchFamily="18" charset="0"/>
              </a:rPr>
              <a:t>reaksiya</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juda</a:t>
            </a:r>
            <a:r>
              <a:rPr lang="en-US" sz="2000" dirty="0">
                <a:latin typeface="Times New Roman" pitchFamily="18" charset="0"/>
                <a:cs typeface="Times New Roman" pitchFamily="18" charset="0"/>
              </a:rPr>
              <a:t> mu</a:t>
            </a:r>
            <a:r>
              <a:rPr lang="uz-Cyrl-UZ" sz="2000" dirty="0">
                <a:latin typeface="Times New Roman" pitchFamily="18" charset="0"/>
                <a:cs typeface="Times New Roman" pitchFamily="18" charset="0"/>
              </a:rPr>
              <a:t>h</a:t>
            </a:r>
            <a:r>
              <a:rPr lang="en-US" sz="2000" dirty="0" err="1">
                <a:latin typeface="Times New Roman" pitchFamily="18" charset="0"/>
                <a:cs typeface="Times New Roman" pitchFamily="18" charset="0"/>
              </a:rPr>
              <a:t>imdir</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Ma’lumotlarni</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uzatish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ximoyalashda</a:t>
            </a:r>
            <a:r>
              <a:rPr lang="en-US" sz="2000" dirty="0">
                <a:latin typeface="Times New Roman" pitchFamily="18" charset="0"/>
                <a:cs typeface="Times New Roman" pitchFamily="18" charset="0"/>
              </a:rPr>
              <a:t> </a:t>
            </a:r>
            <a:r>
              <a:rPr lang="en-US" sz="2000" i="1" dirty="0" err="1">
                <a:latin typeface="Times New Roman" pitchFamily="18" charset="0"/>
                <a:cs typeface="Times New Roman" pitchFamily="18" charset="0"/>
              </a:rPr>
              <a:t>sub’ektlarning</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o‘</a:t>
            </a:r>
            <a:r>
              <a:rPr lang="en-US" sz="2000" i="1" dirty="0" err="1">
                <a:latin typeface="Times New Roman" pitchFamily="18" charset="0"/>
                <a:cs typeface="Times New Roman" pitchFamily="18" charset="0"/>
              </a:rPr>
              <a:t>zaro</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autentif</a:t>
            </a:r>
            <a:r>
              <a:rPr lang="uz-Cyrl-UZ" sz="2000" i="1" dirty="0">
                <a:latin typeface="Times New Roman" pitchFamily="18" charset="0"/>
                <a:cs typeface="Times New Roman" pitchFamily="18" charset="0"/>
              </a:rPr>
              <a:t>ik</a:t>
            </a:r>
            <a:r>
              <a:rPr lang="en-US" sz="2000" i="1" dirty="0" err="1">
                <a:latin typeface="Times New Roman" pitchFamily="18" charset="0"/>
                <a:cs typeface="Times New Roman" pitchFamily="18" charset="0"/>
              </a:rPr>
              <a:t>atsiyasi</a:t>
            </a:r>
            <a:r>
              <a:rPr lang="en-US" sz="2000" i="1" dirty="0">
                <a:latin typeface="Times New Roman" pitchFamily="18" charset="0"/>
                <a:cs typeface="Times New Roman" pitchFamily="18" charset="0"/>
              </a:rPr>
              <a:t>, </a:t>
            </a:r>
            <a:r>
              <a:rPr lang="en-US" sz="2000" dirty="0" err="1">
                <a:latin typeface="Times New Roman" pitchFamily="18" charset="0"/>
                <a:cs typeface="Times New Roman" pitchFamily="18" charset="0"/>
              </a:rPr>
              <a:t>ya’ni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kanallari</a:t>
            </a:r>
            <a:r>
              <a:rPr lang="en-US" sz="2000" dirty="0">
                <a:latin typeface="Times New Roman" pitchFamily="18" charset="0"/>
                <a:cs typeface="Times New Roman" pitchFamily="18" charset="0"/>
              </a:rPr>
              <a:t> or</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a:t>
            </a:r>
            <a:r>
              <a:rPr lang="uz-Cyrl-UZ" sz="2000" dirty="0">
                <a:latin typeface="Times New Roman" pitchFamily="18" charset="0"/>
                <a:cs typeface="Times New Roman" pitchFamily="18" charset="0"/>
              </a:rPr>
              <a:t>g‘</a:t>
            </a:r>
            <a:r>
              <a:rPr lang="en-US" sz="2000" dirty="0" err="1">
                <a:latin typeface="Times New Roman" pitchFamily="18" charset="0"/>
                <a:cs typeface="Times New Roman" pitchFamily="18" charset="0"/>
              </a:rPr>
              <a:t>lanadigan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xaqiqiyligining</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zaro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a:t>
            </a:r>
            <a:r>
              <a:rPr lang="uz-Cyrl-UZ" sz="2000" dirty="0">
                <a:latin typeface="Times New Roman" pitchFamily="18" charset="0"/>
                <a:cs typeface="Times New Roman" pitchFamily="18" charset="0"/>
              </a:rPr>
              <a:t>g‘</a:t>
            </a:r>
            <a:r>
              <a:rPr lang="en-US" sz="2000" dirty="0">
                <a:latin typeface="Times New Roman" pitchFamily="18" charset="0"/>
                <a:cs typeface="Times New Roman" pitchFamily="18" charset="0"/>
              </a:rPr>
              <a:t>i </a:t>
            </a:r>
            <a:r>
              <a:rPr lang="en-US" sz="2000" dirty="0" err="1">
                <a:latin typeface="Times New Roman" pitchFamily="18" charset="0"/>
                <a:cs typeface="Times New Roman" pitchFamily="18" charset="0"/>
              </a:rPr>
              <a:t>bajarilishi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shart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Xaqiqiylikning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a:t>
            </a:r>
            <a:r>
              <a:rPr lang="uz-Cyrl-UZ" sz="2000" dirty="0">
                <a:latin typeface="Times New Roman" pitchFamily="18" charset="0"/>
                <a:cs typeface="Times New Roman" pitchFamily="18" charset="0"/>
              </a:rPr>
              <a:t>g‘</a:t>
            </a:r>
            <a:r>
              <a:rPr lang="en-US" sz="2000" dirty="0">
                <a:latin typeface="Times New Roman" pitchFamily="18" charset="0"/>
                <a:cs typeface="Times New Roman" pitchFamily="18" charset="0"/>
              </a:rPr>
              <a:t>i </a:t>
            </a:r>
            <a:r>
              <a:rPr lang="en-US" sz="2000" dirty="0" err="1">
                <a:latin typeface="Times New Roman" pitchFamily="18" charset="0"/>
                <a:cs typeface="Times New Roman" pitchFamily="18" charset="0"/>
              </a:rPr>
              <a:t>odatda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seans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abonentlarning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bir-biriga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oshiriladi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Ulash</a:t>
            </a:r>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atamasi</a:t>
            </a:r>
            <a:r>
              <a:rPr lang="en-US" sz="2000" dirty="0">
                <a:latin typeface="Times New Roman" pitchFamily="18" charset="0"/>
                <a:cs typeface="Times New Roman" pitchFamily="18" charset="0"/>
              </a:rPr>
              <a:t> or</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o‘rtasida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manti</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a:t>
            </a:r>
            <a:r>
              <a:rPr lang="uz-Cyrl-UZ" sz="2000" dirty="0">
                <a:latin typeface="Times New Roman" pitchFamily="18" charset="0"/>
                <a:cs typeface="Times New Roman" pitchFamily="18" charset="0"/>
              </a:rPr>
              <a:t>g‘</a:t>
            </a:r>
            <a:r>
              <a:rPr lang="en-US" sz="2000" dirty="0" err="1">
                <a:latin typeface="Times New Roman" pitchFamily="18" charset="0"/>
                <a:cs typeface="Times New Roman" pitchFamily="18" charset="0"/>
              </a:rPr>
              <a:t>lanish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tushuniladi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muolajaning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maqsadi</a:t>
            </a:r>
            <a:r>
              <a:rPr lang="en-US" sz="2000" dirty="0">
                <a:latin typeface="Times New Roman" pitchFamily="18" charset="0"/>
                <a:cs typeface="Times New Roman" pitchFamily="18" charset="0"/>
              </a:rPr>
              <a:t> - </a:t>
            </a:r>
            <a:r>
              <a:rPr lang="en-US" sz="2000" dirty="0" err="1">
                <a:latin typeface="Times New Roman" pitchFamily="18" charset="0"/>
                <a:cs typeface="Times New Roman" pitchFamily="18" charset="0"/>
              </a:rPr>
              <a:t>ulash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qonuniy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oshirilganligiga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barcha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mo‘ljallangan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manzilga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borishligiga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ta’minlashdir</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5286224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8636"/>
            <a:ext cx="9007522" cy="6832640"/>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O‘</a:t>
            </a:r>
            <a:r>
              <a:rPr lang="en-US" sz="2000" dirty="0" err="1">
                <a:latin typeface="Times New Roman" pitchFamily="18" charset="0"/>
                <a:cs typeface="Times New Roman" pitchFamily="18" charset="0"/>
              </a:rPr>
              <a:t>zining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xaqiqiyligining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tasdikdash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asoslarni</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Sub’ekt</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bog‘liq</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h</a:t>
            </a:r>
            <a:r>
              <a:rPr lang="en-US" sz="2000" dirty="0" err="1">
                <a:latin typeface="Times New Roman" pitchFamily="18" charset="0"/>
                <a:cs typeface="Times New Roman" pitchFamily="18" charset="0"/>
              </a:rPr>
              <a:t>olda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kategoriyalarga</a:t>
            </a:r>
            <a:r>
              <a:rPr lang="en-US" sz="2000" dirty="0">
                <a:latin typeface="Times New Roman" pitchFamily="18" charset="0"/>
                <a:cs typeface="Times New Roman" pitchFamily="18" charset="0"/>
              </a:rPr>
              <a:t> b</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linishi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biror</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narsani</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bilish</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asosida</a:t>
            </a:r>
            <a:r>
              <a:rPr lang="en-US" sz="2000" i="1" dirty="0">
                <a:latin typeface="Times New Roman" pitchFamily="18" charset="0"/>
                <a:cs typeface="Times New Roman" pitchFamily="18" charset="0"/>
              </a:rPr>
              <a:t>. </a:t>
            </a:r>
            <a:r>
              <a:rPr lang="en-US" sz="2000" dirty="0" err="1">
                <a:latin typeface="Times New Roman" pitchFamily="18" charset="0"/>
                <a:cs typeface="Times New Roman" pitchFamily="18" charset="0"/>
              </a:rPr>
              <a:t>Misol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sifatida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parol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a:t>
            </a:r>
            <a:r>
              <a:rPr lang="uz-Cyrl-UZ" sz="2000" dirty="0">
                <a:latin typeface="Times New Roman" pitchFamily="18" charset="0"/>
                <a:cs typeface="Times New Roman" pitchFamily="18" charset="0"/>
              </a:rPr>
              <a:t>s</a:t>
            </a:r>
            <a:r>
              <a:rPr lang="en-US" sz="2000" dirty="0" err="1">
                <a:latin typeface="Times New Roman" pitchFamily="18" charset="0"/>
                <a:cs typeface="Times New Roman" pitchFamily="18" charset="0"/>
              </a:rPr>
              <a:t>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identifikatsiya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kodi</a:t>
            </a:r>
            <a:r>
              <a:rPr lang="en-US" sz="2000" dirty="0">
                <a:latin typeface="Times New Roman" pitchFamily="18" charset="0"/>
                <a:cs typeface="Times New Roman" pitchFamily="18" charset="0"/>
              </a:rPr>
              <a:t> PIN (Personal Identification Number) </a:t>
            </a:r>
            <a:r>
              <a:rPr lang="en-US" sz="2000" dirty="0" err="1">
                <a:latin typeface="Times New Roman" pitchFamily="18" charset="0"/>
                <a:cs typeface="Times New Roman" pitchFamily="18" charset="0"/>
              </a:rPr>
              <a:t>xamda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so‘rov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javob</a:t>
            </a:r>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xilidagi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namoyish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etiluvchi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ochi</a:t>
            </a:r>
            <a:r>
              <a:rPr lang="uz-Cyrl-UZ" sz="2000" dirty="0">
                <a:latin typeface="Times New Roman" pitchFamily="18" charset="0"/>
                <a:cs typeface="Times New Roman" pitchFamily="18" charset="0"/>
              </a:rPr>
              <a:t>q </a:t>
            </a:r>
            <a:r>
              <a:rPr lang="en-US" sz="2000" dirty="0" err="1">
                <a:latin typeface="Times New Roman" pitchFamily="18" charset="0"/>
                <a:cs typeface="Times New Roman" pitchFamily="18" charset="0"/>
              </a:rPr>
              <a:t>kalitlarni</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biror</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narsaga</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egaligi</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asosida</a:t>
            </a:r>
            <a:r>
              <a:rPr lang="en-US" sz="2000" i="1" dirty="0">
                <a:latin typeface="Times New Roman" pitchFamily="18" charset="0"/>
                <a:cs typeface="Times New Roman" pitchFamily="18" charset="0"/>
              </a:rPr>
              <a:t>. </a:t>
            </a:r>
            <a:r>
              <a:rPr lang="en-US" sz="2000" dirty="0" err="1">
                <a:latin typeface="Times New Roman" pitchFamily="18" charset="0"/>
                <a:cs typeface="Times New Roman" pitchFamily="18" charset="0"/>
              </a:rPr>
              <a:t>Odatda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magnit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kartalar</a:t>
            </a:r>
            <a:r>
              <a:rPr lang="en-US" sz="2000" dirty="0">
                <a:latin typeface="Times New Roman" pitchFamily="18" charset="0"/>
                <a:cs typeface="Times New Roman" pitchFamily="18" charset="0"/>
              </a:rPr>
              <a:t>, smart-</a:t>
            </a:r>
            <a:r>
              <a:rPr lang="en-US" sz="2000" dirty="0" err="1">
                <a:latin typeface="Times New Roman" pitchFamily="18" charset="0"/>
                <a:cs typeface="Times New Roman" pitchFamily="18" charset="0"/>
              </a:rPr>
              <a:t>kartalar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touch memory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urilmalari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qandaydir</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daxlsiz</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xarakteristikalar</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asosida</a:t>
            </a:r>
            <a:r>
              <a:rPr lang="en-US" sz="2000" i="1"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kategoriya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a:latin typeface="Times New Roman" pitchFamily="18" charset="0"/>
                <a:cs typeface="Times New Roman" pitchFamily="18" charset="0"/>
              </a:rPr>
              <a:t>z </a:t>
            </a:r>
            <a:r>
              <a:rPr lang="en-US" sz="2000" dirty="0" err="1">
                <a:latin typeface="Times New Roman" pitchFamily="18" charset="0"/>
                <a:cs typeface="Times New Roman" pitchFamily="18" charset="0"/>
              </a:rPr>
              <a:t>tarkibiga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biometrik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xarakteristikalariga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ovozlar</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zning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rangdor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pardasi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t</a:t>
            </a:r>
            <a:r>
              <a:rPr lang="uz-Cyrl-UZ" sz="2000" dirty="0">
                <a:latin typeface="Times New Roman" pitchFamily="18" charset="0"/>
                <a:cs typeface="Times New Roman" pitchFamily="18" charset="0"/>
              </a:rPr>
              <a:t>o‘</a:t>
            </a:r>
            <a:r>
              <a:rPr lang="en-US" sz="2000" dirty="0">
                <a:latin typeface="Times New Roman" pitchFamily="18" charset="0"/>
                <a:cs typeface="Times New Roman" pitchFamily="18" charset="0"/>
              </a:rPr>
              <a:t>r </a:t>
            </a:r>
            <a:r>
              <a:rPr lang="en-US" sz="2000" dirty="0" err="1">
                <a:latin typeface="Times New Roman" pitchFamily="18" charset="0"/>
                <a:cs typeface="Times New Roman" pitchFamily="18" charset="0"/>
              </a:rPr>
              <a:t>pardasi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barmo</a:t>
            </a:r>
            <a:r>
              <a:rPr lang="uz-Cyrl-UZ" sz="2000" dirty="0">
                <a:latin typeface="Times New Roman" pitchFamily="18" charset="0"/>
                <a:cs typeface="Times New Roman" pitchFamily="18" charset="0"/>
              </a:rPr>
              <a:t>q </a:t>
            </a:r>
            <a:r>
              <a:rPr lang="en-US" sz="2000" dirty="0" err="1">
                <a:latin typeface="Times New Roman" pitchFamily="18" charset="0"/>
                <a:cs typeface="Times New Roman" pitchFamily="18" charset="0"/>
              </a:rPr>
              <a:t>izlari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kaft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geometriyasi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hokazo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oladi</a:t>
            </a:r>
            <a:r>
              <a:rPr lang="en-US" sz="2000" dirty="0">
                <a:latin typeface="Times New Roman" pitchFamily="18" charset="0"/>
                <a:cs typeface="Times New Roman" pitchFamily="18" charset="0"/>
              </a:rPr>
              <a:t>. Bu </a:t>
            </a:r>
            <a:r>
              <a:rPr lang="en-US" sz="2000" dirty="0" err="1">
                <a:latin typeface="Times New Roman" pitchFamily="18" charset="0"/>
                <a:cs typeface="Times New Roman" pitchFamily="18" charset="0"/>
              </a:rPr>
              <a:t>kategoriyada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kriptografik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ishlatilmaydi</a:t>
            </a:r>
            <a:r>
              <a:rPr lang="en-US" sz="2000" dirty="0">
                <a:latin typeface="Times New Roman" pitchFamily="18" charset="0"/>
                <a:cs typeface="Times New Roman" pitchFamily="18" charset="0"/>
              </a:rPr>
              <a:t>. B</a:t>
            </a:r>
            <a:r>
              <a:rPr lang="uz-Cyrl-UZ" sz="2000" dirty="0">
                <a:latin typeface="Times New Roman" pitchFamily="18" charset="0"/>
                <a:cs typeface="Times New Roman" pitchFamily="18" charset="0"/>
              </a:rPr>
              <a:t>i</a:t>
            </a:r>
            <a:r>
              <a:rPr lang="en-US" sz="2000" dirty="0" err="1">
                <a:latin typeface="Times New Roman" pitchFamily="18" charset="0"/>
                <a:cs typeface="Times New Roman" pitchFamily="18" charset="0"/>
              </a:rPr>
              <a:t>ometrik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xarakteristikalar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binodan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qandaydir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texnikadan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nazoratlashda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Autentifikatsiya </a:t>
            </a:r>
            <a:r>
              <a:rPr lang="uz-Cyrl-UZ" sz="2000" dirty="0">
                <a:latin typeface="Times New Roman" pitchFamily="18" charset="0"/>
                <a:cs typeface="Times New Roman" pitchFamily="18" charset="0"/>
              </a:rPr>
              <a:t>jaryonlarini ta’minlanuvchi xavfsizlik darajasi bo‘yicha xam turkumlash mumkin. Ushbu yondashishga binoan autentifikatsiya jarayonlari quyidagi turlarga bo‘linadi:</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en-US" sz="2000" dirty="0" err="1">
                <a:latin typeface="Times New Roman" pitchFamily="18" charset="0"/>
                <a:cs typeface="Times New Roman" pitchFamily="18" charset="0"/>
              </a:rPr>
              <a:t>parollar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amli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en-US" sz="2000" dirty="0" err="1">
                <a:latin typeface="Times New Roman" pitchFamily="18" charset="0"/>
                <a:cs typeface="Times New Roman" pitchFamily="18" charset="0"/>
              </a:rPr>
              <a:t>kriptografik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asosidagi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atiy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en-US" sz="2000" dirty="0" err="1">
                <a:latin typeface="Times New Roman" pitchFamily="18" charset="0"/>
                <a:cs typeface="Times New Roman" pitchFamily="18" charset="0"/>
              </a:rPr>
              <a:t>nullik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isbotlash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xususiyatiga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ru-RU" sz="2000" dirty="0" err="1">
                <a:latin typeface="Times New Roman" pitchFamily="18" charset="0"/>
                <a:cs typeface="Times New Roman" pitchFamily="18" charset="0"/>
              </a:rPr>
              <a:t>foydalanuvchilarni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biometrik</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autentifikatsiyasi</a:t>
            </a:r>
            <a:r>
              <a:rPr lang="ru-RU"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617845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1100" y="0"/>
            <a:ext cx="9021957"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Xavfsizlik</a:t>
            </a:r>
            <a:r>
              <a:rPr lang="ru-RU" sz="2000" dirty="0" smtClean="0">
                <a:latin typeface="Times New Roman" pitchFamily="18" charset="0"/>
                <a:cs typeface="Times New Roman" pitchFamily="18" charset="0"/>
              </a:rPr>
              <a:t> </a:t>
            </a:r>
            <a:r>
              <a:rPr lang="ru-RU" sz="2000" dirty="0" err="1">
                <a:latin typeface="Times New Roman" pitchFamily="18" charset="0"/>
                <a:cs typeface="Times New Roman" pitchFamily="18" charset="0"/>
              </a:rPr>
              <a:t>nuktai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nazaridan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yuqorida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keltirilganlarning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o‘ziga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xos</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masalalarni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yechishga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imkon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beradi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Shu</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sababli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jarayonlari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va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protokollari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amalda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faol</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ishlatiladi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Shu</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bilan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qatorda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ta’kidlash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lozimki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nullik</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bilim</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bilan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isbotlash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xususiyatiga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ega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bo‘lgan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autentifikatsiyaga</a:t>
            </a:r>
            <a:r>
              <a:rPr lang="ru-RU"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ru-RU" sz="2000" dirty="0" err="1">
                <a:latin typeface="Times New Roman" pitchFamily="18" charset="0"/>
                <a:cs typeface="Times New Roman" pitchFamily="18" charset="0"/>
              </a:rPr>
              <a:t>izi</a:t>
            </a:r>
            <a:r>
              <a:rPr lang="uz-Cyrl-UZ" sz="2000" dirty="0">
                <a:latin typeface="Times New Roman" pitchFamily="18" charset="0"/>
                <a:cs typeface="Times New Roman" pitchFamily="18" charset="0"/>
              </a:rPr>
              <a:t>q</a:t>
            </a:r>
            <a:r>
              <a:rPr lang="ru-RU" sz="2000" dirty="0" err="1">
                <a:latin typeface="Times New Roman" pitchFamily="18" charset="0"/>
                <a:cs typeface="Times New Roman" pitchFamily="18" charset="0"/>
              </a:rPr>
              <a:t>ish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amaliy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xarakterga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nisbatan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kupro</a:t>
            </a:r>
            <a:r>
              <a:rPr lang="uz-Cyrl-UZ" sz="2000" dirty="0">
                <a:latin typeface="Times New Roman" pitchFamily="18" charset="0"/>
                <a:cs typeface="Times New Roman" pitchFamily="18" charset="0"/>
              </a:rPr>
              <a:t>q </a:t>
            </a:r>
            <a:r>
              <a:rPr lang="ru-RU" sz="2000" dirty="0" err="1">
                <a:latin typeface="Times New Roman" pitchFamily="18" charset="0"/>
                <a:cs typeface="Times New Roman" pitchFamily="18" charset="0"/>
              </a:rPr>
              <a:t>nazariy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xarakterga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ega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Balkim</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yakin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kelajakda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ulardan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axborot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almashinuvini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ximoyalashda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faol</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foydalanishlari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mumkin</a:t>
            </a:r>
            <a:r>
              <a:rPr lang="ru-RU" sz="2000" dirty="0">
                <a:latin typeface="Times New Roman" pitchFamily="18" charset="0"/>
                <a:cs typeface="Times New Roman" pitchFamily="18" charset="0"/>
              </a:rPr>
              <a:t>.</a:t>
            </a:r>
          </a:p>
          <a:p>
            <a:pPr algn="just"/>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xujumlar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quyidagilar</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maskarad</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(impersonation).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a:t>
            </a:r>
            <a:r>
              <a:rPr lang="uz-Cyrl-UZ" sz="2000" dirty="0">
                <a:latin typeface="Times New Roman" pitchFamily="18" charset="0"/>
                <a:cs typeface="Times New Roman" pitchFamily="18" charset="0"/>
              </a:rPr>
              <a:t>s </a:t>
            </a:r>
            <a:r>
              <a:rPr lang="en-US" sz="2000" dirty="0">
                <a:latin typeface="Times New Roman" pitchFamily="18" charset="0"/>
                <a:cs typeface="Times New Roman" pitchFamily="18" charset="0"/>
              </a:rPr>
              <a:t>deb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urinib</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shaxs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tarafidan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xarakatlarning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imkoniyatlariga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imtiyozlariga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bulishni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mo‘ljallaydi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almashinuvi</a:t>
            </a:r>
            <a:r>
              <a:rPr lang="en-US" sz="2000" dirty="0">
                <a:latin typeface="Times New Roman" pitchFamily="18" charset="0"/>
                <a:cs typeface="Times New Roman" pitchFamily="18" charset="0"/>
              </a:rPr>
              <a:t> </a:t>
            </a:r>
            <a:r>
              <a:rPr lang="en-US" sz="2000" i="1" dirty="0" err="1">
                <a:latin typeface="Times New Roman" pitchFamily="18" charset="0"/>
                <a:cs typeface="Times New Roman" pitchFamily="18" charset="0"/>
              </a:rPr>
              <a:t>tarafini</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almashtirib</a:t>
            </a:r>
            <a:r>
              <a:rPr lang="en-US" sz="2000" i="1" dirty="0">
                <a:latin typeface="Times New Roman" pitchFamily="18" charset="0"/>
                <a:cs typeface="Times New Roman" pitchFamily="18" charset="0"/>
              </a:rPr>
              <a:t> </a:t>
            </a:r>
            <a:r>
              <a:rPr lang="uz-Cyrl-UZ" sz="2000" i="1" dirty="0">
                <a:latin typeface="Times New Roman" pitchFamily="18" charset="0"/>
                <a:cs typeface="Times New Roman" pitchFamily="18" charset="0"/>
              </a:rPr>
              <a:t>qo‘y</a:t>
            </a:r>
            <a:r>
              <a:rPr lang="en-US" sz="2000" i="1" dirty="0">
                <a:latin typeface="Times New Roman" pitchFamily="18" charset="0"/>
                <a:cs typeface="Times New Roman" pitchFamily="18" charset="0"/>
              </a:rPr>
              <a:t>i</a:t>
            </a:r>
            <a:r>
              <a:rPr lang="uz-Cyrl-UZ" sz="2000" i="1" dirty="0">
                <a:latin typeface="Times New Roman" pitchFamily="18" charset="0"/>
                <a:cs typeface="Times New Roman" pitchFamily="18" charset="0"/>
              </a:rPr>
              <a:t>sh </a:t>
            </a:r>
            <a:r>
              <a:rPr lang="en-US" sz="2000" dirty="0">
                <a:latin typeface="Times New Roman" pitchFamily="18" charset="0"/>
                <a:cs typeface="Times New Roman" pitchFamily="18" charset="0"/>
              </a:rPr>
              <a:t>(interleaving attack). </a:t>
            </a:r>
            <a:r>
              <a:rPr lang="en-US" sz="2000" dirty="0" err="1">
                <a:latin typeface="Times New Roman" pitchFamily="18" charset="0"/>
                <a:cs typeface="Times New Roman" pitchFamily="18" charset="0"/>
              </a:rPr>
              <a:t>Niyati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buzu</a:t>
            </a:r>
            <a:r>
              <a:rPr lang="uz-Cyrl-UZ" sz="2000" dirty="0">
                <a:latin typeface="Times New Roman" pitchFamily="18" charset="0"/>
                <a:cs typeface="Times New Roman" pitchFamily="18" charset="0"/>
              </a:rPr>
              <a:t>q </a:t>
            </a:r>
            <a:r>
              <a:rPr lang="en-US" sz="2000" dirty="0" err="1">
                <a:latin typeface="Times New Roman" pitchFamily="18" charset="0"/>
                <a:cs typeface="Times New Roman" pitchFamily="18" charset="0"/>
              </a:rPr>
              <a:t>odam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xujum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mobaynida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taraf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autenfikatsion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almashinish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trafikni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modifikatsiyalash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niyatida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atnashadi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Almashtirib</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qo‘</a:t>
            </a:r>
            <a:r>
              <a:rPr lang="en-US" sz="2000" dirty="0" err="1">
                <a:latin typeface="Times New Roman" pitchFamily="18" charset="0"/>
                <a:cs typeface="Times New Roman" pitchFamily="18" charset="0"/>
              </a:rPr>
              <a:t>yishning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mavjud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o‘rtasidagi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muvaffakiyatli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tib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ulanish</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rnatilganidan</a:t>
            </a:r>
            <a:r>
              <a:rPr lang="en-US" sz="2000" dirty="0">
                <a:latin typeface="Times New Roman" pitchFamily="18" charset="0"/>
                <a:cs typeface="Times New Roman" pitchFamily="18" charset="0"/>
              </a:rPr>
              <a:t> s</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buzg‘unchi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birini</a:t>
            </a:r>
            <a:r>
              <a:rPr lang="en-US" sz="2000" dirty="0">
                <a:latin typeface="Times New Roman" pitchFamily="18" charset="0"/>
                <a:cs typeface="Times New Roman" pitchFamily="18" charset="0"/>
              </a:rPr>
              <a:t> chi</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arib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nomidan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davom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ettiradi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takroriy uzatish </a:t>
            </a:r>
            <a:r>
              <a:rPr lang="uz-Cyrl-UZ" sz="2000" dirty="0">
                <a:latin typeface="Times New Roman" pitchFamily="18" charset="0"/>
                <a:cs typeface="Times New Roman" pitchFamily="18" charset="0"/>
              </a:rPr>
              <a:t>(replay attack). Foydalanuvchilarning biri tomonidan autentifikatsiya ma’lumotlari takroran uzatiladi;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uzatishni qaytarish </a:t>
            </a:r>
            <a:r>
              <a:rPr lang="uz-Cyrl-UZ" sz="2000" dirty="0">
                <a:latin typeface="Times New Roman" pitchFamily="18" charset="0"/>
                <a:cs typeface="Times New Roman" pitchFamily="18" charset="0"/>
              </a:rPr>
              <a:t>(reflection attak). Oldingi xujum variantlaridan biri bo‘lib, xujum mobaynida niyati buzuq odam protokolning ushbu sessiya doirasida ushlab qolingan axborotni orqaga qaytaradi</a:t>
            </a:r>
            <a:r>
              <a:rPr lang="uz-Cyrl-UZ"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266094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716" y="0"/>
            <a:ext cx="9144000" cy="7171194"/>
          </a:xfrm>
          <a:prstGeom prst="rect">
            <a:avLst/>
          </a:prstGeom>
        </p:spPr>
        <p:txBody>
          <a:bodyPr wrap="square">
            <a:spAutoFit/>
          </a:bodyPr>
          <a:lstStyle/>
          <a:p>
            <a:pPr algn="just"/>
            <a:r>
              <a:rPr lang="uz-Cyrl-UZ" sz="2000" i="1" dirty="0">
                <a:latin typeface="Times New Roman" pitchFamily="18" charset="0"/>
                <a:cs typeface="Times New Roman" pitchFamily="18" charset="0"/>
              </a:rPr>
              <a:t>- majburiy kechikish </a:t>
            </a:r>
            <a:r>
              <a:rPr lang="uz-Cyrl-UZ" sz="2000" dirty="0">
                <a:latin typeface="Times New Roman" pitchFamily="18" charset="0"/>
                <a:cs typeface="Times New Roman" pitchFamily="18" charset="0"/>
              </a:rPr>
              <a:t>(forced delay). Niyati buzuq odam qandaydir ma’lumotni ushlab qolib, biror vaqtdan so‘ng uzatadi.</a:t>
            </a:r>
            <a:endParaRPr lang="ru-RU" sz="2000" dirty="0">
              <a:latin typeface="Times New Roman" pitchFamily="18" charset="0"/>
              <a:cs typeface="Times New Roman" pitchFamily="18" charset="0"/>
            </a:endParaRPr>
          </a:p>
          <a:p>
            <a:pPr algn="just"/>
            <a:r>
              <a:rPr lang="uz-Cyrl-UZ"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matn</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tanlashli</a:t>
            </a:r>
            <a:r>
              <a:rPr lang="en-US" sz="2000" i="1" dirty="0">
                <a:latin typeface="Times New Roman" pitchFamily="18" charset="0"/>
                <a:cs typeface="Times New Roman" pitchFamily="18" charset="0"/>
              </a:rPr>
              <a:t> </a:t>
            </a:r>
            <a:r>
              <a:rPr lang="en-US" sz="2000" i="1" dirty="0" err="1">
                <a:latin typeface="Times New Roman" pitchFamily="18" charset="0"/>
                <a:cs typeface="Times New Roman" pitchFamily="18" charset="0"/>
              </a:rPr>
              <a:t>xujum</a:t>
            </a:r>
            <a:r>
              <a:rPr lang="en-US" sz="2000" i="1" dirty="0">
                <a:latin typeface="Times New Roman" pitchFamily="18" charset="0"/>
                <a:cs typeface="Times New Roman" pitchFamily="18" charset="0"/>
              </a:rPr>
              <a:t> </a:t>
            </a:r>
            <a:r>
              <a:rPr lang="en-US" sz="2000" dirty="0">
                <a:latin typeface="Times New Roman" pitchFamily="18" charset="0"/>
                <a:cs typeface="Times New Roman" pitchFamily="18" charset="0"/>
              </a:rPr>
              <a:t>(chosen text attack). </a:t>
            </a:r>
            <a:r>
              <a:rPr lang="en-US" sz="2000" dirty="0" err="1">
                <a:latin typeface="Times New Roman" pitchFamily="18" charset="0"/>
                <a:cs typeface="Times New Roman" pitchFamily="18" charset="0"/>
              </a:rPr>
              <a:t>Niyati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buzuq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trafigini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ushlab</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qo</a:t>
            </a:r>
            <a:r>
              <a:rPr lang="en-US" sz="2000" dirty="0">
                <a:latin typeface="Times New Roman" pitchFamily="18" charset="0"/>
                <a:cs typeface="Times New Roman" pitchFamily="18" charset="0"/>
              </a:rPr>
              <a:t>lib, </a:t>
            </a:r>
            <a:r>
              <a:rPr lang="en-US" sz="2000" dirty="0" err="1">
                <a:latin typeface="Times New Roman" pitchFamily="18" charset="0"/>
                <a:cs typeface="Times New Roman" pitchFamily="18" charset="0"/>
              </a:rPr>
              <a:t>uzoq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muddatli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kriptografik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xususidagi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Yu</a:t>
            </a:r>
            <a:r>
              <a:rPr lang="uz-Cyrl-UZ" sz="2000" dirty="0">
                <a:latin typeface="Times New Roman" pitchFamily="18" charset="0"/>
                <a:cs typeface="Times New Roman" pitchFamily="18" charset="0"/>
              </a:rPr>
              <a:t>qo</a:t>
            </a:r>
            <a:r>
              <a:rPr lang="en-US" sz="2000" dirty="0" err="1">
                <a:latin typeface="Times New Roman" pitchFamily="18" charset="0"/>
                <a:cs typeface="Times New Roman" pitchFamily="18" charset="0"/>
              </a:rPr>
              <a:t>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keltirilgan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xujumlarni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bartaraf</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ilish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protokollarini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urishda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“so‘rov-javob” vaqt belgilari, tasodifiy sonlar, indentifiqatorlar, raqamli imzolar kabi mexanizmlardan foydalanish;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natijasini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doirasidagi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keyingi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xarakatlariga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misol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yondashishga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tari</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jarayonida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keyinga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zaro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aloqalarida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seans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almashishni</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aloqaning</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rnatilgan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seansi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doirasida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muolajasini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vaqti-vaqti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bajarib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x</a:t>
            </a:r>
            <a:r>
              <a:rPr lang="uz-Cyrl-UZ" sz="2000" dirty="0">
                <a:latin typeface="Times New Roman" pitchFamily="18" charset="0"/>
                <a:cs typeface="Times New Roman" pitchFamily="18" charset="0"/>
              </a:rPr>
              <a:t>okazo.</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Vaqtni </a:t>
            </a:r>
            <a:r>
              <a:rPr lang="uz-Cyrl-UZ" sz="2000" dirty="0">
                <a:latin typeface="Times New Roman" pitchFamily="18" charset="0"/>
                <a:cs typeface="Times New Roman" pitchFamily="18" charset="0"/>
              </a:rPr>
              <a:t>belgilash mexanizmi xar bir xabar uchun vaqtni qaydlashni ko‘zda tutadi. Bunda tarmoqning xar bir foydalanuvchisi kelgan xabarning kanchalik eskirganini aniqlashi va uni qabul kilmaslik karoriga kelishi mumkin, chunki u yolg‘on bo‘lishi mumkin. Vaktni belgilashdan foydalanishda seansning xaqiqiy ekanligini tasdiqlash uchun </a:t>
            </a:r>
            <a:r>
              <a:rPr lang="uz-Cyrl-UZ" sz="2000" i="1" dirty="0">
                <a:latin typeface="Times New Roman" pitchFamily="18" charset="0"/>
                <a:cs typeface="Times New Roman" pitchFamily="18" charset="0"/>
              </a:rPr>
              <a:t>kechikishning joiz vaqt oralig‘i </a:t>
            </a:r>
            <a:r>
              <a:rPr lang="uz-Cyrl-UZ" sz="2000" dirty="0">
                <a:latin typeface="Times New Roman" pitchFamily="18" charset="0"/>
                <a:cs typeface="Times New Roman" pitchFamily="18" charset="0"/>
              </a:rPr>
              <a:t>muammosi paydo bo‘ladi. </a:t>
            </a:r>
            <a:r>
              <a:rPr lang="en-US" sz="2000" dirty="0" err="1">
                <a:latin typeface="Times New Roman" pitchFamily="18" charset="0"/>
                <a:cs typeface="Times New Roman" pitchFamily="18" charset="0"/>
              </a:rPr>
              <a:t>Chunki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vaqt</a:t>
            </a:r>
            <a:r>
              <a:rPr lang="en-US" sz="2000" dirty="0">
                <a:latin typeface="Times New Roman" pitchFamily="18" charset="0"/>
                <a:cs typeface="Times New Roman" pitchFamily="18" charset="0"/>
              </a:rPr>
              <a:t> tam</a:t>
            </a:r>
            <a:r>
              <a:rPr lang="uz-Cyrl-UZ" sz="2000" dirty="0">
                <a:latin typeface="Times New Roman" pitchFamily="18" charset="0"/>
                <a:cs typeface="Times New Roman" pitchFamily="18" charset="0"/>
              </a:rPr>
              <a:t>g‘</a:t>
            </a:r>
            <a:r>
              <a:rPr lang="en-US" sz="2000" dirty="0" err="1">
                <a:latin typeface="Times New Roman" pitchFamily="18" charset="0"/>
                <a:cs typeface="Times New Roman" pitchFamily="18" charset="0"/>
              </a:rPr>
              <a:t>asi</a:t>
            </a:r>
            <a:r>
              <a:rPr lang="uz-Cyrl-UZ" sz="2000" dirty="0">
                <a:latin typeface="Times New Roman" pitchFamily="18" charset="0"/>
                <a:cs typeface="Times New Roman" pitchFamily="18" charset="0"/>
              </a:rPr>
              <a:t>”</a:t>
            </a:r>
            <a:r>
              <a:rPr lang="en-US" sz="2000" dirty="0">
                <a:latin typeface="Times New Roman" pitchFamily="18" charset="0"/>
                <a:cs typeface="Times New Roman" pitchFamily="18" charset="0"/>
              </a:rPr>
              <a:t>li </a:t>
            </a:r>
            <a:r>
              <a:rPr lang="en-US" sz="2000" dirty="0" err="1">
                <a:latin typeface="Times New Roman" pitchFamily="18" charset="0"/>
                <a:cs typeface="Times New Roman" pitchFamily="18" charset="0"/>
              </a:rPr>
              <a:t>xabar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umuman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laxzada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emas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tashqari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j</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natuvchining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soatlari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mutla</a:t>
            </a:r>
            <a:r>
              <a:rPr lang="uz-Cyrl-UZ" sz="2000" dirty="0">
                <a:latin typeface="Times New Roman" pitchFamily="18" charset="0"/>
                <a:cs typeface="Times New Roman" pitchFamily="18" charset="0"/>
              </a:rPr>
              <a:t>qo </a:t>
            </a:r>
            <a:r>
              <a:rPr lang="en-US" sz="2000" dirty="0" err="1">
                <a:latin typeface="Times New Roman" pitchFamily="18" charset="0"/>
                <a:cs typeface="Times New Roman" pitchFamily="18" charset="0"/>
              </a:rPr>
              <a:t>sinxronlangan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emas</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309403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8238" y="58847"/>
            <a:ext cx="8968257" cy="5755422"/>
          </a:xfrm>
          <a:prstGeom prst="rect">
            <a:avLst/>
          </a:prstGeom>
        </p:spPr>
        <p:txBody>
          <a:bodyPr wrap="square">
            <a:spAutoFit/>
          </a:bodyPr>
          <a:lstStyle/>
          <a:p>
            <a:pPr algn="just"/>
            <a:r>
              <a:rPr lang="en-US" sz="2300" dirty="0" smtClean="0">
                <a:latin typeface="Times New Roman" pitchFamily="18" charset="0"/>
                <a:cs typeface="Times New Roman" pitchFamily="18" charset="0"/>
              </a:rPr>
              <a:t>	</a:t>
            </a:r>
            <a:r>
              <a:rPr lang="en-US" sz="2300" dirty="0" err="1" smtClean="0">
                <a:latin typeface="Times New Roman" pitchFamily="18" charset="0"/>
                <a:cs typeface="Times New Roman" pitchFamily="18" charset="0"/>
              </a:rPr>
              <a:t>Autentifikatsiya</a:t>
            </a:r>
            <a:r>
              <a:rPr lang="en-US" sz="2300" dirty="0" smtClean="0">
                <a:latin typeface="Times New Roman" pitchFamily="18" charset="0"/>
                <a:cs typeface="Times New Roman" pitchFamily="18" charset="0"/>
              </a:rPr>
              <a:t> </a:t>
            </a:r>
            <a:r>
              <a:rPr lang="en-US" sz="2300" dirty="0" err="1">
                <a:latin typeface="Times New Roman" pitchFamily="18" charset="0"/>
                <a:cs typeface="Times New Roman" pitchFamily="18" charset="0"/>
              </a:rPr>
              <a:t>protokollarini</a:t>
            </a:r>
            <a:r>
              <a:rPr lang="en-US" sz="2300" dirty="0">
                <a:latin typeface="Times New Roman" pitchFamily="18" charset="0"/>
                <a:cs typeface="Times New Roman" pitchFamily="18" charset="0"/>
              </a:rPr>
              <a:t> ta</a:t>
            </a:r>
            <a:r>
              <a:rPr lang="uz-Cyrl-UZ" sz="2300" dirty="0">
                <a:latin typeface="Times New Roman" pitchFamily="18" charset="0"/>
                <a:cs typeface="Times New Roman" pitchFamily="18" charset="0"/>
              </a:rPr>
              <a:t>qq</a:t>
            </a:r>
            <a:r>
              <a:rPr lang="en-US" sz="2300" dirty="0" err="1">
                <a:latin typeface="Times New Roman" pitchFamily="18" charset="0"/>
                <a:cs typeface="Times New Roman" pitchFamily="18" charset="0"/>
              </a:rPr>
              <a:t>oslashda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va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tanlashda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quyidagi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xarakteristikalarni</a:t>
            </a:r>
            <a:r>
              <a:rPr lang="en-US" sz="2300" dirty="0">
                <a:latin typeface="Times New Roman" pitchFamily="18" charset="0"/>
                <a:cs typeface="Times New Roman" pitchFamily="18" charset="0"/>
              </a:rPr>
              <a:t> </a:t>
            </a:r>
            <a:r>
              <a:rPr lang="uz-Cyrl-UZ" sz="2300" dirty="0">
                <a:latin typeface="Times New Roman" pitchFamily="18" charset="0"/>
                <a:cs typeface="Times New Roman" pitchFamily="18" charset="0"/>
              </a:rPr>
              <a:t>h</a:t>
            </a:r>
            <a:r>
              <a:rPr lang="en-US" sz="2300" dirty="0" err="1">
                <a:latin typeface="Times New Roman" pitchFamily="18" charset="0"/>
                <a:cs typeface="Times New Roman" pitchFamily="18" charset="0"/>
              </a:rPr>
              <a:t>isobga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olish</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zarur</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a:p>
            <a:pPr algn="just"/>
            <a:r>
              <a:rPr lang="uz-Cyrl-UZ" sz="2300" i="1" dirty="0">
                <a:latin typeface="Times New Roman" pitchFamily="18" charset="0"/>
                <a:cs typeface="Times New Roman" pitchFamily="18" charset="0"/>
              </a:rPr>
              <a:t>- o‘</a:t>
            </a:r>
            <a:r>
              <a:rPr lang="en-US" sz="2300" i="1" dirty="0" err="1">
                <a:latin typeface="Times New Roman" pitchFamily="18" charset="0"/>
                <a:cs typeface="Times New Roman" pitchFamily="18" charset="0"/>
              </a:rPr>
              <a:t>zaro</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autentifikatsiyaning</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mavjudligi</a:t>
            </a:r>
            <a:r>
              <a:rPr lang="en-US" sz="2300" i="1" dirty="0">
                <a:latin typeface="Times New Roman" pitchFamily="18" charset="0"/>
                <a:cs typeface="Times New Roman" pitchFamily="18" charset="0"/>
              </a:rPr>
              <a:t>. </a:t>
            </a:r>
            <a:r>
              <a:rPr lang="en-US" sz="2300" dirty="0" err="1">
                <a:latin typeface="Times New Roman" pitchFamily="18" charset="0"/>
                <a:cs typeface="Times New Roman" pitchFamily="18" charset="0"/>
              </a:rPr>
              <a:t>Ushbu</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xususiyat</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autentifikatsion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almashinuv</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taraflari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o‘rtasida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ikkiyok</a:t>
            </a:r>
            <a:r>
              <a:rPr lang="uz-Cyrl-UZ" sz="2300" dirty="0">
                <a:latin typeface="Times New Roman" pitchFamily="18" charset="0"/>
                <a:cs typeface="Times New Roman" pitchFamily="18" charset="0"/>
              </a:rPr>
              <a:t>l</a:t>
            </a:r>
            <a:r>
              <a:rPr lang="en-US" sz="2300" dirty="0" err="1">
                <a:latin typeface="Times New Roman" pitchFamily="18" charset="0"/>
                <a:cs typeface="Times New Roman" pitchFamily="18" charset="0"/>
              </a:rPr>
              <a:t>ama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autentifikatsiyaning</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zarurligini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aks</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ettiradi</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a:p>
            <a:pPr algn="just"/>
            <a:r>
              <a:rPr lang="uz-Cyrl-UZ" sz="2300" i="1" dirty="0">
                <a:latin typeface="Times New Roman" pitchFamily="18" charset="0"/>
                <a:cs typeface="Times New Roman" pitchFamily="18" charset="0"/>
              </a:rPr>
              <a:t>- hi</a:t>
            </a:r>
            <a:r>
              <a:rPr lang="en-US" sz="2300" i="1" dirty="0" err="1">
                <a:latin typeface="Times New Roman" pitchFamily="18" charset="0"/>
                <a:cs typeface="Times New Roman" pitchFamily="18" charset="0"/>
              </a:rPr>
              <a:t>soblash</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samaradorligi</a:t>
            </a:r>
            <a:r>
              <a:rPr lang="en-US" sz="2300" i="1" dirty="0">
                <a:latin typeface="Times New Roman" pitchFamily="18" charset="0"/>
                <a:cs typeface="Times New Roman" pitchFamily="18" charset="0"/>
              </a:rPr>
              <a:t>. </a:t>
            </a:r>
            <a:r>
              <a:rPr lang="en-US" sz="2300" dirty="0" err="1">
                <a:latin typeface="Times New Roman" pitchFamily="18" charset="0"/>
                <a:cs typeface="Times New Roman" pitchFamily="18" charset="0"/>
              </a:rPr>
              <a:t>Protokolni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bajarishda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zarur</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bo‘lgan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amallar</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soni</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a:p>
            <a:pPr algn="just"/>
            <a:r>
              <a:rPr lang="uz-Cyrl-UZ"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kommunikatsion</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samaradorlik</a:t>
            </a:r>
            <a:r>
              <a:rPr lang="en-US" sz="2300" i="1" dirty="0">
                <a:latin typeface="Times New Roman" pitchFamily="18" charset="0"/>
                <a:cs typeface="Times New Roman" pitchFamily="18" charset="0"/>
              </a:rPr>
              <a:t>. </a:t>
            </a:r>
            <a:r>
              <a:rPr lang="en-US" sz="2300" dirty="0" err="1">
                <a:latin typeface="Times New Roman" pitchFamily="18" charset="0"/>
                <a:cs typeface="Times New Roman" pitchFamily="18" charset="0"/>
              </a:rPr>
              <a:t>Ushbu</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xususiyat</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autentifikatsiyani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bajarish</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uchun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zarur</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bo‘lgan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xabar</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soni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va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uzunligini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aks</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ettiradi</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a:p>
            <a:pPr algn="just"/>
            <a:r>
              <a:rPr lang="uz-Cyrl-UZ"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uchinchi</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tarafning</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mavjudligi</a:t>
            </a:r>
            <a:r>
              <a:rPr lang="en-US" sz="2300" i="1" dirty="0">
                <a:latin typeface="Times New Roman" pitchFamily="18" charset="0"/>
                <a:cs typeface="Times New Roman" pitchFamily="18" charset="0"/>
              </a:rPr>
              <a:t>. </a:t>
            </a:r>
            <a:r>
              <a:rPr lang="en-US" sz="2300" dirty="0" err="1">
                <a:latin typeface="Times New Roman" pitchFamily="18" charset="0"/>
                <a:cs typeface="Times New Roman" pitchFamily="18" charset="0"/>
              </a:rPr>
              <a:t>Uchinchi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tarafga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misol</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tari</a:t>
            </a:r>
            <a:r>
              <a:rPr lang="uz-Cyrl-UZ" sz="2300" dirty="0">
                <a:latin typeface="Times New Roman" pitchFamily="18" charset="0"/>
                <a:cs typeface="Times New Roman" pitchFamily="18" charset="0"/>
              </a:rPr>
              <a:t>q</a:t>
            </a:r>
            <a:r>
              <a:rPr lang="en-US" sz="2300" dirty="0" err="1">
                <a:latin typeface="Times New Roman" pitchFamily="18" charset="0"/>
                <a:cs typeface="Times New Roman" pitchFamily="18" charset="0"/>
              </a:rPr>
              <a:t>asida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simmetrik</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kalitlarni</a:t>
            </a:r>
            <a:r>
              <a:rPr lang="en-US" sz="2300" dirty="0">
                <a:latin typeface="Times New Roman" pitchFamily="18" charset="0"/>
                <a:cs typeface="Times New Roman" pitchFamily="18" charset="0"/>
              </a:rPr>
              <a:t> ta</a:t>
            </a:r>
            <a:r>
              <a:rPr lang="uz-Cyrl-UZ" sz="2300" dirty="0">
                <a:latin typeface="Times New Roman" pitchFamily="18" charset="0"/>
                <a:cs typeface="Times New Roman" pitchFamily="18" charset="0"/>
              </a:rPr>
              <a:t>q</a:t>
            </a:r>
            <a:r>
              <a:rPr lang="en-US" sz="2300" dirty="0" err="1">
                <a:latin typeface="Times New Roman" pitchFamily="18" charset="0"/>
                <a:cs typeface="Times New Roman" pitchFamily="18" charset="0"/>
              </a:rPr>
              <a:t>simlovchi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ishonchli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serverni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yoki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ochi</a:t>
            </a:r>
            <a:r>
              <a:rPr lang="uz-Cyrl-UZ" sz="2300" dirty="0">
                <a:latin typeface="Times New Roman" pitchFamily="18" charset="0"/>
                <a:cs typeface="Times New Roman" pitchFamily="18" charset="0"/>
              </a:rPr>
              <a:t>q </a:t>
            </a:r>
            <a:r>
              <a:rPr lang="en-US" sz="2300" dirty="0" err="1">
                <a:latin typeface="Times New Roman" pitchFamily="18" charset="0"/>
                <a:cs typeface="Times New Roman" pitchFamily="18" charset="0"/>
              </a:rPr>
              <a:t>kalitlarni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taksimlash</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uchun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sertifikatlar</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daraxtini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amalga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oshiruvchi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serverni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kursatish</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mumkin</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a:p>
            <a:pPr algn="just"/>
            <a:r>
              <a:rPr lang="uz-Cyrl-UZ"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xavfsizlik</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kafolati</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asosi</a:t>
            </a:r>
            <a:r>
              <a:rPr lang="en-US" sz="2300" i="1" dirty="0">
                <a:latin typeface="Times New Roman" pitchFamily="18" charset="0"/>
                <a:cs typeface="Times New Roman" pitchFamily="18" charset="0"/>
              </a:rPr>
              <a:t>. </a:t>
            </a:r>
            <a:r>
              <a:rPr lang="en-US" sz="2300" dirty="0" err="1">
                <a:latin typeface="Times New Roman" pitchFamily="18" charset="0"/>
                <a:cs typeface="Times New Roman" pitchFamily="18" charset="0"/>
              </a:rPr>
              <a:t>Misol</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sifatida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nullik</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bilim</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bilan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isbotlash</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xususiyatiga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ega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bo‘lgan</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protokollarni</a:t>
            </a:r>
            <a:r>
              <a:rPr lang="en-US" sz="2300" dirty="0">
                <a:latin typeface="Times New Roman" pitchFamily="18" charset="0"/>
                <a:cs typeface="Times New Roman" pitchFamily="18" charset="0"/>
              </a:rPr>
              <a:t> k</a:t>
            </a:r>
            <a:r>
              <a:rPr lang="uz-Cyrl-UZ" sz="2300" dirty="0">
                <a:latin typeface="Times New Roman" pitchFamily="18" charset="0"/>
                <a:cs typeface="Times New Roman" pitchFamily="18" charset="0"/>
              </a:rPr>
              <a:t>o‘</a:t>
            </a:r>
            <a:r>
              <a:rPr lang="en-US" sz="2300" dirty="0" err="1">
                <a:latin typeface="Times New Roman" pitchFamily="18" charset="0"/>
                <a:cs typeface="Times New Roman" pitchFamily="18" charset="0"/>
              </a:rPr>
              <a:t>rsatish</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mumkin</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a:p>
            <a:pPr algn="just"/>
            <a:r>
              <a:rPr lang="uz-Cyrl-UZ"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sirni</a:t>
            </a:r>
            <a:r>
              <a:rPr lang="en-US" sz="2300" i="1" dirty="0">
                <a:latin typeface="Times New Roman" pitchFamily="18" charset="0"/>
                <a:cs typeface="Times New Roman" pitchFamily="18" charset="0"/>
              </a:rPr>
              <a:t> </a:t>
            </a:r>
            <a:r>
              <a:rPr lang="en-US" sz="2300" i="1" dirty="0" err="1">
                <a:latin typeface="Times New Roman" pitchFamily="18" charset="0"/>
                <a:cs typeface="Times New Roman" pitchFamily="18" charset="0"/>
              </a:rPr>
              <a:t>sa</a:t>
            </a:r>
            <a:r>
              <a:rPr lang="uz-Cyrl-UZ" sz="2300" i="1" dirty="0">
                <a:latin typeface="Times New Roman" pitchFamily="18" charset="0"/>
                <a:cs typeface="Times New Roman" pitchFamily="18" charset="0"/>
              </a:rPr>
              <a:t>q</a:t>
            </a:r>
            <a:r>
              <a:rPr lang="en-US" sz="2300" i="1" dirty="0">
                <a:latin typeface="Times New Roman" pitchFamily="18" charset="0"/>
                <a:cs typeface="Times New Roman" pitchFamily="18" charset="0"/>
              </a:rPr>
              <a:t>lash. </a:t>
            </a:r>
            <a:r>
              <a:rPr lang="en-US" sz="2300" dirty="0" err="1">
                <a:latin typeface="Times New Roman" pitchFamily="18" charset="0"/>
                <a:cs typeface="Times New Roman" pitchFamily="18" charset="0"/>
              </a:rPr>
              <a:t>Jiddiy</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kalitli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axborotni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sa</a:t>
            </a:r>
            <a:r>
              <a:rPr lang="uz-Cyrl-UZ" sz="2300" dirty="0">
                <a:latin typeface="Times New Roman" pitchFamily="18" charset="0"/>
                <a:cs typeface="Times New Roman" pitchFamily="18" charset="0"/>
              </a:rPr>
              <a:t>q</a:t>
            </a:r>
            <a:r>
              <a:rPr lang="en-US" sz="2300" dirty="0">
                <a:latin typeface="Times New Roman" pitchFamily="18" charset="0"/>
                <a:cs typeface="Times New Roman" pitchFamily="18" charset="0"/>
              </a:rPr>
              <a:t>lash </a:t>
            </a:r>
            <a:r>
              <a:rPr lang="en-US" sz="2300" dirty="0" err="1">
                <a:latin typeface="Times New Roman" pitchFamily="18" charset="0"/>
                <a:cs typeface="Times New Roman" pitchFamily="18" charset="0"/>
              </a:rPr>
              <a:t>usuli</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kuzda</a:t>
            </a:r>
            <a:r>
              <a:rPr lang="en-US" sz="2300" dirty="0">
                <a:latin typeface="Times New Roman" pitchFamily="18" charset="0"/>
                <a:cs typeface="Times New Roman" pitchFamily="18" charset="0"/>
              </a:rPr>
              <a:t> </a:t>
            </a:r>
            <a:r>
              <a:rPr lang="en-US" sz="2300" dirty="0" err="1">
                <a:latin typeface="Times New Roman" pitchFamily="18" charset="0"/>
                <a:cs typeface="Times New Roman" pitchFamily="18" charset="0"/>
              </a:rPr>
              <a:t>tutiladi</a:t>
            </a:r>
            <a:r>
              <a:rPr lang="en-US" sz="2300" dirty="0">
                <a:latin typeface="Times New Roman" pitchFamily="18" charset="0"/>
                <a:cs typeface="Times New Roman" pitchFamily="18" charset="0"/>
              </a:rPr>
              <a:t>.</a:t>
            </a:r>
            <a:endParaRPr lang="ru-RU" sz="2300" dirty="0">
              <a:latin typeface="Times New Roman" pitchFamily="18" charset="0"/>
              <a:cs typeface="Times New Roman" pitchFamily="18" charset="0"/>
            </a:endParaRPr>
          </a:p>
        </p:txBody>
      </p:sp>
    </p:spTree>
    <p:extLst>
      <p:ext uri="{BB962C8B-B14F-4D97-AF65-F5344CB8AC3E}">
        <p14:creationId xmlns:p14="http://schemas.microsoft.com/office/powerpoint/2010/main" val="3264565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5504" y="116632"/>
            <a:ext cx="8884693" cy="5509200"/>
          </a:xfrm>
          <a:prstGeom prst="rect">
            <a:avLst/>
          </a:prstGeom>
        </p:spPr>
        <p:txBody>
          <a:bodyPr wrap="square">
            <a:spAutoFit/>
          </a:bodyPr>
          <a:lstStyle/>
          <a:p>
            <a:pPr algn="ctr"/>
            <a:r>
              <a:rPr lang="uz-Cyrl-UZ" sz="2200" b="1" dirty="0">
                <a:latin typeface="Times New Roman" pitchFamily="18" charset="0"/>
                <a:cs typeface="Times New Roman" pitchFamily="18" charset="0"/>
              </a:rPr>
              <a:t>Parollar asosida autentifikatsiyalash</a:t>
            </a:r>
            <a:endParaRPr lang="ru-RU" sz="2200" dirty="0">
              <a:latin typeface="Times New Roman" pitchFamily="18" charset="0"/>
              <a:cs typeface="Times New Roman" pitchFamily="18" charset="0"/>
            </a:endParaRPr>
          </a:p>
          <a:p>
            <a:pPr algn="just"/>
            <a:endParaRPr lang="en-US" sz="2200" dirty="0" smtClean="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uz-Cyrl-UZ" sz="2200" dirty="0" smtClean="0">
                <a:latin typeface="Times New Roman" pitchFamily="18" charset="0"/>
                <a:cs typeface="Times New Roman" pitchFamily="18" charset="0"/>
              </a:rPr>
              <a:t>Autentifikatsiyaning keng </a:t>
            </a:r>
            <a:r>
              <a:rPr lang="uz-Cyrl-UZ" sz="2200" dirty="0">
                <a:latin typeface="Times New Roman" pitchFamily="18" charset="0"/>
                <a:cs typeface="Times New Roman" pitchFamily="18" charset="0"/>
              </a:rPr>
              <a:t>tarqalgan sxemalaridan biri </a:t>
            </a:r>
            <a:r>
              <a:rPr lang="uz-Cyrl-UZ" sz="2200" i="1" dirty="0">
                <a:latin typeface="Times New Roman" pitchFamily="18" charset="0"/>
                <a:cs typeface="Times New Roman" pitchFamily="18" charset="0"/>
              </a:rPr>
              <a:t>oddiy autentifikatsiyalash </a:t>
            </a:r>
            <a:r>
              <a:rPr lang="uz-Cyrl-UZ" sz="2200" dirty="0">
                <a:latin typeface="Times New Roman" pitchFamily="18" charset="0"/>
                <a:cs typeface="Times New Roman" pitchFamily="18" charset="0"/>
              </a:rPr>
              <a:t>bo‘lib, u an’anaviy ko‘p martali parollarni ishlatishiga asoslangan. Tarmoqdagi foydalanuvchini oddiy autentifikatsiyalash muolajasini quyidagicha tasavvur etish mumkin. Tarmoqdan foydalanishga uringan foydalanuvchi kompyuter klaviaturasida o‘zining identifiqatori va parolini teradi. Bu ma’lumotlar autentifikatsiya serveriga ishlanish uchun tushadi. Autentifikatsiya serverida saklanayotgan foydalanuvchi iden­tifiqatori bo‘yicha ma’lumotlar bazasidan mos yozuv topiladi, undan paro­lni topib foydalanuvchi kiritgan parol bilan taqqoslanadi. Agar ular mos kelsa, autentifikatsiya muvaffakiyatli o‘tgan xisoblanadi va foydala­nuvchi legal (qonuniy) maqomini va avtorizatsiya tizimi orqali uning maqomi uchun aniqlangan xududlarni va tarmoq resurslaridan foydalanish­ga ruxsatni oladi.</a:t>
            </a:r>
            <a:endParaRPr lang="ru-RU" sz="2200" dirty="0">
              <a:latin typeface="Times New Roman" pitchFamily="18" charset="0"/>
              <a:cs typeface="Times New Roman" pitchFamily="18" charset="0"/>
            </a:endParaRPr>
          </a:p>
          <a:p>
            <a:pPr algn="just"/>
            <a:r>
              <a:rPr lang="en-US" sz="2200" dirty="0" err="1">
                <a:latin typeface="Times New Roman" pitchFamily="18" charset="0"/>
                <a:cs typeface="Times New Roman" pitchFamily="18" charset="0"/>
              </a:rPr>
              <a:t>Paroldan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foydalangan</a:t>
            </a:r>
            <a:r>
              <a:rPr lang="en-US" sz="2200" dirty="0">
                <a:latin typeface="Times New Roman" pitchFamily="18" charset="0"/>
                <a:cs typeface="Times New Roman" pitchFamily="18" charset="0"/>
              </a:rPr>
              <a:t>   x</a:t>
            </a:r>
            <a:r>
              <a:rPr lang="uz-Cyrl-UZ" sz="2200" dirty="0">
                <a:latin typeface="Times New Roman" pitchFamily="18" charset="0"/>
                <a:cs typeface="Times New Roman" pitchFamily="18" charset="0"/>
              </a:rPr>
              <a:t>o</a:t>
            </a:r>
            <a:r>
              <a:rPr lang="en-US" sz="2200" dirty="0" err="1">
                <a:latin typeface="Times New Roman" pitchFamily="18" charset="0"/>
                <a:cs typeface="Times New Roman" pitchFamily="18" charset="0"/>
              </a:rPr>
              <a:t>lda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oddiy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autentifikatsiyalash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sxemasi</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1.</a:t>
            </a:r>
            <a:r>
              <a:rPr lang="en-US" sz="2200" dirty="0">
                <a:latin typeface="Times New Roman" pitchFamily="18" charset="0"/>
                <a:cs typeface="Times New Roman" pitchFamily="18" charset="0"/>
              </a:rPr>
              <a:t>1-rasmda </a:t>
            </a:r>
            <a:r>
              <a:rPr lang="en-US" sz="2200" dirty="0" err="1">
                <a:latin typeface="Times New Roman" pitchFamily="18" charset="0"/>
                <a:cs typeface="Times New Roman" pitchFamily="18" charset="0"/>
              </a:rPr>
              <a:t>keltirilgan</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781205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a:stretch>
            <a:fillRect/>
          </a:stretch>
        </p:blipFill>
        <p:spPr bwMode="auto">
          <a:xfrm>
            <a:off x="318330" y="73349"/>
            <a:ext cx="8424936" cy="2808312"/>
          </a:xfrm>
          <a:prstGeom prst="rect">
            <a:avLst/>
          </a:prstGeom>
          <a:noFill/>
          <a:ln w="9525">
            <a:noFill/>
            <a:miter lim="800000"/>
            <a:headEnd/>
            <a:tailEnd/>
          </a:ln>
        </p:spPr>
      </p:pic>
      <p:sp>
        <p:nvSpPr>
          <p:cNvPr id="5" name="Прямоугольник 4"/>
          <p:cNvSpPr/>
          <p:nvPr/>
        </p:nvSpPr>
        <p:spPr>
          <a:xfrm>
            <a:off x="1115616" y="2881661"/>
            <a:ext cx="7627650" cy="400110"/>
          </a:xfrm>
          <a:prstGeom prst="rect">
            <a:avLst/>
          </a:prstGeom>
        </p:spPr>
        <p:txBody>
          <a:bodyPr wrap="square">
            <a:spAutoFit/>
          </a:bodyPr>
          <a:lstStyle/>
          <a:p>
            <a:pPr algn="ctr"/>
            <a:r>
              <a:rPr lang="uz-Cyrl-UZ" sz="2000" dirty="0">
                <a:latin typeface="Times New Roman" pitchFamily="18" charset="0"/>
                <a:cs typeface="Times New Roman" pitchFamily="18" charset="0"/>
              </a:rPr>
              <a:t>1.1-rasm. </a:t>
            </a:r>
            <a:r>
              <a:rPr lang="en-US" sz="2000" dirty="0" err="1">
                <a:latin typeface="Times New Roman" pitchFamily="18" charset="0"/>
                <a:cs typeface="Times New Roman" pitchFamily="18" charset="0"/>
              </a:rPr>
              <a:t>Paroldan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foydalangan</a:t>
            </a:r>
            <a:r>
              <a:rPr lang="en-US" sz="2000" dirty="0">
                <a:latin typeface="Times New Roman" pitchFamily="18" charset="0"/>
                <a:cs typeface="Times New Roman" pitchFamily="18" charset="0"/>
              </a:rPr>
              <a:t> x</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lda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oddiy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a:t>
            </a:r>
            <a:endParaRPr lang="ru-RU" sz="2000" dirty="0">
              <a:latin typeface="Times New Roman" pitchFamily="18" charset="0"/>
              <a:cs typeface="Times New Roman" pitchFamily="18" charset="0"/>
            </a:endParaRPr>
          </a:p>
        </p:txBody>
      </p:sp>
      <p:sp>
        <p:nvSpPr>
          <p:cNvPr id="6" name="Прямоугольник 5"/>
          <p:cNvSpPr/>
          <p:nvPr/>
        </p:nvSpPr>
        <p:spPr>
          <a:xfrm>
            <a:off x="162095" y="3429000"/>
            <a:ext cx="8981905" cy="2862322"/>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Ravshanki</a:t>
            </a:r>
            <a:r>
              <a:rPr lang="uz-Cyrl-UZ" sz="2000" dirty="0">
                <a:latin typeface="Times New Roman" pitchFamily="18" charset="0"/>
                <a:cs typeface="Times New Roman" pitchFamily="18" charset="0"/>
              </a:rPr>
              <a:t>, foydalanuvchining parolini shifrlamasdan uzatish orqali autentifikatsiyalash varianti xavfsizlikning xatto minimal darajasini kafolatlamaydi. Parolni ximoyalash uchun uni ximoyalanmagan kanal orqali uzatishdan oldin shifrlash zarur. Buning uchun sxemaga shifrlash Ye</a:t>
            </a:r>
            <a:r>
              <a:rPr lang="uz-Cyrl-UZ" sz="2000" baseline="-25000" dirty="0">
                <a:latin typeface="Times New Roman" pitchFamily="18" charset="0"/>
                <a:cs typeface="Times New Roman" pitchFamily="18" charset="0"/>
              </a:rPr>
              <a:t>K</a:t>
            </a:r>
            <a:r>
              <a:rPr lang="uz-Cyrl-UZ" sz="2000" dirty="0">
                <a:latin typeface="Times New Roman" pitchFamily="18" charset="0"/>
                <a:cs typeface="Times New Roman" pitchFamily="18" charset="0"/>
              </a:rPr>
              <a:t> va rasshifrovka qilish D</a:t>
            </a:r>
            <a:r>
              <a:rPr lang="uz-Cyrl-UZ" sz="2000" baseline="-25000" dirty="0">
                <a:latin typeface="Times New Roman" pitchFamily="18" charset="0"/>
                <a:cs typeface="Times New Roman" pitchFamily="18" charset="0"/>
              </a:rPr>
              <a:t>K</a:t>
            </a:r>
            <a:r>
              <a:rPr lang="uz-Cyrl-UZ" sz="2000" dirty="0">
                <a:latin typeface="Times New Roman" pitchFamily="18" charset="0"/>
                <a:cs typeface="Times New Roman" pitchFamily="18" charset="0"/>
              </a:rPr>
              <a:t> vositalari kiritilgan. Bu vositalar bo‘linuvchi maxfiy kalit K orqali boshqariladi. Foydalanuvchining xaqiqiyligini tekshirish foydalanuvchi yuborgan parol </a:t>
            </a:r>
            <a:r>
              <a:rPr lang="uz-Cyrl-UZ" sz="2000" i="1" dirty="0">
                <a:latin typeface="Times New Roman" pitchFamily="18" charset="0"/>
                <a:cs typeface="Times New Roman" pitchFamily="18" charset="0"/>
              </a:rPr>
              <a:t>R</a:t>
            </a:r>
            <a:r>
              <a:rPr lang="uz-Cyrl-UZ" sz="2000" i="1" baseline="-25000" dirty="0">
                <a:latin typeface="Times New Roman" pitchFamily="18" charset="0"/>
                <a:cs typeface="Times New Roman" pitchFamily="18" charset="0"/>
              </a:rPr>
              <a:t>A</a:t>
            </a:r>
            <a:r>
              <a:rPr lang="uz-Cyrl-UZ"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bilan autentifikatsiya serveri­da sadlanuvchi dastlabki diymat </a:t>
            </a:r>
            <a:r>
              <a:rPr lang="uz-Cyrl-UZ" sz="2000" i="1" dirty="0">
                <a:latin typeface="Times New Roman" pitchFamily="18" charset="0"/>
                <a:cs typeface="Times New Roman" pitchFamily="18" charset="0"/>
              </a:rPr>
              <a:t>R</a:t>
            </a:r>
            <a:r>
              <a:rPr lang="uz-Cyrl-UZ" sz="2000" i="1" baseline="-25000" dirty="0">
                <a:latin typeface="Times New Roman" pitchFamily="18" charset="0"/>
                <a:cs typeface="Times New Roman" pitchFamily="18" charset="0"/>
              </a:rPr>
              <a:t>A</a:t>
            </a:r>
            <a:r>
              <a:rPr lang="uz-Cyrl-UZ"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ni taddoslashga asoslangan. Agar </a:t>
            </a:r>
            <a:r>
              <a:rPr lang="uz-Cyrl-UZ" sz="2000" i="1" dirty="0">
                <a:latin typeface="Times New Roman" pitchFamily="18" charset="0"/>
                <a:cs typeface="Times New Roman" pitchFamily="18" charset="0"/>
              </a:rPr>
              <a:t>R</a:t>
            </a:r>
            <a:r>
              <a:rPr lang="uz-Cyrl-UZ" sz="2000" i="1" baseline="-25000" dirty="0">
                <a:latin typeface="Times New Roman" pitchFamily="18" charset="0"/>
                <a:cs typeface="Times New Roman" pitchFamily="18" charset="0"/>
              </a:rPr>
              <a:t>A</a:t>
            </a:r>
            <a:r>
              <a:rPr lang="uz-Cyrl-UZ"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va </a:t>
            </a:r>
            <a:r>
              <a:rPr lang="uz-Cyrl-UZ" sz="2000" i="1" dirty="0">
                <a:latin typeface="Times New Roman" pitchFamily="18" charset="0"/>
                <a:cs typeface="Times New Roman" pitchFamily="18" charset="0"/>
              </a:rPr>
              <a:t>R</a:t>
            </a:r>
            <a:r>
              <a:rPr lang="uz-Cyrl-UZ" sz="2000" i="1" baseline="-25000" dirty="0">
                <a:latin typeface="Times New Roman" pitchFamily="18" charset="0"/>
                <a:cs typeface="Times New Roman" pitchFamily="18" charset="0"/>
              </a:rPr>
              <a:t>A</a:t>
            </a:r>
            <a:r>
              <a:rPr lang="uz-Cyrl-UZ"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qiymatlar mos kelsa, parol </a:t>
            </a:r>
            <a:r>
              <a:rPr lang="uz-Cyrl-UZ" sz="2000" i="1" dirty="0">
                <a:latin typeface="Times New Roman" pitchFamily="18" charset="0"/>
                <a:cs typeface="Times New Roman" pitchFamily="18" charset="0"/>
              </a:rPr>
              <a:t>R</a:t>
            </a:r>
            <a:r>
              <a:rPr lang="uz-Cyrl-UZ" sz="2000" i="1" baseline="-25000" dirty="0">
                <a:latin typeface="Times New Roman" pitchFamily="18" charset="0"/>
                <a:cs typeface="Times New Roman" pitchFamily="18" charset="0"/>
              </a:rPr>
              <a:t>A</a:t>
            </a:r>
            <a:r>
              <a:rPr lang="uz-Cyrl-UZ" sz="2000" i="1" dirty="0">
                <a:latin typeface="Times New Roman" pitchFamily="18" charset="0"/>
                <a:cs typeface="Times New Roman" pitchFamily="18" charset="0"/>
              </a:rPr>
              <a:t> </a:t>
            </a:r>
            <a:r>
              <a:rPr lang="uz-Cyrl-UZ" sz="2000" dirty="0">
                <a:latin typeface="Times New Roman" pitchFamily="18" charset="0"/>
                <a:cs typeface="Times New Roman" pitchFamily="18" charset="0"/>
              </a:rPr>
              <a:t>xaqiqiy, foydalanuvchi </a:t>
            </a:r>
            <a:r>
              <a:rPr lang="uz-Cyrl-UZ" sz="2000" i="1" dirty="0">
                <a:latin typeface="Times New Roman" pitchFamily="18" charset="0"/>
                <a:cs typeface="Times New Roman" pitchFamily="18" charset="0"/>
              </a:rPr>
              <a:t>A </a:t>
            </a:r>
            <a:r>
              <a:rPr lang="uz-Cyrl-UZ" sz="2000" dirty="0">
                <a:latin typeface="Times New Roman" pitchFamily="18" charset="0"/>
                <a:cs typeface="Times New Roman" pitchFamily="18" charset="0"/>
              </a:rPr>
              <a:t>esa qonuniy xisoblanadi.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045372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8143" y="40943"/>
            <a:ext cx="8928992" cy="6878806"/>
          </a:xfrm>
          <a:prstGeom prst="rect">
            <a:avLst/>
          </a:prstGeom>
        </p:spPr>
        <p:txBody>
          <a:bodyPr wrap="square">
            <a:spAutoFit/>
          </a:bodyPr>
          <a:lstStyle/>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Oddiy </a:t>
            </a:r>
            <a:r>
              <a:rPr lang="uz-Cyrl-UZ" sz="2100" dirty="0">
                <a:latin typeface="Times New Roman" pitchFamily="18" charset="0"/>
                <a:cs typeface="Times New Roman" pitchFamily="18" charset="0"/>
              </a:rPr>
              <a:t>autentifikatsiyani tashkil etish sxemalari nafakat parollarni uzatish, balki ularni saqlash va tekshirish turlari bilan ajralib turadi. Eng keng tarqalgan usul - foydalanuvchilar parolini tizimli fayllarda, ochiq holda sakdash usulidir. Bunda fayllarga o‘qish va yozishdan ximoyalash atributlari o‘rnatiladi (masalan, operatsion tizimdan foydalanishni nazoratlash ro‘yxatidagi mos imtiyozlarni tavsiflash yordamida). Tizim foydalanuvchi kiritgan parolni parollar faylida saqlanayotgan yozuv bilan solishtiradi. Bu usulda shifrlash yoki bir tomonlama funksiyalar kabi kriptografik mexanizmlar ishlatilmaydi. Ushbu usulning kamchiligi - niyati buzuq odamning tizimda ma’mur imtiyozlaridan, shu bilan birga tizim fayllaridan, jumladan parol fayllaridan foydalanish imkoniyatidir.</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Xavfsizlik </a:t>
            </a:r>
            <a:r>
              <a:rPr lang="uz-Cyrl-UZ" sz="2100" dirty="0">
                <a:latin typeface="Times New Roman" pitchFamily="18" charset="0"/>
                <a:cs typeface="Times New Roman" pitchFamily="18" charset="0"/>
              </a:rPr>
              <a:t>nuqtai nazaridan parollarni bir tomonlama funksiyalardan foydalanib uzatish va saqlash qulay xisoblanadi. Bu holda foyda­lanuvchi parolning ochiq shakli o‘rniga uning bir tomonlama funksiyadan foydalanib olingan tasvirini yuborishi shart. </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uz-Cyrl-UZ" sz="2100" dirty="0" smtClean="0">
                <a:latin typeface="Times New Roman" pitchFamily="18" charset="0"/>
                <a:cs typeface="Times New Roman" pitchFamily="18" charset="0"/>
              </a:rPr>
              <a:t>Ko‘p </a:t>
            </a:r>
            <a:r>
              <a:rPr lang="uz-Cyrl-UZ" sz="2100" dirty="0">
                <a:latin typeface="Times New Roman" pitchFamily="18" charset="0"/>
                <a:cs typeface="Times New Roman" pitchFamily="18" charset="0"/>
              </a:rPr>
              <a:t>martali parollarga asoslangan oddiy autentifikatsiyalash tizimining bardoshligi past, chunki ularda autentifikatsiyalovchi axborot ma’noli so‘zlarning nisbatan katta bo‘lmagan tuplamidan jamlanadi. Ko‘p martali parollarning ta’sir muddati tashkilotning xavfsizligi siyosatida belgilanishi va bunday parollarni muntazam ravishda almashtirib turish lozim. Parollarni shunday tanlash lozimki, ular lug‘atda bo‘lmasin va ularni topish qiyin bo‘lsin.</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3496889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3855" y="40651"/>
            <a:ext cx="8995553" cy="6232475"/>
          </a:xfrm>
          <a:prstGeom prst="rect">
            <a:avLst/>
          </a:prstGeom>
        </p:spPr>
        <p:txBody>
          <a:bodyPr wrap="square">
            <a:spAutoFit/>
          </a:bodyPr>
          <a:lstStyle/>
          <a:p>
            <a:pPr algn="just"/>
            <a:r>
              <a:rPr lang="en-US" sz="2100" i="1" dirty="0" smtClean="0">
                <a:latin typeface="Times New Roman" pitchFamily="18" charset="0"/>
                <a:cs typeface="Times New Roman" pitchFamily="18" charset="0"/>
              </a:rPr>
              <a:t>	</a:t>
            </a:r>
            <a:r>
              <a:rPr lang="en-US" sz="2100" i="1" dirty="0" err="1" smtClean="0">
                <a:latin typeface="Times New Roman" pitchFamily="18" charset="0"/>
                <a:cs typeface="Times New Roman" pitchFamily="18" charset="0"/>
              </a:rPr>
              <a:t>Bir</a:t>
            </a:r>
            <a:r>
              <a:rPr lang="en-US" sz="2100" i="1" dirty="0" smtClean="0">
                <a:latin typeface="Times New Roman" pitchFamily="18" charset="0"/>
                <a:cs typeface="Times New Roman" pitchFamily="18" charset="0"/>
              </a:rPr>
              <a:t> </a:t>
            </a:r>
            <a:r>
              <a:rPr lang="en-US" sz="2100" i="1" dirty="0" err="1">
                <a:latin typeface="Times New Roman" pitchFamily="18" charset="0"/>
                <a:cs typeface="Times New Roman" pitchFamily="18" charset="0"/>
              </a:rPr>
              <a:t>martali</a:t>
            </a:r>
            <a:r>
              <a:rPr lang="en-US" sz="2100" i="1" dirty="0">
                <a:latin typeface="Times New Roman" pitchFamily="18" charset="0"/>
                <a:cs typeface="Times New Roman" pitchFamily="18" charset="0"/>
              </a:rPr>
              <a:t> </a:t>
            </a:r>
            <a:r>
              <a:rPr lang="en-US" sz="2100" i="1" dirty="0" err="1">
                <a:latin typeface="Times New Roman" pitchFamily="18" charset="0"/>
                <a:cs typeface="Times New Roman" pitchFamily="18" charset="0"/>
              </a:rPr>
              <a:t>parollarga</a:t>
            </a:r>
            <a:r>
              <a:rPr lang="en-US" sz="2100" i="1" dirty="0">
                <a:latin typeface="Times New Roman" pitchFamily="18" charset="0"/>
                <a:cs typeface="Times New Roman" pitchFamily="18" charset="0"/>
              </a:rPr>
              <a:t> </a:t>
            </a:r>
            <a:r>
              <a:rPr lang="en-US" sz="2100" i="1" dirty="0" err="1">
                <a:latin typeface="Times New Roman" pitchFamily="18" charset="0"/>
                <a:cs typeface="Times New Roman" pitchFamily="18" charset="0"/>
              </a:rPr>
              <a:t>asoslangan</a:t>
            </a:r>
            <a:r>
              <a:rPr lang="en-US" sz="2100" i="1" dirty="0">
                <a:latin typeface="Times New Roman" pitchFamily="18" charset="0"/>
                <a:cs typeface="Times New Roman" pitchFamily="18" charset="0"/>
              </a:rPr>
              <a:t> </a:t>
            </a:r>
            <a:r>
              <a:rPr lang="en-US" sz="2100" i="1" dirty="0" err="1">
                <a:latin typeface="Times New Roman" pitchFamily="18" charset="0"/>
                <a:cs typeface="Times New Roman" pitchFamily="18" charset="0"/>
              </a:rPr>
              <a:t>autentifikatsiyalashda</a:t>
            </a:r>
            <a:r>
              <a:rPr lang="en-US" sz="2100" i="1"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so‘rov</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uchun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turli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ishlatiladi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di­namik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fakat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tizimdan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yarokdi</a:t>
            </a:r>
            <a:r>
              <a:rPr lang="en-US" sz="2100" dirty="0">
                <a:latin typeface="Times New Roman" pitchFamily="18" charset="0"/>
                <a:cs typeface="Times New Roman" pitchFamily="18" charset="0"/>
              </a:rPr>
              <a:t>. Agar, </a:t>
            </a:r>
            <a:r>
              <a:rPr lang="en-US" sz="2100" dirty="0" err="1">
                <a:latin typeface="Times New Roman" pitchFamily="18" charset="0"/>
                <a:cs typeface="Times New Roman" pitchFamily="18" charset="0"/>
              </a:rPr>
              <a:t>xatto</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kimdir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ushlab</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krlsa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x,am</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fonda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bermaydi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Odatda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parollarga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asoslangan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autentfikatsiyalash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tizimi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masofadagi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foydalanuv-chilarni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tekshirishda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kullaniladi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Bir</a:t>
            </a: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parollarni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generatsiyalash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apparat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yoki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dasturiy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usul</a:t>
            </a:r>
            <a:r>
              <a:rPr lang="en-US" sz="2100" dirty="0">
                <a:latin typeface="Times New Roman" pitchFamily="18" charset="0"/>
                <a:cs typeface="Times New Roman" pitchFamily="18" charset="0"/>
              </a:rPr>
              <a:t> o</a:t>
            </a:r>
            <a:r>
              <a:rPr lang="uz-Cyrl-UZ" sz="2100" dirty="0">
                <a:latin typeface="Times New Roman" pitchFamily="18" charset="0"/>
                <a:cs typeface="Times New Roman" pitchFamily="18" charset="0"/>
              </a:rPr>
              <a:t>rq</a:t>
            </a:r>
            <a:r>
              <a:rPr lang="en-US" sz="2100" dirty="0" err="1">
                <a:latin typeface="Times New Roman" pitchFamily="18" charset="0"/>
                <a:cs typeface="Times New Roman" pitchFamily="18" charset="0"/>
              </a:rPr>
              <a: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amalga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oshirilishi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mumkin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apparat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vositalari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tash</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aridan</a:t>
            </a:r>
            <a:r>
              <a:rPr lang="en-US" sz="2100" dirty="0">
                <a:latin typeface="Times New Roman" pitchFamily="18" charset="0"/>
                <a:cs typeface="Times New Roman" pitchFamily="18" charset="0"/>
              </a:rPr>
              <a:t> t</a:t>
            </a:r>
            <a:r>
              <a:rPr lang="uz-Cyrl-UZ" sz="2100" dirty="0">
                <a:latin typeface="Times New Roman" pitchFamily="18" charset="0"/>
                <a:cs typeface="Times New Roman" pitchFamily="18" charset="0"/>
              </a:rPr>
              <a:t>o‘</a:t>
            </a:r>
            <a:r>
              <a:rPr lang="en-US" sz="2100" dirty="0" err="1">
                <a:latin typeface="Times New Roman" pitchFamily="18" charset="0"/>
                <a:cs typeface="Times New Roman" pitchFamily="18" charset="0"/>
              </a:rPr>
              <a:t>lov</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plastik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kartochkalariga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uxshash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mikroprotsessor</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o‘</a:t>
            </a:r>
            <a:r>
              <a:rPr lang="en-US" sz="2100" dirty="0" err="1">
                <a:latin typeface="Times New Roman" pitchFamily="18" charset="0"/>
                <a:cs typeface="Times New Roman" pitchFamily="18" charset="0"/>
              </a:rPr>
              <a:t>rnatilgan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miniatyur</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urilmalar</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urinishda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amalga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oshiradi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Odatda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kalitlar</a:t>
            </a:r>
            <a:r>
              <a:rPr lang="en-US" sz="2100" dirty="0">
                <a:latin typeface="Times New Roman" pitchFamily="18" charset="0"/>
                <a:cs typeface="Times New Roman" pitchFamily="18" charset="0"/>
              </a:rPr>
              <a:t> deb </a:t>
            </a:r>
            <a:r>
              <a:rPr lang="en-US" sz="2100" dirty="0" err="1">
                <a:latin typeface="Times New Roman" pitchFamily="18" charset="0"/>
                <a:cs typeface="Times New Roman" pitchFamily="18" charset="0"/>
              </a:rPr>
              <a:t>ataluvchi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bunday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kartalar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klaviaturaga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katta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bo‘lmagan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displey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darchasiga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ega</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Foydalanuvchilarni</a:t>
            </a: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autentifikatsiyalash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uchun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parollar­ni</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qo‘</a:t>
            </a:r>
            <a:r>
              <a:rPr lang="en-US" sz="2100" dirty="0" err="1">
                <a:latin typeface="Times New Roman" pitchFamily="18" charset="0"/>
                <a:cs typeface="Times New Roman" pitchFamily="18" charset="0"/>
              </a:rPr>
              <a:t>llashning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quyidagi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usullari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ma’lum</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lvl="0" algn="just"/>
            <a:r>
              <a:rPr lang="en-US" sz="2100" dirty="0" err="1">
                <a:latin typeface="Times New Roman" pitchFamily="18" charset="0"/>
                <a:cs typeface="Times New Roman" pitchFamily="18" charset="0"/>
              </a:rPr>
              <a:t>Yagona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vaqt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tizimiga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asoslangan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vaqt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belgilari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mexanizmidan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lvl="0" algn="just"/>
            <a:r>
              <a:rPr lang="en-US" sz="2100" dirty="0" smtClean="0">
                <a:latin typeface="Times New Roman" pitchFamily="18" charset="0"/>
                <a:cs typeface="Times New Roman" pitchFamily="18" charset="0"/>
              </a:rPr>
              <a:t>	Legal </a:t>
            </a:r>
            <a:r>
              <a:rPr lang="en-US" sz="2100" dirty="0" err="1">
                <a:latin typeface="Times New Roman" pitchFamily="18" charset="0"/>
                <a:cs typeface="Times New Roman" pitchFamily="18" charset="0"/>
              </a:rPr>
              <a:t>foydalanuvchi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tekshiruvchi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uchun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umumiy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bo‘lgan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tasodifiy</a:t>
            </a:r>
            <a:r>
              <a:rPr lang="en-US" sz="2100" dirty="0">
                <a:latin typeface="Times New Roman" pitchFamily="18" charset="0"/>
                <a:cs typeface="Times New Roman" pitchFamily="18" charset="0"/>
              </a:rPr>
              <a:t/>
            </a:r>
            <a:br>
              <a:rPr lang="en-US" sz="2100" dirty="0">
                <a:latin typeface="Times New Roman" pitchFamily="18" charset="0"/>
                <a:cs typeface="Times New Roman" pitchFamily="18" charset="0"/>
              </a:rPr>
            </a:br>
            <a:r>
              <a:rPr lang="en-US" sz="2100" dirty="0" err="1">
                <a:latin typeface="Times New Roman" pitchFamily="18" charset="0"/>
                <a:cs typeface="Times New Roman" pitchFamily="18" charset="0"/>
              </a:rPr>
              <a:t>parollar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ro‘yxatidan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ularning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ishonchli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sinxronlash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mexaniz</a:t>
            </a:r>
            <a:r>
              <a:rPr lang="en-US" sz="2100" dirty="0">
                <a:latin typeface="Times New Roman" pitchFamily="18" charset="0"/>
                <a:cs typeface="Times New Roman" pitchFamily="18" charset="0"/>
              </a:rPr>
              <a:t>­</a:t>
            </a:r>
            <a:br>
              <a:rPr lang="en-US" sz="2100" dirty="0">
                <a:latin typeface="Times New Roman" pitchFamily="18" charset="0"/>
                <a:cs typeface="Times New Roman" pitchFamily="18" charset="0"/>
              </a:rPr>
            </a:br>
            <a:r>
              <a:rPr lang="en-US" sz="2100" dirty="0" err="1">
                <a:latin typeface="Times New Roman" pitchFamily="18" charset="0"/>
                <a:cs typeface="Times New Roman" pitchFamily="18" charset="0"/>
              </a:rPr>
              <a:t>midan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lvl="0" algn="just"/>
            <a:r>
              <a:rPr lang="en-US" sz="2100" dirty="0" smtClean="0">
                <a:latin typeface="Times New Roman" pitchFamily="18" charset="0"/>
                <a:cs typeface="Times New Roman" pitchFamily="18" charset="0"/>
              </a:rPr>
              <a:t>	</a:t>
            </a:r>
            <a:r>
              <a:rPr lang="en-US" sz="2100" dirty="0" err="1" smtClean="0">
                <a:latin typeface="Times New Roman" pitchFamily="18" charset="0"/>
                <a:cs typeface="Times New Roman" pitchFamily="18" charset="0"/>
              </a:rPr>
              <a:t>Foydalanuvchi</a:t>
            </a:r>
            <a:r>
              <a:rPr lang="en-US" sz="2100" dirty="0" smtClean="0">
                <a:latin typeface="Times New Roman" pitchFamily="18" charset="0"/>
                <a:cs typeface="Times New Roman" pitchFamily="18" charset="0"/>
              </a:rPr>
              <a:t> </a:t>
            </a:r>
            <a:r>
              <a:rPr lang="en-US" sz="2100" dirty="0" err="1">
                <a:latin typeface="Times New Roman" pitchFamily="18" charset="0"/>
                <a:cs typeface="Times New Roman" pitchFamily="18" charset="0"/>
              </a:rPr>
              <a:t>va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tekshiruvchi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uchun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umumiy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bo‘lgan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xil</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dast</a:t>
            </a:r>
            <a:r>
              <a:rPr lang="en-US" sz="2100" dirty="0">
                <a:latin typeface="Times New Roman" pitchFamily="18" charset="0"/>
                <a:cs typeface="Times New Roman" pitchFamily="18" charset="0"/>
              </a:rPr>
              <a:t>-</a:t>
            </a:r>
            <a:br>
              <a:rPr lang="en-US" sz="2100" dirty="0">
                <a:latin typeface="Times New Roman" pitchFamily="18" charset="0"/>
                <a:cs typeface="Times New Roman" pitchFamily="18" charset="0"/>
              </a:rPr>
            </a:br>
            <a:r>
              <a:rPr lang="en-US" sz="2100" dirty="0" err="1">
                <a:latin typeface="Times New Roman" pitchFamily="18" charset="0"/>
                <a:cs typeface="Times New Roman" pitchFamily="18" charset="0"/>
              </a:rPr>
              <a:t>labki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kiymatli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psevdotasodifiy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sonlar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generatoridan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2104914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503" y="-9857"/>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Birinchi</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usulni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misoli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sifatida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SecureID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texnologiyasini</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rsatish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Bu </a:t>
            </a:r>
            <a:r>
              <a:rPr lang="en-US" sz="2000" dirty="0" err="1">
                <a:latin typeface="Times New Roman" pitchFamily="18" charset="0"/>
                <a:cs typeface="Times New Roman" pitchFamily="18" charset="0"/>
              </a:rPr>
              <a:t>texnologiya</a:t>
            </a:r>
            <a:r>
              <a:rPr lang="en-US" sz="2000" dirty="0">
                <a:latin typeface="Times New Roman" pitchFamily="18" charset="0"/>
                <a:cs typeface="Times New Roman" pitchFamily="18" charset="0"/>
              </a:rPr>
              <a:t> Security Dy­namics </a:t>
            </a:r>
            <a:r>
              <a:rPr lang="en-US" sz="2000" dirty="0" err="1">
                <a:latin typeface="Times New Roman" pitchFamily="18" charset="0"/>
                <a:cs typeface="Times New Roman" pitchFamily="18" charset="0"/>
              </a:rPr>
              <a:t>kompaniyasi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ishlab</a:t>
            </a:r>
            <a:r>
              <a:rPr lang="en-US" sz="2000" dirty="0">
                <a:latin typeface="Times New Roman" pitchFamily="18" charset="0"/>
                <a:cs typeface="Times New Roman" pitchFamily="18" charset="0"/>
              </a:rPr>
              <a:t> chi</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qator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kompaniyalarning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xususan</a:t>
            </a:r>
            <a:r>
              <a:rPr lang="en-US" sz="2000" dirty="0">
                <a:latin typeface="Times New Roman" pitchFamily="18" charset="0"/>
                <a:cs typeface="Times New Roman" pitchFamily="18" charset="0"/>
              </a:rPr>
              <a:t> Cisco Systems </a:t>
            </a:r>
            <a:r>
              <a:rPr lang="en-US" sz="2000" dirty="0" err="1">
                <a:latin typeface="Times New Roman" pitchFamily="18" charset="0"/>
                <a:cs typeface="Times New Roman" pitchFamily="18" charset="0"/>
              </a:rPr>
              <a:t>kompaniyasining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serverlarida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oshirilgan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Va</a:t>
            </a:r>
            <a:r>
              <a:rPr lang="uz-Cyrl-UZ" sz="2000" dirty="0">
                <a:latin typeface="Times New Roman" pitchFamily="18" charset="0"/>
                <a:cs typeface="Times New Roman" pitchFamily="18" charset="0"/>
              </a:rPr>
              <a:t>q</a:t>
            </a:r>
            <a:r>
              <a:rPr lang="en-US" sz="2000" dirty="0">
                <a:latin typeface="Times New Roman" pitchFamily="18" charset="0"/>
                <a:cs typeface="Times New Roman" pitchFamily="18" charset="0"/>
              </a:rPr>
              <a:t>t </a:t>
            </a:r>
            <a:r>
              <a:rPr lang="en-US" sz="2000" dirty="0" err="1">
                <a:latin typeface="Times New Roman" pitchFamily="18" charset="0"/>
                <a:cs typeface="Times New Roman" pitchFamily="18" charset="0"/>
              </a:rPr>
              <a:t>sinxronizatsiyasidan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sxemasi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oraligidan</a:t>
            </a:r>
            <a:r>
              <a:rPr lang="en-US" sz="2000" dirty="0">
                <a:latin typeface="Times New Roman" pitchFamily="18" charset="0"/>
                <a:cs typeface="Times New Roman" pitchFamily="18" charset="0"/>
              </a:rPr>
              <a:t> sung </a:t>
            </a:r>
            <a:r>
              <a:rPr lang="en-US" sz="2000" dirty="0" err="1">
                <a:latin typeface="Times New Roman" pitchFamily="18" charset="0"/>
                <a:cs typeface="Times New Roman" pitchFamily="18" charset="0"/>
              </a:rPr>
              <a:t>generatsiyalash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algoritmiga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sxemasi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quyidagi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ikkita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parametrdan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foydalanadi</a:t>
            </a:r>
            <a:r>
              <a:rPr lang="ru-RU" sz="2000" dirty="0">
                <a:latin typeface="Times New Roman" pitchFamily="18" charset="0"/>
                <a:cs typeface="Times New Roman" pitchFamily="18" charset="0"/>
              </a:rPr>
              <a:t>:</a:t>
            </a:r>
          </a:p>
          <a:p>
            <a:pPr lvl="0" algn="just"/>
            <a:r>
              <a:rPr lang="ru-RU" sz="2000" dirty="0" err="1">
                <a:latin typeface="Times New Roman" pitchFamily="18" charset="0"/>
                <a:cs typeface="Times New Roman" pitchFamily="18" charset="0"/>
              </a:rPr>
              <a:t>xar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foydalanuvchiga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atalgan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va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serverida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hamda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foydalanuvchining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apparat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kalitida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sakdanuvchi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noyob</a:t>
            </a:r>
            <a:r>
              <a:rPr lang="ru-RU" sz="2000" dirty="0">
                <a:latin typeface="Times New Roman" pitchFamily="18" charset="0"/>
                <a:cs typeface="Times New Roman" pitchFamily="18" charset="0"/>
              </a:rPr>
              <a:t> 64-bitli </a:t>
            </a:r>
            <a:r>
              <a:rPr lang="ru-RU" sz="2000" dirty="0" err="1">
                <a:latin typeface="Times New Roman" pitchFamily="18" charset="0"/>
                <a:cs typeface="Times New Roman" pitchFamily="18" charset="0"/>
              </a:rPr>
              <a:t>sondan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iborat</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maxfiy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kalit</a:t>
            </a:r>
            <a:r>
              <a:rPr lang="ru-RU" sz="2000" dirty="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Masofadagi</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uringanida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shaxsiy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identifikatsiya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nomerini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kiritish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taklif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etiladi</a:t>
            </a:r>
            <a:r>
              <a:rPr lang="en-US" sz="2000" dirty="0">
                <a:latin typeface="Times New Roman" pitchFamily="18" charset="0"/>
                <a:cs typeface="Times New Roman" pitchFamily="18" charset="0"/>
              </a:rPr>
              <a:t>. PIN t</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rtta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nli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raqamdan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displeyida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akslanuvchi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oltita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raqamidan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iborat</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kiritilgan</a:t>
            </a:r>
            <a:r>
              <a:rPr lang="en-US" sz="2000" dirty="0">
                <a:latin typeface="Times New Roman" pitchFamily="18" charset="0"/>
                <a:cs typeface="Times New Roman" pitchFamily="18" charset="0"/>
              </a:rPr>
              <a:t> PIN-</a:t>
            </a:r>
            <a:r>
              <a:rPr lang="en-US" sz="2000" dirty="0" err="1">
                <a:latin typeface="Times New Roman" pitchFamily="18" charset="0"/>
                <a:cs typeface="Times New Roman" pitchFamily="18" charset="0"/>
              </a:rPr>
              <a:t>koddan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bazasidagi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joriy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kiymati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generatsiyalash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algoritmini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bajaradi</a:t>
            </a:r>
            <a:r>
              <a:rPr lang="en-US" sz="2000" dirty="0">
                <a:latin typeface="Times New Roman" pitchFamily="18" charset="0"/>
                <a:cs typeface="Times New Roman" pitchFamily="18" charset="0"/>
              </a:rPr>
              <a:t>. S</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ngra</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generatsiyalangan</a:t>
            </a:r>
            <a:r>
              <a:rPr lang="en-US" sz="2000" dirty="0">
                <a:latin typeface="Times New Roman" pitchFamily="18" charset="0"/>
                <a:cs typeface="Times New Roman" pitchFamily="18" charset="0"/>
              </a:rPr>
              <a:t> son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kiritgan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sonni</a:t>
            </a:r>
            <a:r>
              <a:rPr lang="en-US" sz="2000" dirty="0">
                <a:latin typeface="Times New Roman" pitchFamily="18" charset="0"/>
                <a:cs typeface="Times New Roman" pitchFamily="18" charset="0"/>
              </a:rPr>
              <a:t> ta</a:t>
            </a:r>
            <a:r>
              <a:rPr lang="uz-Cyrl-UZ" sz="2000" dirty="0">
                <a:latin typeface="Times New Roman" pitchFamily="18" charset="0"/>
                <a:cs typeface="Times New Roman" pitchFamily="18" charset="0"/>
              </a:rPr>
              <a:t>qqo</a:t>
            </a:r>
            <a:r>
              <a:rPr lang="en-US" sz="2000" dirty="0" err="1">
                <a:latin typeface="Times New Roman" pitchFamily="18" charset="0"/>
                <a:cs typeface="Times New Roman" pitchFamily="18" charset="0"/>
              </a:rPr>
              <a:t>slaydi</a:t>
            </a:r>
            <a:r>
              <a:rPr lang="en-US" sz="2000" dirty="0">
                <a:latin typeface="Times New Roman" pitchFamily="18" charset="0"/>
                <a:cs typeface="Times New Roman" pitchFamily="18" charset="0"/>
              </a:rPr>
              <a:t>. Agar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a:t>
            </a:r>
            <a:r>
              <a:rPr lang="uz-Cyrl-UZ" sz="2000" dirty="0">
                <a:latin typeface="Times New Roman" pitchFamily="18" charset="0"/>
                <a:cs typeface="Times New Roman" pitchFamily="18" charset="0"/>
              </a:rPr>
              <a:t>s </a:t>
            </a:r>
            <a:r>
              <a:rPr lang="en-US" sz="2000" dirty="0" err="1">
                <a:latin typeface="Times New Roman" pitchFamily="18" charset="0"/>
                <a:cs typeface="Times New Roman" pitchFamily="18" charset="0"/>
              </a:rPr>
              <a:t>kelsa</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foydalanuvchiga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ruxsat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Autentifikatsiyaning</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sxemasidan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serverning</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at’iy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sinxronlanishi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Chunki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demak</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ichki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muvofi</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asta-sekin</a:t>
            </a:r>
            <a:r>
              <a:rPr lang="en-US" sz="2000" dirty="0">
                <a:latin typeface="Times New Roman" pitchFamily="18" charset="0"/>
                <a:cs typeface="Times New Roman" pitchFamily="18" charset="0"/>
              </a:rPr>
              <a:t> b</a:t>
            </a:r>
            <a:r>
              <a:rPr lang="uz-Cyrl-UZ" sz="2000" dirty="0">
                <a:latin typeface="Times New Roman" pitchFamily="18" charset="0"/>
                <a:cs typeface="Times New Roman" pitchFamily="18" charset="0"/>
              </a:rPr>
              <a:t>u</a:t>
            </a:r>
            <a:r>
              <a:rPr lang="en-US" sz="2000" dirty="0" err="1">
                <a:latin typeface="Times New Roman" pitchFamily="18" charset="0"/>
                <a:cs typeface="Times New Roman" pitchFamily="18" charset="0"/>
              </a:rPr>
              <a:t>zilishi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913043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5595" y="2569"/>
            <a:ext cx="9144000" cy="6863417"/>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Ushbu</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muammoni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h</a:t>
            </a:r>
            <a:r>
              <a:rPr lang="en-US" sz="2000" dirty="0">
                <a:latin typeface="Times New Roman" pitchFamily="18" charset="0"/>
                <a:cs typeface="Times New Roman" pitchFamily="18" charset="0"/>
              </a:rPr>
              <a:t>al </a:t>
            </a:r>
            <a:r>
              <a:rPr lang="en-US" sz="2000" dirty="0" err="1">
                <a:latin typeface="Times New Roman" pitchFamily="18" charset="0"/>
                <a:cs typeface="Times New Roman" pitchFamily="18" charset="0"/>
              </a:rPr>
              <a:t>etishda</a:t>
            </a:r>
            <a:r>
              <a:rPr lang="en-US" sz="2000" dirty="0">
                <a:latin typeface="Times New Roman" pitchFamily="18" charset="0"/>
                <a:cs typeface="Times New Roman" pitchFamily="18" charset="0"/>
              </a:rPr>
              <a:t> Security Dynamics </a:t>
            </a:r>
            <a:r>
              <a:rPr lang="en-US" sz="2000" dirty="0" err="1">
                <a:latin typeface="Times New Roman" pitchFamily="18" charset="0"/>
                <a:cs typeface="Times New Roman" pitchFamily="18" charset="0"/>
              </a:rPr>
              <a:t>kompaniyasi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chikilayotganida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taymer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chastotasining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me’yoridan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chetlashishi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ani</a:t>
            </a:r>
            <a:r>
              <a:rPr lang="uz-Cyrl-UZ" sz="2000" dirty="0">
                <a:latin typeface="Times New Roman" pitchFamily="18" charset="0"/>
                <a:cs typeface="Times New Roman" pitchFamily="18" charset="0"/>
              </a:rPr>
              <a:t>q o‘</a:t>
            </a:r>
            <a:r>
              <a:rPr lang="en-US" sz="2000" dirty="0" err="1">
                <a:latin typeface="Times New Roman" pitchFamily="18" charset="0"/>
                <a:cs typeface="Times New Roman" pitchFamily="18" charset="0"/>
              </a:rPr>
              <a:t>lchanadi</a:t>
            </a:r>
            <a:r>
              <a:rPr lang="en-US"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Chetlashishning</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bu</a:t>
            </a:r>
            <a:r>
              <a:rPr lang="ru-RU"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ru-RU" sz="2000" dirty="0" err="1">
                <a:latin typeface="Times New Roman" pitchFamily="18" charset="0"/>
                <a:cs typeface="Times New Roman" pitchFamily="18" charset="0"/>
              </a:rPr>
              <a:t>iymati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server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algoritmi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parametri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sifatida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xisobga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olinadi</a:t>
            </a:r>
            <a:r>
              <a:rPr lang="ru-RU" sz="2000" dirty="0">
                <a:latin typeface="Times New Roman" pitchFamily="18" charset="0"/>
                <a:cs typeface="Times New Roman" pitchFamily="18" charset="0"/>
              </a:rPr>
              <a:t>;</a:t>
            </a:r>
          </a:p>
          <a:p>
            <a:pPr lvl="0" algn="just"/>
            <a:r>
              <a:rPr lang="en-US" sz="2000" dirty="0">
                <a:latin typeface="Times New Roman" pitchFamily="18" charset="0"/>
                <a:cs typeface="Times New Roman" pitchFamily="18" charset="0"/>
              </a:rPr>
              <a:t>server </a:t>
            </a:r>
            <a:r>
              <a:rPr lang="en-US" sz="2000" dirty="0" err="1">
                <a:latin typeface="Times New Roman" pitchFamily="18" charset="0"/>
                <a:cs typeface="Times New Roman" pitchFamily="18" charset="0"/>
              </a:rPr>
              <a:t>muayyan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generatsiyalagan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kodlarni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kuzatadi</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zaruriyat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a:t>
            </a:r>
            <a:r>
              <a:rPr lang="uz-Cyrl-UZ" sz="2000" dirty="0">
                <a:latin typeface="Times New Roman" pitchFamily="18" charset="0"/>
                <a:cs typeface="Times New Roman" pitchFamily="18" charset="0"/>
              </a:rPr>
              <a:t>g‘</a:t>
            </a:r>
            <a:r>
              <a:rPr lang="en-US" sz="2000" dirty="0" err="1">
                <a:latin typeface="Times New Roman" pitchFamily="18" charset="0"/>
                <a:cs typeface="Times New Roman" pitchFamily="18" charset="0"/>
              </a:rPr>
              <a:t>ilganida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moslashadi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Autentifikatsiyaning</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sxemasi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muammo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generatsiyalagan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son </a:t>
            </a:r>
            <a:r>
              <a:rPr lang="en-US" sz="2000" dirty="0" err="1">
                <a:latin typeface="Times New Roman" pitchFamily="18" charset="0"/>
                <a:cs typeface="Times New Roman" pitchFamily="18" charset="0"/>
              </a:rPr>
              <a:t>katta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bo‘lmagan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vaqt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orali</a:t>
            </a:r>
            <a:r>
              <a:rPr lang="uz-Cyrl-UZ" sz="2000" dirty="0">
                <a:latin typeface="Times New Roman" pitchFamily="18" charset="0"/>
                <a:cs typeface="Times New Roman" pitchFamily="18" charset="0"/>
              </a:rPr>
              <a:t>g‘</a:t>
            </a:r>
            <a:r>
              <a:rPr lang="en-US" sz="2000" dirty="0">
                <a:latin typeface="Times New Roman" pitchFamily="18" charset="0"/>
                <a:cs typeface="Times New Roman" pitchFamily="18" charset="0"/>
              </a:rPr>
              <a:t>i </a:t>
            </a:r>
            <a:r>
              <a:rPr lang="en-US" sz="2000" dirty="0" err="1">
                <a:latin typeface="Times New Roman" pitchFamily="18" charset="0"/>
                <a:cs typeface="Times New Roman" pitchFamily="18" charset="0"/>
              </a:rPr>
              <a:t>mobaynida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parol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xisoblanadi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umuman</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a:latin typeface="Times New Roman" pitchFamily="18" charset="0"/>
                <a:cs typeface="Times New Roman" pitchFamily="18" charset="0"/>
              </a:rPr>
              <a:t>is</a:t>
            </a:r>
            <a:r>
              <a:rPr lang="uz-Cyrl-UZ" sz="2000" dirty="0">
                <a:latin typeface="Times New Roman" pitchFamily="18" charset="0"/>
                <a:cs typeface="Times New Roman" pitchFamily="18" charset="0"/>
              </a:rPr>
              <a:t>q</a:t>
            </a:r>
            <a:r>
              <a:rPr lang="en-US" sz="2000" dirty="0">
                <a:latin typeface="Times New Roman" pitchFamily="18" charset="0"/>
                <a:cs typeface="Times New Roman" pitchFamily="18" charset="0"/>
              </a:rPr>
              <a:t>a </a:t>
            </a:r>
            <a:r>
              <a:rPr lang="en-US" sz="2000" dirty="0" err="1">
                <a:latin typeface="Times New Roman" pitchFamily="18" charset="0"/>
                <a:cs typeface="Times New Roman" pitchFamily="18" charset="0"/>
              </a:rPr>
              <a:t>muddatli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vaziyat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xaker</a:t>
            </a:r>
            <a:r>
              <a:rPr lang="en-US" sz="2000" dirty="0">
                <a:latin typeface="Times New Roman" pitchFamily="18" charset="0"/>
                <a:cs typeface="Times New Roman" pitchFamily="18" charset="0"/>
              </a:rPr>
              <a:t> PIN-</a:t>
            </a:r>
            <a:r>
              <a:rPr lang="en-US" sz="2000" dirty="0" err="1">
                <a:latin typeface="Times New Roman" pitchFamily="18" charset="0"/>
                <a:cs typeface="Times New Roman" pitchFamily="18" charset="0"/>
              </a:rPr>
              <a:t>kodni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ushlab</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qo</a:t>
            </a:r>
            <a:r>
              <a:rPr lang="en-US" sz="2000" dirty="0" err="1">
                <a:latin typeface="Times New Roman" pitchFamily="18" charset="0"/>
                <a:cs typeface="Times New Roman" pitchFamily="18" charset="0"/>
              </a:rPr>
              <a:t>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Bu </a:t>
            </a:r>
            <a:r>
              <a:rPr lang="en-US" sz="2000" dirty="0" err="1">
                <a:latin typeface="Times New Roman" pitchFamily="18" charset="0"/>
                <a:cs typeface="Times New Roman" pitchFamily="18" charset="0"/>
              </a:rPr>
              <a:t>vaqt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sinxronizatsiyasiga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sxemasining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zaif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joyi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xisoblanadi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Bir</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martali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paroldan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a:t>
            </a:r>
            <a:r>
              <a:rPr lang="en-US" sz="2000" dirty="0">
                <a:latin typeface="Times New Roman" pitchFamily="18" charset="0"/>
                <a:cs typeface="Times New Roman" pitchFamily="18" charset="0"/>
              </a:rPr>
              <a:t> variant – </a:t>
            </a:r>
            <a:r>
              <a:rPr lang="uz-Cyrl-UZ"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so‘rov-javob</a:t>
            </a:r>
            <a:r>
              <a:rPr lang="uz-Cyrl-UZ"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sxemasi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tarmoqdan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uringanida</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unga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son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rinishidagi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so‘rovni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uzatadi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DES </a:t>
            </a:r>
            <a:r>
              <a:rPr lang="en-US" sz="2000" dirty="0" err="1">
                <a:latin typeface="Times New Roman" pitchFamily="18" charset="0"/>
                <a:cs typeface="Times New Roman" pitchFamily="18" charset="0"/>
              </a:rPr>
              <a:t>algoritmi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apparat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xotirasida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bazasida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rasshifrovka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son - </a:t>
            </a:r>
            <a:r>
              <a:rPr lang="en-US" sz="2000" dirty="0" err="1">
                <a:latin typeface="Times New Roman" pitchFamily="18" charset="0"/>
                <a:cs typeface="Times New Roman" pitchFamily="18" charset="0"/>
              </a:rPr>
              <a:t>so‘rov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shifrlangan</a:t>
            </a:r>
            <a:r>
              <a:rPr lang="en-US" sz="2000" dirty="0">
                <a:latin typeface="Times New Roman" pitchFamily="18" charset="0"/>
                <a:cs typeface="Times New Roman" pitchFamily="18" charset="0"/>
              </a:rPr>
              <a:t>  k</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rinishda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serverga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aytariladi</a:t>
            </a:r>
            <a:r>
              <a:rPr lang="en-US" sz="2000" dirty="0">
                <a:latin typeface="Times New Roman" pitchFamily="18" charset="0"/>
                <a:cs typeface="Times New Roman" pitchFamily="18" charset="0"/>
              </a:rPr>
              <a:t>.   Server  </a:t>
            </a:r>
            <a:r>
              <a:rPr lang="en-US" sz="2000" dirty="0" err="1">
                <a:latin typeface="Times New Roman" pitchFamily="18" charset="0"/>
                <a:cs typeface="Times New Roman" pitchFamily="18" charset="0"/>
              </a:rPr>
              <a:t>xam</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a:latin typeface="Times New Roman" pitchFamily="18" charset="0"/>
                <a:cs typeface="Times New Roman" pitchFamily="18" charset="0"/>
              </a:rPr>
              <a:t>z  </a:t>
            </a:r>
            <a:r>
              <a:rPr lang="en-US" sz="2000" dirty="0" err="1">
                <a:latin typeface="Times New Roman" pitchFamily="18" charset="0"/>
                <a:cs typeface="Times New Roman" pitchFamily="18" charset="0"/>
              </a:rPr>
              <a:t>navbatida</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sha</a:t>
            </a:r>
            <a:r>
              <a:rPr lang="en-US" sz="2000" dirty="0">
                <a:latin typeface="Times New Roman" pitchFamily="18" charset="0"/>
                <a:cs typeface="Times New Roman" pitchFamily="18" charset="0"/>
              </a:rPr>
              <a:t> DES </a:t>
            </a:r>
            <a:r>
              <a:rPr lang="en-US" sz="2000" dirty="0" err="1">
                <a:latin typeface="Times New Roman" pitchFamily="18" charset="0"/>
                <a:cs typeface="Times New Roman" pitchFamily="18" charset="0"/>
              </a:rPr>
              <a:t>algoritmi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bazasidan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generatsiyalagan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tasodifiy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sonni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shifrlaydi</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641747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4163" y="31889"/>
            <a:ext cx="9144000" cy="7109639"/>
          </a:xfrm>
          <a:prstGeom prst="rect">
            <a:avLst/>
          </a:prstGeom>
        </p:spPr>
        <p:txBody>
          <a:bodyPr wrap="square">
            <a:spAutoFit/>
          </a:bodyPr>
          <a:lstStyle/>
          <a:p>
            <a:pPr algn="just"/>
            <a:r>
              <a:rPr lang="en-US" sz="1900" dirty="0" smtClean="0">
                <a:latin typeface="Times New Roman" pitchFamily="18" charset="0"/>
                <a:cs typeface="Times New Roman" pitchFamily="18" charset="0"/>
              </a:rPr>
              <a:t>	S</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ngra</a:t>
            </a:r>
            <a:r>
              <a:rPr lang="en-US" sz="1900" dirty="0">
                <a:latin typeface="Times New Roman" pitchFamily="18" charset="0"/>
                <a:cs typeface="Times New Roman" pitchFamily="18" charset="0"/>
              </a:rPr>
              <a:t> server </a:t>
            </a:r>
            <a:r>
              <a:rPr lang="en-US" sz="1900" dirty="0" err="1">
                <a:latin typeface="Times New Roman" pitchFamily="18" charset="0"/>
                <a:cs typeface="Times New Roman" pitchFamily="18" charset="0"/>
              </a:rPr>
              <a:t>shifrlash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natijasini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apparat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kalitidan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kelgan</a:t>
            </a:r>
            <a:r>
              <a:rPr lang="en-US" sz="1900" dirty="0">
                <a:latin typeface="Times New Roman" pitchFamily="18" charset="0"/>
                <a:cs typeface="Times New Roman" pitchFamily="18" charset="0"/>
              </a:rPr>
              <a:t> son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ta</a:t>
            </a:r>
            <a:r>
              <a:rPr lang="uz-Cyrl-UZ" sz="1900" dirty="0">
                <a:latin typeface="Times New Roman" pitchFamily="18" charset="0"/>
                <a:cs typeface="Times New Roman" pitchFamily="18" charset="0"/>
              </a:rPr>
              <a:t>qq</a:t>
            </a:r>
            <a:r>
              <a:rPr lang="en-US" sz="1900" dirty="0" err="1">
                <a:latin typeface="Times New Roman" pitchFamily="18" charset="0"/>
                <a:cs typeface="Times New Roman" pitchFamily="18" charset="0"/>
              </a:rPr>
              <a:t>oslaydi</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sonlar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a:t>
            </a:r>
            <a:r>
              <a:rPr lang="uz-Cyrl-UZ" sz="1900" dirty="0">
                <a:latin typeface="Times New Roman" pitchFamily="18" charset="0"/>
                <a:cs typeface="Times New Roman" pitchFamily="18" charset="0"/>
              </a:rPr>
              <a:t>s </a:t>
            </a:r>
            <a:r>
              <a:rPr lang="en-US" sz="1900" dirty="0" err="1">
                <a:latin typeface="Times New Roman" pitchFamily="18" charset="0"/>
                <a:cs typeface="Times New Roman" pitchFamily="18" charset="0"/>
              </a:rPr>
              <a:t>kelganida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tarmoqdan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foydalanishga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ruxsat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Ta’kidlash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lozimki</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a:t>
            </a:r>
            <a:r>
              <a:rPr lang="en-US" sz="1900" dirty="0" err="1">
                <a:latin typeface="Times New Roman" pitchFamily="18" charset="0"/>
                <a:cs typeface="Times New Roman" pitchFamily="18" charset="0"/>
              </a:rPr>
              <a:t>so‘rov-javob</a:t>
            </a:r>
            <a:r>
              <a:rPr lang="uz-Cyrl-UZ"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sxemasi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ishlatishda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sinxronizatsiyasidan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sxemasiga</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araganda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murakkabro</a:t>
            </a:r>
            <a:r>
              <a:rPr lang="uz-Cyrl-UZ" sz="1900" dirty="0">
                <a:latin typeface="Times New Roman" pitchFamily="18" charset="0"/>
                <a:cs typeface="Times New Roman" pitchFamily="18" charset="0"/>
              </a:rPr>
              <a:t>q.</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Foydalanuvchini </a:t>
            </a:r>
            <a:r>
              <a:rPr lang="uz-Cyrl-UZ" sz="1900" dirty="0">
                <a:latin typeface="Times New Roman" pitchFamily="18" charset="0"/>
                <a:cs typeface="Times New Roman" pitchFamily="18" charset="0"/>
              </a:rPr>
              <a:t>autentifikatsiyalash uchun bir martali paroldan foydalanishning ikkinchi usuli foydalanuvchi va tekshiruvchi uchun umumiy bo‘lgan tasodifiy parollar ro‘yxatidan va ularning ishonchli sinxronlash mexanizmidan foydalanishga asoslangan. Bir martali parollarning bo‘linuvchi ro‘yxati maxfiy parollar ketma-ketligi yoki to‘plami bo‘lib, xar bir parol faqat bir marta ishlatiladi. Ushbu ro‘yxat autentifikatsion almashinuv taraflar o‘rtasida oldindan taksimlanishi shart. Ushbu usulning bir variantiga binoan so‘rov-javob jadvali ishlatiladi. Bu jadvalda autentifikatsilash uchun taraflar tomonidan ishlatiluvchi so‘rovlar va javoblar mavjud bo‘lib, xar bir juft fakat bir marta ishlatilishi shart</a:t>
            </a:r>
            <a:r>
              <a:rPr lang="uz-Cyrl-UZ" sz="1900" dirty="0" smtClean="0">
                <a:latin typeface="Times New Roman" pitchFamily="18" charset="0"/>
                <a:cs typeface="Times New Roman" pitchFamily="18" charset="0"/>
              </a:rPr>
              <a:t>.</a:t>
            </a:r>
            <a:endParaRPr lang="en-US" sz="1900" dirty="0" smtClean="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Foydalanuvchini autentifikatsiyalash uchun bir martali paroldan foydalanishning uchinchi usuli foydalanuvchi va tekshiruvchi uchun umumiy bo‘lgan bir xil dastlabki kiymatli psevdotasodifiy sonlar generatoridan foydalanishga asoslangan. </a:t>
            </a:r>
            <a:r>
              <a:rPr lang="ru-RU" sz="1900" dirty="0" err="1">
                <a:latin typeface="Times New Roman" pitchFamily="18" charset="0"/>
                <a:cs typeface="Times New Roman" pitchFamily="18" charset="0"/>
              </a:rPr>
              <a:t>Bu</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usulni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amalga</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oshirishning</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quyidagi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variantlari</a:t>
            </a:r>
            <a:r>
              <a:rPr lang="ru-RU" sz="1900" dirty="0">
                <a:latin typeface="Times New Roman" pitchFamily="18" charset="0"/>
                <a:cs typeface="Times New Roman" pitchFamily="18" charset="0"/>
              </a:rPr>
              <a:t> </a:t>
            </a:r>
            <a:r>
              <a:rPr lang="ru-RU" sz="1900" dirty="0" err="1">
                <a:latin typeface="Times New Roman" pitchFamily="18" charset="0"/>
                <a:cs typeface="Times New Roman" pitchFamily="18" charset="0"/>
              </a:rPr>
              <a:t>mavjud</a:t>
            </a:r>
            <a:r>
              <a:rPr lang="ru-RU" sz="1900" dirty="0">
                <a:latin typeface="Times New Roman" pitchFamily="18" charset="0"/>
                <a:cs typeface="Times New Roman" pitchFamily="18" charset="0"/>
              </a:rPr>
              <a:t>:</a:t>
            </a:r>
          </a:p>
          <a:p>
            <a:pPr lvl="0" algn="just"/>
            <a:r>
              <a:rPr lang="uz-Cyrl-UZ" sz="1900" i="1" dirty="0">
                <a:latin typeface="Times New Roman" pitchFamily="18" charset="0"/>
                <a:cs typeface="Times New Roman" pitchFamily="18" charset="0"/>
              </a:rPr>
              <a:t>o‘</a:t>
            </a:r>
            <a:r>
              <a:rPr lang="en-US" sz="1900" i="1" dirty="0" err="1">
                <a:latin typeface="Times New Roman" pitchFamily="18" charset="0"/>
                <a:cs typeface="Times New Roman" pitchFamily="18" charset="0"/>
              </a:rPr>
              <a:t>zgartiriluvchi</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bir</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martali</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parollar</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ketma-ketligi</a:t>
            </a:r>
            <a:r>
              <a:rPr lang="en-US" sz="1900" i="1" dirty="0">
                <a:latin typeface="Times New Roman" pitchFamily="18" charset="0"/>
                <a:cs typeface="Times New Roman" pitchFamily="18" charset="0"/>
              </a:rPr>
              <a:t>. </a:t>
            </a:r>
            <a:r>
              <a:rPr lang="en-US" sz="1900" dirty="0" err="1">
                <a:latin typeface="Times New Roman" pitchFamily="18" charset="0"/>
                <a:cs typeface="Times New Roman" pitchFamily="18" charset="0"/>
              </a:rPr>
              <a:t>Navbatdagi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sessiyasida</a:t>
            </a:r>
            <a:r>
              <a:rPr lang="en-US" sz="1900" dirty="0">
                <a:latin typeface="Times New Roman" pitchFamily="18" charset="0"/>
                <a:cs typeface="Times New Roman" pitchFamily="18" charset="0"/>
              </a:rPr>
              <a:t>   </a:t>
            </a:r>
            <a:r>
              <a:rPr lang="en-US" sz="1900" dirty="0" err="1" smtClean="0">
                <a:latin typeface="Times New Roman" pitchFamily="18" charset="0"/>
                <a:cs typeface="Times New Roman" pitchFamily="18" charset="0"/>
              </a:rPr>
              <a:t>foydalanuvchi</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aynan</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shu</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sessiya</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oldingi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sessiya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parolidan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olingan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maxfiy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kalitda</a:t>
            </a:r>
            <a:r>
              <a:rPr lang="en-US" sz="1900" dirty="0">
                <a:latin typeface="Times New Roman" pitchFamily="18" charset="0"/>
                <a:cs typeface="Times New Roman" pitchFamily="18" charset="0"/>
              </a:rPr>
              <a:t/>
            </a:r>
            <a:br>
              <a:rPr lang="en-US" sz="1900" dirty="0">
                <a:latin typeface="Times New Roman" pitchFamily="18" charset="0"/>
                <a:cs typeface="Times New Roman" pitchFamily="18" charset="0"/>
              </a:rPr>
            </a:br>
            <a:r>
              <a:rPr lang="en-US" sz="1900" dirty="0" err="1" smtClean="0">
                <a:latin typeface="Times New Roman" pitchFamily="18" charset="0"/>
                <a:cs typeface="Times New Roman" pitchFamily="18" charset="0"/>
              </a:rPr>
              <a:t>shifrlangan</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parolni</a:t>
            </a:r>
            <a:r>
              <a:rPr lang="en-US" sz="1900" dirty="0">
                <a:latin typeface="Times New Roman" pitchFamily="18" charset="0"/>
                <a:cs typeface="Times New Roman" pitchFamily="18" charset="0"/>
              </a:rPr>
              <a:t> </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yaratadi</a:t>
            </a:r>
            <a:r>
              <a:rPr lang="en-US" sz="1900"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va</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uzatadi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lvl="0" algn="just"/>
            <a:r>
              <a:rPr lang="en-US" sz="1900" i="1" dirty="0" err="1">
                <a:latin typeface="Times New Roman" pitchFamily="18" charset="0"/>
                <a:cs typeface="Times New Roman" pitchFamily="18" charset="0"/>
              </a:rPr>
              <a:t>bir</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tomonlama</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funksiyaga</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asoslangan</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parollar</a:t>
            </a:r>
            <a:r>
              <a:rPr lang="en-US" sz="1900" i="1" dirty="0">
                <a:latin typeface="Times New Roman" pitchFamily="18" charset="0"/>
                <a:cs typeface="Times New Roman" pitchFamily="18" charset="0"/>
              </a:rPr>
              <a:t> </a:t>
            </a:r>
            <a:r>
              <a:rPr lang="en-US" sz="1900" i="1" dirty="0" err="1" smtClean="0">
                <a:latin typeface="Times New Roman" pitchFamily="18" charset="0"/>
                <a:cs typeface="Times New Roman" pitchFamily="18" charset="0"/>
              </a:rPr>
              <a:t>ketma-ketligi</a:t>
            </a:r>
            <a:r>
              <a:rPr lang="en-US" sz="1900" i="1" dirty="0" smtClean="0">
                <a:latin typeface="Times New Roman" pitchFamily="18" charset="0"/>
                <a:cs typeface="Times New Roman" pitchFamily="18" charset="0"/>
              </a:rPr>
              <a:t>. </a:t>
            </a:r>
            <a:r>
              <a:rPr lang="en-US" sz="1900" dirty="0" err="1" smtClean="0">
                <a:latin typeface="Times New Roman" pitchFamily="18" charset="0"/>
                <a:cs typeface="Times New Roman" pitchFamily="18" charset="0"/>
              </a:rPr>
              <a:t>Ushbu</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usulning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moxiyatini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tomonlama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funksiyaning</a:t>
            </a:r>
            <a:r>
              <a:rPr lang="en-US" sz="1900" dirty="0">
                <a:latin typeface="Times New Roman" pitchFamily="18" charset="0"/>
                <a:cs typeface="Times New Roman" pitchFamily="18" charset="0"/>
              </a:rPr>
              <a:t> </a:t>
            </a:r>
            <a:r>
              <a:rPr lang="en-US" sz="1900" dirty="0" err="1" smtClean="0">
                <a:latin typeface="Times New Roman" pitchFamily="18" charset="0"/>
                <a:cs typeface="Times New Roman" pitchFamily="18" charset="0"/>
              </a:rPr>
              <a:t>ketma-ket</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ishlatilishi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tashkil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etadi</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Xavfsizlik nuktai nazaridan bu usul ketma-ket o‘zgartiriluvchi parollar usuliga nisbatan afzal hisoblanadi.</a:t>
            </a:r>
            <a:endParaRPr lang="ru-RU" sz="1900" dirty="0">
              <a:latin typeface="Times New Roman" pitchFamily="18" charset="0"/>
              <a:cs typeface="Times New Roman" pitchFamily="18" charset="0"/>
            </a:endParaRPr>
          </a:p>
          <a:p>
            <a:pPr algn="just"/>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1856857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63417"/>
          </a:xfrm>
          <a:prstGeom prst="rect">
            <a:avLst/>
          </a:prstGeom>
        </p:spPr>
        <p:txBody>
          <a:bodyPr wrap="square">
            <a:spAutoFit/>
          </a:bodyPr>
          <a:lstStyle/>
          <a:p>
            <a:pPr lvl="0" algn="ctr"/>
            <a:r>
              <a:rPr lang="uz-Cyrl-UZ" sz="2000" b="1" dirty="0">
                <a:latin typeface="Times New Roman" pitchFamily="18" charset="0"/>
                <a:cs typeface="Times New Roman" pitchFamily="18" charset="0"/>
              </a:rPr>
              <a:t>Sertifikatlar asosida autentifikatsiyalash</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Tarmoqdan </a:t>
            </a:r>
            <a:r>
              <a:rPr lang="uz-Cyrl-UZ" sz="2000" dirty="0">
                <a:latin typeface="Times New Roman" pitchFamily="18" charset="0"/>
                <a:cs typeface="Times New Roman" pitchFamily="18" charset="0"/>
              </a:rPr>
              <a:t>foydalanuvchilar soni millionlab o‘lchanganida foydalanuvchilar parollarining tayinlanishi va saqlanishi bilan bog‘liq foydalanuvchilarni dastlabki ro‘yxatga olish muolajasi juda katta va amalga oshirilishi qiyin bo‘ladi. </a:t>
            </a:r>
            <a:r>
              <a:rPr lang="en-US" sz="2000" dirty="0" err="1">
                <a:latin typeface="Times New Roman" pitchFamily="18" charset="0"/>
                <a:cs typeface="Times New Roman" pitchFamily="18" charset="0"/>
              </a:rPr>
              <a:t>Bunday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sharoitda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raqamli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parollar</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qo‘</a:t>
            </a:r>
            <a:r>
              <a:rPr lang="en-US" sz="2000" dirty="0" err="1">
                <a:latin typeface="Times New Roman" pitchFamily="18" charset="0"/>
                <a:cs typeface="Times New Roman" pitchFamily="18" charset="0"/>
              </a:rPr>
              <a:t>llanishiga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ratsional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alternativa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xisoblanadi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Raqamli</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sertifikatlar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ishlatilganida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tarmog‘i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xususidagi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xech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saklamaydi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Bunday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so‘rov-sertifikatlarida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takdim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etadilar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axborotni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xususan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maxfiy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a:t>
            </a:r>
            <a:r>
              <a:rPr lang="uz-Cyrl-UZ" sz="2000" dirty="0">
                <a:latin typeface="Times New Roman" pitchFamily="18" charset="0"/>
                <a:cs typeface="Times New Roman" pitchFamily="18" charset="0"/>
              </a:rPr>
              <a:t>q</a:t>
            </a:r>
            <a:r>
              <a:rPr lang="en-US" sz="2000" dirty="0">
                <a:latin typeface="Times New Roman" pitchFamily="18" charset="0"/>
                <a:cs typeface="Times New Roman" pitchFamily="18" charset="0"/>
              </a:rPr>
              <a:t>lash </a:t>
            </a:r>
            <a:r>
              <a:rPr lang="en-US" sz="2000" dirty="0" err="1">
                <a:latin typeface="Times New Roman" pitchFamily="18" charset="0"/>
                <a:cs typeface="Times New Roman" pitchFamily="18" charset="0"/>
              </a:rPr>
              <a:t>vazifasi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yuklanadi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Foydalanuvchi</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shaxsini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tasdikdovchi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a:t>
            </a:r>
            <a:r>
              <a:rPr lang="uz-Cyrl-UZ" sz="2000" dirty="0">
                <a:latin typeface="Times New Roman" pitchFamily="18" charset="0"/>
                <a:cs typeface="Times New Roman" pitchFamily="18" charset="0"/>
              </a:rPr>
              <a:t>q</a:t>
            </a:r>
            <a:r>
              <a:rPr lang="en-US" sz="2000" dirty="0" err="1">
                <a:latin typeface="Times New Roman" pitchFamily="18" charset="0"/>
                <a:cs typeface="Times New Roman" pitchFamily="18" charset="0"/>
              </a:rPr>
              <a:t>amli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so‘rovi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maxsus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vakolatli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tashkilot-sertifikatsiya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markazi</a:t>
            </a:r>
            <a:r>
              <a:rPr lang="en-US" sz="2000" dirty="0">
                <a:latin typeface="Times New Roman" pitchFamily="18" charset="0"/>
                <a:cs typeface="Times New Roman" pitchFamily="18" charset="0"/>
              </a:rPr>
              <a:t> SA (Certificate Authority)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shartlar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bajarilganida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Ta’kidlash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lozimki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muolajasining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autentifikatsiyalash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boskichini</a:t>
            </a:r>
            <a:r>
              <a:rPr lang="en-US"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o‘</a:t>
            </a:r>
            <a:r>
              <a:rPr lang="en-US" sz="2000" dirty="0">
                <a:latin typeface="Times New Roman" pitchFamily="18" charset="0"/>
                <a:cs typeface="Times New Roman" pitchFamily="18" charset="0"/>
              </a:rPr>
              <a:t>z </a:t>
            </a:r>
            <a:r>
              <a:rPr lang="en-US" sz="2000" dirty="0" err="1">
                <a:latin typeface="Times New Roman" pitchFamily="18" charset="0"/>
                <a:cs typeface="Times New Roman" pitchFamily="18" charset="0"/>
              </a:rPr>
              <a:t>ichiga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taraf</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sertifikatsiyalovchi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tashkilot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markazi</a:t>
            </a:r>
            <a:r>
              <a:rPr lang="en-US" sz="2000" dirty="0">
                <a:latin typeface="Times New Roman" pitchFamily="18" charset="0"/>
                <a:cs typeface="Times New Roman" pitchFamily="18" charset="0"/>
              </a:rPr>
              <a:t> SA) </a:t>
            </a:r>
            <a:r>
              <a:rPr lang="en-US" sz="2000" dirty="0" err="1">
                <a:latin typeface="Times New Roman" pitchFamily="18" charset="0"/>
                <a:cs typeface="Times New Roman" pitchFamily="18" charset="0"/>
              </a:rPr>
              <a:t>bo‘ladi</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Sertifikat</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olish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mijoz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markaziga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a:t>
            </a:r>
            <a:r>
              <a:rPr lang="uz-Cyrl-UZ" sz="2000" dirty="0">
                <a:latin typeface="Times New Roman" pitchFamily="18" charset="0"/>
                <a:cs typeface="Times New Roman" pitchFamily="18" charset="0"/>
              </a:rPr>
              <a:t>ql</a:t>
            </a:r>
            <a:r>
              <a:rPr lang="en-US" sz="2000" dirty="0" err="1">
                <a:latin typeface="Times New Roman" pitchFamily="18" charset="0"/>
                <a:cs typeface="Times New Roman" pitchFamily="18" charset="0"/>
              </a:rPr>
              <a:t>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ochiq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kalitini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takdim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lozim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Zaruriy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ro‘yxati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olinadigan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bog‘liq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Sertifikatsiyalovchi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tashkilot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xaqiqiyligi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a:t>
            </a:r>
            <a:r>
              <a:rPr lang="uz-Cyrl-UZ" sz="2000" dirty="0">
                <a:latin typeface="Times New Roman" pitchFamily="18" charset="0"/>
                <a:cs typeface="Times New Roman" pitchFamily="18" charset="0"/>
              </a:rPr>
              <a:t>g‘</a:t>
            </a:r>
            <a:r>
              <a:rPr lang="en-US" sz="2000" dirty="0" err="1">
                <a:latin typeface="Times New Roman" pitchFamily="18" charset="0"/>
                <a:cs typeface="Times New Roman" pitchFamily="18" charset="0"/>
              </a:rPr>
              <a: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tekshirganidan</a:t>
            </a:r>
            <a:r>
              <a:rPr lang="en-US" sz="2000" dirty="0">
                <a:latin typeface="Times New Roman" pitchFamily="18" charset="0"/>
                <a:cs typeface="Times New Roman" pitchFamily="18" charset="0"/>
              </a:rPr>
              <a:t> s</a:t>
            </a:r>
            <a:r>
              <a:rPr lang="uz-Cyrl-UZ" sz="2000" dirty="0">
                <a:latin typeface="Times New Roman" pitchFamily="18" charset="0"/>
                <a:cs typeface="Times New Roman" pitchFamily="18" charset="0"/>
              </a:rPr>
              <a:t>o‘</a:t>
            </a:r>
            <a:r>
              <a:rPr lang="en-US" sz="2000" dirty="0" err="1">
                <a:latin typeface="Times New Roman" pitchFamily="18" charset="0"/>
                <a:cs typeface="Times New Roman" pitchFamily="18" charset="0"/>
              </a:rPr>
              <a:t>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raqamli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imzosini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ochi</a:t>
            </a:r>
            <a:r>
              <a:rPr lang="uz-Cyrl-UZ" sz="2000" dirty="0">
                <a:latin typeface="Times New Roman" pitchFamily="18" charset="0"/>
                <a:cs typeface="Times New Roman" pitchFamily="18" charset="0"/>
              </a:rPr>
              <a:t>q </a:t>
            </a:r>
            <a:r>
              <a:rPr lang="en-US" sz="2000" dirty="0" err="1">
                <a:latin typeface="Times New Roman" pitchFamily="18" charset="0"/>
                <a:cs typeface="Times New Roman" pitchFamily="18" charset="0"/>
              </a:rPr>
              <a:t>kalit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xususida­gi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ma’lumot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faylga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joylashtiradi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hamda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ochi</a:t>
            </a:r>
            <a:r>
              <a:rPr lang="uz-Cyrl-UZ" sz="2000" dirty="0">
                <a:latin typeface="Times New Roman" pitchFamily="18" charset="0"/>
                <a:cs typeface="Times New Roman" pitchFamily="18" charset="0"/>
              </a:rPr>
              <a:t>q </a:t>
            </a:r>
            <a:r>
              <a:rPr lang="en-US" sz="2000" dirty="0" err="1">
                <a:latin typeface="Times New Roman" pitchFamily="18" charset="0"/>
                <a:cs typeface="Times New Roman" pitchFamily="18" charset="0"/>
              </a:rPr>
              <a:t>kalitning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muayyan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shaxsga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tegishli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ekanligini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tasdi</a:t>
            </a:r>
            <a:r>
              <a:rPr lang="uz-Cyrl-UZ" sz="2000" dirty="0">
                <a:latin typeface="Times New Roman" pitchFamily="18" charset="0"/>
                <a:cs typeface="Times New Roman" pitchFamily="18" charset="0"/>
              </a:rPr>
              <a:t>q</a:t>
            </a:r>
            <a:r>
              <a:rPr lang="en-US" sz="2000" dirty="0">
                <a:latin typeface="Times New Roman" pitchFamily="18" charset="0"/>
                <a:cs typeface="Times New Roman" pitchFamily="18" charset="0"/>
              </a:rPr>
              <a:t>lagan </a:t>
            </a:r>
            <a:r>
              <a:rPr lang="en-US" sz="2000" dirty="0" err="1">
                <a:latin typeface="Times New Roman" pitchFamily="18" charset="0"/>
                <a:cs typeface="Times New Roman" pitchFamily="18" charset="0"/>
              </a:rPr>
              <a:t>holda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ser­tifikat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270421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9183" y="116632"/>
            <a:ext cx="8712968" cy="6524863"/>
          </a:xfrm>
          <a:prstGeom prst="rect">
            <a:avLst/>
          </a:prstGeom>
        </p:spPr>
        <p:txBody>
          <a:bodyPr wrap="square">
            <a:spAutoFit/>
          </a:bodyPr>
          <a:lstStyle/>
          <a:p>
            <a:pPr algn="just"/>
            <a:r>
              <a:rPr lang="en-US" sz="2200" dirty="0" err="1">
                <a:latin typeface="Times New Roman" pitchFamily="18" charset="0"/>
                <a:cs typeface="Times New Roman" pitchFamily="18" charset="0"/>
              </a:rPr>
              <a:t>Sertifikat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elektron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shakl</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tarkibida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quyidagi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axborot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bo‘ladi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ushbu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egasining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kaliti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xususidagi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masalan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ismi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elektron</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dirty="0" err="1">
                <a:latin typeface="Times New Roman" pitchFamily="18" charset="0"/>
                <a:cs typeface="Times New Roman" pitchFamily="18" charset="0"/>
              </a:rPr>
              <a:t>pochta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adresi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ishlaydigan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tashkilot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nomi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hokazo</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lvl="0" algn="just"/>
            <a:r>
              <a:rPr lang="en-US" sz="2200" dirty="0" err="1">
                <a:latin typeface="Times New Roman" pitchFamily="18" charset="0"/>
                <a:cs typeface="Times New Roman" pitchFamily="18" charset="0"/>
              </a:rPr>
              <a:t>ushbu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bergan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tashkilot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nomi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lvl="0" algn="just"/>
            <a:r>
              <a:rPr lang="en-US" sz="2200" dirty="0" err="1">
                <a:latin typeface="Times New Roman" pitchFamily="18" charset="0"/>
                <a:cs typeface="Times New Roman" pitchFamily="18" charset="0"/>
              </a:rPr>
              <a:t>sertifikatsiyalovchi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tashkilotning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elektron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imzosi</a:t>
            </a:r>
            <a:r>
              <a:rPr lang="en-US" sz="2200" dirty="0">
                <a:latin typeface="Times New Roman" pitchFamily="18" charset="0"/>
                <a:cs typeface="Times New Roman" pitchFamily="18" charset="0"/>
              </a:rPr>
              <a:t> - </a:t>
            </a:r>
            <a:r>
              <a:rPr lang="en-US" sz="2200" dirty="0" err="1">
                <a:latin typeface="Times New Roman" pitchFamily="18" charset="0"/>
                <a:cs typeface="Times New Roman" pitchFamily="18" charset="0"/>
              </a:rPr>
              <a:t>ushbu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tashkilotning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maxfiy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kaliti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yordamida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shifrlangan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sertifikatsiyadagi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ma’lumotlar</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Sertifikat</a:t>
            </a:r>
            <a:r>
              <a:rPr lang="en-US" sz="2200" dirty="0" smtClean="0">
                <a:latin typeface="Times New Roman" pitchFamily="18" charset="0"/>
                <a:cs typeface="Times New Roman" pitchFamily="18" charset="0"/>
              </a:rPr>
              <a:t> </a:t>
            </a:r>
            <a:r>
              <a:rPr lang="en-US" sz="2200" dirty="0" err="1">
                <a:latin typeface="Times New Roman" pitchFamily="18" charset="0"/>
                <a:cs typeface="Times New Roman" pitchFamily="18" charset="0"/>
              </a:rPr>
              <a:t>foydalanuvchini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resurslariga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murojaat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etganida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autentifikatsiyalovchi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vosita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xisoblanadi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Bunda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tekshiruvchi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taraf</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vazifasini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korporativ</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tarmoqning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autentifikatsiya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serveri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bajaradi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nafakat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autentifikatsiyalashda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balki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foydalanishning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ma’lum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xukuklarini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takdim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etishda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ishlatilishi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mumkin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uchun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sertifikatga</a:t>
            </a:r>
            <a:r>
              <a:rPr lang="en-US" sz="2200" dirty="0">
                <a:latin typeface="Times New Roman" pitchFamily="18" charset="0"/>
                <a:cs typeface="Times New Roman" pitchFamily="18" charset="0"/>
              </a:rPr>
              <a:t> </a:t>
            </a:r>
            <a:r>
              <a:rPr lang="uz-Cyrl-UZ" sz="2200" dirty="0">
                <a:latin typeface="Times New Roman" pitchFamily="18" charset="0"/>
                <a:cs typeface="Times New Roman" pitchFamily="18" charset="0"/>
              </a:rPr>
              <a:t>qo‘</a:t>
            </a:r>
            <a:r>
              <a:rPr lang="en-US" sz="2200" dirty="0" err="1">
                <a:latin typeface="Times New Roman" pitchFamily="18" charset="0"/>
                <a:cs typeface="Times New Roman" pitchFamily="18" charset="0"/>
              </a:rPr>
              <a:t>shimcha</a:t>
            </a:r>
            <a:r>
              <a:rPr lang="en-US" sz="2200" dirty="0">
                <a:latin typeface="Times New Roman" pitchFamily="18" charset="0"/>
                <a:cs typeface="Times New Roman" pitchFamily="18" charset="0"/>
              </a:rPr>
              <a:t> x</a:t>
            </a:r>
            <a:r>
              <a:rPr lang="uz-Cyrl-UZ" sz="2200" dirty="0">
                <a:latin typeface="Times New Roman" pitchFamily="18" charset="0"/>
                <a:cs typeface="Times New Roman" pitchFamily="18" charset="0"/>
              </a:rPr>
              <a:t>o</a:t>
            </a:r>
            <a:r>
              <a:rPr lang="en-US" sz="2200" dirty="0" err="1">
                <a:latin typeface="Times New Roman" pitchFamily="18" charset="0"/>
                <a:cs typeface="Times New Roman" pitchFamily="18" charset="0"/>
              </a:rPr>
              <a:t>shiyalar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kiritilib</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ularda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sertifikatsiya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egasining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foydalanuvchilarning</a:t>
            </a:r>
            <a:r>
              <a:rPr lang="en-US" sz="2200" dirty="0">
                <a:latin typeface="Times New Roman" pitchFamily="18" charset="0"/>
                <a:cs typeface="Times New Roman" pitchFamily="18" charset="0"/>
              </a:rPr>
              <a:t> u </a:t>
            </a:r>
            <a:r>
              <a:rPr lang="en-US" sz="2200" dirty="0" err="1">
                <a:latin typeface="Times New Roman" pitchFamily="18" charset="0"/>
                <a:cs typeface="Times New Roman" pitchFamily="18" charset="0"/>
              </a:rPr>
              <a:t>yoki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kategoriyasiga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mansubligi</a:t>
            </a:r>
            <a:r>
              <a:rPr lang="en-US" sz="2200" dirty="0">
                <a:latin typeface="Times New Roman" pitchFamily="18" charset="0"/>
                <a:cs typeface="Times New Roman" pitchFamily="18" charset="0"/>
              </a:rPr>
              <a:t> k</a:t>
            </a:r>
            <a:r>
              <a:rPr lang="uz-Cyrl-UZ" sz="2200" dirty="0">
                <a:latin typeface="Times New Roman" pitchFamily="18" charset="0"/>
                <a:cs typeface="Times New Roman" pitchFamily="18" charset="0"/>
              </a:rPr>
              <a:t>o‘</a:t>
            </a:r>
            <a:r>
              <a:rPr lang="en-US" sz="2200" dirty="0" err="1">
                <a:latin typeface="Times New Roman" pitchFamily="18" charset="0"/>
                <a:cs typeface="Times New Roman" pitchFamily="18" charset="0"/>
              </a:rPr>
              <a:t>rsatiladi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Ochi</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kalitlarning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sertifikatlar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bilan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uzviy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bog‘liq</a:t>
            </a:r>
            <a:r>
              <a:rPr lang="uz-Cyrl-UZ" sz="2200" dirty="0">
                <a:latin typeface="Times New Roman" pitchFamily="18" charset="0"/>
                <a:cs typeface="Times New Roman" pitchFamily="18" charset="0"/>
              </a:rPr>
              <a:t>l</a:t>
            </a:r>
            <a:r>
              <a:rPr lang="en-US" sz="2200" dirty="0" err="1">
                <a:latin typeface="Times New Roman" pitchFamily="18" charset="0"/>
                <a:cs typeface="Times New Roman" pitchFamily="18" charset="0"/>
              </a:rPr>
              <a:t>igini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aloxida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ta’kidlash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lozim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nafakat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shaxsni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balki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ochiq</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kalit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mansubligini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tasdi</a:t>
            </a:r>
            <a:r>
              <a:rPr lang="uz-Cyrl-UZ" sz="2200" dirty="0">
                <a:latin typeface="Times New Roman" pitchFamily="18" charset="0"/>
                <a:cs typeface="Times New Roman" pitchFamily="18" charset="0"/>
              </a:rPr>
              <a:t>ql</a:t>
            </a:r>
            <a:r>
              <a:rPr lang="en-US" sz="2200" dirty="0" err="1">
                <a:latin typeface="Times New Roman" pitchFamily="18" charset="0"/>
                <a:cs typeface="Times New Roman" pitchFamily="18" charset="0"/>
              </a:rPr>
              <a:t>ovchi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xujjatdir</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Raqamli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sertifikat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ochi</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kalit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uning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egasi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o‘rtasidagi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moslikni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urnatadi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kafolatlaydi</a:t>
            </a:r>
            <a:r>
              <a:rPr lang="en-US" sz="2200" dirty="0">
                <a:latin typeface="Times New Roman" pitchFamily="18" charset="0"/>
                <a:cs typeface="Times New Roman" pitchFamily="18" charset="0"/>
              </a:rPr>
              <a:t>. Bu </a:t>
            </a:r>
            <a:r>
              <a:rPr lang="en-US" sz="2200" dirty="0" err="1">
                <a:latin typeface="Times New Roman" pitchFamily="18" charset="0"/>
                <a:cs typeface="Times New Roman" pitchFamily="18" charset="0"/>
              </a:rPr>
              <a:t>ochi</a:t>
            </a:r>
            <a:r>
              <a:rPr lang="uz-Cyrl-UZ" sz="2200" dirty="0">
                <a:latin typeface="Times New Roman" pitchFamily="18" charset="0"/>
                <a:cs typeface="Times New Roman" pitchFamily="18" charset="0"/>
              </a:rPr>
              <a:t>q </a:t>
            </a:r>
            <a:r>
              <a:rPr lang="en-US" sz="2200" dirty="0" err="1">
                <a:latin typeface="Times New Roman" pitchFamily="18" charset="0"/>
                <a:cs typeface="Times New Roman" pitchFamily="18" charset="0"/>
              </a:rPr>
              <a:t>kalitni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almashtirish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xavfini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bartaraf</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etadi</a:t>
            </a:r>
            <a:r>
              <a:rPr lang="en-US" sz="2200" dirty="0">
                <a:latin typeface="Times New Roman" pitchFamily="18" charset="0"/>
                <a:cs typeface="Times New Roman" pitchFamily="18" charset="0"/>
              </a:rPr>
              <a:t>.</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3328950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9791"/>
            <a:ext cx="9144000" cy="6740307"/>
          </a:xfrm>
          <a:prstGeom prst="rect">
            <a:avLst/>
          </a:prstGeom>
        </p:spPr>
        <p:txBody>
          <a:bodyPr wrap="square">
            <a:spAutoFit/>
          </a:bodyPr>
          <a:lstStyle/>
          <a:p>
            <a:pPr algn="just"/>
            <a:r>
              <a:rPr lang="en-US" dirty="0" smtClean="0">
                <a:latin typeface="Times New Roman" pitchFamily="18" charset="0"/>
                <a:cs typeface="Times New Roman" pitchFamily="18" charset="0"/>
              </a:rPr>
              <a:t>	Agar </a:t>
            </a:r>
            <a:r>
              <a:rPr lang="en-US" dirty="0" err="1">
                <a:latin typeface="Times New Roman" pitchFamily="18" charset="0"/>
                <a:cs typeface="Times New Roman" pitchFamily="18" charset="0"/>
              </a:rPr>
              <a:t>abonent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axborot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almashinuvi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bo‘yicha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sherigidan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tarkibidagi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ochi</a:t>
            </a:r>
            <a:r>
              <a:rPr lang="uz-Cyrl-UZ" dirty="0">
                <a:latin typeface="Times New Roman" pitchFamily="18" charset="0"/>
                <a:cs typeface="Times New Roman" pitchFamily="18" charset="0"/>
              </a:rPr>
              <a:t>q </a:t>
            </a:r>
            <a:r>
              <a:rPr lang="en-US" dirty="0" err="1">
                <a:latin typeface="Times New Roman" pitchFamily="18" charset="0"/>
                <a:cs typeface="Times New Roman" pitchFamily="18" charset="0"/>
              </a:rPr>
              <a:t>kalitni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olsa</a:t>
            </a:r>
            <a:r>
              <a:rPr lang="en-US" dirty="0">
                <a:latin typeface="Times New Roman" pitchFamily="18" charset="0"/>
                <a:cs typeface="Times New Roman" pitchFamily="18" charset="0"/>
              </a:rPr>
              <a:t>, u </a:t>
            </a:r>
            <a:r>
              <a:rPr lang="en-US" dirty="0" err="1">
                <a:latin typeface="Times New Roman" pitchFamily="18" charset="0"/>
                <a:cs typeface="Times New Roman" pitchFamily="18" charset="0"/>
              </a:rPr>
              <a:t>bu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sertifikatdagi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sertifikatsiya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markazining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ra</a:t>
            </a:r>
            <a:r>
              <a:rPr lang="uz-Cyrl-UZ" dirty="0">
                <a:latin typeface="Times New Roman" pitchFamily="18" charset="0"/>
                <a:cs typeface="Times New Roman" pitchFamily="18" charset="0"/>
              </a:rPr>
              <a:t>q</a:t>
            </a:r>
            <a:r>
              <a:rPr lang="en-US" dirty="0" err="1">
                <a:latin typeface="Times New Roman" pitchFamily="18" charset="0"/>
                <a:cs typeface="Times New Roman" pitchFamily="18" charset="0"/>
              </a:rPr>
              <a:t>amli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imzosini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ushbu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sertifikatsiya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markazining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ochi</a:t>
            </a:r>
            <a:r>
              <a:rPr lang="uz-Cyrl-UZ" dirty="0">
                <a:latin typeface="Times New Roman" pitchFamily="18" charset="0"/>
                <a:cs typeface="Times New Roman" pitchFamily="18" charset="0"/>
              </a:rPr>
              <a:t>q </a:t>
            </a:r>
            <a:r>
              <a:rPr lang="en-US" dirty="0" err="1">
                <a:latin typeface="Times New Roman" pitchFamily="18" charset="0"/>
                <a:cs typeface="Times New Roman" pitchFamily="18" charset="0"/>
              </a:rPr>
              <a:t>kaliti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yordamida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tekshirish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ochi</a:t>
            </a:r>
            <a:r>
              <a:rPr lang="uz-Cyrl-UZ" dirty="0">
                <a:latin typeface="Times New Roman" pitchFamily="18" charset="0"/>
                <a:cs typeface="Times New Roman" pitchFamily="18" charset="0"/>
              </a:rPr>
              <a:t>q </a:t>
            </a:r>
            <a:r>
              <a:rPr lang="en-US" dirty="0" err="1">
                <a:latin typeface="Times New Roman" pitchFamily="18" charset="0"/>
                <a:cs typeface="Times New Roman" pitchFamily="18" charset="0"/>
              </a:rPr>
              <a:t>kalit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adresi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bosh</a:t>
            </a:r>
            <a:r>
              <a:rPr lang="uz-Cyrl-UZ" dirty="0">
                <a:latin typeface="Times New Roman" pitchFamily="18" charset="0"/>
                <a:cs typeface="Times New Roman" pitchFamily="18" charset="0"/>
              </a:rPr>
              <a:t>q</a:t>
            </a:r>
            <a:r>
              <a:rPr lang="en-US" dirty="0">
                <a:latin typeface="Times New Roman" pitchFamily="18" charset="0"/>
                <a:cs typeface="Times New Roman" pitchFamily="18" charset="0"/>
              </a:rPr>
              <a:t>a </a:t>
            </a:r>
            <a:r>
              <a:rPr lang="en-US" dirty="0" err="1">
                <a:latin typeface="Times New Roman" pitchFamily="18" charset="0"/>
                <a:cs typeface="Times New Roman" pitchFamily="18" charset="0"/>
              </a:rPr>
              <a:t>ma’lumotlari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sertifikatda</a:t>
            </a:r>
            <a:r>
              <a:rPr lang="en-US" dirty="0">
                <a:latin typeface="Times New Roman" pitchFamily="18" charset="0"/>
                <a:cs typeface="Times New Roman" pitchFamily="18" charset="0"/>
              </a:rPr>
              <a:t> k</a:t>
            </a:r>
            <a:r>
              <a:rPr lang="uz-Cyrl-UZ" dirty="0">
                <a:latin typeface="Times New Roman" pitchFamily="18" charset="0"/>
                <a:cs typeface="Times New Roman" pitchFamily="18" charset="0"/>
              </a:rPr>
              <a:t>o‘</a:t>
            </a:r>
            <a:r>
              <a:rPr lang="en-US" dirty="0" err="1">
                <a:latin typeface="Times New Roman" pitchFamily="18" charset="0"/>
                <a:cs typeface="Times New Roman" pitchFamily="18" charset="0"/>
              </a:rPr>
              <a:t>rsatilgan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foydalanuvchiga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tegishli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ekanligiga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ishonch</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h</a:t>
            </a:r>
            <a:r>
              <a:rPr lang="en-US" dirty="0" err="1">
                <a:latin typeface="Times New Roman" pitchFamily="18" charset="0"/>
                <a:cs typeface="Times New Roman" pitchFamily="18" charset="0"/>
              </a:rPr>
              <a:t>osil</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q</a:t>
            </a:r>
            <a:r>
              <a:rPr lang="en-US" dirty="0" err="1">
                <a:latin typeface="Times New Roman" pitchFamily="18" charset="0"/>
                <a:cs typeface="Times New Roman" pitchFamily="18" charset="0"/>
              </a:rPr>
              <a:t>ilishi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mumkin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Sertifikatlardan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foydalanilganda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foydalanuvchilar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ro‘yxatini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ularning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parollari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bilan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korporatsiya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serverlarida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a:t>
            </a:r>
            <a:r>
              <a:rPr lang="uz-Cyrl-UZ" dirty="0">
                <a:latin typeface="Times New Roman" pitchFamily="18" charset="0"/>
                <a:cs typeface="Times New Roman" pitchFamily="18" charset="0"/>
              </a:rPr>
              <a:t>q</a:t>
            </a:r>
            <a:r>
              <a:rPr lang="en-US" dirty="0">
                <a:latin typeface="Times New Roman" pitchFamily="18" charset="0"/>
                <a:cs typeface="Times New Roman" pitchFamily="18" charset="0"/>
              </a:rPr>
              <a:t>lash </a:t>
            </a:r>
            <a:r>
              <a:rPr lang="en-US" dirty="0" err="1">
                <a:latin typeface="Times New Roman" pitchFamily="18" charset="0"/>
                <a:cs typeface="Times New Roman" pitchFamily="18" charset="0"/>
              </a:rPr>
              <a:t>zaruriyati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yu</a:t>
            </a:r>
            <a:r>
              <a:rPr lang="uz-Cyrl-UZ" dirty="0">
                <a:latin typeface="Times New Roman" pitchFamily="18" charset="0"/>
                <a:cs typeface="Times New Roman" pitchFamily="18" charset="0"/>
              </a:rPr>
              <a:t>q</a:t>
            </a:r>
            <a:r>
              <a:rPr lang="en-US" dirty="0" err="1">
                <a:latin typeface="Times New Roman" pitchFamily="18" charset="0"/>
                <a:cs typeface="Times New Roman" pitchFamily="18" charset="0"/>
              </a:rPr>
              <a:t>oladi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Serverda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sertifikatsiyalovchi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tashkilotlarning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nomlari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ochi</a:t>
            </a:r>
            <a:r>
              <a:rPr lang="uz-Cyrl-UZ" dirty="0">
                <a:latin typeface="Times New Roman" pitchFamily="18" charset="0"/>
                <a:cs typeface="Times New Roman" pitchFamily="18" charset="0"/>
              </a:rPr>
              <a:t>q </a:t>
            </a:r>
            <a:r>
              <a:rPr lang="en-US" dirty="0" err="1">
                <a:latin typeface="Times New Roman" pitchFamily="18" charset="0"/>
                <a:cs typeface="Times New Roman" pitchFamily="18" charset="0"/>
              </a:rPr>
              <a:t>kalitlarining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bo‘lishi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yetarli</a:t>
            </a:r>
            <a:r>
              <a:rPr lang="en-US"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Sertifikatlarning </a:t>
            </a:r>
            <a:r>
              <a:rPr lang="uz-Cyrl-UZ" dirty="0">
                <a:latin typeface="Times New Roman" pitchFamily="18" charset="0"/>
                <a:cs typeface="Times New Roman" pitchFamily="18" charset="0"/>
              </a:rPr>
              <a:t>ishlatilishi sertifikatsiyalovchi tashkilotlarning nisbatan kamligiga va ularning ochiq kalitlaridan qiziqqan barcha shaxslar va tashkilotlar foydalana olishi (masalan, jurnallardagi nashrlar yordamida) taxminiga asoslangan.</a:t>
            </a:r>
            <a:endParaRPr lang="ru-RU"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Sertifikatlar </a:t>
            </a:r>
            <a:r>
              <a:rPr lang="uz-Cyrl-UZ" dirty="0">
                <a:latin typeface="Times New Roman" pitchFamily="18" charset="0"/>
                <a:cs typeface="Times New Roman" pitchFamily="18" charset="0"/>
              </a:rPr>
              <a:t>asosida autentifikatsiyalash jarayonini amalga oshirishda sertifikatsiyalovchi tashkilot vazifasini kim bajarishi xususidagi masalani yechish muxim xisoblanadi. </a:t>
            </a:r>
            <a:r>
              <a:rPr lang="en-US" dirty="0" err="1">
                <a:latin typeface="Times New Roman" pitchFamily="18" charset="0"/>
                <a:cs typeface="Times New Roman" pitchFamily="18" charset="0"/>
              </a:rPr>
              <a:t>Xodimlarni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bilan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ta’minlash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masalasini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korxonaning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o‘zi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yechishi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juda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tabiiy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xisoblanadi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Korxona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o‘zining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xodimlarini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yaxshi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biladi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ular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shaxsini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tasdiklash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vazifasini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o‘ziga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olishi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mumkin</a:t>
            </a:r>
            <a:r>
              <a:rPr lang="en-US" dirty="0">
                <a:latin typeface="Times New Roman" pitchFamily="18" charset="0"/>
                <a:cs typeface="Times New Roman" pitchFamily="18" charset="0"/>
              </a:rPr>
              <a:t>. Bu </a:t>
            </a:r>
            <a:r>
              <a:rPr lang="en-US" dirty="0" err="1">
                <a:latin typeface="Times New Roman" pitchFamily="18" charset="0"/>
                <a:cs typeface="Times New Roman" pitchFamily="18" charset="0"/>
              </a:rPr>
              <a:t>sertifikat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berilishidagi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dastlabki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autentifikatsiyalash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muolajasini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osonlashtiradi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Korxonalar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sertifikatlarni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generatsiyalash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berish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ularga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xizmat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kursatish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jarayonlarini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avtomatlashtirishni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ta’minlovchi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mavjud</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dasturiy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maxsulotlardan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foydalanishlari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mumkin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Masalan</a:t>
            </a:r>
            <a:r>
              <a:rPr lang="en-US" dirty="0">
                <a:latin typeface="Times New Roman" pitchFamily="18" charset="0"/>
                <a:cs typeface="Times New Roman" pitchFamily="18" charset="0"/>
              </a:rPr>
              <a:t>, Netscape Communications </a:t>
            </a:r>
            <a:r>
              <a:rPr lang="en-US" dirty="0" err="1">
                <a:latin typeface="Times New Roman" pitchFamily="18" charset="0"/>
                <a:cs typeface="Times New Roman" pitchFamily="18" charset="0"/>
              </a:rPr>
              <a:t>kompaniyasi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serverlarini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korxonalarga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shaxsiy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sertifikatlarini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chikarish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uchun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taklif</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etadi</a:t>
            </a:r>
            <a:r>
              <a:rPr lang="en-US" dirty="0">
                <a:latin typeface="Times New Roman" pitchFamily="18" charset="0"/>
                <a:cs typeface="Times New Roman" pitchFamily="18" charset="0"/>
              </a:rPr>
              <a:t>.</a:t>
            </a:r>
            <a:endParaRPr lang="ru-RU"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Sertifikatsiyalovchi</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tashkilot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vazifasini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bajarishda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tijorat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aso­sida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berish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bo‘yicha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mustaqil</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markazlar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xam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jalb</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etilishi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mumkin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Bunday</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xizmatlarni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xususan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Verisign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kompaniyasining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sertifi­katsiyalovchi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markazi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taklif</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etadi</a:t>
            </a:r>
            <a:r>
              <a:rPr lang="en-US" dirty="0">
                <a:latin typeface="Times New Roman" pitchFamily="18" charset="0"/>
                <a:cs typeface="Times New Roman" pitchFamily="18" charset="0"/>
              </a:rPr>
              <a:t>. Bu </a:t>
            </a:r>
            <a:r>
              <a:rPr lang="en-US" dirty="0" err="1">
                <a:latin typeface="Times New Roman" pitchFamily="18" charset="0"/>
                <a:cs typeface="Times New Roman" pitchFamily="18" charset="0"/>
              </a:rPr>
              <a:t>kompaniyaning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sertifikatlari</a:t>
            </a:r>
            <a:r>
              <a:rPr lang="en-US" dirty="0">
                <a:latin typeface="Times New Roman" pitchFamily="18" charset="0"/>
                <a:cs typeface="Times New Roman" pitchFamily="18" charset="0"/>
              </a:rPr>
              <a:t> </a:t>
            </a:r>
            <a:r>
              <a:rPr lang="uz-Cyrl-UZ" dirty="0">
                <a:latin typeface="Times New Roman" pitchFamily="18" charset="0"/>
                <a:cs typeface="Times New Roman" pitchFamily="18" charset="0"/>
              </a:rPr>
              <a:t>x</a:t>
            </a:r>
            <a:r>
              <a:rPr lang="en-US" dirty="0">
                <a:latin typeface="Times New Roman" pitchFamily="18" charset="0"/>
                <a:cs typeface="Times New Roman" pitchFamily="18" charset="0"/>
              </a:rPr>
              <a:t>al</a:t>
            </a:r>
            <a:r>
              <a:rPr lang="uz-Cyrl-UZ" dirty="0">
                <a:latin typeface="Times New Roman" pitchFamily="18" charset="0"/>
                <a:cs typeface="Times New Roman" pitchFamily="18" charset="0"/>
              </a:rPr>
              <a:t>q</a:t>
            </a:r>
            <a:r>
              <a:rPr lang="en-US" dirty="0" err="1">
                <a:latin typeface="Times New Roman" pitchFamily="18" charset="0"/>
                <a:cs typeface="Times New Roman" pitchFamily="18" charset="0"/>
              </a:rPr>
              <a:t>aro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standart</a:t>
            </a:r>
            <a:r>
              <a:rPr lang="en-US" dirty="0">
                <a:latin typeface="Times New Roman" pitchFamily="18" charset="0"/>
                <a:cs typeface="Times New Roman" pitchFamily="18" charset="0"/>
              </a:rPr>
              <a:t> X.509 </a:t>
            </a:r>
            <a:r>
              <a:rPr lang="en-US" dirty="0" err="1">
                <a:latin typeface="Times New Roman" pitchFamily="18" charset="0"/>
                <a:cs typeface="Times New Roman" pitchFamily="18" charset="0"/>
              </a:rPr>
              <a:t>talablariga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javob</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beradi</a:t>
            </a:r>
            <a:r>
              <a:rPr lang="en-US" dirty="0">
                <a:latin typeface="Times New Roman" pitchFamily="18" charset="0"/>
                <a:cs typeface="Times New Roman" pitchFamily="18" charset="0"/>
              </a:rPr>
              <a:t>. Bu </a:t>
            </a:r>
            <a:r>
              <a:rPr lang="en-US" dirty="0" err="1">
                <a:latin typeface="Times New Roman" pitchFamily="18" charset="0"/>
                <a:cs typeface="Times New Roman" pitchFamily="18" charset="0"/>
              </a:rPr>
              <a:t>sertifikatlar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ma’lumotlar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ximoyasining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qator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maxsulotlarida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jumladan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ximoyalangan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kanal</a:t>
            </a:r>
            <a:r>
              <a:rPr lang="en-US" dirty="0">
                <a:latin typeface="Times New Roman" pitchFamily="18" charset="0"/>
                <a:cs typeface="Times New Roman" pitchFamily="18" charset="0"/>
              </a:rPr>
              <a:t> SSL </a:t>
            </a:r>
            <a:r>
              <a:rPr lang="en-US" dirty="0" err="1">
                <a:latin typeface="Times New Roman" pitchFamily="18" charset="0"/>
                <a:cs typeface="Times New Roman" pitchFamily="18" charset="0"/>
              </a:rPr>
              <a:t>protokolida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ishlatiladi</a:t>
            </a:r>
            <a:r>
              <a:rPr lang="en-US" dirty="0">
                <a:latin typeface="Times New Roman" pitchFamily="18" charset="0"/>
                <a:cs typeface="Times New Roman" pitchFamily="18" charset="0"/>
              </a:rPr>
              <a:t>.</a:t>
            </a: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1945844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2219" y="0"/>
            <a:ext cx="9144000" cy="6863417"/>
          </a:xfrm>
          <a:prstGeom prst="rect">
            <a:avLst/>
          </a:prstGeom>
        </p:spPr>
        <p:txBody>
          <a:bodyPr wrap="square">
            <a:spAutoFit/>
          </a:bodyPr>
          <a:lstStyle/>
          <a:p>
            <a:pPr lvl="0" algn="ctr"/>
            <a:r>
              <a:rPr lang="uz-Cyrl-UZ" sz="2000" b="1" dirty="0">
                <a:latin typeface="Times New Roman" pitchFamily="18" charset="0"/>
                <a:cs typeface="Times New Roman" pitchFamily="18" charset="0"/>
              </a:rPr>
              <a:t>Q</a:t>
            </a:r>
            <a:r>
              <a:rPr lang="ru-RU" sz="2000" b="1" dirty="0" err="1">
                <a:latin typeface="Times New Roman" pitchFamily="18" charset="0"/>
                <a:cs typeface="Times New Roman" pitchFamily="18" charset="0"/>
              </a:rPr>
              <a:t>at’iy</a:t>
            </a:r>
            <a:r>
              <a:rPr lang="ru-RU" sz="2000" b="1" dirty="0">
                <a:latin typeface="Times New Roman" pitchFamily="18" charset="0"/>
                <a:cs typeface="Times New Roman" pitchFamily="18" charset="0"/>
              </a:rPr>
              <a:t> </a:t>
            </a:r>
            <a:r>
              <a:rPr lang="ru-RU" sz="2000" b="1" dirty="0" err="1">
                <a:latin typeface="Times New Roman" pitchFamily="18" charset="0"/>
                <a:cs typeface="Times New Roman" pitchFamily="18" charset="0"/>
              </a:rPr>
              <a:t>autentifikatsiyalash</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Kriptografik</a:t>
            </a:r>
            <a:r>
              <a:rPr lang="ru-RU" sz="2000" dirty="0" smtClean="0">
                <a:latin typeface="Times New Roman" pitchFamily="18" charset="0"/>
                <a:cs typeface="Times New Roman" pitchFamily="18" charset="0"/>
              </a:rPr>
              <a:t> </a:t>
            </a:r>
            <a:r>
              <a:rPr lang="ru-RU" sz="2000" dirty="0" err="1">
                <a:latin typeface="Times New Roman" pitchFamily="18" charset="0"/>
                <a:cs typeface="Times New Roman" pitchFamily="18" charset="0"/>
              </a:rPr>
              <a:t>protokollarida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amalga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oshiriluvchi</a:t>
            </a:r>
            <a:r>
              <a:rPr lang="ru-RU"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ru-RU" sz="2000" dirty="0" err="1">
                <a:latin typeface="Times New Roman" pitchFamily="18" charset="0"/>
                <a:cs typeface="Times New Roman" pitchFamily="18" charset="0"/>
              </a:rPr>
              <a:t>at’iy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autentifikatsiyalash</a:t>
            </a:r>
            <a:r>
              <a:rPr lang="ru-RU"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g‘</a:t>
            </a:r>
            <a:r>
              <a:rPr lang="ru-RU" sz="2000" dirty="0" err="1">
                <a:latin typeface="Times New Roman" pitchFamily="18" charset="0"/>
                <a:cs typeface="Times New Roman" pitchFamily="18" charset="0"/>
              </a:rPr>
              <a:t>oyasi</a:t>
            </a:r>
            <a:r>
              <a:rPr lang="ru-RU"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q</a:t>
            </a:r>
            <a:r>
              <a:rPr lang="ru-RU" sz="2000" dirty="0" err="1">
                <a:latin typeface="Times New Roman" pitchFamily="18" charset="0"/>
                <a:cs typeface="Times New Roman" pitchFamily="18" charset="0"/>
              </a:rPr>
              <a:t>uyidagicha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Tekshiriluvchi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isbotlovchi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taraf</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qandaydir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sirni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bilishini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namoyish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etgan</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holda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tekshiruvchiga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o‘zining</a:t>
            </a:r>
            <a:r>
              <a:rPr lang="ru-RU" sz="2000" dirty="0">
                <a:latin typeface="Times New Roman" pitchFamily="18" charset="0"/>
                <a:cs typeface="Times New Roman" pitchFamily="18" charset="0"/>
              </a:rPr>
              <a:t> </a:t>
            </a:r>
            <a:r>
              <a:rPr lang="uz-Cyrl-UZ" sz="2000" dirty="0">
                <a:latin typeface="Times New Roman" pitchFamily="18" charset="0"/>
                <a:cs typeface="Times New Roman" pitchFamily="18" charset="0"/>
              </a:rPr>
              <a:t>h</a:t>
            </a:r>
            <a:r>
              <a:rPr lang="ru-RU" sz="2000" dirty="0">
                <a:latin typeface="Times New Roman" pitchFamily="18" charset="0"/>
                <a:cs typeface="Times New Roman" pitchFamily="18" charset="0"/>
              </a:rPr>
              <a:t>a</a:t>
            </a:r>
            <a:r>
              <a:rPr lang="uz-Cyrl-UZ" sz="2000" dirty="0">
                <a:latin typeface="Times New Roman" pitchFamily="18" charset="0"/>
                <a:cs typeface="Times New Roman" pitchFamily="18" charset="0"/>
              </a:rPr>
              <a:t>q</a:t>
            </a:r>
            <a:r>
              <a:rPr lang="ru-RU" sz="2000" dirty="0">
                <a:latin typeface="Times New Roman" pitchFamily="18" charset="0"/>
                <a:cs typeface="Times New Roman" pitchFamily="18" charset="0"/>
              </a:rPr>
              <a:t>i</a:t>
            </a:r>
            <a:r>
              <a:rPr lang="uz-Cyrl-UZ" sz="2000" dirty="0">
                <a:latin typeface="Times New Roman" pitchFamily="18" charset="0"/>
                <a:cs typeface="Times New Roman" pitchFamily="18" charset="0"/>
              </a:rPr>
              <a:t>q</a:t>
            </a:r>
            <a:r>
              <a:rPr lang="ru-RU" sz="2000" dirty="0" err="1">
                <a:latin typeface="Times New Roman" pitchFamily="18" charset="0"/>
                <a:cs typeface="Times New Roman" pitchFamily="18" charset="0"/>
              </a:rPr>
              <a:t>iy</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ekanligini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isbotlaydi</a:t>
            </a:r>
            <a:r>
              <a:rPr lang="ru-RU"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sir </a:t>
            </a:r>
            <a:r>
              <a:rPr lang="en-US" sz="2000" dirty="0" err="1">
                <a:latin typeface="Times New Roman" pitchFamily="18" charset="0"/>
                <a:cs typeface="Times New Roman" pitchFamily="18" charset="0"/>
              </a:rPr>
              <a:t>autentifikatsion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almashish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taraflari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o‘rtasida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oldindan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xavfsiz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taksimlangan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bilishlik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isboti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kriptografik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vositalardan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so‘rov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javob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ketma-ketligi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amalga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oshiriladi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Eng </a:t>
            </a:r>
            <a:r>
              <a:rPr lang="uz-Cyrl-UZ" sz="2000" dirty="0">
                <a:latin typeface="Times New Roman" pitchFamily="18" charset="0"/>
                <a:cs typeface="Times New Roman" pitchFamily="18" charset="0"/>
              </a:rPr>
              <a:t>muximi, isbotlovchi taraf faqat sirni bilishligini namoyish etadi, sirni o‘zi esa autentifikatsion almashish mobaynida ochilmaydi. Bu tekshiruvchi tarafning turli so‘rovlariga isbotlovchi tarafning javoblari yordami bilan ta’minlanadi. Bunda yakuniy so‘rov faqat foydalanuvchi siriga va protokol boshlanishida ixtiyoriy tanlangan katta sondan iborat boshlang‘ich so‘rovga bog‘liq bo‘ladi.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Aksariyat xollarda qat’iy autentifikatsiyalashga binoan har bir foydalanuvchi o‘zining maxfiy kalitiga egaligi alomati bo‘yicha autentifikatsiyalanadi. Boshkdcha aytganda foydalanuvchi uning aloqa bo‘yicha sherigining tegishli maxfiy kalitga egaligini va u bu kalitni axborot almashinuvi bo‘yicha xaqiqiy sherik ekanligini isbotlashga ishlata olishi mumkinligini aniqlash imkoniyatiga ega.</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X.509 standarti tavsiyalariga binoan qat’iy autentifikatsiyalashning quyidagi muolajalari farqlanadi:</a:t>
            </a:r>
            <a:endParaRPr lang="ru-RU" sz="2000" dirty="0">
              <a:latin typeface="Times New Roman" pitchFamily="18" charset="0"/>
              <a:cs typeface="Times New Roman" pitchFamily="18" charset="0"/>
            </a:endParaRPr>
          </a:p>
          <a:p>
            <a:pPr marL="342900" lvl="0" indent="-342900" algn="just">
              <a:buFont typeface="Arial" pitchFamily="34" charset="0"/>
              <a:buChar char="•"/>
            </a:pPr>
            <a:r>
              <a:rPr lang="uz-Cyrl-UZ"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bir</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tomonlama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a:t>
            </a:r>
            <a:r>
              <a:rPr lang="ru-RU" sz="2000" dirty="0">
                <a:latin typeface="Times New Roman" pitchFamily="18" charset="0"/>
                <a:cs typeface="Times New Roman" pitchFamily="18" charset="0"/>
              </a:rPr>
              <a:t>;</a:t>
            </a:r>
          </a:p>
          <a:p>
            <a:pPr marL="342900" lvl="0" indent="-342900" algn="just">
              <a:buFont typeface="Arial" pitchFamily="34" charset="0"/>
              <a:buChar char="•"/>
            </a:pP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ikki</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tomonlama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a:t>
            </a:r>
            <a:r>
              <a:rPr lang="ru-RU" sz="2000" dirty="0">
                <a:latin typeface="Times New Roman" pitchFamily="18" charset="0"/>
                <a:cs typeface="Times New Roman" pitchFamily="18" charset="0"/>
              </a:rPr>
              <a:t>;</a:t>
            </a:r>
          </a:p>
          <a:p>
            <a:pPr marL="342900" lvl="0" indent="-342900" algn="just">
              <a:buFont typeface="Arial" pitchFamily="34" charset="0"/>
              <a:buChar char="•"/>
            </a:pP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uch</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tomonlama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autentifikatsiya</a:t>
            </a:r>
            <a:r>
              <a:rPr lang="ru-RU"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7900072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19756"/>
            <a:ext cx="9144000" cy="6817251"/>
          </a:xfrm>
          <a:prstGeom prst="rect">
            <a:avLst/>
          </a:prstGeom>
        </p:spPr>
        <p:txBody>
          <a:bodyPr wrap="square">
            <a:spAutoFit/>
          </a:bodyPr>
          <a:lstStyle/>
          <a:p>
            <a:pPr algn="just"/>
            <a:r>
              <a:rPr lang="en-US" sz="1900" i="1" dirty="0" err="1">
                <a:latin typeface="Times New Roman" pitchFamily="18" charset="0"/>
                <a:cs typeface="Times New Roman" pitchFamily="18" charset="0"/>
              </a:rPr>
              <a:t>Bir</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tomonlama</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autentifikatsiyalash</a:t>
            </a:r>
            <a:r>
              <a:rPr lang="en-US" sz="1900" b="1" i="1"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tomonga</a:t>
            </a:r>
            <a:r>
              <a:rPr lang="en-US" sz="1900" dirty="0">
                <a:latin typeface="Times New Roman" pitchFamily="18" charset="0"/>
                <a:cs typeface="Times New Roman" pitchFamily="18" charset="0"/>
              </a:rPr>
              <a:t> y</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naltirilgan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almashinuvini</a:t>
            </a:r>
            <a:r>
              <a:rPr lang="en-US" sz="1900" dirty="0">
                <a:latin typeface="Times New Roman" pitchFamily="18" charset="0"/>
                <a:cs typeface="Times New Roman" pitchFamily="18" charset="0"/>
              </a:rPr>
              <a:t> k</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zda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tutadi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turi</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uyidagilarga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imkon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yaratadi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almashinuvchining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a:t>
            </a:r>
            <a:r>
              <a:rPr lang="uz-Cyrl-UZ" sz="1900" dirty="0">
                <a:latin typeface="Times New Roman" pitchFamily="18" charset="0"/>
                <a:cs typeface="Times New Roman" pitchFamily="18" charset="0"/>
              </a:rPr>
              <a:t>qa</a:t>
            </a:r>
            <a:r>
              <a:rPr lang="en-US" sz="1900" dirty="0">
                <a:latin typeface="Times New Roman" pitchFamily="18" charset="0"/>
                <a:cs typeface="Times New Roman" pitchFamily="18" charset="0"/>
              </a:rPr>
              <a:t>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a:t>
            </a:r>
            <a:r>
              <a:rPr lang="uz-Cyrl-UZ" sz="1900" dirty="0">
                <a:latin typeface="Times New Roman" pitchFamily="18" charset="0"/>
                <a:cs typeface="Times New Roman" pitchFamily="18" charset="0"/>
              </a:rPr>
              <a:t>q</a:t>
            </a:r>
            <a:r>
              <a:rPr lang="en-US" sz="1900" dirty="0">
                <a:latin typeface="Times New Roman" pitchFamily="18" charset="0"/>
                <a:cs typeface="Times New Roman" pitchFamily="18" charset="0"/>
              </a:rPr>
              <a:t>i</a:t>
            </a:r>
            <a:r>
              <a:rPr lang="uz-Cyrl-UZ" sz="1900" dirty="0">
                <a:latin typeface="Times New Roman" pitchFamily="18" charset="0"/>
                <a:cs typeface="Times New Roman" pitchFamily="18" charset="0"/>
              </a:rPr>
              <a:t>q</a:t>
            </a:r>
            <a:r>
              <a:rPr lang="en-US" sz="1900" dirty="0" err="1">
                <a:latin typeface="Times New Roman" pitchFamily="18" charset="0"/>
                <a:cs typeface="Times New Roman" pitchFamily="18" charset="0"/>
              </a:rPr>
              <a:t>iyligini</a:t>
            </a:r>
            <a:r>
              <a:rPr lang="en-US" sz="1900" dirty="0">
                <a:latin typeface="Times New Roman" pitchFamily="18" charset="0"/>
                <a:cs typeface="Times New Roman" pitchFamily="18" charset="0"/>
              </a:rPr>
              <a:t/>
            </a:r>
            <a:br>
              <a:rPr lang="en-US" sz="1900" dirty="0">
                <a:latin typeface="Times New Roman" pitchFamily="18" charset="0"/>
                <a:cs typeface="Times New Roman" pitchFamily="18" charset="0"/>
              </a:rPr>
            </a:br>
            <a:r>
              <a:rPr lang="en-US" sz="1900" dirty="0" err="1">
                <a:latin typeface="Times New Roman" pitchFamily="18" charset="0"/>
                <a:cs typeface="Times New Roman" pitchFamily="18" charset="0"/>
              </a:rPr>
              <a:t>tasdi</a:t>
            </a:r>
            <a:r>
              <a:rPr lang="uz-Cyrl-UZ" sz="1900" dirty="0">
                <a:latin typeface="Times New Roman" pitchFamily="18" charset="0"/>
                <a:cs typeface="Times New Roman" pitchFamily="18" charset="0"/>
              </a:rPr>
              <a:t>ql</a:t>
            </a:r>
            <a:r>
              <a:rPr lang="en-US" sz="1900" dirty="0">
                <a:latin typeface="Times New Roman" pitchFamily="18" charset="0"/>
                <a:cs typeface="Times New Roman" pitchFamily="18" charset="0"/>
              </a:rPr>
              <a:t>ash;</a:t>
            </a:r>
            <a:endParaRPr lang="ru-RU" sz="1900" dirty="0">
              <a:latin typeface="Times New Roman" pitchFamily="18" charset="0"/>
              <a:cs typeface="Times New Roman" pitchFamily="18" charset="0"/>
            </a:endParaRPr>
          </a:p>
          <a:p>
            <a:pPr lvl="0" algn="just"/>
            <a:r>
              <a:rPr lang="en-US" sz="1900" dirty="0" err="1">
                <a:latin typeface="Times New Roman" pitchFamily="18" charset="0"/>
                <a:cs typeface="Times New Roman" pitchFamily="18" charset="0"/>
              </a:rPr>
              <a:t>uzatilayotgan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axborot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yaxlitligining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bo‘zilishini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aniqlash</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lvl="0" algn="just"/>
            <a:r>
              <a:rPr lang="uz-Cyrl-UZ" sz="1900" dirty="0">
                <a:latin typeface="Times New Roman" pitchFamily="18" charset="0"/>
                <a:cs typeface="Times New Roman" pitchFamily="18" charset="0"/>
              </a:rPr>
              <a:t>“</a:t>
            </a:r>
            <a:r>
              <a:rPr lang="en-US" sz="1900" dirty="0" err="1">
                <a:latin typeface="Times New Roman" pitchFamily="18" charset="0"/>
                <a:cs typeface="Times New Roman" pitchFamily="18" charset="0"/>
              </a:rPr>
              <a:t>uzatishning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takrori</a:t>
            </a:r>
            <a:r>
              <a:rPr lang="uz-Cyrl-UZ"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tipidagi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xujumni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aniqlash</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uzatilayotgan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faqat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tekshiruvchi</a:t>
            </a:r>
            <a:r>
              <a:rPr lang="en-US" sz="1900" dirty="0">
                <a:latin typeface="Times New Roman" pitchFamily="18" charset="0"/>
                <a:cs typeface="Times New Roman" pitchFamily="18" charset="0"/>
              </a:rPr>
              <a:t/>
            </a:r>
            <a:br>
              <a:rPr lang="en-US" sz="1900" dirty="0">
                <a:latin typeface="Times New Roman" pitchFamily="18" charset="0"/>
                <a:cs typeface="Times New Roman" pitchFamily="18" charset="0"/>
              </a:rPr>
            </a:br>
            <a:r>
              <a:rPr lang="en-US" sz="1900" dirty="0" err="1">
                <a:latin typeface="Times New Roman" pitchFamily="18" charset="0"/>
                <a:cs typeface="Times New Roman" pitchFamily="18" charset="0"/>
              </a:rPr>
              <a:t>taraf</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foydalanishini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kafolatlash</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err="1" smtClean="0">
                <a:latin typeface="Times New Roman" pitchFamily="18" charset="0"/>
                <a:cs typeface="Times New Roman" pitchFamily="18" charset="0"/>
              </a:rPr>
              <a:t>Ikki</a:t>
            </a:r>
            <a:r>
              <a:rPr lang="en-US" sz="1900" i="1" dirty="0" smtClean="0">
                <a:latin typeface="Times New Roman" pitchFamily="18" charset="0"/>
                <a:cs typeface="Times New Roman" pitchFamily="18" charset="0"/>
              </a:rPr>
              <a:t> </a:t>
            </a:r>
            <a:r>
              <a:rPr lang="en-US" sz="1900" i="1" dirty="0" err="1">
                <a:latin typeface="Times New Roman" pitchFamily="18" charset="0"/>
                <a:cs typeface="Times New Roman" pitchFamily="18" charset="0"/>
              </a:rPr>
              <a:t>tomonlama</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autentifikatsilash</a:t>
            </a:r>
            <a:r>
              <a:rPr lang="en-US" sz="1900" b="1" i="1"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tomonliligiga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nisbatan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isbotlovchi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tarafning</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qo‘</a:t>
            </a:r>
            <a:r>
              <a:rPr lang="en-US" sz="1900" dirty="0" err="1">
                <a:latin typeface="Times New Roman" pitchFamily="18" charset="0"/>
                <a:cs typeface="Times New Roman" pitchFamily="18" charset="0"/>
              </a:rPr>
              <a:t>shimcha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javobi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javob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a:t>
            </a:r>
            <a:r>
              <a:rPr lang="uz-Cyrl-UZ" sz="1900" dirty="0">
                <a:latin typeface="Times New Roman" pitchFamily="18" charset="0"/>
                <a:cs typeface="Times New Roman" pitchFamily="18" charset="0"/>
              </a:rPr>
              <a:t>qa</a:t>
            </a:r>
            <a:r>
              <a:rPr lang="en-US" sz="1900" dirty="0" err="1">
                <a:latin typeface="Times New Roman" pitchFamily="18" charset="0"/>
                <a:cs typeface="Times New Roman" pitchFamily="18" charset="0"/>
              </a:rPr>
              <a:t>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aynan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mo‘ljallangan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rnatilayotganiga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ishontirish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i="1" dirty="0" err="1">
                <a:latin typeface="Times New Roman" pitchFamily="18" charset="0"/>
                <a:cs typeface="Times New Roman" pitchFamily="18" charset="0"/>
              </a:rPr>
              <a:t>Uch</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tomonlama</a:t>
            </a:r>
            <a:r>
              <a:rPr lang="en-US" sz="1900" i="1" dirty="0">
                <a:latin typeface="Times New Roman" pitchFamily="18" charset="0"/>
                <a:cs typeface="Times New Roman" pitchFamily="18" charset="0"/>
              </a:rPr>
              <a:t> </a:t>
            </a:r>
            <a:r>
              <a:rPr lang="en-US" sz="1900" i="1" dirty="0" err="1">
                <a:latin typeface="Times New Roman" pitchFamily="18" charset="0"/>
                <a:cs typeface="Times New Roman" pitchFamily="18" charset="0"/>
              </a:rPr>
              <a:t>autentifikatsiyalash</a:t>
            </a:r>
            <a:r>
              <a:rPr lang="en-US" sz="1900" b="1" i="1" dirty="0">
                <a:latin typeface="Times New Roman" pitchFamily="18" charset="0"/>
                <a:cs typeface="Times New Roman" pitchFamily="18" charset="0"/>
              </a:rPr>
              <a:t> </a:t>
            </a:r>
            <a:r>
              <a:rPr lang="en-US" sz="1900" dirty="0" err="1">
                <a:latin typeface="Times New Roman" pitchFamily="18" charset="0"/>
                <a:cs typeface="Times New Roman" pitchFamily="18" charset="0"/>
              </a:rPr>
              <a:t>tarkibida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isbotlovchi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tekshiruvchi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tarafga</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qo‘</a:t>
            </a:r>
            <a:r>
              <a:rPr lang="en-US" sz="1900" dirty="0" err="1">
                <a:latin typeface="Times New Roman" pitchFamily="18" charset="0"/>
                <a:cs typeface="Times New Roman" pitchFamily="18" charset="0"/>
              </a:rPr>
              <a:t>shimcha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mavjud</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Bunday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yondashish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utkazishda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belgilaridan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foydalanishdan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voz</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kechishga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imkon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err="1">
                <a:latin typeface="Times New Roman" pitchFamily="18" charset="0"/>
                <a:cs typeface="Times New Roman" pitchFamily="18" charset="0"/>
              </a:rPr>
              <a:t>Ta’kidlash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ushbu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turkumlash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shartlidir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ishlatiluvchi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usul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vositalar</a:t>
            </a:r>
            <a:r>
              <a:rPr lang="en-US" sz="1900" dirty="0">
                <a:latin typeface="Times New Roman" pitchFamily="18" charset="0"/>
                <a:cs typeface="Times New Roman" pitchFamily="18" charset="0"/>
              </a:rPr>
              <a:t> t</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plami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jarayonini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oshirishdagi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muayyan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shart-sharoitlarga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bog‘liq</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Qa</a:t>
            </a:r>
            <a:r>
              <a:rPr lang="en-US" sz="1900" dirty="0" err="1">
                <a:latin typeface="Times New Roman" pitchFamily="18" charset="0"/>
                <a:cs typeface="Times New Roman" pitchFamily="18" charset="0"/>
              </a:rPr>
              <a:t>t’iy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autentifikatsiyaning</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tkazilishi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ishlatiladigan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kriptografik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algoritmlar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qator</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qo‘</a:t>
            </a:r>
            <a:r>
              <a:rPr lang="en-US" sz="1900" dirty="0" err="1">
                <a:latin typeface="Times New Roman" pitchFamily="18" charset="0"/>
                <a:cs typeface="Times New Roman" pitchFamily="18" charset="0"/>
              </a:rPr>
              <a:t>shimcha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parametrlarni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tomonidan</a:t>
            </a:r>
            <a:r>
              <a:rPr lang="en-US" sz="1900" dirty="0">
                <a:latin typeface="Times New Roman" pitchFamily="18" charset="0"/>
                <a:cs typeface="Times New Roman" pitchFamily="18" charset="0"/>
              </a:rPr>
              <a:t> s</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zsiz</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muvofi</a:t>
            </a:r>
            <a:r>
              <a:rPr lang="uz-Cyrl-UZ" sz="1900" dirty="0">
                <a:latin typeface="Times New Roman" pitchFamily="18" charset="0"/>
                <a:cs typeface="Times New Roman" pitchFamily="18" charset="0"/>
              </a:rPr>
              <a:t>ql</a:t>
            </a:r>
            <a:r>
              <a:rPr lang="en-US" sz="1900" dirty="0" err="1">
                <a:latin typeface="Times New Roman" pitchFamily="18" charset="0"/>
                <a:cs typeface="Times New Roman" pitchFamily="18" charset="0"/>
              </a:rPr>
              <a:t>ashtirishni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etadi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err="1" smtClean="0">
                <a:latin typeface="Times New Roman" pitchFamily="18" charset="0"/>
                <a:cs typeface="Times New Roman" pitchFamily="18" charset="0"/>
              </a:rPr>
              <a:t>Bir</a:t>
            </a:r>
            <a:r>
              <a:rPr lang="en-US" sz="1900" dirty="0" smtClean="0">
                <a:latin typeface="Times New Roman" pitchFamily="18" charset="0"/>
                <a:cs typeface="Times New Roman" pitchFamily="18" charset="0"/>
              </a:rPr>
              <a:t> </a:t>
            </a:r>
            <a:r>
              <a:rPr lang="en-US" sz="1900" dirty="0" err="1">
                <a:latin typeface="Times New Roman" pitchFamily="18" charset="0"/>
                <a:cs typeface="Times New Roman" pitchFamily="18" charset="0"/>
              </a:rPr>
              <a:t>martali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parametrlar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uzatishning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takrorlanishini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autentifikatsion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almashinuv</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taraflarini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almashtirib</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qo‘</a:t>
            </a:r>
            <a:r>
              <a:rPr lang="en-US" sz="1900" dirty="0" err="1">
                <a:latin typeface="Times New Roman" pitchFamily="18" charset="0"/>
                <a:cs typeface="Times New Roman" pitchFamily="18" charset="0"/>
              </a:rPr>
              <a:t>yishni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ochiq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matnni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tanlash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xujum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qilishni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oldini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olishga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imkon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martali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pa­rametrlar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yordamida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uzatiladigan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xabarlarning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noyobligini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ma’noliligini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vaqtiy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kafolatlarini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ta’minlash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martali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para­metrlarning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xillari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alohida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bir-birini</a:t>
            </a:r>
            <a:r>
              <a:rPr lang="en-US" sz="1900" dirty="0">
                <a:latin typeface="Times New Roman" pitchFamily="18" charset="0"/>
                <a:cs typeface="Times New Roman" pitchFamily="18" charset="0"/>
              </a:rPr>
              <a:t> t</a:t>
            </a:r>
            <a:r>
              <a:rPr lang="uz-Cyrl-UZ" sz="1900" dirty="0">
                <a:latin typeface="Times New Roman" pitchFamily="18" charset="0"/>
                <a:cs typeface="Times New Roman" pitchFamily="18" charset="0"/>
              </a:rPr>
              <a:t>o‘</a:t>
            </a:r>
            <a:r>
              <a:rPr lang="en-US" sz="1900" dirty="0" err="1">
                <a:latin typeface="Times New Roman" pitchFamily="18" charset="0"/>
                <a:cs typeface="Times New Roman" pitchFamily="18" charset="0"/>
              </a:rPr>
              <a:t>ldirishi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mumkin</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999024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0943" y="21097"/>
            <a:ext cx="9089409" cy="6878806"/>
          </a:xfrm>
          <a:prstGeom prst="rect">
            <a:avLst/>
          </a:prstGeom>
        </p:spPr>
        <p:txBody>
          <a:bodyPr wrap="square">
            <a:spAutoFit/>
          </a:bodyPr>
          <a:lstStyle/>
          <a:p>
            <a:pPr algn="just"/>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parametrlarning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quyidagi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ishlatilish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misollarini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kursatish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mumkin</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lvl="0" algn="just"/>
            <a:r>
              <a:rPr lang="uz-Cyrl-UZ" sz="2100" dirty="0">
                <a:latin typeface="Times New Roman" pitchFamily="18" charset="0"/>
                <a:cs typeface="Times New Roman" pitchFamily="18" charset="0"/>
              </a:rPr>
              <a:t>“</a:t>
            </a:r>
            <a:r>
              <a:rPr lang="en-US" sz="2100" dirty="0" err="1">
                <a:latin typeface="Times New Roman" pitchFamily="18" charset="0"/>
                <a:cs typeface="Times New Roman" pitchFamily="18" charset="0"/>
              </a:rPr>
              <a:t>so‘rov-javob</a:t>
            </a:r>
            <a:r>
              <a:rPr lang="uz-Cyrl-UZ"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prinsipida</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urilgan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protokollarda</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o‘</a:t>
            </a:r>
            <a:r>
              <a:rPr lang="en-US" sz="2100" dirty="0">
                <a:latin typeface="Times New Roman" pitchFamily="18" charset="0"/>
                <a:cs typeface="Times New Roman" pitchFamily="18" charset="0"/>
              </a:rPr>
              <a:t>z </a:t>
            </a:r>
            <a:r>
              <a:rPr lang="en-US" sz="2100" dirty="0" err="1">
                <a:latin typeface="Times New Roman" pitchFamily="18" charset="0"/>
                <a:cs typeface="Times New Roman" pitchFamily="18" charset="0"/>
              </a:rPr>
              <a:t>vaqtidaligini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tekshirish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Bunday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tekshirishda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tasodifiy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sonlar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soatlarni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sinxronlash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bilan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vaqt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belgilari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yoki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muayyan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juft</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tekshiruvchi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isbotlovchi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uchun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ketma-ketliklarning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nomerlaridan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foydalanish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mumkin</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lvl="0" algn="just"/>
            <a:r>
              <a:rPr lang="uz-Cyrl-UZ" sz="2100" dirty="0">
                <a:latin typeface="Times New Roman" pitchFamily="18" charset="0"/>
                <a:cs typeface="Times New Roman" pitchFamily="18" charset="0"/>
              </a:rPr>
              <a:t>o‘</a:t>
            </a:r>
            <a:r>
              <a:rPr lang="en-US" sz="2100" dirty="0">
                <a:latin typeface="Times New Roman" pitchFamily="18" charset="0"/>
                <a:cs typeface="Times New Roman" pitchFamily="18" charset="0"/>
              </a:rPr>
              <a:t>z </a:t>
            </a:r>
            <a:r>
              <a:rPr lang="en-US" sz="2100" dirty="0" err="1">
                <a:latin typeface="Times New Roman" pitchFamily="18" charset="0"/>
                <a:cs typeface="Times New Roman" pitchFamily="18" charset="0"/>
              </a:rPr>
              <a:t>vaqtidaligini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yoki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noyoblik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kafolatini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ta’minlash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Protokolning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parametrlarini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bevosita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yoki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bilvosita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nazoratlash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orqali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amalga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oshiriladi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xabarni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yoki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xabarlar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ketma-ketligini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ma’noli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identifikatsiyalash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oxangda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usuvchi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ketma-ketlikning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iymatini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yoki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mo</a:t>
            </a:r>
            <a:r>
              <a:rPr lang="uz-Cyrl-UZ" sz="2100" dirty="0">
                <a:latin typeface="Times New Roman" pitchFamily="18" charset="0"/>
                <a:cs typeface="Times New Roman" pitchFamily="18" charset="0"/>
              </a:rPr>
              <a:t>s </a:t>
            </a:r>
            <a:r>
              <a:rPr lang="en-US" sz="2100" dirty="0" err="1">
                <a:latin typeface="Times New Roman" pitchFamily="18" charset="0"/>
                <a:cs typeface="Times New Roman" pitchFamily="18" charset="0"/>
              </a:rPr>
              <a:t>uzunlikdagi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tasodifiy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sonlarni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to‘zish</a:t>
            </a:r>
            <a:r>
              <a:rPr lang="en-US" sz="2100" dirty="0">
                <a:latin typeface="Times New Roman" pitchFamily="18" charset="0"/>
                <a:cs typeface="Times New Roman" pitchFamily="18" charset="0"/>
              </a:rPr>
              <a:t> or</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amalga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oshiriladi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en-US" sz="2100" dirty="0" err="1">
                <a:latin typeface="Times New Roman" pitchFamily="18" charset="0"/>
                <a:cs typeface="Times New Roman" pitchFamily="18" charset="0"/>
              </a:rPr>
              <a:t>Ta’kidlash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lozimki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martali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parametrlar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kriptografik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protokollarning</a:t>
            </a:r>
            <a:r>
              <a:rPr lang="en-US" sz="2100" dirty="0">
                <a:latin typeface="Times New Roman" pitchFamily="18" charset="0"/>
                <a:cs typeface="Times New Roman" pitchFamily="18" charset="0"/>
              </a:rPr>
              <a:t> bosh</a:t>
            </a:r>
            <a:r>
              <a:rPr lang="uz-Cyrl-UZ" sz="2100" dirty="0">
                <a:latin typeface="Times New Roman" pitchFamily="18" charset="0"/>
                <a:cs typeface="Times New Roman" pitchFamily="18" charset="0"/>
              </a:rPr>
              <a:t>q</a:t>
            </a:r>
            <a:r>
              <a:rPr lang="en-US" sz="2100" dirty="0">
                <a:latin typeface="Times New Roman" pitchFamily="18" charset="0"/>
                <a:cs typeface="Times New Roman" pitchFamily="18" charset="0"/>
              </a:rPr>
              <a:t>a </a:t>
            </a:r>
            <a:r>
              <a:rPr lang="en-US" sz="2100" dirty="0" err="1">
                <a:latin typeface="Times New Roman" pitchFamily="18" charset="0"/>
                <a:cs typeface="Times New Roman" pitchFamily="18" charset="0"/>
              </a:rPr>
              <a:t>variantlarida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xam</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keng</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qo‘</a:t>
            </a:r>
            <a:r>
              <a:rPr lang="en-US" sz="2100" dirty="0" err="1">
                <a:latin typeface="Times New Roman" pitchFamily="18" charset="0"/>
                <a:cs typeface="Times New Roman" pitchFamily="18" charset="0"/>
              </a:rPr>
              <a:t>llaniladi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algn="just"/>
            <a:r>
              <a:rPr lang="uz-Cyrl-UZ" sz="2100" dirty="0">
                <a:latin typeface="Times New Roman" pitchFamily="18" charset="0"/>
                <a:cs typeface="Times New Roman" pitchFamily="18" charset="0"/>
              </a:rPr>
              <a:t>Qa</a:t>
            </a:r>
            <a:r>
              <a:rPr lang="en-US" sz="2100" dirty="0" err="1">
                <a:latin typeface="Times New Roman" pitchFamily="18" charset="0"/>
                <a:cs typeface="Times New Roman" pitchFamily="18" charset="0"/>
              </a:rPr>
              <a:t>t’iy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autentifikatsiyalash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protokollarini</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qo‘</a:t>
            </a:r>
            <a:r>
              <a:rPr lang="en-US" sz="2100" dirty="0" err="1">
                <a:latin typeface="Times New Roman" pitchFamily="18" charset="0"/>
                <a:cs typeface="Times New Roman" pitchFamily="18" charset="0"/>
              </a:rPr>
              <a:t>llaniladigan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kriptografik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algoritmlariga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bog‘liq</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holda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quyidagi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guruhdarga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ajratish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mumkin</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marL="342900" lvl="0" indent="-342900" algn="just">
              <a:buFont typeface="Arial" pitchFamily="34" charset="0"/>
              <a:buChar char="•"/>
            </a:pPr>
            <a:r>
              <a:rPr lang="en-US" sz="2100" dirty="0" err="1">
                <a:latin typeface="Times New Roman" pitchFamily="18" charset="0"/>
                <a:cs typeface="Times New Roman" pitchFamily="18" charset="0"/>
              </a:rPr>
              <a:t>shifrlashning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simmetrik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algoritmlari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kat’iy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autentifikatsiyalash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protokollari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marL="342900" lvl="0" indent="-342900" algn="just">
              <a:buFont typeface="Arial" pitchFamily="34" charset="0"/>
              <a:buChar char="•"/>
            </a:pPr>
            <a:r>
              <a:rPr lang="en-US" sz="2100" dirty="0" err="1">
                <a:latin typeface="Times New Roman" pitchFamily="18" charset="0"/>
                <a:cs typeface="Times New Roman" pitchFamily="18" charset="0"/>
              </a:rPr>
              <a:t>bir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tomonlama</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kalitli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xesh-funksiyalar</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kat’iy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autentifikatsiyalash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protokollari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marL="342900" lvl="0" indent="-342900" algn="just">
              <a:buFont typeface="Arial" pitchFamily="34" charset="0"/>
              <a:buChar char="•"/>
            </a:pPr>
            <a:r>
              <a:rPr lang="en-US" sz="2100" dirty="0" err="1">
                <a:latin typeface="Times New Roman" pitchFamily="18" charset="0"/>
                <a:cs typeface="Times New Roman" pitchFamily="18" charset="0"/>
              </a:rPr>
              <a:t>shifrlashning</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asimmetrik</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algoritmlari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asosidagi</a:t>
            </a:r>
            <a:r>
              <a:rPr lang="en-US" sz="2100" dirty="0">
                <a:latin typeface="Times New Roman" pitchFamily="18" charset="0"/>
                <a:cs typeface="Times New Roman" pitchFamily="18" charset="0"/>
              </a:rPr>
              <a:t> </a:t>
            </a:r>
            <a:r>
              <a:rPr lang="uz-Cyrl-UZ" sz="2100" dirty="0">
                <a:latin typeface="Times New Roman" pitchFamily="18" charset="0"/>
                <a:cs typeface="Times New Roman" pitchFamily="18" charset="0"/>
              </a:rPr>
              <a:t>q</a:t>
            </a:r>
            <a:r>
              <a:rPr lang="en-US" sz="2100" dirty="0" err="1">
                <a:latin typeface="Times New Roman" pitchFamily="18" charset="0"/>
                <a:cs typeface="Times New Roman" pitchFamily="18" charset="0"/>
              </a:rPr>
              <a:t>at’iy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autentifikatsiyalash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algoritmlari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a:p>
            <a:pPr marL="342900" lvl="0" indent="-342900" algn="just">
              <a:buFont typeface="Arial" pitchFamily="34" charset="0"/>
              <a:buChar char="•"/>
            </a:pPr>
            <a:r>
              <a:rPr lang="en-US" sz="2100" dirty="0" err="1">
                <a:latin typeface="Times New Roman" pitchFamily="18" charset="0"/>
                <a:cs typeface="Times New Roman" pitchFamily="18" charset="0"/>
              </a:rPr>
              <a:t>elektron</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raqamli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imzo</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asosidagi</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kat’iy</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autentifikatsiyalash</a:t>
            </a:r>
            <a:r>
              <a:rPr lang="en-US" sz="2100" dirty="0">
                <a:latin typeface="Times New Roman" pitchFamily="18" charset="0"/>
                <a:cs typeface="Times New Roman" pitchFamily="18" charset="0"/>
              </a:rPr>
              <a:t> </a:t>
            </a:r>
            <a:r>
              <a:rPr lang="en-US" sz="2100" dirty="0" err="1">
                <a:latin typeface="Times New Roman" pitchFamily="18" charset="0"/>
                <a:cs typeface="Times New Roman" pitchFamily="18" charset="0"/>
              </a:rPr>
              <a:t>algoritmlari</a:t>
            </a:r>
            <a:r>
              <a:rPr lang="en-US" sz="2100" dirty="0">
                <a:latin typeface="Times New Roman" pitchFamily="18" charset="0"/>
                <a:cs typeface="Times New Roman" pitchFamily="18" charset="0"/>
              </a:rPr>
              <a:t>.</a:t>
            </a:r>
            <a:endParaRPr lang="ru-RU" sz="2100" dirty="0">
              <a:latin typeface="Times New Roman" pitchFamily="18" charset="0"/>
              <a:cs typeface="Times New Roman" pitchFamily="18" charset="0"/>
            </a:endParaRPr>
          </a:p>
        </p:txBody>
      </p:sp>
    </p:spTree>
    <p:extLst>
      <p:ext uri="{BB962C8B-B14F-4D97-AF65-F5344CB8AC3E}">
        <p14:creationId xmlns:p14="http://schemas.microsoft.com/office/powerpoint/2010/main" val="247459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51520" y="188640"/>
            <a:ext cx="8640960" cy="3785652"/>
          </a:xfrm>
          <a:prstGeom prst="rect">
            <a:avLst/>
          </a:prstGeom>
        </p:spPr>
        <p:txBody>
          <a:bodyPr wrap="square">
            <a:spAutoFit/>
          </a:bodyPr>
          <a:lstStyle/>
          <a:p>
            <a:pPr algn="ctr"/>
            <a:r>
              <a:rPr lang="uz-Cyrl-UZ" sz="2400" b="1" dirty="0">
                <a:latin typeface="Times New Roman" pitchFamily="18" charset="0"/>
                <a:cs typeface="Times New Roman" pitchFamily="18" charset="0"/>
              </a:rPr>
              <a:t>Nazorat savollari</a:t>
            </a:r>
            <a:endParaRPr lang="ru-RU" sz="2400" dirty="0">
              <a:latin typeface="Times New Roman" pitchFamily="18" charset="0"/>
              <a:cs typeface="Times New Roman" pitchFamily="18" charset="0"/>
            </a:endParaRPr>
          </a:p>
          <a:p>
            <a:pPr algn="just"/>
            <a:r>
              <a:rPr lang="uz-Latn-UZ" sz="2400" b="1"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err="1">
                <a:latin typeface="Times New Roman" pitchFamily="18" charset="0"/>
                <a:cs typeface="Times New Roman" pitchFamily="18" charset="0"/>
              </a:rPr>
              <a:t>Identifikatsiya</a:t>
            </a:r>
            <a:r>
              <a:rPr lang="ru-RU"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nima?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Indentifikatorlar nima?</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err="1">
                <a:latin typeface="Times New Roman" pitchFamily="18" charset="0"/>
                <a:cs typeface="Times New Roman" pitchFamily="18" charset="0"/>
              </a:rPr>
              <a:t>Autentifikatsiya</a:t>
            </a:r>
            <a:r>
              <a:rPr lang="ru-RU"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nima?</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err="1">
                <a:latin typeface="Times New Roman" pitchFamily="18" charset="0"/>
                <a:cs typeface="Times New Roman" pitchFamily="18" charset="0"/>
              </a:rPr>
              <a:t>Avtorizatsiya</a:t>
            </a:r>
            <a:r>
              <a:rPr lang="ru-RU"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nima?</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err="1">
                <a:latin typeface="Times New Roman" pitchFamily="18" charset="0"/>
                <a:cs typeface="Times New Roman" pitchFamily="18" charset="0"/>
              </a:rPr>
              <a:t>Ma’murlash</a:t>
            </a:r>
            <a:r>
              <a:rPr lang="ru-RU"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nima?</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Parollar asosida autentifikatsiyalash.</a:t>
            </a:r>
            <a:endParaRPr lang="ru-RU" sz="2400" dirty="0">
              <a:latin typeface="Times New Roman" pitchFamily="18" charset="0"/>
              <a:cs typeface="Times New Roman" pitchFamily="18" charset="0"/>
            </a:endParaRPr>
          </a:p>
          <a:p>
            <a:pPr marL="457200" lvl="0" indent="-457200" algn="just">
              <a:buFont typeface="+mj-lt"/>
              <a:buAutoNum type="arabicPeriod"/>
            </a:pPr>
            <a:r>
              <a:rPr lang="ru-RU" sz="2400" dirty="0" err="1">
                <a:latin typeface="Times New Roman" pitchFamily="18" charset="0"/>
                <a:cs typeface="Times New Roman" pitchFamily="18" charset="0"/>
              </a:rPr>
              <a:t>Sertifikatlar</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asosida</a:t>
            </a:r>
            <a:r>
              <a:rPr lang="ru-RU" sz="2400" dirty="0">
                <a:latin typeface="Times New Roman" pitchFamily="18" charset="0"/>
                <a:cs typeface="Times New Roman" pitchFamily="18" charset="0"/>
              </a:rPr>
              <a:t> </a:t>
            </a:r>
            <a:r>
              <a:rPr lang="ru-RU" sz="2400" dirty="0" err="1" smtClean="0">
                <a:latin typeface="Times New Roman" pitchFamily="18" charset="0"/>
                <a:cs typeface="Times New Roman" pitchFamily="18" charset="0"/>
              </a:rPr>
              <a:t>autentifikatsiyalash</a:t>
            </a:r>
            <a:r>
              <a:rPr lang="en-US" sz="2400" smtClean="0">
                <a:latin typeface="Times New Roman" pitchFamily="18" charset="0"/>
                <a:cs typeface="Times New Roman" pitchFamily="18" charset="0"/>
              </a:rPr>
              <a:t>.</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Q</a:t>
            </a:r>
            <a:r>
              <a:rPr lang="ru-RU" sz="2400" dirty="0" err="1">
                <a:latin typeface="Times New Roman" pitchFamily="18" charset="0"/>
                <a:cs typeface="Times New Roman" pitchFamily="18" charset="0"/>
              </a:rPr>
              <a:t>at’iy</a:t>
            </a:r>
            <a:r>
              <a:rPr lang="ru-RU" sz="2400" dirty="0">
                <a:latin typeface="Times New Roman" pitchFamily="18" charset="0"/>
                <a:cs typeface="Times New Roman" pitchFamily="18" charset="0"/>
              </a:rPr>
              <a:t> </a:t>
            </a:r>
            <a:r>
              <a:rPr lang="ru-RU" sz="2400" dirty="0" err="1">
                <a:latin typeface="Times New Roman" pitchFamily="18" charset="0"/>
                <a:cs typeface="Times New Roman" pitchFamily="18" charset="0"/>
              </a:rPr>
              <a:t>autentifikatsiyalash</a:t>
            </a:r>
            <a:r>
              <a:rPr lang="uz-Cyrl-UZ" sz="2400" dirty="0">
                <a:latin typeface="Times New Roman" pitchFamily="18" charset="0"/>
                <a:cs typeface="Times New Roman" pitchFamily="18" charset="0"/>
              </a:rPr>
              <a:t>.</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33807808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TotalTime>
  <Words>303</Words>
  <Application>Microsoft Office PowerPoint</Application>
  <PresentationFormat>Экран (4:3)</PresentationFormat>
  <Paragraphs>131</Paragraphs>
  <Slides>23</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23</vt:i4>
      </vt:variant>
    </vt:vector>
  </HeadingPairs>
  <TitlesOfParts>
    <vt:vector size="24"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40</cp:revision>
  <dcterms:created xsi:type="dcterms:W3CDTF">2020-02-10T04:46:41Z</dcterms:created>
  <dcterms:modified xsi:type="dcterms:W3CDTF">2024-03-18T05:28:15Z</dcterms:modified>
</cp:coreProperties>
</file>