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77" r:id="rId5"/>
    <p:sldId id="297" r:id="rId6"/>
    <p:sldId id="298" r:id="rId7"/>
    <p:sldId id="299" r:id="rId8"/>
    <p:sldId id="300" r:id="rId9"/>
    <p:sldId id="301" r:id="rId10"/>
    <p:sldId id="302" r:id="rId11"/>
    <p:sldId id="303" r:id="rId12"/>
    <p:sldId id="304" r:id="rId13"/>
    <p:sldId id="310"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2814" y="-9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21.02.2024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21.02.2024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21.02.2024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21.02.2024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21.02.2024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21.02.2024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t>
            </a:r>
            <a:r>
              <a:rPr lang="en-US" sz="1800" b="1" dirty="0" smtClean="0">
                <a:latin typeface="Times New Roman" pitchFamily="18" charset="0"/>
                <a:cs typeface="Times New Roman" pitchFamily="18" charset="0"/>
              </a:rPr>
              <a:t>RAQAMLI TEXNOLOGIYALAR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dirty="0" smtClean="0">
                <a:latin typeface="Times New Roman" pitchFamily="18" charset="0"/>
                <a:cs typeface="Times New Roman" pitchFamily="18" charset="0"/>
              </a:rPr>
              <a:t> 1 –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648072"/>
          </a:xfrm>
          <a:prstGeom prst="rect">
            <a:avLst/>
          </a:prstGeom>
        </p:spPr>
        <p:txBody>
          <a:bodyPr vert="horz" lIns="91440" tIns="45720" rIns="91440" bIns="45720" rtlCol="0">
            <a:normAutofit fontScale="6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400" dirty="0" smtClean="0">
              <a:solidFill>
                <a:srgbClr val="FF66CC"/>
              </a:solidFill>
              <a:latin typeface="Times New Roman" pitchFamily="18" charset="0"/>
              <a:cs typeface="Times New Roman" pitchFamily="18" charset="0"/>
            </a:endParaRPr>
          </a:p>
          <a:p>
            <a:r>
              <a:rPr lang="en-US" dirty="0" err="1" smtClean="0">
                <a:solidFill>
                  <a:schemeClr val="tx1"/>
                </a:solidFill>
                <a:latin typeface="Times New Roman" pitchFamily="18" charset="0"/>
                <a:cs typeface="Times New Roman" pitchFamily="18" charset="0"/>
              </a:rPr>
              <a:t>Mavzu</a:t>
            </a:r>
            <a:r>
              <a:rPr lang="en-US" dirty="0" smtClean="0">
                <a:solidFill>
                  <a:schemeClr val="tx1"/>
                </a:solidFill>
                <a:latin typeface="Times New Roman" pitchFamily="18" charset="0"/>
                <a:cs typeface="Times New Roman" pitchFamily="18" charset="0"/>
              </a:rPr>
              <a:t>: </a:t>
            </a:r>
            <a:r>
              <a:rPr lang="uz-Cyrl-UZ" dirty="0">
                <a:solidFill>
                  <a:schemeClr val="tx1"/>
                </a:solidFill>
                <a:latin typeface="Times New Roman" pitchFamily="18" charset="0"/>
                <a:cs typeface="Times New Roman" pitchFamily="18" charset="0"/>
              </a:rPr>
              <a:t>Multicasting. Tarmoqni dasturlashda multikast soketlardan foydalanish</a:t>
            </a:r>
            <a:endParaRPr lang="ru-RU" sz="24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latin typeface="Times New Roman" pitchFamily="18" charset="0"/>
                <a:cs typeface="Times New Roman" pitchFamily="18" charset="0"/>
              </a:rPr>
              <a:t>Unicast trafigi</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Broadcast trafigi</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Multicast trafigi</a:t>
            </a:r>
            <a:endParaRPr lang="ru-RU" sz="2400" dirty="0">
              <a:latin typeface="Times New Roman" pitchFamily="18" charset="0"/>
              <a:cs typeface="Times New Roman" pitchFamily="18" charset="0"/>
            </a:endParaRPr>
          </a:p>
          <a:p>
            <a:pPr marL="457200" lvl="0" indent="-457200">
              <a:buFont typeface="+mj-lt"/>
              <a:buAutoNum type="arabicPeriod"/>
            </a:pPr>
            <a:r>
              <a:rPr lang="en-US" sz="2400" dirty="0">
                <a:latin typeface="Times New Roman" pitchFamily="18" charset="0"/>
                <a:cs typeface="Times New Roman" pitchFamily="18" charset="0"/>
              </a:rPr>
              <a:t>IGMP </a:t>
            </a:r>
            <a:r>
              <a:rPr lang="uz-Cyrl-UZ" sz="2400" dirty="0">
                <a:latin typeface="Times New Roman" pitchFamily="18" charset="0"/>
                <a:cs typeface="Times New Roman" pitchFamily="18" charset="0"/>
              </a:rPr>
              <a:t>protokolining asosiy ishlash tamoyillari</a:t>
            </a:r>
            <a:endParaRPr lang="ru-RU" sz="2400" dirty="0">
              <a:latin typeface="Times New Roman" pitchFamily="18" charset="0"/>
              <a:cs typeface="Times New Roman" pitchFamily="18" charset="0"/>
            </a:endParaRPr>
          </a:p>
          <a:p>
            <a:pPr marL="514350" indent="-514350">
              <a:buFont typeface="+mj-lt"/>
              <a:buAutoNum type="arabicPeriod"/>
            </a:pPr>
            <a:endParaRPr lang="ru-RU" sz="2400" dirty="0"/>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Прямоугольник 1"/>
          <p:cNvSpPr/>
          <p:nvPr/>
        </p:nvSpPr>
        <p:spPr>
          <a:xfrm>
            <a:off x="179512" y="751344"/>
            <a:ext cx="8712968" cy="4893647"/>
          </a:xfrm>
          <a:prstGeom prst="rect">
            <a:avLst/>
          </a:prstGeom>
        </p:spPr>
        <p:txBody>
          <a:bodyPr wrap="square">
            <a:spAutoFit/>
          </a:bodyPr>
          <a:lstStyle/>
          <a:p>
            <a:pPr lvl="0" algn="ctr"/>
            <a:r>
              <a:rPr lang="uz-Cyrl-UZ" sz="2400" b="1" dirty="0">
                <a:latin typeface="Times New Roman" pitchFamily="18" charset="0"/>
                <a:cs typeface="Times New Roman" pitchFamily="18" charset="0"/>
              </a:rPr>
              <a:t>Unicast trafigi.</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	Unicast trafigi (</a:t>
            </a:r>
            <a:r>
              <a:rPr lang="uz-Cyrl-UZ" sz="2400" dirty="0" smtClean="0">
                <a:latin typeface="Times New Roman" pitchFamily="18" charset="0"/>
                <a:cs typeface="Times New Roman" pitchFamily="18" charset="0"/>
              </a:rPr>
              <a:t>paketlarn</a:t>
            </a:r>
            <a:r>
              <a:rPr lang="en-US" sz="2400" dirty="0" smtClean="0">
                <a:latin typeface="Times New Roman" pitchFamily="18" charset="0"/>
                <a:cs typeface="Times New Roman" pitchFamily="18" charset="0"/>
              </a:rPr>
              <a:t>i</a:t>
            </a:r>
            <a:r>
              <a:rPr lang="uz-Cyrl-UZ" sz="2400" dirty="0" smtClean="0">
                <a:latin typeface="Times New Roman" pitchFamily="18" charset="0"/>
                <a:cs typeface="Times New Roman" pitchFamily="18" charset="0"/>
              </a:rPr>
              <a:t> </a:t>
            </a:r>
            <a:r>
              <a:rPr lang="uz-Cyrl-UZ" sz="2400" dirty="0">
                <a:latin typeface="Times New Roman" pitchFamily="18" charset="0"/>
                <a:cs typeface="Times New Roman" pitchFamily="18" charset="0"/>
              </a:rPr>
              <a:t>bir maqsadli yuborish) avvalo “shaxsiy” turdagi servislar uchun ishlatiladi. Xar bir </a:t>
            </a:r>
            <a:r>
              <a:rPr lang="en-US" sz="2400" dirty="0" err="1">
                <a:latin typeface="Times New Roman" pitchFamily="18" charset="0"/>
                <a:cs typeface="Times New Roman" pitchFamily="18" charset="0"/>
              </a:rPr>
              <a:t>abonent</a:t>
            </a:r>
            <a:r>
              <a:rPr lang="en-US"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o‘ziga qulay vaqtda shaxsiy  </a:t>
            </a:r>
            <a:r>
              <a:rPr lang="en-US" sz="2400" dirty="0">
                <a:latin typeface="Times New Roman" pitchFamily="18" charset="0"/>
                <a:cs typeface="Times New Roman" pitchFamily="18" charset="0"/>
              </a:rPr>
              <a:t>video-</a:t>
            </a:r>
            <a:r>
              <a:rPr lang="en-US" sz="2400" dirty="0" err="1">
                <a:latin typeface="Times New Roman" pitchFamily="18" charset="0"/>
                <a:cs typeface="Times New Roman" pitchFamily="18" charset="0"/>
              </a:rPr>
              <a:t>kontent</a:t>
            </a:r>
            <a:r>
              <a:rPr lang="uz-Cyrl-UZ" sz="2400" dirty="0">
                <a:latin typeface="Times New Roman" pitchFamily="18" charset="0"/>
                <a:cs typeface="Times New Roman" pitchFamily="18" charset="0"/>
              </a:rPr>
              <a:t>ni so‘rashi mumkin</a:t>
            </a:r>
            <a:r>
              <a:rPr lang="en-US" sz="2400" dirty="0">
                <a:latin typeface="Times New Roman" pitchFamily="18" charset="0"/>
                <a:cs typeface="Times New Roman" pitchFamily="18" charset="0"/>
              </a:rPr>
              <a:t>. Unicast </a:t>
            </a:r>
            <a:r>
              <a:rPr lang="en-US" sz="2400" dirty="0" err="1">
                <a:latin typeface="Times New Roman" pitchFamily="18" charset="0"/>
                <a:cs typeface="Times New Roman" pitchFamily="18" charset="0"/>
              </a:rPr>
              <a:t>trafi</a:t>
            </a:r>
            <a:r>
              <a:rPr lang="uz-Cyrl-UZ" sz="2400" dirty="0">
                <a:latin typeface="Times New Roman" pitchFamily="18" charset="0"/>
                <a:cs typeface="Times New Roman" pitchFamily="18" charset="0"/>
              </a:rPr>
              <a:t>gi bitta manbadan bitta yo‘nalishdagi </a:t>
            </a:r>
            <a:r>
              <a:rPr lang="en-US" sz="2400" dirty="0">
                <a:latin typeface="Times New Roman" pitchFamily="18" charset="0"/>
                <a:cs typeface="Times New Roman" pitchFamily="18" charset="0"/>
              </a:rPr>
              <a:t>IP-</a:t>
            </a:r>
            <a:r>
              <a:rPr lang="uz-Cyrl-UZ" sz="2400" dirty="0">
                <a:latin typeface="Times New Roman" pitchFamily="18" charset="0"/>
                <a:cs typeface="Times New Roman" pitchFamily="18" charset="0"/>
              </a:rPr>
              <a:t>manzilga yuboriladi</a:t>
            </a:r>
            <a:r>
              <a:rPr lang="en-US"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Bu manzil tarmoqda faqat bitta yagona kompyuter yoki </a:t>
            </a:r>
            <a:r>
              <a:rPr lang="en-US" sz="2400" dirty="0" err="1" smtClean="0">
                <a:latin typeface="Times New Roman" pitchFamily="18" charset="0"/>
                <a:cs typeface="Times New Roman" pitchFamily="18" charset="0"/>
              </a:rPr>
              <a:t>abonent</a:t>
            </a:r>
            <a:r>
              <a:rPr lang="uz-Cyrl-UZ" sz="2400" dirty="0" smtClean="0">
                <a:latin typeface="Times New Roman" pitchFamily="18" charset="0"/>
                <a:cs typeface="Times New Roman" pitchFamily="18" charset="0"/>
              </a:rPr>
              <a:t>ga </a:t>
            </a:r>
            <a:r>
              <a:rPr lang="uz-Cyrl-UZ" sz="2400" dirty="0">
                <a:latin typeface="Times New Roman" pitchFamily="18" charset="0"/>
                <a:cs typeface="Times New Roman" pitchFamily="18" charset="0"/>
              </a:rPr>
              <a:t>mansub bo‘ladi, rasmda ko‘rsatilgandek.</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	Unicast trafigini bir vaqtda olishi mumkin bo‘lgan abonentlar soni tarmoqning magistral qismidagi oqim kengligi (oqim tezligi) bilan chegaralanadi. Tarmoqning Gigabit Ethernet xolati uchun ma’lumotlar oqimining nazariy maksimal kengligi 1 Gb/s ga yaqinlashadi, bunda xizmat axboroti va jixozlarning texnologik zaxirasini yuborish uchun kerak bo‘lgan yo‘l ayirib tashlanadi.</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40704822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p:nvPr/>
        </p:nvPicPr>
        <p:blipFill>
          <a:blip r:embed="rId2"/>
          <a:srcRect/>
          <a:stretch>
            <a:fillRect/>
          </a:stretch>
        </p:blipFill>
        <p:spPr bwMode="auto">
          <a:xfrm>
            <a:off x="611560" y="332656"/>
            <a:ext cx="8280919" cy="2209376"/>
          </a:xfrm>
          <a:prstGeom prst="rect">
            <a:avLst/>
          </a:prstGeom>
          <a:noFill/>
          <a:ln w="9525">
            <a:noFill/>
            <a:miter lim="800000"/>
            <a:headEnd/>
            <a:tailEnd/>
          </a:ln>
        </p:spPr>
      </p:pic>
      <p:sp>
        <p:nvSpPr>
          <p:cNvPr id="5" name="Прямоугольник 4"/>
          <p:cNvSpPr/>
          <p:nvPr/>
        </p:nvSpPr>
        <p:spPr>
          <a:xfrm>
            <a:off x="3419872" y="2636912"/>
            <a:ext cx="1879682" cy="369332"/>
          </a:xfrm>
          <a:prstGeom prst="rect">
            <a:avLst/>
          </a:prstGeom>
        </p:spPr>
        <p:txBody>
          <a:bodyPr wrap="none">
            <a:spAutoFit/>
          </a:bodyPr>
          <a:lstStyle/>
          <a:p>
            <a:r>
              <a:rPr lang="en-US" dirty="0"/>
              <a:t>1.1. </a:t>
            </a:r>
            <a:r>
              <a:rPr lang="uz-Cyrl-UZ" dirty="0"/>
              <a:t>Unicast trafigi</a:t>
            </a:r>
            <a:endParaRPr lang="ru-RU" dirty="0"/>
          </a:p>
        </p:txBody>
      </p:sp>
      <p:sp>
        <p:nvSpPr>
          <p:cNvPr id="6" name="Прямоугольник 5"/>
          <p:cNvSpPr/>
          <p:nvPr/>
        </p:nvSpPr>
        <p:spPr>
          <a:xfrm>
            <a:off x="265248" y="3501008"/>
            <a:ext cx="8640959" cy="2000548"/>
          </a:xfrm>
          <a:prstGeom prst="rect">
            <a:avLst/>
          </a:prstGeom>
        </p:spPr>
        <p:txBody>
          <a:bodyPr wrap="square">
            <a:spAutoFit/>
          </a:bodyPr>
          <a:lstStyle/>
          <a:p>
            <a:pPr algn="just"/>
            <a:r>
              <a:rPr lang="en-US" sz="2800" dirty="0" smtClean="0">
                <a:latin typeface="Times New Roman" pitchFamily="18" charset="0"/>
                <a:cs typeface="Times New Roman" pitchFamily="18" charset="0"/>
              </a:rPr>
              <a:t>	</a:t>
            </a:r>
            <a:r>
              <a:rPr lang="uz-Cyrl-UZ" sz="2400" dirty="0" smtClean="0">
                <a:latin typeface="Times New Roman" pitchFamily="18" charset="0"/>
                <a:cs typeface="Times New Roman" pitchFamily="18" charset="0"/>
              </a:rPr>
              <a:t>Aytaylik</a:t>
            </a:r>
            <a:r>
              <a:rPr lang="uz-Cyrl-UZ" sz="2400" dirty="0">
                <a:latin typeface="Times New Roman" pitchFamily="18" charset="0"/>
                <a:cs typeface="Times New Roman" pitchFamily="18" charset="0"/>
              </a:rPr>
              <a:t>, misol uchun tarmoqning magistral qismida unicast trafik talab qiluvchi servislar uchun yo‘lning faqat yarmini ajratib berishimiz mumkin. MPEG2 televizion kanalida 5 Mb/s xolati uchun xisoblanganda ma’lum bo‘ldiki, unicast trafigini bir vaqtda oluvchi  abonentlar soni 100dan oshmaydi.</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27009801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16632"/>
            <a:ext cx="8712968" cy="3477875"/>
          </a:xfrm>
          <a:prstGeom prst="rect">
            <a:avLst/>
          </a:prstGeom>
        </p:spPr>
        <p:txBody>
          <a:bodyPr wrap="square">
            <a:spAutoFit/>
          </a:bodyPr>
          <a:lstStyle/>
          <a:p>
            <a:pPr algn="ctr"/>
            <a:r>
              <a:rPr lang="uz-Cyrl-UZ" sz="2000" b="1" dirty="0">
                <a:latin typeface="Times New Roman" pitchFamily="18" charset="0"/>
                <a:cs typeface="Times New Roman" pitchFamily="18" charset="0"/>
              </a:rPr>
              <a:t>Broadcast </a:t>
            </a:r>
            <a:r>
              <a:rPr lang="uz-Cyrl-UZ" sz="2000" b="1" dirty="0" smtClean="0">
                <a:latin typeface="Times New Roman" pitchFamily="18" charset="0"/>
                <a:cs typeface="Times New Roman" pitchFamily="18" charset="0"/>
              </a:rPr>
              <a:t>trafigi</a:t>
            </a:r>
            <a:endParaRPr lang="en-US" sz="2000" b="1" dirty="0" smtClean="0">
              <a:latin typeface="Times New Roman" pitchFamily="18" charset="0"/>
              <a:cs typeface="Times New Roman" pitchFamily="18" charset="0"/>
            </a:endParaRPr>
          </a:p>
          <a:p>
            <a:pPr algn="just"/>
            <a:r>
              <a:rPr lang="uz-Cyrl-UZ" sz="2000" dirty="0" smtClean="0">
                <a:latin typeface="Times New Roman" pitchFamily="18" charset="0"/>
                <a:cs typeface="Times New Roman" pitchFamily="18" charset="0"/>
              </a:rPr>
              <a:t>Broadcast </a:t>
            </a:r>
            <a:r>
              <a:rPr lang="uz-Cyrl-UZ" sz="2000" dirty="0">
                <a:latin typeface="Times New Roman" pitchFamily="18" charset="0"/>
                <a:cs typeface="Times New Roman" pitchFamily="18" charset="0"/>
              </a:rPr>
              <a:t>trafigi (paketlarni keng yo‘lli yuborish) joriy IP-tarmoqning xamma abonentlariga bitta ma’lumotlar oqimini yuborish uchun maxsus IP-manzildan foydalanadi. Masalan, bunday IP-manzil 255da tugashi mumkin, masalan 192.0.2.255, yoki xamma maydonida 255 bo‘lishi mumkin (255.255.255.255).</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Bilish muximki, broadcast trafigi tarmoqdagi barcha ishlab turgan kompyuter </a:t>
            </a:r>
            <a:r>
              <a:rPr lang="uz-Cyrl-UZ" sz="2000" dirty="0" smtClean="0">
                <a:latin typeface="Times New Roman" pitchFamily="18" charset="0"/>
                <a:cs typeface="Times New Roman" pitchFamily="18" charset="0"/>
              </a:rPr>
              <a:t>(</a:t>
            </a:r>
            <a:r>
              <a:rPr lang="uz-Cyrl-UZ" sz="2000" dirty="0">
                <a:latin typeface="Times New Roman" pitchFamily="18" charset="0"/>
                <a:cs typeface="Times New Roman" pitchFamily="18" charset="0"/>
              </a:rPr>
              <a:t>yoki STB) tomonidan foydalanuvchining xoxishidan qat’iy nazar qabul qilinadi. Shu sababdan yuborishning bu turi asosan tarmoq darajasidagi xizmat axborotini yoki boshqa tor yo‘lli axborotni jo‘natish uchun ishlatiladi. Albatta, video-ma’lumotlarni yuborish uchun broadcast trafigi ishlatilmaydi. Broadcast trafikning yuborilishi rasmda ko‘rsatilgan.</a:t>
            </a:r>
            <a:endParaRPr lang="ru-RU" sz="2000" dirty="0">
              <a:latin typeface="Times New Roman" pitchFamily="18" charset="0"/>
              <a:cs typeface="Times New Roman" pitchFamily="18" charset="0"/>
            </a:endParaRPr>
          </a:p>
        </p:txBody>
      </p:sp>
      <p:pic>
        <p:nvPicPr>
          <p:cNvPr id="5" name="Picture 4"/>
          <p:cNvPicPr/>
          <p:nvPr/>
        </p:nvPicPr>
        <p:blipFill>
          <a:blip r:embed="rId2"/>
          <a:srcRect/>
          <a:stretch>
            <a:fillRect/>
          </a:stretch>
        </p:blipFill>
        <p:spPr bwMode="auto">
          <a:xfrm>
            <a:off x="1187624" y="3617486"/>
            <a:ext cx="6120680" cy="2115820"/>
          </a:xfrm>
          <a:prstGeom prst="rect">
            <a:avLst/>
          </a:prstGeom>
          <a:noFill/>
          <a:ln w="9525">
            <a:noFill/>
            <a:miter lim="800000"/>
            <a:headEnd/>
            <a:tailEnd/>
          </a:ln>
        </p:spPr>
      </p:pic>
      <p:sp>
        <p:nvSpPr>
          <p:cNvPr id="6" name="Прямоугольник 5"/>
          <p:cNvSpPr/>
          <p:nvPr/>
        </p:nvSpPr>
        <p:spPr>
          <a:xfrm>
            <a:off x="3479392" y="6093296"/>
            <a:ext cx="2113207" cy="369332"/>
          </a:xfrm>
          <a:prstGeom prst="rect">
            <a:avLst/>
          </a:prstGeom>
        </p:spPr>
        <p:txBody>
          <a:bodyPr wrap="none">
            <a:spAutoFit/>
          </a:bodyPr>
          <a:lstStyle/>
          <a:p>
            <a:r>
              <a:rPr lang="ru-RU" dirty="0"/>
              <a:t>1.2. </a:t>
            </a:r>
            <a:r>
              <a:rPr lang="uz-Cyrl-UZ" dirty="0"/>
              <a:t>Broadcast trafigi</a:t>
            </a:r>
            <a:endParaRPr lang="ru-RU" dirty="0"/>
          </a:p>
        </p:txBody>
      </p:sp>
    </p:spTree>
    <p:extLst>
      <p:ext uri="{BB962C8B-B14F-4D97-AF65-F5344CB8AC3E}">
        <p14:creationId xmlns:p14="http://schemas.microsoft.com/office/powerpoint/2010/main" val="17134715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30856" y="116632"/>
            <a:ext cx="9036496" cy="3416320"/>
          </a:xfrm>
          <a:prstGeom prst="rect">
            <a:avLst/>
          </a:prstGeom>
        </p:spPr>
        <p:txBody>
          <a:bodyPr wrap="square">
            <a:spAutoFit/>
          </a:bodyPr>
          <a:lstStyle/>
          <a:p>
            <a:pPr lvl="0" algn="ctr"/>
            <a:r>
              <a:rPr lang="uz-Cyrl-UZ" sz="2400" b="1" dirty="0">
                <a:latin typeface="Times New Roman" pitchFamily="18" charset="0"/>
                <a:cs typeface="Times New Roman" pitchFamily="18" charset="0"/>
              </a:rPr>
              <a:t>Multicast trafigi</a:t>
            </a:r>
            <a:endParaRPr lang="ru-RU" sz="24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uz-Cyrl-UZ" sz="2400" dirty="0" smtClean="0">
                <a:latin typeface="Times New Roman" pitchFamily="18" charset="0"/>
                <a:cs typeface="Times New Roman" pitchFamily="18" charset="0"/>
              </a:rPr>
              <a:t>Multicast </a:t>
            </a:r>
            <a:r>
              <a:rPr lang="uz-Cyrl-UZ" sz="2400" dirty="0">
                <a:latin typeface="Times New Roman" pitchFamily="18" charset="0"/>
                <a:cs typeface="Times New Roman" pitchFamily="18" charset="0"/>
              </a:rPr>
              <a:t>trafigi (paketlarni guruhli yuborish) tarmoqni zo‘riqtirmasdan chegaralanmagan abonentlar soniga video-kontentni yetqazish kerak bo‘lganda oqimli videoni yuborish uchun ishlatiladi. </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	Bitta ko‘rsatuvni abonentlarning katta miqdori ko‘rayotganda bu IPTV tarmoqlarda eng ko‘p ishlatiladigan ma’lumotlarni yuborish turidir. Multicast trafigi yo‘nalishning IP-manzillarning maxsus sinfidan foydalanadi, masalan 224.0.0.0 239.255.255.255 diapazonidagi manzillar. Bu D sinfiga mansub IP-manzillar bo‘lishi mumkin.</a:t>
            </a:r>
            <a:endParaRPr lang="ru-RU" sz="2400" dirty="0">
              <a:latin typeface="Times New Roman" pitchFamily="18" charset="0"/>
              <a:cs typeface="Times New Roman" pitchFamily="18" charset="0"/>
            </a:endParaRPr>
          </a:p>
        </p:txBody>
      </p:sp>
      <p:pic>
        <p:nvPicPr>
          <p:cNvPr id="8" name="Picture 4"/>
          <p:cNvPicPr/>
          <p:nvPr/>
        </p:nvPicPr>
        <p:blipFill>
          <a:blip r:embed="rId2"/>
          <a:srcRect/>
          <a:stretch>
            <a:fillRect/>
          </a:stretch>
        </p:blipFill>
        <p:spPr bwMode="auto">
          <a:xfrm>
            <a:off x="1043608" y="3789040"/>
            <a:ext cx="7200800" cy="2232248"/>
          </a:xfrm>
          <a:prstGeom prst="rect">
            <a:avLst/>
          </a:prstGeom>
          <a:noFill/>
          <a:ln w="9525">
            <a:noFill/>
            <a:miter lim="800000"/>
            <a:headEnd/>
            <a:tailEnd/>
          </a:ln>
        </p:spPr>
      </p:pic>
      <p:sp>
        <p:nvSpPr>
          <p:cNvPr id="7" name="Прямоугольник 6"/>
          <p:cNvSpPr/>
          <p:nvPr/>
        </p:nvSpPr>
        <p:spPr>
          <a:xfrm>
            <a:off x="3275856" y="6021288"/>
            <a:ext cx="2059218" cy="369332"/>
          </a:xfrm>
          <a:prstGeom prst="rect">
            <a:avLst/>
          </a:prstGeom>
        </p:spPr>
        <p:txBody>
          <a:bodyPr wrap="none">
            <a:spAutoFit/>
          </a:bodyPr>
          <a:lstStyle/>
          <a:p>
            <a:r>
              <a:rPr lang="en-US" dirty="0"/>
              <a:t>1.3. </a:t>
            </a:r>
            <a:r>
              <a:rPr lang="uz-Cyrl-UZ" dirty="0"/>
              <a:t>Multicast trafigi</a:t>
            </a:r>
            <a:endParaRPr lang="ru-RU" dirty="0"/>
          </a:p>
        </p:txBody>
      </p:sp>
    </p:spTree>
    <p:extLst>
      <p:ext uri="{BB962C8B-B14F-4D97-AF65-F5344CB8AC3E}">
        <p14:creationId xmlns:p14="http://schemas.microsoft.com/office/powerpoint/2010/main" val="16598363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80576" y="332656"/>
            <a:ext cx="8755920" cy="5632311"/>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uz-Cyrl-UZ" sz="2400" dirty="0" smtClean="0">
                <a:latin typeface="Times New Roman" pitchFamily="18" charset="0"/>
                <a:cs typeface="Times New Roman" pitchFamily="18" charset="0"/>
              </a:rPr>
              <a:t>Unicast </a:t>
            </a:r>
            <a:r>
              <a:rPr lang="uz-Cyrl-UZ" sz="2400" dirty="0">
                <a:latin typeface="Times New Roman" pitchFamily="18" charset="0"/>
                <a:cs typeface="Times New Roman" pitchFamily="18" charset="0"/>
              </a:rPr>
              <a:t>trafigidan farqli ularoq, multicast manzillari individual </a:t>
            </a:r>
            <a:r>
              <a:rPr lang="uz-Cyrl-UZ" sz="2400" dirty="0" smtClean="0">
                <a:latin typeface="Times New Roman" pitchFamily="18" charset="0"/>
                <a:cs typeface="Times New Roman" pitchFamily="18" charset="0"/>
              </a:rPr>
              <a:t>kompyuterlar </a:t>
            </a:r>
            <a:r>
              <a:rPr lang="uz-Cyrl-UZ" sz="2400" dirty="0">
                <a:latin typeface="Times New Roman" pitchFamily="18" charset="0"/>
                <a:cs typeface="Times New Roman" pitchFamily="18" charset="0"/>
              </a:rPr>
              <a:t>uchun berilishi mumkin emas. Ma’lumotlar birorta multicast IP-manzil bo‘yicha yuborilsa, potensial qabul qiluvchi ularni qabul qilish yoki qilmaslik, abonent bu kanalni ko‘rishi yoki ko‘rmasligi xaqida qaror qabul qilishi mumkin. Bunday yuborish usuli shuni bildiradiki, IPTV operatorning bosh apparaturasi bitta yagona ma’lumotlar oqimini ko‘plab yo‘nalish bo‘yicha jo‘natadi. Broadcast yuborish xolatidan farqli ularoq, ma’lumotlarni qabul qilish kerakmi yoki yo‘qmi buni abonent o‘zi tanlaydi.</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Multicast yuborishni IP-tarmoqlarda amalga oshirish uchun uni qo‘llashga imkon beruvchi marshrutizatorlar bo‘lishi kerak. Yo‘naltiruvchilar turli joylarga yuborish guruxlari xolatini tekshirish uchun IGMP (ingl. Internet Group Management Protocol — Internet guruxlarini </a:t>
            </a:r>
            <a:r>
              <a:rPr lang="uz-Cyrl-UZ" sz="2400" dirty="0" smtClean="0">
                <a:latin typeface="Times New Roman" pitchFamily="18" charset="0"/>
                <a:cs typeface="Times New Roman" pitchFamily="18" charset="0"/>
              </a:rPr>
              <a:t>bosh</a:t>
            </a:r>
            <a:r>
              <a:rPr lang="en-US" sz="2400" dirty="0" smtClean="0">
                <a:latin typeface="Times New Roman" pitchFamily="18" charset="0"/>
                <a:cs typeface="Times New Roman" pitchFamily="18" charset="0"/>
              </a:rPr>
              <a:t>q</a:t>
            </a:r>
            <a:r>
              <a:rPr lang="uz-Cyrl-UZ" sz="2400" dirty="0" smtClean="0">
                <a:latin typeface="Times New Roman" pitchFamily="18" charset="0"/>
                <a:cs typeface="Times New Roman" pitchFamily="18" charset="0"/>
              </a:rPr>
              <a:t>arish </a:t>
            </a:r>
            <a:r>
              <a:rPr lang="uz-Cyrl-UZ" sz="2400" dirty="0">
                <a:latin typeface="Times New Roman" pitchFamily="18" charset="0"/>
                <a:cs typeface="Times New Roman" pitchFamily="18" charset="0"/>
              </a:rPr>
              <a:t>protokoli) protokolidan foydalanadi (aynan tarmoqning tugunidagi u yoki bu guruxda a’zoligini).</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2131155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16632"/>
            <a:ext cx="8856984" cy="6370975"/>
          </a:xfrm>
          <a:prstGeom prst="rect">
            <a:avLst/>
          </a:prstGeom>
        </p:spPr>
        <p:txBody>
          <a:bodyPr wrap="square">
            <a:spAutoFit/>
          </a:bodyPr>
          <a:lstStyle/>
          <a:p>
            <a:pPr lvl="0" algn="ctr"/>
            <a:r>
              <a:rPr lang="uz-Cyrl-UZ" sz="2400" b="1" dirty="0">
                <a:latin typeface="Times New Roman" pitchFamily="18" charset="0"/>
                <a:cs typeface="Times New Roman" pitchFamily="18" charset="0"/>
              </a:rPr>
              <a:t>IGMP protokolining asosiy ishlash tamoyillari:</a:t>
            </a:r>
            <a:endParaRPr lang="ru-RU" sz="2400" dirty="0">
              <a:latin typeface="Times New Roman" pitchFamily="18" charset="0"/>
              <a:cs typeface="Times New Roman" pitchFamily="18" charset="0"/>
            </a:endParaRPr>
          </a:p>
          <a:p>
            <a:pPr lvl="0" algn="just"/>
            <a:r>
              <a:rPr lang="uz-Cyrl-UZ" sz="2400" dirty="0">
                <a:latin typeface="Times New Roman" pitchFamily="18" charset="0"/>
                <a:cs typeface="Times New Roman" pitchFamily="18" charset="0"/>
              </a:rPr>
              <a:t>Tarmoqning yakuniy tuguni report  turidagi IGMP paketini turli joylarga yuborish guruhiga ulanish jarayonini ishga tushirish uchun yuboradi;</a:t>
            </a:r>
            <a:endParaRPr lang="ru-RU" sz="2400" dirty="0">
              <a:latin typeface="Times New Roman" pitchFamily="18" charset="0"/>
              <a:cs typeface="Times New Roman" pitchFamily="18" charset="0"/>
            </a:endParaRPr>
          </a:p>
          <a:p>
            <a:pPr lvl="0" algn="just"/>
            <a:r>
              <a:rPr lang="uz-Cyrl-UZ" sz="2400" dirty="0">
                <a:latin typeface="Times New Roman" pitchFamily="18" charset="0"/>
                <a:cs typeface="Times New Roman" pitchFamily="18" charset="0"/>
              </a:rPr>
              <a:t>Turli joylarga yuborish  guruhidan uzilganda tugun xech </a:t>
            </a:r>
            <a:r>
              <a:rPr lang="en-US" sz="2400" dirty="0" smtClean="0">
                <a:latin typeface="Times New Roman" pitchFamily="18" charset="0"/>
                <a:cs typeface="Times New Roman" pitchFamily="18" charset="0"/>
              </a:rPr>
              <a:t>q</a:t>
            </a:r>
            <a:r>
              <a:rPr lang="uz-Cyrl-UZ" sz="2400" dirty="0" smtClean="0">
                <a:latin typeface="Times New Roman" pitchFamily="18" charset="0"/>
                <a:cs typeface="Times New Roman" pitchFamily="18" charset="0"/>
              </a:rPr>
              <a:t>anday </a:t>
            </a:r>
            <a:r>
              <a:rPr lang="uz-Cyrl-UZ" sz="2400" dirty="0">
                <a:latin typeface="Times New Roman" pitchFamily="18" charset="0"/>
                <a:cs typeface="Times New Roman" pitchFamily="18" charset="0"/>
              </a:rPr>
              <a:t>qo‘shimcha paketlar yubormaydi;</a:t>
            </a:r>
            <a:endParaRPr lang="ru-RU" sz="2400" dirty="0">
              <a:latin typeface="Times New Roman" pitchFamily="18" charset="0"/>
              <a:cs typeface="Times New Roman" pitchFamily="18" charset="0"/>
            </a:endParaRPr>
          </a:p>
          <a:p>
            <a:pPr lvl="0" algn="just"/>
            <a:r>
              <a:rPr lang="uz-Cyrl-UZ" sz="2400" dirty="0">
                <a:latin typeface="Times New Roman" pitchFamily="18" charset="0"/>
                <a:cs typeface="Times New Roman" pitchFamily="18" charset="0"/>
              </a:rPr>
              <a:t>multicast marshrutizatori ma’lum </a:t>
            </a:r>
            <a:r>
              <a:rPr lang="uz-Cyrl-UZ" sz="2400" dirty="0" smtClean="0">
                <a:latin typeface="Times New Roman" pitchFamily="18" charset="0"/>
                <a:cs typeface="Times New Roman" pitchFamily="18" charset="0"/>
              </a:rPr>
              <a:t>va</a:t>
            </a:r>
            <a:r>
              <a:rPr lang="en-US" sz="2400" dirty="0" smtClean="0">
                <a:latin typeface="Times New Roman" pitchFamily="18" charset="0"/>
                <a:cs typeface="Times New Roman" pitchFamily="18" charset="0"/>
              </a:rPr>
              <a:t>q</a:t>
            </a:r>
            <a:r>
              <a:rPr lang="uz-Cyrl-UZ" sz="2400" dirty="0" smtClean="0">
                <a:latin typeface="Times New Roman" pitchFamily="18" charset="0"/>
                <a:cs typeface="Times New Roman" pitchFamily="18" charset="0"/>
              </a:rPr>
              <a:t>t </a:t>
            </a:r>
            <a:r>
              <a:rPr lang="uz-Cyrl-UZ" sz="2400" dirty="0">
                <a:latin typeface="Times New Roman" pitchFamily="18" charset="0"/>
                <a:cs typeface="Times New Roman" pitchFamily="18" charset="0"/>
              </a:rPr>
              <a:t>intervalida tarmoqga IGMP so‘rovlar yuboradi. Bu so‘rovlar yordamida turli joylarga yuborish guruhining joriy xolati aniklanadi;</a:t>
            </a:r>
            <a:endParaRPr lang="ru-RU" sz="2400" dirty="0">
              <a:latin typeface="Times New Roman" pitchFamily="18" charset="0"/>
              <a:cs typeface="Times New Roman" pitchFamily="18" charset="0"/>
            </a:endParaRPr>
          </a:p>
          <a:p>
            <a:pPr lvl="0" algn="just"/>
            <a:r>
              <a:rPr lang="uz-Cyrl-UZ" sz="2400" dirty="0">
                <a:latin typeface="Times New Roman" pitchFamily="18" charset="0"/>
                <a:cs typeface="Times New Roman" pitchFamily="18" charset="0"/>
              </a:rPr>
              <a:t>guruhda xech bo‘lmasa bita kliyent bo‘lsa tugun xar bir turli joylarga yuborish guruhiga javoban IGMP paket yuboradi.</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Tarmoqning magistral qismining multicast trafik bilan yuklamasi tarmoqdagi translyatsiya kilinayotgan kanallar soniga bog‘liq. Gigabit Ethernet tarmog‘i xolatida, magistral trafikning yarmini multicast yuborishga ajratib bersak, biz 100ga yakin televizion MPEG-2 kanallarga ega bo‘lamiz, ulardan xar birining ma’lumotlar oqimining tezligi  5 Mb/s teng bo‘ladi</a:t>
            </a:r>
            <a:r>
              <a:rPr lang="uz-Cyrl-UZ" sz="2400" dirty="0" smtClean="0">
                <a:latin typeface="Times New Roman" pitchFamily="18" charset="0"/>
                <a:cs typeface="Times New Roman" pitchFamily="18" charset="0"/>
              </a:rPr>
              <a:t>.</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1593218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692696"/>
            <a:ext cx="8856984" cy="5847755"/>
          </a:xfrm>
          <a:prstGeom prst="rect">
            <a:avLst/>
          </a:prstGeom>
        </p:spPr>
        <p:txBody>
          <a:bodyPr wrap="square">
            <a:spAutoFit/>
          </a:bodyPr>
          <a:lstStyle/>
          <a:p>
            <a:pPr algn="just"/>
            <a:r>
              <a:rPr lang="uz-Cyrl-UZ" sz="2200" dirty="0">
                <a:latin typeface="Times New Roman" pitchFamily="18" charset="0"/>
                <a:cs typeface="Times New Roman" pitchFamily="18" charset="0"/>
              </a:rPr>
              <a:t>IPTV tarmog‘ida broadcast, multicast va unicast mavjud. Operator tarmoqning o‘tkazish </a:t>
            </a:r>
            <a:r>
              <a:rPr lang="en-US" sz="2200" dirty="0" smtClean="0">
                <a:latin typeface="Times New Roman" pitchFamily="18" charset="0"/>
                <a:cs typeface="Times New Roman" pitchFamily="18" charset="0"/>
              </a:rPr>
              <a:t>q</a:t>
            </a:r>
            <a:r>
              <a:rPr lang="uz-Cyrl-UZ" sz="2200" dirty="0" smtClean="0">
                <a:latin typeface="Times New Roman" pitchFamily="18" charset="0"/>
                <a:cs typeface="Times New Roman" pitchFamily="18" charset="0"/>
              </a:rPr>
              <a:t>obiliyatining </a:t>
            </a:r>
            <a:r>
              <a:rPr lang="uz-Cyrl-UZ" sz="2200" dirty="0">
                <a:latin typeface="Times New Roman" pitchFamily="18" charset="0"/>
                <a:cs typeface="Times New Roman" pitchFamily="18" charset="0"/>
              </a:rPr>
              <a:t>optimal kattaligini rejalashtirayotganida IP- manzillashning xar xil texnologiyalarining trafik xajmiga ta’sirini inobatga olishi kerak. </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Masalan</a:t>
            </a:r>
            <a:r>
              <a:rPr lang="uz-Cyrl-UZ" sz="2200" dirty="0">
                <a:latin typeface="Times New Roman" pitchFamily="18" charset="0"/>
                <a:cs typeface="Times New Roman" pitchFamily="18" charset="0"/>
              </a:rPr>
              <a:t>, operator «buyurtmaga video» xizmatini  abonentlarning katta qismiga berish uchun magistral tarmoqning o‘tkazish </a:t>
            </a:r>
            <a:r>
              <a:rPr lang="en-US" sz="2200" dirty="0" smtClean="0">
                <a:latin typeface="Times New Roman" pitchFamily="18" charset="0"/>
                <a:cs typeface="Times New Roman" pitchFamily="18" charset="0"/>
              </a:rPr>
              <a:t>q</a:t>
            </a:r>
            <a:r>
              <a:rPr lang="uz-Cyrl-UZ" sz="2200" dirty="0" smtClean="0">
                <a:latin typeface="Times New Roman" pitchFamily="18" charset="0"/>
                <a:cs typeface="Times New Roman" pitchFamily="18" charset="0"/>
              </a:rPr>
              <a:t>obiliyati </a:t>
            </a:r>
            <a:r>
              <a:rPr lang="uz-Cyrl-UZ" sz="2200" dirty="0">
                <a:latin typeface="Times New Roman" pitchFamily="18" charset="0"/>
                <a:cs typeface="Times New Roman" pitchFamily="18" charset="0"/>
              </a:rPr>
              <a:t>juda katta bo‘lishini bilishi kerak. </a:t>
            </a:r>
            <a:r>
              <a:rPr lang="en-US" sz="2200" dirty="0">
                <a:latin typeface="Times New Roman" pitchFamily="18" charset="0"/>
                <a:cs typeface="Times New Roman" pitchFamily="18" charset="0"/>
              </a:rPr>
              <a:t>Bu </a:t>
            </a:r>
            <a:r>
              <a:rPr lang="en-US" sz="2200" dirty="0" err="1">
                <a:latin typeface="Times New Roman" pitchFamily="18" charset="0"/>
                <a:cs typeface="Times New Roman" pitchFamily="18" charset="0"/>
              </a:rPr>
              <a:t>muammoning</a:t>
            </a:r>
            <a:r>
              <a:rPr lang="en-US" sz="2200" dirty="0">
                <a:latin typeface="Times New Roman" pitchFamily="18" charset="0"/>
                <a:cs typeface="Times New Roman" pitchFamily="18" charset="0"/>
              </a:rPr>
              <a:t> bit</a:t>
            </a:r>
            <a:r>
              <a:rPr lang="uz-Cyrl-UZ" sz="2200" dirty="0">
                <a:latin typeface="Times New Roman" pitchFamily="18" charset="0"/>
                <a:cs typeface="Times New Roman" pitchFamily="18" charset="0"/>
              </a:rPr>
              <a:t>t</a:t>
            </a:r>
            <a:r>
              <a:rPr lang="en-US" sz="2200" dirty="0">
                <a:latin typeface="Times New Roman" pitchFamily="18" charset="0"/>
                <a:cs typeface="Times New Roman" pitchFamily="18" charset="0"/>
              </a:rPr>
              <a:t>a </a:t>
            </a:r>
            <a:r>
              <a:rPr lang="en-US" sz="2200" dirty="0" err="1">
                <a:latin typeface="Times New Roman" pitchFamily="18" charset="0"/>
                <a:cs typeface="Times New Roman" pitchFamily="18" charset="0"/>
              </a:rPr>
              <a:t>yechimi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sifatida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a:t>
            </a:r>
            <a:r>
              <a:rPr lang="en-US" sz="2200" dirty="0">
                <a:latin typeface="Times New Roman" pitchFamily="18" charset="0"/>
                <a:cs typeface="Times New Roman" pitchFamily="18" charset="0"/>
              </a:rPr>
              <a:t>da video-</a:t>
            </a:r>
            <a:r>
              <a:rPr lang="en-US" sz="2200" dirty="0" err="1">
                <a:latin typeface="Times New Roman" pitchFamily="18" charset="0"/>
                <a:cs typeface="Times New Roman" pitchFamily="18" charset="0"/>
              </a:rPr>
              <a:t>serverlarni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detsentralizatsiya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qilishni</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qo‘</a:t>
            </a:r>
            <a:r>
              <a:rPr lang="en-US" sz="2200" dirty="0" err="1">
                <a:latin typeface="Times New Roman" pitchFamily="18" charset="0"/>
                <a:cs typeface="Times New Roman" pitchFamily="18" charset="0"/>
              </a:rPr>
              <a:t>llash</a:t>
            </a:r>
            <a:r>
              <a:rPr lang="uz-Cyrl-UZ" sz="2200" dirty="0">
                <a:latin typeface="Times New Roman" pitchFamily="18" charset="0"/>
                <a:cs typeface="Times New Roman" pitchFamily="18" charset="0"/>
              </a:rPr>
              <a:t>i </a:t>
            </a:r>
            <a:r>
              <a:rPr lang="en-US" sz="2200" dirty="0" err="1">
                <a:latin typeface="Times New Roman" pitchFamily="18" charset="0"/>
                <a:cs typeface="Times New Roman" pitchFamily="18" charset="0"/>
              </a:rPr>
              <a:t>mumkin</a:t>
            </a:r>
            <a:r>
              <a:rPr lang="en-US" sz="2200" dirty="0">
                <a:latin typeface="Times New Roman" pitchFamily="18" charset="0"/>
                <a:cs typeface="Times New Roman" pitchFamily="18" charset="0"/>
              </a:rPr>
              <a:t>. Bu </a:t>
            </a:r>
            <a:r>
              <a:rPr lang="en-US" sz="2200" dirty="0" err="1">
                <a:latin typeface="Times New Roman" pitchFamily="18" charset="0"/>
                <a:cs typeface="Times New Roman" pitchFamily="18" charset="0"/>
              </a:rPr>
              <a:t>xolatda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markaziy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video­server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nechta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ning</a:t>
            </a:r>
            <a:r>
              <a:rPr lang="en-US" sz="2200" dirty="0">
                <a:latin typeface="Times New Roman" pitchFamily="18" charset="0"/>
                <a:cs typeface="Times New Roman" pitchFamily="18" charset="0"/>
              </a:rPr>
              <a:t> k</a:t>
            </a:r>
            <a:r>
              <a:rPr lang="uz-Cyrl-UZ" sz="2200" dirty="0">
                <a:latin typeface="Times New Roman" pitchFamily="18" charset="0"/>
                <a:cs typeface="Times New Roman" pitchFamily="18" charset="0"/>
              </a:rPr>
              <a:t>o‘</a:t>
            </a:r>
            <a:r>
              <a:rPr lang="en-US" sz="2200" dirty="0">
                <a:latin typeface="Times New Roman" pitchFamily="18" charset="0"/>
                <a:cs typeface="Times New Roman" pitchFamily="18" charset="0"/>
              </a:rPr>
              <a:t>p </a:t>
            </a:r>
            <a:r>
              <a:rPr lang="en-US" sz="2200" dirty="0" err="1">
                <a:latin typeface="Times New Roman" pitchFamily="18" charset="0"/>
                <a:cs typeface="Times New Roman" pitchFamily="18" charset="0"/>
              </a:rPr>
              <a:t>darajali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iyerarxik</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arxitekturasining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aylanma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segmentlariga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yakinlashtirilgan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lokal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serverlarga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almashtiriladi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Xozirgi </a:t>
            </a:r>
            <a:r>
              <a:rPr lang="uz-Cyrl-UZ" sz="2200" dirty="0">
                <a:latin typeface="Times New Roman" pitchFamily="18" charset="0"/>
                <a:cs typeface="Times New Roman" pitchFamily="18" charset="0"/>
              </a:rPr>
              <a:t>paytda IP Multicast keng qo‘llaniladigan tarmoq standartiga aylangan. </a:t>
            </a:r>
            <a:r>
              <a:rPr lang="en-US" sz="2200" dirty="0" err="1">
                <a:latin typeface="Times New Roman" pitchFamily="18" charset="0"/>
                <a:cs typeface="Times New Roman" pitchFamily="18" charset="0"/>
              </a:rPr>
              <a:t>Zamonaviy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tarmoqli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dasturiy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ta’minot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apparatura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standartni</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qo‘</a:t>
            </a:r>
            <a:r>
              <a:rPr lang="en-US" sz="2200" dirty="0" err="1">
                <a:latin typeface="Times New Roman" pitchFamily="18" charset="0"/>
                <a:cs typeface="Times New Roman" pitchFamily="18" charset="0"/>
              </a:rPr>
              <a:t>llab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quvvatlaydi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Guruxli</a:t>
            </a:r>
            <a:r>
              <a:rPr lang="en-US" sz="2200" dirty="0">
                <a:latin typeface="Times New Roman" pitchFamily="18" charset="0"/>
                <a:cs typeface="Times New Roman" pitchFamily="18" charset="0"/>
              </a:rPr>
              <a:t> IP-</a:t>
            </a:r>
            <a:r>
              <a:rPr lang="en-US" sz="2200" dirty="0" err="1">
                <a:latin typeface="Times New Roman" pitchFamily="18" charset="0"/>
                <a:cs typeface="Times New Roman" pitchFamily="18" charset="0"/>
              </a:rPr>
              <a:t>manzillashni</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qo‘</a:t>
            </a:r>
            <a:r>
              <a:rPr lang="en-US" sz="2200" dirty="0" err="1">
                <a:latin typeface="Times New Roman" pitchFamily="18" charset="0"/>
                <a:cs typeface="Times New Roman" pitchFamily="18" charset="0"/>
              </a:rPr>
              <a:t>llash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uchun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lokal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 </a:t>
            </a:r>
            <a:r>
              <a:rPr lang="en-US" sz="2200" dirty="0">
                <a:latin typeface="Times New Roman" pitchFamily="18" charset="0"/>
                <a:cs typeface="Times New Roman" pitchFamily="18" charset="0"/>
              </a:rPr>
              <a:t>k</a:t>
            </a:r>
            <a:r>
              <a:rPr lang="uz-Cyrl-UZ" sz="2200" dirty="0">
                <a:latin typeface="Times New Roman" pitchFamily="18" charset="0"/>
                <a:cs typeface="Times New Roman" pitchFamily="18" charset="0"/>
              </a:rPr>
              <a:t>o‘</a:t>
            </a:r>
            <a:r>
              <a:rPr lang="en-US" sz="2200" dirty="0" err="1">
                <a:latin typeface="Times New Roman" pitchFamily="18" charset="0"/>
                <a:cs typeface="Times New Roman" pitchFamily="18" charset="0"/>
              </a:rPr>
              <a:t>tarishi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a:t>
            </a:r>
            <a:r>
              <a:rPr lang="en-US" sz="2200" dirty="0">
                <a:latin typeface="Times New Roman" pitchFamily="18" charset="0"/>
                <a:cs typeface="Times New Roman" pitchFamily="18" charset="0"/>
              </a:rPr>
              <a:t>. Global </a:t>
            </a:r>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a:t>
            </a:r>
            <a:r>
              <a:rPr lang="en-US" sz="2200" dirty="0">
                <a:latin typeface="Times New Roman" pitchFamily="18" charset="0"/>
                <a:cs typeface="Times New Roman" pitchFamily="18" charset="0"/>
              </a:rPr>
              <a:t>da </a:t>
            </a:r>
            <a:r>
              <a:rPr lang="en-US" sz="2200" dirty="0" err="1">
                <a:latin typeface="Times New Roman" pitchFamily="18" charset="0"/>
                <a:cs typeface="Times New Roman" pitchFamily="18" charset="0"/>
              </a:rPr>
              <a:t>esa</a:t>
            </a:r>
            <a:r>
              <a:rPr lang="uz-Cyrl-UZ"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ba’zi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xollarda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manzillashdan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foydalanishga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imkon</a:t>
            </a:r>
            <a:r>
              <a:rPr lang="en-US" sz="2200" dirty="0">
                <a:latin typeface="Times New Roman" pitchFamily="18" charset="0"/>
                <a:cs typeface="Times New Roman" pitchFamily="18" charset="0"/>
              </a:rPr>
              <a:t> b</a:t>
            </a:r>
            <a:r>
              <a:rPr lang="uz-Cyrl-UZ" sz="2200" dirty="0">
                <a:latin typeface="Times New Roman" pitchFamily="18" charset="0"/>
                <a:cs typeface="Times New Roman" pitchFamily="18" charset="0"/>
              </a:rPr>
              <a:t>o‘</a:t>
            </a:r>
            <a:r>
              <a:rPr lang="en-US" sz="2200" dirty="0" err="1">
                <a:latin typeface="Times New Roman" pitchFamily="18" charset="0"/>
                <a:cs typeface="Times New Roman" pitchFamily="18" charset="0"/>
              </a:rPr>
              <a:t>lmagan</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ismlardan</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o‘</a:t>
            </a:r>
            <a:r>
              <a:rPr lang="en-US" sz="2200" dirty="0" err="1">
                <a:latin typeface="Times New Roman" pitchFamily="18" charset="0"/>
                <a:cs typeface="Times New Roman" pitchFamily="18" charset="0"/>
              </a:rPr>
              <a:t>tish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uchun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tunellash»dan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foydalanish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mumkin</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1739977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8856984"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Xozirgi </a:t>
            </a:r>
            <a:r>
              <a:rPr lang="uz-Cyrl-UZ" sz="2000" dirty="0">
                <a:latin typeface="Times New Roman" pitchFamily="18" charset="0"/>
                <a:cs typeface="Times New Roman" pitchFamily="18" charset="0"/>
              </a:rPr>
              <a:t>paytda har bir inson elektraloqaning u yoki bu xizmatlaridan foydalanadi: radio eshitadi, televizion eshittirishlar ko‘radi, telefonda gaplashadi, faks uzatadi va qabul qiladi va xakozo. Istalgan xolda  elektraloqa xizmati xabarni masofaga uzatishni bajaradi. Xabarlarni jo‘natuvchilar (manbalar) va oluvchilar (iste’molchilar) odamlar yoki odamlar xizmat ko‘rsatadigan qurilmalar, masalan EHM bo‘lishi mumkin. Har bir xabarni uzatish uchun elektraloqa vositalari yoki elektraloqa tizimini tashkil etuvchi, ma’lum texnik qurilmalar to‘plami bo‘lishi zarurdir.</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Aloqa </a:t>
            </a:r>
            <a:r>
              <a:rPr lang="uz-Cyrl-UZ" sz="2000" dirty="0">
                <a:latin typeface="Times New Roman" pitchFamily="18" charset="0"/>
                <a:cs typeface="Times New Roman" pitchFamily="18" charset="0"/>
              </a:rPr>
              <a:t>tarmog‘i – bu xizmat ko‘rsatish parametrlari asosida jo‘natuvchidan qabul qilib oluvchiga axborotlarni uzatish uchun mo‘ljallangan aloqa liniyalari va oraliq qurilmalar/oraliq tugun, terminal/oxirgi tugunlar majmui.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Aloqa </a:t>
            </a:r>
            <a:r>
              <a:rPr lang="uz-Cyrl-UZ" sz="2000" dirty="0">
                <a:latin typeface="Times New Roman" pitchFamily="18" charset="0"/>
                <a:cs typeface="Times New Roman" pitchFamily="18" charset="0"/>
              </a:rPr>
              <a:t>liniyasi – belgilangan standart ko‘rsatkichlariga (chastota kengligi, uzatish tezligi va boshqalar) ega ixtisolashtirilgan kanallarni shakllantiruvchi qurilma va signal tarqatadigan fizik vositalar yig‘indisi.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Elektraloqa tarmog‘i tarkibiga quyidagilar kiradi: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foydalanuvchilar;</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aloqa punktlari;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aloqa kanallari;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tarmoq stansiyalari;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aloqa uzellari;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boshqarish tizimi.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934039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620688"/>
            <a:ext cx="8712968" cy="5847755"/>
          </a:xfrm>
          <a:prstGeom prst="rect">
            <a:avLst/>
          </a:prstGeom>
        </p:spPr>
        <p:txBody>
          <a:bodyPr wrap="square">
            <a:spAutoFit/>
          </a:bodyPr>
          <a:lstStyle/>
          <a:p>
            <a:pPr algn="just"/>
            <a:r>
              <a:rPr lang="uz-Cyrl-UZ" sz="2200" dirty="0">
                <a:latin typeface="Times New Roman" pitchFamily="18" charset="0"/>
                <a:cs typeface="Times New Roman" pitchFamily="18" charset="0"/>
              </a:rPr>
              <a:t>Foydalanuvchilar (abonentlar, mijozlar), ular xabarlar oqimini yaratishadi va qabul qilishadi, hamda odatda, axborotni yetkazish va qayta ishlash bo‘yicha, aloqa turini (telefon, ma’lumotlar uzatish, teleradio eshittirish va xakozo) tanlash bo‘yicha va belgilangan sifatga rioya qilgan xolda, turli xizmatlarni (xizmat turlarini) olish bo‘yicha talablarni belgilaydi.</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Aloqa punktlarini ikkita qismga ajratish mumkin:</a:t>
            </a:r>
            <a:endParaRPr lang="ru-RU"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a) abonent punktlari (AP), ular elektraloqa tarmog‘iga axborotlarni kiritish va chiqarish (ayrim xollarda saqlash va qayta ishlash) apparaturasidan iborat bo‘ladi. AP abonentlarning doimo foydalanishida bo‘ladi;</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b) axborot xizmat ko‘rsatish punkti (AXkP) – bu so‘rovnoma xizmatlari, turli xisoblash markazlari, ma’lumotlar banki, kutubxonalar va boshqa jamoa bo‘lib foydalanuvchi markazlardir. Ular axborot ta’minoti bilan bog‘liq  axborotlarni yig‘ish, qayta ishlash, saqlash, chiqarish va boshqa xizmatlardan foydalanuvchilarga taqdim etishni ta’minlaydi.</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Aloqa kanallari – aloqa liniyalariga birlashgan bo‘lib, ular tarmoq aloxida punktlari orasida xabarlarni uzatishni ta’minlaydi.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289074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260648"/>
            <a:ext cx="8784976" cy="4524315"/>
          </a:xfrm>
          <a:prstGeom prst="rect">
            <a:avLst/>
          </a:prstGeom>
        </p:spPr>
        <p:txBody>
          <a:bodyPr wrap="square">
            <a:spAutoFit/>
          </a:bodyPr>
          <a:lstStyle/>
          <a:p>
            <a:pPr algn="ctr"/>
            <a:r>
              <a:rPr lang="uz-Cyrl-UZ" sz="2400" b="1" dirty="0">
                <a:latin typeface="Times New Roman" pitchFamily="18" charset="0"/>
                <a:cs typeface="Times New Roman" pitchFamily="18" charset="0"/>
              </a:rPr>
              <a:t>Nazorat savollari</a:t>
            </a:r>
            <a:endParaRPr lang="ru-RU"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Unicast trafigi.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Broadcast trafigi.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Multicast trafigi.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IGMP protokolining asosiy ishlash tamoyillari.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Aloqa tarmog‘i nima</a:t>
            </a:r>
            <a:r>
              <a:rPr lang="ru-RU" sz="2400" dirty="0">
                <a:latin typeface="Times New Roman" pitchFamily="18" charset="0"/>
                <a:cs typeface="Times New Roman" pitchFamily="18" charset="0"/>
              </a:rPr>
              <a:t>? </a:t>
            </a:r>
          </a:p>
          <a:p>
            <a:pPr marL="457200" lvl="0" indent="-457200" algn="just">
              <a:buFont typeface="+mj-lt"/>
              <a:buAutoNum type="arabicPeriod"/>
            </a:pPr>
            <a:r>
              <a:rPr lang="uz-Cyrl-UZ" sz="2400" dirty="0">
                <a:latin typeface="Times New Roman" pitchFamily="18" charset="0"/>
                <a:cs typeface="Times New Roman" pitchFamily="18" charset="0"/>
              </a:rPr>
              <a:t>T</a:t>
            </a:r>
            <a:r>
              <a:rPr lang="en-US" sz="2400" dirty="0" err="1">
                <a:latin typeface="Times New Roman" pitchFamily="18" charset="0"/>
                <a:cs typeface="Times New Roman" pitchFamily="18" charset="0"/>
              </a:rPr>
              <a:t>elekommunikatsi</a:t>
            </a:r>
            <a:r>
              <a:rPr lang="uz-Cyrl-UZ" sz="2400" dirty="0">
                <a:latin typeface="Times New Roman" pitchFamily="18" charset="0"/>
                <a:cs typeface="Times New Roman" pitchFamily="18" charset="0"/>
              </a:rPr>
              <a:t>ya tarmog‘i tarkibiga nimalar kiradi</a:t>
            </a:r>
            <a:r>
              <a:rPr lang="en-US" sz="2400" dirty="0">
                <a:latin typeface="Times New Roman" pitchFamily="18" charset="0"/>
                <a:cs typeface="Times New Roman" pitchFamily="18" charset="0"/>
              </a:rPr>
              <a:t>?</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Unicast trafigi </a:t>
            </a:r>
            <a:r>
              <a:rPr lang="en-US" sz="2400" dirty="0" err="1">
                <a:latin typeface="Times New Roman" pitchFamily="18" charset="0"/>
                <a:cs typeface="Times New Roman" pitchFamily="18" charset="0"/>
              </a:rPr>
              <a:t>ning</a:t>
            </a:r>
            <a:r>
              <a:rPr lang="en-US"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Broadcast trafigi </a:t>
            </a:r>
            <a:r>
              <a:rPr lang="en-US" sz="2400" dirty="0" err="1">
                <a:latin typeface="Times New Roman" pitchFamily="18" charset="0"/>
                <a:cs typeface="Times New Roman" pitchFamily="18" charset="0"/>
              </a:rPr>
              <a:t>bilan</a:t>
            </a:r>
            <a:r>
              <a:rPr lang="en-US"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qanday bog‘lanadi.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Multicast trafigi ning  Broadcast trafigi bilan qanday bog‘lanadi.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Broadcast trafigi IGMP protokolining qanday bor.</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 IGMP protokolining Multicast trafigi bilan qanday bog‘lanadi.</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297831018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319</Words>
  <Application>Microsoft Office PowerPoint</Application>
  <PresentationFormat>Экран (4:3)</PresentationFormat>
  <Paragraphs>62</Paragraphs>
  <Slides>13</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13</vt:i4>
      </vt:variant>
    </vt:vector>
  </HeadingPairs>
  <TitlesOfParts>
    <vt:vector size="14"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27</cp:revision>
  <dcterms:created xsi:type="dcterms:W3CDTF">2020-02-10T04:46:41Z</dcterms:created>
  <dcterms:modified xsi:type="dcterms:W3CDTF">2024-02-21T05:30:20Z</dcterms:modified>
</cp:coreProperties>
</file>