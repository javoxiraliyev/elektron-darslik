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2814" y="-9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25.03.2024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25.03.2024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25.03.2024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25.03.2024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25.03.2024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25.03.2024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25.03.2024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25.03.2024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25.03.2024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25.03.2024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25.03.2024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25.03.2024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iki.pandorafms.com/index.php?title=File:Netflow_architecture.p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ru.wikipedia.org/wiki/Juniper" TargetMode="External"/><Relationship Id="rId7" Type="http://schemas.openxmlformats.org/officeDocument/2006/relationships/hyperlink" Target="https://ru.wikipedia.org/wiki/IP" TargetMode="External"/><Relationship Id="rId2" Type="http://schemas.openxmlformats.org/officeDocument/2006/relationships/hyperlink" Target="https://ru.wikipedia.org/wiki/Cisco_Systems" TargetMode="External"/><Relationship Id="rId1" Type="http://schemas.openxmlformats.org/officeDocument/2006/relationships/slideLayout" Target="../slideLayouts/slideLayout2.xml"/><Relationship Id="rId6" Type="http://schemas.openxmlformats.org/officeDocument/2006/relationships/hyperlink" Target="https://ru.wikipedia.org/w/index.php?title=IPFIX&amp;action=edit&amp;redlink=1" TargetMode="External"/><Relationship Id="rId5" Type="http://schemas.openxmlformats.org/officeDocument/2006/relationships/hyperlink" Target="https://ru.wikipedia.org/w/index.php?title=Enterasys&amp;action=edit&amp;redlink=1" TargetMode="External"/><Relationship Id="rId4" Type="http://schemas.openxmlformats.org/officeDocument/2006/relationships/hyperlink" Target="https://ru.wikipedia.org/wiki/MikroTik"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11–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smtClean="0">
              <a:solidFill>
                <a:srgbClr val="FF66CC"/>
              </a:solidFill>
              <a:latin typeface="Times New Roman" pitchFamily="18" charset="0"/>
              <a:cs typeface="Times New Roman" pitchFamily="18" charset="0"/>
            </a:endParaRPr>
          </a:p>
          <a:p>
            <a:r>
              <a:rPr lang="en-US" sz="1800" dirty="0" err="1" smtClean="0">
                <a:solidFill>
                  <a:schemeClr val="tx1"/>
                </a:solidFill>
                <a:latin typeface="Times New Roman" pitchFamily="18" charset="0"/>
                <a:cs typeface="Times New Roman" pitchFamily="18" charset="0"/>
              </a:rPr>
              <a:t>Mavzu</a:t>
            </a:r>
            <a:r>
              <a:rPr lang="en-US" sz="1800" dirty="0" smtClean="0">
                <a:solidFill>
                  <a:schemeClr val="tx1"/>
                </a:solidFill>
                <a:latin typeface="Times New Roman" pitchFamily="18" charset="0"/>
                <a:cs typeface="Times New Roman" pitchFamily="18" charset="0"/>
              </a:rPr>
              <a:t>: </a:t>
            </a:r>
            <a:r>
              <a:rPr lang="uz-Cyrl-UZ" sz="1800" dirty="0">
                <a:solidFill>
                  <a:schemeClr val="tx1"/>
                </a:solidFill>
                <a:latin typeface="Times New Roman" pitchFamily="18" charset="0"/>
                <a:cs typeface="Times New Roman" pitchFamily="18" charset="0"/>
              </a:rPr>
              <a:t>Tarmoqni boshqarishni dasturlash. D</a:t>
            </a:r>
            <a:r>
              <a:rPr lang="en-US" sz="1800" dirty="0">
                <a:solidFill>
                  <a:schemeClr val="tx1"/>
                </a:solidFill>
                <a:latin typeface="Times New Roman" pitchFamily="18" charset="0"/>
                <a:cs typeface="Times New Roman" pitchFamily="18" charset="0"/>
              </a:rPr>
              <a:t>NS</a:t>
            </a:r>
            <a:r>
              <a:rPr lang="uz-Cyrl-UZ" sz="1800" dirty="0">
                <a:solidFill>
                  <a:schemeClr val="tx1"/>
                </a:solidFill>
                <a:latin typeface="Times New Roman" pitchFamily="18" charset="0"/>
                <a:cs typeface="Times New Roman" pitchFamily="18" charset="0"/>
              </a:rPr>
              <a:t>P va SNMP protokollari</a:t>
            </a:r>
            <a:endParaRPr lang="ru-RU" sz="18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latin typeface="Times New Roman" pitchFamily="18" charset="0"/>
                <a:cs typeface="Times New Roman" pitchFamily="18" charset="0"/>
              </a:rPr>
              <a:t>SNMP protokoli rivojlanish tarixi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SNMP boshqaruv asoslari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SNMP protokoli kamchiliklari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NetFlow protokoli tahlili</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34746"/>
            <a:ext cx="8928992" cy="6863417"/>
          </a:xfrm>
          <a:prstGeom prst="rect">
            <a:avLst/>
          </a:prstGeom>
        </p:spPr>
        <p:txBody>
          <a:bodyPr wrap="square">
            <a:spAutoFit/>
          </a:bodyPr>
          <a:lstStyle/>
          <a:p>
            <a:pPr algn="ctr"/>
            <a:r>
              <a:rPr lang="uz-Cyrl-UZ" sz="2000" b="1" dirty="0">
                <a:latin typeface="Times New Roman" pitchFamily="18" charset="0"/>
                <a:cs typeface="Times New Roman" pitchFamily="18" charset="0"/>
              </a:rPr>
              <a:t>SNMP protokoli rivojlanish tarixi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SNMP  protokolini yaratishda uch yo‘nilish bo‘yicha ishlanmalar o‘z hissasini qo‘shdi: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	High-Level Entity Management System (HEMS)</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Yuqori darajadagi boshqaruv ob’ektlari tizimi. Bir  qator qiziqarli texnik xarakteristikalar bilan boshqaruv tizimini belgilaydi. Afsuski,  HEMSdan faqat uning ishlab chiqilgan joylarida foydalanildi, va bu, uning faoliyati to‘xtatilishiga olib keldi.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2.	Simple Gateway Monitoring Protocol (SGMP)</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Oddiy router yordamida boshqarish protokoli. Tadqiqot bir gurux tarmoq muhandislari tomonidan tez o‘sayotgan  Internet bilan bog‘liq masalar yechimini topish uchun boshlanilgan; ularning ishi natijasi Internet routerlarini boshqarish uchun mo‘ljallangan protokol hisoblanadi.   SGMP Internetning ko‘plab hududiy tarmoqlarida amalga oshirilgan.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3.	TSR yuzasidan CMIPoverTCP (CMOT). OSIga asoslangan tarmoq boshqaruvini, xususan, TSRga asoslangan birlashgan tarmoqlarni soddalashtirish uchun Common Management Information Protocol (CMIP) (umumiy boshqaruv ma’lumot protokoli)ni qo‘llashni da’vat qiladi.  Bu uch uslubning (HEMS, SGMP i CMOT) ustun va kamchiliklari  1987-yil ikkinchi yarmi davomida tez-tez va qizg‘in muhokama qilindi. 1988-yil boshiga kelib, bugungi kungacha o‘zaro ta’sirning takrorlanmas mexanizmlarini saqlab turadigan o‘z tarmoq qurilmalari uchun o‘zining monitoring mahsulotlari va konfiguratsiyasini yaratgan turli ishlab chiqaruvchilar boshqaruv vositalari qandaydir umumiy to‘plami zarurligi  ma’lum bo‘ldi.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422510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647" y="10657"/>
            <a:ext cx="9157648"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Ko‘plab </a:t>
            </a:r>
            <a:r>
              <a:rPr lang="uz-Cyrl-UZ" sz="2000" dirty="0">
                <a:latin typeface="Times New Roman" pitchFamily="18" charset="0"/>
                <a:cs typeface="Times New Roman" pitchFamily="18" charset="0"/>
              </a:rPr>
              <a:t>kengashlardan keyin IAB (Internet Architecture Board, Internet protokollari texnik ishlanmasi uchun javobgar gurux) 1988-yil aprelida davrga oid RFC 1052 IAB Recommendations for the Development of Internet Network Management Standardsni chop etdi: unda u tez orada Oddiy Tarmoq Boshqaruvi elementlarini (Simple Network Management) tuzishga da’vat qildi. </a:t>
            </a:r>
            <a:r>
              <a:rPr lang="uz-Cyrl-UZ" sz="2000" dirty="0" smtClean="0">
                <a:latin typeface="Times New Roman" pitchFamily="18" charset="0"/>
                <a:cs typeface="Times New Roman" pitchFamily="18" charset="0"/>
              </a:rPr>
              <a:t>Ikkita ishchi gurux tashkil qilindi. Bir </a:t>
            </a:r>
            <a:r>
              <a:rPr lang="uz-Cyrl-UZ" sz="2000" dirty="0">
                <a:latin typeface="Times New Roman" pitchFamily="18" charset="0"/>
                <a:cs typeface="Times New Roman" pitchFamily="18" charset="0"/>
              </a:rPr>
              <a:t>gurux Boshqaruv Informatsion bazasi MIB (Management Information Base) elementlarini ishlab chiqish bilan shug‘ullana boshladi. Keyinchalik, bu yo‘nalish bo‘yicha ishlar Ob’ektlarni Boshqarish Strukturasi SMI (Structure for Management Information) tuzilishiga qo‘shilib ketdi</a:t>
            </a:r>
            <a:r>
              <a:rPr lang="uz-Cyrl-UZ" sz="2000" dirty="0" smtClean="0">
                <a:latin typeface="Times New Roman" pitchFamily="18" charset="0"/>
                <a:cs typeface="Times New Roman" pitchFamily="18" charset="0"/>
              </a:rPr>
              <a:t>.</a:t>
            </a:r>
            <a:endParaRPr lang="ru-RU" sz="2000" dirty="0" smtClean="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Protokol boshqaruvini rivojlantirish bilan mashg‘ul boshqa gurux esa keyinchalik SNMP deb nomlangan  SGMPning yangi versiyasini yaratish boshqaruv muammolari vaqtinchalik yechimi bo‘ladi, degan qarorga keldi.  Uzoq vaqt qo‘llanilishi uchun, chuqur va batafsil ishlanmalardan keyin  OSI (yoki CMOT, yoki  CMIP) ga asoslangan texnologiyalardan biri qo‘llanilishi kerak edi. </a:t>
            </a:r>
            <a:endParaRPr lang="ru-RU" sz="2000" dirty="0" smtClean="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Undan </a:t>
            </a:r>
            <a:r>
              <a:rPr lang="uz-Cyrl-UZ" sz="2000" dirty="0">
                <a:latin typeface="Times New Roman" pitchFamily="18" charset="0"/>
                <a:cs typeface="Times New Roman" pitchFamily="18" charset="0"/>
              </a:rPr>
              <a:t>tashqari, barcha boshqaruv tizimlarida  boshqaruv strukturalarini namoyish qilish uchun umumiy tilga o‘xshash   ASN 1 (Abstract Syntax Notation One, birinchi raqamli sintaksisa spetsifikatsiyasi)ni qo‘llashga kelishib olindi. Bu spetsifikatsiya hozirgi kunda. MIB strukturasi va elementlarini tasvirlashda qo‘llaniladi.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1988-yil avgustda uchta asosiy hujjat paydo bo‘ldi: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RFC 1065: Structure and Identification of Management Information for TCP/IP-based internets</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RFC 1066: Management Information Base for Network Management of TCP/IP-based internets.</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RFC 1067: A Simple Network Management Protocol.</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09581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024" y="0"/>
            <a:ext cx="9144000" cy="6924973"/>
          </a:xfrm>
          <a:prstGeom prst="rect">
            <a:avLst/>
          </a:prstGeom>
        </p:spPr>
        <p:txBody>
          <a:bodyPr wrap="square">
            <a:spAutoFit/>
          </a:bodyPr>
          <a:lstStyle/>
          <a:p>
            <a:pPr algn="just"/>
            <a:r>
              <a:rPr lang="en-US" sz="1850" dirty="0" smtClean="0">
                <a:latin typeface="Times New Roman" pitchFamily="18" charset="0"/>
                <a:cs typeface="Times New Roman" pitchFamily="18" charset="0"/>
              </a:rPr>
              <a:t>	</a:t>
            </a:r>
            <a:r>
              <a:rPr lang="uz-Cyrl-UZ" sz="1850" dirty="0" smtClean="0">
                <a:latin typeface="Times New Roman" pitchFamily="18" charset="0"/>
                <a:cs typeface="Times New Roman" pitchFamily="18" charset="0"/>
              </a:rPr>
              <a:t>Natijada </a:t>
            </a:r>
            <a:r>
              <a:rPr lang="uz-Cyrl-UZ" sz="1850" dirty="0">
                <a:latin typeface="Times New Roman" pitchFamily="18" charset="0"/>
                <a:cs typeface="Times New Roman" pitchFamily="18" charset="0"/>
              </a:rPr>
              <a:t>bu hujjatlar qayta nashr qilindi va SNMP keyingi avlodini belgilash uchun to‘ldirildi: o‘z navbatida qayta ishlangan RFC 1155, 1156 i 1157. Oxir oqibat, 1991-yil mayida SNMP protokoli birinchi versiyasini tuzish bo‘yicha ishlar tugatildi va bu quyidagi hujjatlar tuzilishida o‘z aksini topdi:</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1. RFC 1155: (SIM) Structure and Identification of Management Information for TCP/IP-based internets (May, 1990)</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 global tarmoq ko‘rinishida boshqaruv habarlari strukturasini belgilaydi.</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   Vaqti vaqti bilan o‘zgaradigan nomlarni aniqlash sintaksisini belgilaydi.</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2. RFC 1212: (MIB) Concise MIB (Management Information Base) Definitions (Mart, 1991)</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 Vaqti vaqti bilan o‘zgaradigan nomlarni aniqlash sintaksisi qisman RFC 1155ni to‘ldiradi.  </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3. RFC 1213: (MIB-II) Management Information Base for Network Management of TCP/IP-based internets: MIB-II (Mart, 1991)</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 TCP/IP tarmoqqa kiruvchi status va statistika, konfiguratsiya uchun javob beradigan davriy o‘zgaradigan  tizimlar ro‘yxatini o‘z ichiga oladi.   </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4. RFC 1157: (SNMP) A Simple Network Management Protocol (May, 1990)</a:t>
            </a:r>
            <a:endParaRPr lang="ru-RU" sz="1850" dirty="0">
              <a:latin typeface="Times New Roman" pitchFamily="18" charset="0"/>
              <a:cs typeface="Times New Roman" pitchFamily="18" charset="0"/>
            </a:endParaRPr>
          </a:p>
          <a:p>
            <a:pPr algn="just"/>
            <a:r>
              <a:rPr lang="uz-Cyrl-UZ" sz="1850" dirty="0">
                <a:latin typeface="Times New Roman" pitchFamily="18" charset="0"/>
                <a:cs typeface="Times New Roman" pitchFamily="18" charset="0"/>
              </a:rPr>
              <a:t>- davriy o‘zgaradigan  tizimlar belgilanishini qabul qilish va yangilash uchun boshqaruv stansiyasi va boshqaruv ob’ekti almashinadigan xabarlarni belgilaydi.</a:t>
            </a:r>
            <a:endParaRPr lang="ru-RU" sz="1850" dirty="0">
              <a:latin typeface="Times New Roman" pitchFamily="18" charset="0"/>
              <a:cs typeface="Times New Roman" pitchFamily="18" charset="0"/>
            </a:endParaRPr>
          </a:p>
          <a:p>
            <a:pPr algn="just"/>
            <a:r>
              <a:rPr lang="en-US" sz="1850" dirty="0" smtClean="0">
                <a:latin typeface="Times New Roman" pitchFamily="18" charset="0"/>
                <a:cs typeface="Times New Roman" pitchFamily="18" charset="0"/>
              </a:rPr>
              <a:t>	</a:t>
            </a:r>
            <a:r>
              <a:rPr lang="uz-Cyrl-UZ" sz="1850" dirty="0" smtClean="0">
                <a:latin typeface="Times New Roman" pitchFamily="18" charset="0"/>
                <a:cs typeface="Times New Roman" pitchFamily="18" charset="0"/>
              </a:rPr>
              <a:t>Konfiguratsiyasida </a:t>
            </a:r>
            <a:r>
              <a:rPr lang="uz-Cyrl-UZ" sz="1850" dirty="0">
                <a:latin typeface="Times New Roman" pitchFamily="18" charset="0"/>
                <a:cs typeface="Times New Roman" pitchFamily="18" charset="0"/>
              </a:rPr>
              <a:t>sezilarli o‘zgarishlar bo‘lganda tizim tomonidan yuboriladigan trap (alarm) - xabarlarni belgilaydi</a:t>
            </a:r>
            <a:r>
              <a:rPr lang="uz-Cyrl-UZ" sz="1850" dirty="0" smtClean="0">
                <a:latin typeface="Times New Roman" pitchFamily="18" charset="0"/>
                <a:cs typeface="Times New Roman" pitchFamily="18" charset="0"/>
              </a:rPr>
              <a:t>.</a:t>
            </a:r>
            <a:r>
              <a:rPr lang="en-US" sz="1850" dirty="0" smtClean="0">
                <a:latin typeface="Times New Roman" pitchFamily="18" charset="0"/>
                <a:cs typeface="Times New Roman" pitchFamily="18" charset="0"/>
              </a:rPr>
              <a:t> </a:t>
            </a:r>
            <a:r>
              <a:rPr lang="uz-Cyrl-UZ" sz="1850" dirty="0" smtClean="0">
                <a:latin typeface="Times New Roman" pitchFamily="18" charset="0"/>
                <a:cs typeface="Times New Roman" pitchFamily="18" charset="0"/>
              </a:rPr>
              <a:t>Bugungi </a:t>
            </a:r>
            <a:r>
              <a:rPr lang="uz-Cyrl-UZ" sz="1850" dirty="0">
                <a:latin typeface="Times New Roman" pitchFamily="18" charset="0"/>
                <a:cs typeface="Times New Roman" pitchFamily="18" charset="0"/>
              </a:rPr>
              <a:t>kunda SNMP turli tijorat, universitet va tadqiqot birlashgan tarmoqlarini boshqarish eng mashhur protokoli hisoblanadi.   SNMP bilan bog‘liq uning standartizatsiyasi faoliyati yetkazib beruvchilar zamonaviy amaliy boshqaruv dasturlari ishga tushirilishi bilan bir yo‘sinda davom etadi. SNMP nisbatan oddiy protokoldir, biroq, uning  xarakteristikalari to‘plami geterogen tarmoqlar boshqaruvida yuzaga keladigan muammolarni yechishda ancha kuchli hisoblanadi. </a:t>
            </a:r>
            <a:endParaRPr lang="ru-RU" sz="1850" dirty="0">
              <a:latin typeface="Times New Roman" pitchFamily="18" charset="0"/>
              <a:cs typeface="Times New Roman" pitchFamily="18" charset="0"/>
            </a:endParaRPr>
          </a:p>
        </p:txBody>
      </p:sp>
    </p:spTree>
    <p:extLst>
      <p:ext uri="{BB962C8B-B14F-4D97-AF65-F5344CB8AC3E}">
        <p14:creationId xmlns:p14="http://schemas.microsoft.com/office/powerpoint/2010/main" val="1450392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35931"/>
            <a:ext cx="9036496" cy="5847755"/>
          </a:xfrm>
          <a:prstGeom prst="rect">
            <a:avLst/>
          </a:prstGeom>
        </p:spPr>
        <p:txBody>
          <a:bodyPr wrap="square">
            <a:spAutoFit/>
          </a:bodyPr>
          <a:lstStyle/>
          <a:p>
            <a:pPr algn="ctr"/>
            <a:r>
              <a:rPr lang="uz-Cyrl-UZ" sz="2200" b="1" dirty="0">
                <a:latin typeface="Times New Roman" pitchFamily="18" charset="0"/>
                <a:cs typeface="Times New Roman" pitchFamily="18" charset="0"/>
              </a:rPr>
              <a:t>SNMP boshqaruv asoslari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SNMP </a:t>
            </a:r>
            <a:r>
              <a:rPr lang="uz-Cyrl-UZ" sz="2200" dirty="0">
                <a:latin typeface="Times New Roman" pitchFamily="18" charset="0"/>
                <a:cs typeface="Times New Roman" pitchFamily="18" charset="0"/>
              </a:rPr>
              <a:t>boshqaruv asoslari mijoz va provayder o‘rtasida almashinadigan besh turli xabarlarlarni belgilaydi. </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Bir </a:t>
            </a:r>
            <a:r>
              <a:rPr lang="uz-Cyrl-UZ" sz="2200" dirty="0">
                <a:latin typeface="Times New Roman" pitchFamily="18" charset="0"/>
                <a:cs typeface="Times New Roman" pitchFamily="18" charset="0"/>
              </a:rPr>
              <a:t>necha o‘zgaruvchan davriylikdan birining ahamiyatini olish: get-request operatori. Shundan keyingi yoki bir nechta ko‘rsatilgan o‘zgaruvchan davriylikni olish. Bir nechta o‘zgaruvchan davriylikdan bittasini ahamiyatini belgilash set-request operatori. Bir nechta o‘zgaruvchan davriylikdan bittasini ahamiyatini berish: get-response operatori. Bu xabarni agent menedjerga get-request, get-next-request va set-request operatorlariga javob tarzda yuboradi. Agent bilan imadir sodir bo‘lganda menedjergaxabar berish: trap operatori.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Birinchi </a:t>
            </a:r>
            <a:r>
              <a:rPr lang="uz-Cyrl-UZ" sz="2200" dirty="0">
                <a:latin typeface="Times New Roman" pitchFamily="18" charset="0"/>
                <a:cs typeface="Times New Roman" pitchFamily="18" charset="0"/>
              </a:rPr>
              <a:t>uchta xabar menedjerdan agentga, qolgan ikkitasi agentdan menedjerga yuboriladi. 1.1-rasmda barcha besh operatorlar ko‘rsatilgan.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Beshta SNMPdan to‘trttasi oddiy so‘rov-javob ketma-ketligida yuajarilgani sabab(menedjer so‘rov yuboradi, agent javob qaytaradi), SNMP lar UDPdan foydalanishadi. Bu anglatadiki, menedjer so‘rovi agentga bolmasligi, agent javobi ham menedjerga yetib bormasligi mumkin. Bunday holatda, menedjer taym-autni ishlab beradi va qayta jo‘natadi (1.1-rasm).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43063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a:stretch>
            <a:fillRect/>
          </a:stretch>
        </p:blipFill>
        <p:spPr bwMode="auto">
          <a:xfrm>
            <a:off x="467544" y="188640"/>
            <a:ext cx="8280919" cy="3168352"/>
          </a:xfrm>
          <a:prstGeom prst="rect">
            <a:avLst/>
          </a:prstGeom>
          <a:noFill/>
          <a:ln w="9525">
            <a:noFill/>
            <a:miter lim="800000"/>
            <a:headEnd/>
            <a:tailEnd/>
          </a:ln>
        </p:spPr>
      </p:pic>
      <p:sp>
        <p:nvSpPr>
          <p:cNvPr id="5" name="Прямоугольник 4"/>
          <p:cNvSpPr/>
          <p:nvPr/>
        </p:nvSpPr>
        <p:spPr>
          <a:xfrm>
            <a:off x="2785100" y="3340354"/>
            <a:ext cx="3945439" cy="400110"/>
          </a:xfrm>
          <a:prstGeom prst="rect">
            <a:avLst/>
          </a:prstGeom>
        </p:spPr>
        <p:txBody>
          <a:bodyPr wrap="none">
            <a:spAutoFit/>
          </a:bodyPr>
          <a:lstStyle/>
          <a:p>
            <a:r>
              <a:rPr lang="uz-Cyrl-UZ" sz="2000" dirty="0">
                <a:latin typeface="Times New Roman" pitchFamily="18" charset="0"/>
                <a:cs typeface="Times New Roman" pitchFamily="18" charset="0"/>
              </a:rPr>
              <a:t>Rasm 1.1. SNMP beshta operatorlari</a:t>
            </a:r>
            <a:endParaRPr lang="ru-RU" sz="2000" dirty="0">
              <a:latin typeface="Times New Roman" pitchFamily="18" charset="0"/>
              <a:cs typeface="Times New Roman" pitchFamily="18" charset="0"/>
            </a:endParaRPr>
          </a:p>
        </p:txBody>
      </p:sp>
      <p:sp>
        <p:nvSpPr>
          <p:cNvPr id="6" name="Прямоугольник 5"/>
          <p:cNvSpPr/>
          <p:nvPr/>
        </p:nvSpPr>
        <p:spPr>
          <a:xfrm>
            <a:off x="107504" y="4077072"/>
            <a:ext cx="8928992" cy="1631216"/>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Menedjer </a:t>
            </a:r>
            <a:r>
              <a:rPr lang="uz-Cyrl-UZ" sz="2000" dirty="0">
                <a:latin typeface="Times New Roman" pitchFamily="18" charset="0"/>
                <a:cs typeface="Times New Roman" pitchFamily="18" charset="0"/>
              </a:rPr>
              <a:t>bu uchta so‘rovni  UDP port 161ga jo‘natadi. Agent UDP port 162ga tuzoqlar (trap) yuboradi. Ikki turli port ishlatilganligi sabab, bir tizimbir vaqtning o‘zida ham agent, ham menedjer sifatida kelishi mumkin.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1.2-rasmda  UDP datagrammaga inkapsulyatsiya qilingan SNMP besh xabarining formati keltirilgan.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240201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a:stretch>
            <a:fillRect/>
          </a:stretch>
        </p:blipFill>
        <p:spPr bwMode="auto">
          <a:xfrm>
            <a:off x="179512" y="116632"/>
            <a:ext cx="8856984" cy="3600400"/>
          </a:xfrm>
          <a:prstGeom prst="rect">
            <a:avLst/>
          </a:prstGeom>
          <a:noFill/>
          <a:ln w="9525">
            <a:noFill/>
            <a:miter lim="800000"/>
            <a:headEnd/>
            <a:tailEnd/>
          </a:ln>
        </p:spPr>
      </p:pic>
      <p:sp>
        <p:nvSpPr>
          <p:cNvPr id="5" name="Прямоугольник 4"/>
          <p:cNvSpPr/>
          <p:nvPr/>
        </p:nvSpPr>
        <p:spPr>
          <a:xfrm>
            <a:off x="2390029" y="3727689"/>
            <a:ext cx="4905638" cy="400110"/>
          </a:xfrm>
          <a:prstGeom prst="rect">
            <a:avLst/>
          </a:prstGeom>
        </p:spPr>
        <p:txBody>
          <a:bodyPr wrap="none">
            <a:spAutoFit/>
          </a:bodyPr>
          <a:lstStyle/>
          <a:p>
            <a:r>
              <a:rPr lang="uz-Cyrl-UZ" sz="2000" dirty="0">
                <a:latin typeface="Times New Roman" pitchFamily="18" charset="0"/>
                <a:cs typeface="Times New Roman" pitchFamily="18" charset="0"/>
              </a:rPr>
              <a:t>Rasm 1.2. SNMP beshta xabarining ko‘rinishi</a:t>
            </a:r>
            <a:endParaRPr lang="ru-RU" sz="2000" dirty="0">
              <a:latin typeface="Times New Roman" pitchFamily="18" charset="0"/>
              <a:cs typeface="Times New Roman" pitchFamily="18" charset="0"/>
            </a:endParaRPr>
          </a:p>
        </p:txBody>
      </p:sp>
      <p:sp>
        <p:nvSpPr>
          <p:cNvPr id="6" name="Прямоугольник 5"/>
          <p:cNvSpPr/>
          <p:nvPr/>
        </p:nvSpPr>
        <p:spPr>
          <a:xfrm>
            <a:off x="179512" y="4221088"/>
            <a:ext cx="8856984" cy="1631216"/>
          </a:xfrm>
          <a:prstGeom prst="rect">
            <a:avLst/>
          </a:prstGeom>
        </p:spPr>
        <p:txBody>
          <a:bodyPr wrap="square">
            <a:spAutoFit/>
          </a:bodyPr>
          <a:lstStyle/>
          <a:p>
            <a:pPr algn="just"/>
            <a:r>
              <a:rPr lang="uz-Cyrl-UZ" sz="2000" dirty="0">
                <a:latin typeface="Times New Roman" pitchFamily="18" charset="0"/>
                <a:cs typeface="Times New Roman" pitchFamily="18" charset="0"/>
              </a:rPr>
              <a:t>Version maydonining miqdori 0ga teng. Bu miqdor haqiqatda minus bir raqamiga teng.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1.1-jadvalda protokolning ma’lumotlar bloki turi uchun belgilanish yoki miqdor ko‘rsatilgan (PDU type).  (PDU – protokol ma’lumotlari bloki – Protocol Data Unit, odatda "paket" deb nomlanadi.)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645743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3635896" y="35089"/>
            <a:ext cx="5479379" cy="707886"/>
          </a:xfrm>
          <a:prstGeom prst="rect">
            <a:avLst/>
          </a:prstGeom>
        </p:spPr>
        <p:txBody>
          <a:bodyPr wrap="square">
            <a:spAutoFit/>
          </a:bodyPr>
          <a:lstStyle/>
          <a:p>
            <a:pPr algn="r"/>
            <a:r>
              <a:rPr lang="uz-Cyrl-UZ" sz="2000" dirty="0">
                <a:latin typeface="Times New Roman" pitchFamily="18" charset="0"/>
                <a:cs typeface="Times New Roman" pitchFamily="18" charset="0"/>
              </a:rPr>
              <a:t>Jadval 1.1.</a:t>
            </a:r>
            <a:endParaRPr lang="ru-RU"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SNMP xabarlari  PDU xili</a:t>
            </a:r>
            <a:endParaRPr lang="ru-RU" sz="2000" dirty="0">
              <a:latin typeface="Times New Roman" pitchFamily="18" charset="0"/>
              <a:cs typeface="Times New Roman" pitchFamily="18" charset="0"/>
            </a:endParaRPr>
          </a:p>
        </p:txBody>
      </p:sp>
      <p:graphicFrame>
        <p:nvGraphicFramePr>
          <p:cNvPr id="7" name="Таблица 6"/>
          <p:cNvGraphicFramePr>
            <a:graphicFrameLocks noGrp="1"/>
          </p:cNvGraphicFramePr>
          <p:nvPr>
            <p:extLst>
              <p:ext uri="{D42A27DB-BD31-4B8C-83A1-F6EECF244321}">
                <p14:modId xmlns:p14="http://schemas.microsoft.com/office/powerpoint/2010/main" val="3522699809"/>
              </p:ext>
            </p:extLst>
          </p:nvPr>
        </p:nvGraphicFramePr>
        <p:xfrm>
          <a:off x="467544" y="908720"/>
          <a:ext cx="8064896" cy="2304258"/>
        </p:xfrm>
        <a:graphic>
          <a:graphicData uri="http://schemas.openxmlformats.org/drawingml/2006/table">
            <a:tbl>
              <a:tblPr>
                <a:tableStyleId>{5C22544A-7EE6-4342-B048-85BDC9FD1C3A}</a:tableStyleId>
              </a:tblPr>
              <a:tblGrid>
                <a:gridCol w="2902931"/>
                <a:gridCol w="5161965"/>
              </a:tblGrid>
              <a:tr h="384043">
                <a:tc>
                  <a:txBody>
                    <a:bodyPr/>
                    <a:lstStyle/>
                    <a:p>
                      <a:pPr algn="just">
                        <a:lnSpc>
                          <a:spcPct val="150000"/>
                        </a:lnSpc>
                        <a:spcAft>
                          <a:spcPts val="0"/>
                        </a:spcAft>
                        <a:tabLst>
                          <a:tab pos="630555" algn="l"/>
                        </a:tabLst>
                      </a:pPr>
                      <a:r>
                        <a:rPr lang="uz-Cyrl-UZ" sz="1400">
                          <a:effectLst/>
                        </a:rPr>
                        <a:t>PDU type</a:t>
                      </a:r>
                      <a:endParaRPr lang="ru-RU" sz="1000">
                        <a:effectLst/>
                        <a:latin typeface="Times New Roman"/>
                        <a:ea typeface="Times New Roman"/>
                      </a:endParaRPr>
                    </a:p>
                  </a:txBody>
                  <a:tcPr marL="47625" marR="47625" marT="0" marB="0"/>
                </a:tc>
                <a:tc>
                  <a:txBody>
                    <a:bodyPr/>
                    <a:lstStyle/>
                    <a:p>
                      <a:pPr algn="just">
                        <a:lnSpc>
                          <a:spcPct val="150000"/>
                        </a:lnSpc>
                        <a:spcAft>
                          <a:spcPts val="0"/>
                        </a:spcAft>
                        <a:tabLst>
                          <a:tab pos="630555" algn="l"/>
                        </a:tabLst>
                      </a:pPr>
                      <a:r>
                        <a:rPr lang="uz-Cyrl-UZ" sz="1400">
                          <a:effectLst/>
                        </a:rPr>
                        <a:t>Ism</a:t>
                      </a:r>
                      <a:endParaRPr lang="ru-RU" sz="1000">
                        <a:effectLst/>
                        <a:latin typeface="Times New Roman"/>
                        <a:ea typeface="Times New Roman"/>
                      </a:endParaRPr>
                    </a:p>
                  </a:txBody>
                  <a:tcPr marL="47625" marR="47625" marT="0" marB="0"/>
                </a:tc>
              </a:tr>
              <a:tr h="384043">
                <a:tc>
                  <a:txBody>
                    <a:bodyPr/>
                    <a:lstStyle/>
                    <a:p>
                      <a:pPr algn="just">
                        <a:lnSpc>
                          <a:spcPct val="150000"/>
                        </a:lnSpc>
                        <a:spcAft>
                          <a:spcPts val="0"/>
                        </a:spcAft>
                        <a:tabLst>
                          <a:tab pos="630555" algn="l"/>
                        </a:tabLst>
                      </a:pPr>
                      <a:r>
                        <a:rPr lang="uz-Cyrl-UZ" sz="1400">
                          <a:effectLst/>
                        </a:rPr>
                        <a:t>0</a:t>
                      </a:r>
                      <a:endParaRPr lang="ru-RU" sz="1000">
                        <a:effectLst/>
                        <a:latin typeface="Times New Roman"/>
                        <a:ea typeface="Times New Roman"/>
                      </a:endParaRPr>
                    </a:p>
                  </a:txBody>
                  <a:tcPr marL="47625" marR="47625" marT="0" marB="0"/>
                </a:tc>
                <a:tc>
                  <a:txBody>
                    <a:bodyPr/>
                    <a:lstStyle/>
                    <a:p>
                      <a:pPr algn="just">
                        <a:lnSpc>
                          <a:spcPct val="150000"/>
                        </a:lnSpc>
                        <a:spcAft>
                          <a:spcPts val="0"/>
                        </a:spcAft>
                        <a:tabLst>
                          <a:tab pos="630555" algn="l"/>
                        </a:tabLst>
                      </a:pPr>
                      <a:r>
                        <a:rPr lang="uz-Cyrl-UZ" sz="1400">
                          <a:effectLst/>
                        </a:rPr>
                        <a:t>get-request</a:t>
                      </a:r>
                      <a:endParaRPr lang="ru-RU" sz="1000">
                        <a:effectLst/>
                        <a:latin typeface="Times New Roman"/>
                        <a:ea typeface="Times New Roman"/>
                      </a:endParaRPr>
                    </a:p>
                  </a:txBody>
                  <a:tcPr marL="47625" marR="47625" marT="0" marB="0"/>
                </a:tc>
              </a:tr>
              <a:tr h="384043">
                <a:tc>
                  <a:txBody>
                    <a:bodyPr/>
                    <a:lstStyle/>
                    <a:p>
                      <a:pPr algn="just">
                        <a:lnSpc>
                          <a:spcPct val="150000"/>
                        </a:lnSpc>
                        <a:spcAft>
                          <a:spcPts val="0"/>
                        </a:spcAft>
                        <a:tabLst>
                          <a:tab pos="630555" algn="l"/>
                        </a:tabLst>
                      </a:pPr>
                      <a:r>
                        <a:rPr lang="uz-Cyrl-UZ" sz="1400">
                          <a:effectLst/>
                        </a:rPr>
                        <a:t>1</a:t>
                      </a:r>
                      <a:endParaRPr lang="ru-RU" sz="1000">
                        <a:effectLst/>
                        <a:latin typeface="Times New Roman"/>
                        <a:ea typeface="Times New Roman"/>
                      </a:endParaRPr>
                    </a:p>
                  </a:txBody>
                  <a:tcPr marL="47625" marR="47625" marT="0" marB="0"/>
                </a:tc>
                <a:tc>
                  <a:txBody>
                    <a:bodyPr/>
                    <a:lstStyle/>
                    <a:p>
                      <a:pPr algn="just">
                        <a:lnSpc>
                          <a:spcPct val="150000"/>
                        </a:lnSpc>
                        <a:spcAft>
                          <a:spcPts val="0"/>
                        </a:spcAft>
                        <a:tabLst>
                          <a:tab pos="630555" algn="l"/>
                        </a:tabLst>
                      </a:pPr>
                      <a:r>
                        <a:rPr lang="uz-Cyrl-UZ" sz="1400" dirty="0">
                          <a:effectLst/>
                        </a:rPr>
                        <a:t>get-next-request</a:t>
                      </a:r>
                      <a:endParaRPr lang="ru-RU" sz="1000" dirty="0">
                        <a:effectLst/>
                        <a:latin typeface="Times New Roman"/>
                        <a:ea typeface="Times New Roman"/>
                      </a:endParaRPr>
                    </a:p>
                  </a:txBody>
                  <a:tcPr marL="47625" marR="47625" marT="0" marB="0"/>
                </a:tc>
              </a:tr>
              <a:tr h="384043">
                <a:tc>
                  <a:txBody>
                    <a:bodyPr/>
                    <a:lstStyle/>
                    <a:p>
                      <a:pPr algn="just">
                        <a:lnSpc>
                          <a:spcPct val="150000"/>
                        </a:lnSpc>
                        <a:spcAft>
                          <a:spcPts val="0"/>
                        </a:spcAft>
                        <a:tabLst>
                          <a:tab pos="630555" algn="l"/>
                        </a:tabLst>
                      </a:pPr>
                      <a:r>
                        <a:rPr lang="uz-Cyrl-UZ" sz="1400">
                          <a:effectLst/>
                        </a:rPr>
                        <a:t>2</a:t>
                      </a:r>
                      <a:endParaRPr lang="ru-RU" sz="1000">
                        <a:effectLst/>
                        <a:latin typeface="Times New Roman"/>
                        <a:ea typeface="Times New Roman"/>
                      </a:endParaRPr>
                    </a:p>
                  </a:txBody>
                  <a:tcPr marL="47625" marR="47625" marT="0" marB="0"/>
                </a:tc>
                <a:tc>
                  <a:txBody>
                    <a:bodyPr/>
                    <a:lstStyle/>
                    <a:p>
                      <a:pPr algn="just">
                        <a:lnSpc>
                          <a:spcPct val="150000"/>
                        </a:lnSpc>
                        <a:spcAft>
                          <a:spcPts val="0"/>
                        </a:spcAft>
                        <a:tabLst>
                          <a:tab pos="630555" algn="l"/>
                        </a:tabLst>
                      </a:pPr>
                      <a:r>
                        <a:rPr lang="uz-Cyrl-UZ" sz="1400">
                          <a:effectLst/>
                        </a:rPr>
                        <a:t>set-request</a:t>
                      </a:r>
                      <a:endParaRPr lang="ru-RU" sz="1000">
                        <a:effectLst/>
                        <a:latin typeface="Times New Roman"/>
                        <a:ea typeface="Times New Roman"/>
                      </a:endParaRPr>
                    </a:p>
                  </a:txBody>
                  <a:tcPr marL="47625" marR="47625" marT="0" marB="0"/>
                </a:tc>
              </a:tr>
              <a:tr h="384043">
                <a:tc>
                  <a:txBody>
                    <a:bodyPr/>
                    <a:lstStyle/>
                    <a:p>
                      <a:pPr algn="just">
                        <a:lnSpc>
                          <a:spcPct val="150000"/>
                        </a:lnSpc>
                        <a:spcAft>
                          <a:spcPts val="0"/>
                        </a:spcAft>
                        <a:tabLst>
                          <a:tab pos="630555" algn="l"/>
                        </a:tabLst>
                      </a:pPr>
                      <a:r>
                        <a:rPr lang="uz-Cyrl-UZ" sz="1400">
                          <a:effectLst/>
                        </a:rPr>
                        <a:t>3</a:t>
                      </a:r>
                      <a:endParaRPr lang="ru-RU" sz="1000">
                        <a:effectLst/>
                        <a:latin typeface="Times New Roman"/>
                        <a:ea typeface="Times New Roman"/>
                      </a:endParaRPr>
                    </a:p>
                  </a:txBody>
                  <a:tcPr marL="47625" marR="47625" marT="0" marB="0"/>
                </a:tc>
                <a:tc>
                  <a:txBody>
                    <a:bodyPr/>
                    <a:lstStyle/>
                    <a:p>
                      <a:pPr algn="just">
                        <a:lnSpc>
                          <a:spcPct val="150000"/>
                        </a:lnSpc>
                        <a:spcAft>
                          <a:spcPts val="0"/>
                        </a:spcAft>
                        <a:tabLst>
                          <a:tab pos="630555" algn="l"/>
                        </a:tabLst>
                      </a:pPr>
                      <a:r>
                        <a:rPr lang="uz-Cyrl-UZ" sz="1400">
                          <a:effectLst/>
                        </a:rPr>
                        <a:t>get-response</a:t>
                      </a:r>
                      <a:endParaRPr lang="ru-RU" sz="1000">
                        <a:effectLst/>
                        <a:latin typeface="Times New Roman"/>
                        <a:ea typeface="Times New Roman"/>
                      </a:endParaRPr>
                    </a:p>
                  </a:txBody>
                  <a:tcPr marL="47625" marR="47625" marT="0" marB="0"/>
                </a:tc>
              </a:tr>
              <a:tr h="384043">
                <a:tc>
                  <a:txBody>
                    <a:bodyPr/>
                    <a:lstStyle/>
                    <a:p>
                      <a:pPr algn="just">
                        <a:lnSpc>
                          <a:spcPct val="150000"/>
                        </a:lnSpc>
                        <a:spcAft>
                          <a:spcPts val="0"/>
                        </a:spcAft>
                        <a:tabLst>
                          <a:tab pos="630555" algn="l"/>
                        </a:tabLst>
                      </a:pPr>
                      <a:r>
                        <a:rPr lang="uz-Cyrl-UZ" sz="1400">
                          <a:effectLst/>
                        </a:rPr>
                        <a:t>4</a:t>
                      </a:r>
                      <a:endParaRPr lang="ru-RU" sz="1000">
                        <a:effectLst/>
                        <a:latin typeface="Times New Roman"/>
                        <a:ea typeface="Times New Roman"/>
                      </a:endParaRPr>
                    </a:p>
                  </a:txBody>
                  <a:tcPr marL="47625" marR="47625" marT="0" marB="0"/>
                </a:tc>
                <a:tc>
                  <a:txBody>
                    <a:bodyPr/>
                    <a:lstStyle/>
                    <a:p>
                      <a:pPr algn="just">
                        <a:lnSpc>
                          <a:spcPct val="150000"/>
                        </a:lnSpc>
                        <a:spcAft>
                          <a:spcPts val="0"/>
                        </a:spcAft>
                        <a:tabLst>
                          <a:tab pos="630555" algn="l"/>
                        </a:tabLst>
                      </a:pPr>
                      <a:r>
                        <a:rPr lang="uz-Cyrl-UZ" sz="1400" dirty="0">
                          <a:effectLst/>
                        </a:rPr>
                        <a:t>Trap</a:t>
                      </a:r>
                      <a:endParaRPr lang="ru-RU" sz="1000" dirty="0">
                        <a:effectLst/>
                        <a:latin typeface="Times New Roman"/>
                        <a:ea typeface="Times New Roman"/>
                      </a:endParaRPr>
                    </a:p>
                  </a:txBody>
                  <a:tcPr marL="47625" marR="47625" marT="0" marB="0"/>
                </a:tc>
              </a:tr>
            </a:tbl>
          </a:graphicData>
        </a:graphic>
      </p:graphicFrame>
      <p:sp>
        <p:nvSpPr>
          <p:cNvPr id="8" name="Прямоугольник 7"/>
          <p:cNvSpPr/>
          <p:nvPr/>
        </p:nvSpPr>
        <p:spPr>
          <a:xfrm>
            <a:off x="40694" y="3343344"/>
            <a:ext cx="9007771" cy="3477875"/>
          </a:xfrm>
          <a:prstGeom prst="rect">
            <a:avLst/>
          </a:prstGeom>
        </p:spPr>
        <p:txBody>
          <a:bodyPr wrap="square">
            <a:spAutoFit/>
          </a:bodyPr>
          <a:lstStyle/>
          <a:p>
            <a:pPr algn="just"/>
            <a:r>
              <a:rPr lang="uz-Cyrl-UZ" sz="2000" dirty="0">
                <a:latin typeface="Times New Roman" pitchFamily="18" charset="0"/>
                <a:cs typeface="Times New Roman" pitchFamily="18" charset="0"/>
              </a:rPr>
              <a:t>Hamjamiyat (community)  - bu parol ochiq holda saqlanadigan ramzlar qatoridir. Parol menedjer va agent o‘rtasidagi mumoqotda qo‘llaniladi. Odatiy belgilanish – 6 ramzli  public qatori.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get, get-next va set operatorlarida menedjer agent tomonidan get-response xabarida qaytariladigan so‘rov  identifikatorini (request ID) biz bu turdagi o‘zgaruvchan davriylikni boshqa  UDP kiritmalarida ko‘rganmiz. Bu mijozga (berilgan vaziyatda menedjer) serverdan kegan javoblarni o‘zi jo‘natgan so‘rovlar bilan solintirish imkonini beradi. Bu maydon, shuningdek, bir yoki bir necha agentlarga so‘rov yuborish, keyin esa olingan javoblarni o‘z joyi bo‘yicha qo‘yish imkonini beradi. Xato statusi (errorstatus) bu agentlarga qaytarib beriladigan va xatoni ko‘rsatadigan butun sondir. 1.2-jadvalda  xatolar tasviri, nomlari va miqdorlari keltirilgan.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87984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extLst>
              <p:ext uri="{D42A27DB-BD31-4B8C-83A1-F6EECF244321}">
                <p14:modId xmlns:p14="http://schemas.microsoft.com/office/powerpoint/2010/main" val="2478715183"/>
              </p:ext>
            </p:extLst>
          </p:nvPr>
        </p:nvGraphicFramePr>
        <p:xfrm>
          <a:off x="755574" y="764704"/>
          <a:ext cx="8136905" cy="2880360"/>
        </p:xfrm>
        <a:graphic>
          <a:graphicData uri="http://schemas.openxmlformats.org/drawingml/2006/table">
            <a:tbl>
              <a:tblPr>
                <a:tableStyleId>{5C22544A-7EE6-4342-B048-85BDC9FD1C3A}</a:tableStyleId>
              </a:tblPr>
              <a:tblGrid>
                <a:gridCol w="1006423"/>
                <a:gridCol w="1837477"/>
                <a:gridCol w="5293005"/>
              </a:tblGrid>
              <a:tr h="194310">
                <a:tc>
                  <a:txBody>
                    <a:bodyPr/>
                    <a:lstStyle/>
                    <a:p>
                      <a:pPr algn="ctr">
                        <a:lnSpc>
                          <a:spcPct val="150000"/>
                        </a:lnSpc>
                        <a:spcAft>
                          <a:spcPts val="0"/>
                        </a:spcAft>
                        <a:tabLst>
                          <a:tab pos="630555" algn="l"/>
                        </a:tabLst>
                      </a:pPr>
                      <a:r>
                        <a:rPr lang="uz-Cyrl-UZ" sz="1400" dirty="0">
                          <a:effectLst/>
                        </a:rPr>
                        <a:t>Xato statusi</a:t>
                      </a:r>
                      <a:endParaRPr lang="ru-RU" sz="1000" dirty="0">
                        <a:effectLst/>
                        <a:latin typeface="Times New Roman"/>
                        <a:ea typeface="Times New Roman"/>
                      </a:endParaRPr>
                    </a:p>
                  </a:txBody>
                  <a:tcPr marL="47625" marR="47625" marT="0" marB="0" anchor="ctr"/>
                </a:tc>
                <a:tc>
                  <a:txBody>
                    <a:bodyPr/>
                    <a:lstStyle/>
                    <a:p>
                      <a:pPr algn="ctr">
                        <a:lnSpc>
                          <a:spcPct val="150000"/>
                        </a:lnSpc>
                        <a:spcAft>
                          <a:spcPts val="0"/>
                        </a:spcAft>
                        <a:tabLst>
                          <a:tab pos="630555" algn="l"/>
                        </a:tabLst>
                      </a:pPr>
                      <a:r>
                        <a:rPr lang="uz-Cyrl-UZ" sz="1400">
                          <a:effectLst/>
                        </a:rPr>
                        <a:t>nomi</a:t>
                      </a:r>
                      <a:endParaRPr lang="ru-RU" sz="1000">
                        <a:effectLst/>
                        <a:latin typeface="Times New Roman"/>
                        <a:ea typeface="Times New Roman"/>
                      </a:endParaRPr>
                    </a:p>
                  </a:txBody>
                  <a:tcPr marL="47625" marR="47625" marT="0" marB="0" anchor="ctr"/>
                </a:tc>
                <a:tc>
                  <a:txBody>
                    <a:bodyPr/>
                    <a:lstStyle/>
                    <a:p>
                      <a:pPr algn="ctr">
                        <a:lnSpc>
                          <a:spcPct val="150000"/>
                        </a:lnSpc>
                        <a:spcAft>
                          <a:spcPts val="0"/>
                        </a:spcAft>
                        <a:tabLst>
                          <a:tab pos="630555" algn="l"/>
                        </a:tabLst>
                      </a:pPr>
                      <a:r>
                        <a:rPr lang="uz-Cyrl-UZ" sz="1400" dirty="0">
                          <a:effectLst/>
                        </a:rPr>
                        <a:t>Tasvir</a:t>
                      </a:r>
                      <a:endParaRPr lang="ru-RU" sz="1000" dirty="0">
                        <a:effectLst/>
                        <a:latin typeface="Times New Roman"/>
                        <a:ea typeface="Times New Roman"/>
                      </a:endParaRPr>
                    </a:p>
                  </a:txBody>
                  <a:tcPr marL="47625" marR="47625" marT="0" marB="0" anchor="ctr"/>
                </a:tc>
              </a:tr>
              <a:tr h="205740">
                <a:tc>
                  <a:txBody>
                    <a:bodyPr/>
                    <a:lstStyle/>
                    <a:p>
                      <a:pPr algn="ctr">
                        <a:lnSpc>
                          <a:spcPct val="150000"/>
                        </a:lnSpc>
                        <a:spcAft>
                          <a:spcPts val="0"/>
                        </a:spcAft>
                        <a:tabLst>
                          <a:tab pos="630555" algn="l"/>
                        </a:tabLst>
                      </a:pPr>
                      <a:r>
                        <a:rPr lang="uz-Cyrl-UZ" sz="1400">
                          <a:effectLst/>
                        </a:rPr>
                        <a:t>0</a:t>
                      </a:r>
                      <a:endParaRPr lang="ru-RU" sz="1000">
                        <a:effectLst/>
                        <a:latin typeface="Times New Roman"/>
                        <a:ea typeface="Times New Roman"/>
                      </a:endParaRPr>
                    </a:p>
                  </a:txBody>
                  <a:tcPr marL="47625" marR="47625" marT="0" marB="0"/>
                </a:tc>
                <a:tc>
                  <a:txBody>
                    <a:bodyPr/>
                    <a:lstStyle/>
                    <a:p>
                      <a:pPr>
                        <a:lnSpc>
                          <a:spcPct val="150000"/>
                        </a:lnSpc>
                        <a:spcAft>
                          <a:spcPts val="0"/>
                        </a:spcAft>
                        <a:tabLst>
                          <a:tab pos="630555" algn="l"/>
                        </a:tabLst>
                      </a:pPr>
                      <a:r>
                        <a:rPr lang="uz-Cyrl-UZ" sz="1400">
                          <a:effectLst/>
                        </a:rPr>
                        <a:t>No Error</a:t>
                      </a:r>
                      <a:endParaRPr lang="ru-RU" sz="1000">
                        <a:effectLst/>
                        <a:latin typeface="Times New Roman"/>
                        <a:ea typeface="Times New Roman"/>
                      </a:endParaRPr>
                    </a:p>
                  </a:txBody>
                  <a:tcPr marL="47625" marR="47625" marT="0" marB="0"/>
                </a:tc>
                <a:tc>
                  <a:txBody>
                    <a:bodyPr/>
                    <a:lstStyle/>
                    <a:p>
                      <a:pPr algn="ctr">
                        <a:lnSpc>
                          <a:spcPct val="150000"/>
                        </a:lnSpc>
                        <a:spcAft>
                          <a:spcPts val="0"/>
                        </a:spcAft>
                        <a:tabLst>
                          <a:tab pos="630555" algn="l"/>
                        </a:tabLst>
                      </a:pPr>
                      <a:r>
                        <a:rPr lang="uz-Cyrl-UZ" sz="1400" dirty="0">
                          <a:effectLst/>
                        </a:rPr>
                        <a:t>Hammasi </a:t>
                      </a:r>
                      <a:r>
                        <a:rPr lang="uz-Cyrl-UZ" sz="1400" dirty="0" smtClean="0">
                          <a:effectLst/>
                        </a:rPr>
                        <a:t>jo</a:t>
                      </a:r>
                      <a:r>
                        <a:rPr lang="en-US" sz="1400" dirty="0" smtClean="0">
                          <a:effectLst/>
                        </a:rPr>
                        <a:t>y</a:t>
                      </a:r>
                      <a:r>
                        <a:rPr lang="uz-Cyrl-UZ" sz="1400" dirty="0" smtClean="0">
                          <a:effectLst/>
                        </a:rPr>
                        <a:t>ida</a:t>
                      </a:r>
                      <a:endParaRPr lang="ru-RU" sz="1000" dirty="0">
                        <a:effectLst/>
                        <a:latin typeface="Times New Roman"/>
                        <a:ea typeface="Times New Roman"/>
                      </a:endParaRPr>
                    </a:p>
                  </a:txBody>
                  <a:tcPr marL="47625" marR="47625" marT="0" marB="0"/>
                </a:tc>
              </a:tr>
              <a:tr h="194310">
                <a:tc>
                  <a:txBody>
                    <a:bodyPr/>
                    <a:lstStyle/>
                    <a:p>
                      <a:pPr algn="ctr">
                        <a:lnSpc>
                          <a:spcPct val="150000"/>
                        </a:lnSpc>
                        <a:spcAft>
                          <a:spcPts val="0"/>
                        </a:spcAft>
                        <a:tabLst>
                          <a:tab pos="630555" algn="l"/>
                        </a:tabLst>
                      </a:pPr>
                      <a:r>
                        <a:rPr lang="uz-Cyrl-UZ" sz="1400">
                          <a:effectLst/>
                        </a:rPr>
                        <a:t>1</a:t>
                      </a:r>
                      <a:endParaRPr lang="ru-RU" sz="1000">
                        <a:effectLst/>
                        <a:latin typeface="Times New Roman"/>
                        <a:ea typeface="Times New Roman"/>
                      </a:endParaRPr>
                    </a:p>
                  </a:txBody>
                  <a:tcPr marL="47625" marR="47625" marT="0" marB="0"/>
                </a:tc>
                <a:tc>
                  <a:txBody>
                    <a:bodyPr/>
                    <a:lstStyle/>
                    <a:p>
                      <a:pPr>
                        <a:lnSpc>
                          <a:spcPct val="150000"/>
                        </a:lnSpc>
                        <a:spcAft>
                          <a:spcPts val="0"/>
                        </a:spcAft>
                        <a:tabLst>
                          <a:tab pos="630555" algn="l"/>
                        </a:tabLst>
                      </a:pPr>
                      <a:r>
                        <a:rPr lang="uz-Cyrl-UZ" sz="1400">
                          <a:effectLst/>
                        </a:rPr>
                        <a:t>Too Big</a:t>
                      </a:r>
                      <a:endParaRPr lang="ru-RU" sz="1000">
                        <a:effectLst/>
                        <a:latin typeface="Times New Roman"/>
                        <a:ea typeface="Times New Roman"/>
                      </a:endParaRPr>
                    </a:p>
                  </a:txBody>
                  <a:tcPr marL="47625" marR="47625" marT="0" marB="0"/>
                </a:tc>
                <a:tc>
                  <a:txBody>
                    <a:bodyPr/>
                    <a:lstStyle/>
                    <a:p>
                      <a:pPr algn="ctr">
                        <a:lnSpc>
                          <a:spcPct val="150000"/>
                        </a:lnSpc>
                        <a:spcAft>
                          <a:spcPts val="0"/>
                        </a:spcAft>
                        <a:tabLst>
                          <a:tab pos="630555" algn="l"/>
                        </a:tabLst>
                      </a:pPr>
                      <a:r>
                        <a:rPr lang="uz-Cyrl-UZ" sz="1400">
                          <a:effectLst/>
                        </a:rPr>
                        <a:t>Mijoz javobni bir  SNMP xabariga joylashtira olmaydi</a:t>
                      </a:r>
                      <a:endParaRPr lang="ru-RU" sz="1000" dirty="0">
                        <a:effectLst/>
                        <a:latin typeface="Times New Roman"/>
                        <a:ea typeface="Times New Roman"/>
                      </a:endParaRPr>
                    </a:p>
                  </a:txBody>
                  <a:tcPr marL="47625" marR="47625" marT="0" marB="0"/>
                </a:tc>
              </a:tr>
              <a:tr h="205740">
                <a:tc>
                  <a:txBody>
                    <a:bodyPr/>
                    <a:lstStyle/>
                    <a:p>
                      <a:pPr algn="ctr">
                        <a:lnSpc>
                          <a:spcPct val="150000"/>
                        </a:lnSpc>
                        <a:spcAft>
                          <a:spcPts val="0"/>
                        </a:spcAft>
                        <a:tabLst>
                          <a:tab pos="630555" algn="l"/>
                        </a:tabLst>
                      </a:pPr>
                      <a:r>
                        <a:rPr lang="uz-Cyrl-UZ" sz="1400">
                          <a:effectLst/>
                        </a:rPr>
                        <a:t>2</a:t>
                      </a:r>
                      <a:endParaRPr lang="ru-RU" sz="1000">
                        <a:effectLst/>
                        <a:latin typeface="Times New Roman"/>
                        <a:ea typeface="Times New Roman"/>
                      </a:endParaRPr>
                    </a:p>
                  </a:txBody>
                  <a:tcPr marL="47625" marR="47625" marT="0" marB="0"/>
                </a:tc>
                <a:tc>
                  <a:txBody>
                    <a:bodyPr/>
                    <a:lstStyle/>
                    <a:p>
                      <a:pPr>
                        <a:lnSpc>
                          <a:spcPct val="150000"/>
                        </a:lnSpc>
                        <a:spcAft>
                          <a:spcPts val="0"/>
                        </a:spcAft>
                        <a:tabLst>
                          <a:tab pos="630555" algn="l"/>
                        </a:tabLst>
                      </a:pPr>
                      <a:r>
                        <a:rPr lang="uz-Cyrl-UZ" sz="1400">
                          <a:effectLst/>
                        </a:rPr>
                        <a:t>No SuchName</a:t>
                      </a:r>
                      <a:endParaRPr lang="ru-RU" sz="1000">
                        <a:effectLst/>
                        <a:latin typeface="Times New Roman"/>
                        <a:ea typeface="Times New Roman"/>
                      </a:endParaRPr>
                    </a:p>
                  </a:txBody>
                  <a:tcPr marL="47625" marR="47625" marT="0" marB="0"/>
                </a:tc>
                <a:tc>
                  <a:txBody>
                    <a:bodyPr/>
                    <a:lstStyle/>
                    <a:p>
                      <a:pPr algn="ctr">
                        <a:lnSpc>
                          <a:spcPct val="150000"/>
                        </a:lnSpc>
                        <a:spcAft>
                          <a:spcPts val="0"/>
                        </a:spcAft>
                        <a:tabLst>
                          <a:tab pos="630555" algn="l"/>
                        </a:tabLst>
                      </a:pPr>
                      <a:r>
                        <a:rPr lang="uz-Cyrl-UZ" sz="1400" dirty="0">
                          <a:effectLst/>
                        </a:rPr>
                        <a:t>operator ahamiyatsiz o‘zgaruvchan davriylikni  ko‘rsatadi</a:t>
                      </a:r>
                      <a:endParaRPr lang="ru-RU" sz="1000" dirty="0">
                        <a:effectLst/>
                        <a:latin typeface="Times New Roman"/>
                        <a:ea typeface="Times New Roman"/>
                      </a:endParaRPr>
                    </a:p>
                  </a:txBody>
                  <a:tcPr marL="47625" marR="47625" marT="0" marB="0"/>
                </a:tc>
              </a:tr>
              <a:tr h="400050">
                <a:tc>
                  <a:txBody>
                    <a:bodyPr/>
                    <a:lstStyle/>
                    <a:p>
                      <a:pPr algn="ctr">
                        <a:lnSpc>
                          <a:spcPct val="150000"/>
                        </a:lnSpc>
                        <a:spcAft>
                          <a:spcPts val="0"/>
                        </a:spcAft>
                        <a:tabLst>
                          <a:tab pos="630555" algn="l"/>
                        </a:tabLst>
                      </a:pPr>
                      <a:r>
                        <a:rPr lang="uz-Cyrl-UZ" sz="1400">
                          <a:effectLst/>
                        </a:rPr>
                        <a:t>3</a:t>
                      </a:r>
                      <a:endParaRPr lang="ru-RU" sz="1000">
                        <a:effectLst/>
                        <a:latin typeface="Times New Roman"/>
                        <a:ea typeface="Times New Roman"/>
                      </a:endParaRPr>
                    </a:p>
                  </a:txBody>
                  <a:tcPr marL="47625" marR="47625" marT="0" marB="0"/>
                </a:tc>
                <a:tc>
                  <a:txBody>
                    <a:bodyPr/>
                    <a:lstStyle/>
                    <a:p>
                      <a:pPr>
                        <a:lnSpc>
                          <a:spcPct val="150000"/>
                        </a:lnSpc>
                        <a:spcAft>
                          <a:spcPts val="0"/>
                        </a:spcAft>
                        <a:tabLst>
                          <a:tab pos="630555" algn="l"/>
                        </a:tabLst>
                      </a:pPr>
                      <a:r>
                        <a:rPr lang="uz-Cyrl-UZ" sz="1400">
                          <a:effectLst/>
                        </a:rPr>
                        <a:t>Bad Value</a:t>
                      </a:r>
                      <a:endParaRPr lang="ru-RU" sz="1000">
                        <a:effectLst/>
                        <a:latin typeface="Times New Roman"/>
                        <a:ea typeface="Times New Roman"/>
                      </a:endParaRPr>
                    </a:p>
                  </a:txBody>
                  <a:tcPr marL="47625" marR="47625" marT="0" marB="0"/>
                </a:tc>
                <a:tc>
                  <a:txBody>
                    <a:bodyPr/>
                    <a:lstStyle/>
                    <a:p>
                      <a:pPr algn="ctr">
                        <a:lnSpc>
                          <a:spcPct val="150000"/>
                        </a:lnSpc>
                        <a:spcAft>
                          <a:spcPts val="0"/>
                        </a:spcAft>
                        <a:tabLst>
                          <a:tab pos="630555" algn="l"/>
                        </a:tabLst>
                      </a:pPr>
                      <a:r>
                        <a:rPr lang="uz-Cyrl-UZ" sz="1400">
                          <a:effectLst/>
                        </a:rPr>
                        <a:t>O‘rnatish operatsiyalarida noto‘ri belgilashga yo‘l qo‘yilgan yoki xato qilingan</a:t>
                      </a:r>
                      <a:endParaRPr lang="ru-RU" sz="1000">
                        <a:effectLst/>
                        <a:latin typeface="Times New Roman"/>
                        <a:ea typeface="Times New Roman"/>
                      </a:endParaRPr>
                    </a:p>
                  </a:txBody>
                  <a:tcPr marL="47625" marR="47625" marT="0" marB="0"/>
                </a:tc>
              </a:tr>
              <a:tr h="411480">
                <a:tc>
                  <a:txBody>
                    <a:bodyPr/>
                    <a:lstStyle/>
                    <a:p>
                      <a:pPr algn="ctr">
                        <a:lnSpc>
                          <a:spcPct val="150000"/>
                        </a:lnSpc>
                        <a:spcAft>
                          <a:spcPts val="0"/>
                        </a:spcAft>
                        <a:tabLst>
                          <a:tab pos="630555" algn="l"/>
                        </a:tabLst>
                      </a:pPr>
                      <a:r>
                        <a:rPr lang="uz-Cyrl-UZ" sz="1400">
                          <a:effectLst/>
                        </a:rPr>
                        <a:t>4</a:t>
                      </a:r>
                      <a:endParaRPr lang="ru-RU" sz="1000">
                        <a:effectLst/>
                        <a:latin typeface="Times New Roman"/>
                        <a:ea typeface="Times New Roman"/>
                      </a:endParaRPr>
                    </a:p>
                  </a:txBody>
                  <a:tcPr marL="47625" marR="47625" marT="0" marB="0"/>
                </a:tc>
                <a:tc>
                  <a:txBody>
                    <a:bodyPr/>
                    <a:lstStyle/>
                    <a:p>
                      <a:pPr>
                        <a:lnSpc>
                          <a:spcPct val="150000"/>
                        </a:lnSpc>
                        <a:spcAft>
                          <a:spcPts val="0"/>
                        </a:spcAft>
                        <a:tabLst>
                          <a:tab pos="630555" algn="l"/>
                        </a:tabLst>
                      </a:pPr>
                      <a:r>
                        <a:rPr lang="uz-Cyrl-UZ" sz="1400">
                          <a:effectLst/>
                        </a:rPr>
                        <a:t>readOnly</a:t>
                      </a:r>
                      <a:endParaRPr lang="ru-RU" sz="1000">
                        <a:effectLst/>
                        <a:latin typeface="Times New Roman"/>
                        <a:ea typeface="Times New Roman"/>
                      </a:endParaRPr>
                    </a:p>
                  </a:txBody>
                  <a:tcPr marL="47625" marR="47625" marT="0" marB="0"/>
                </a:tc>
                <a:tc>
                  <a:txBody>
                    <a:bodyPr/>
                    <a:lstStyle/>
                    <a:p>
                      <a:pPr algn="ctr">
                        <a:lnSpc>
                          <a:spcPct val="150000"/>
                        </a:lnSpc>
                        <a:spcAft>
                          <a:spcPts val="0"/>
                        </a:spcAft>
                        <a:tabLst>
                          <a:tab pos="630555" algn="l"/>
                        </a:tabLst>
                      </a:pPr>
                      <a:r>
                        <a:rPr lang="uz-Cyrl-UZ" sz="1400">
                          <a:effectLst/>
                        </a:rPr>
                        <a:t>menedjer “faqat o‘qish uchun” deb belgilangan o‘zgaruvchan davriylikni o‘zgartirishga harakat qildi</a:t>
                      </a:r>
                      <a:endParaRPr lang="ru-RU" sz="1000">
                        <a:effectLst/>
                        <a:latin typeface="Times New Roman"/>
                        <a:ea typeface="Times New Roman"/>
                      </a:endParaRPr>
                    </a:p>
                  </a:txBody>
                  <a:tcPr marL="47625" marR="47625" marT="0" marB="0"/>
                </a:tc>
              </a:tr>
              <a:tr h="194310">
                <a:tc>
                  <a:txBody>
                    <a:bodyPr/>
                    <a:lstStyle/>
                    <a:p>
                      <a:pPr algn="ctr">
                        <a:lnSpc>
                          <a:spcPct val="150000"/>
                        </a:lnSpc>
                        <a:spcAft>
                          <a:spcPts val="0"/>
                        </a:spcAft>
                        <a:tabLst>
                          <a:tab pos="630555" algn="l"/>
                        </a:tabLst>
                      </a:pPr>
                      <a:r>
                        <a:rPr lang="uz-Cyrl-UZ" sz="1400">
                          <a:effectLst/>
                        </a:rPr>
                        <a:t>5</a:t>
                      </a:r>
                      <a:endParaRPr lang="ru-RU" sz="1000">
                        <a:effectLst/>
                        <a:latin typeface="Times New Roman"/>
                        <a:ea typeface="Times New Roman"/>
                      </a:endParaRPr>
                    </a:p>
                  </a:txBody>
                  <a:tcPr marL="47625" marR="47625" marT="0" marB="0"/>
                </a:tc>
                <a:tc>
                  <a:txBody>
                    <a:bodyPr/>
                    <a:lstStyle/>
                    <a:p>
                      <a:pPr>
                        <a:lnSpc>
                          <a:spcPct val="150000"/>
                        </a:lnSpc>
                        <a:spcAft>
                          <a:spcPts val="0"/>
                        </a:spcAft>
                        <a:tabLst>
                          <a:tab pos="630555" algn="l"/>
                        </a:tabLst>
                      </a:pPr>
                      <a:r>
                        <a:rPr lang="uz-Cyrl-UZ" sz="1400">
                          <a:effectLst/>
                        </a:rPr>
                        <a:t>Gen Err</a:t>
                      </a:r>
                      <a:r>
                        <a:rPr lang="en-US" sz="1400">
                          <a:effectLst/>
                        </a:rPr>
                        <a:t>or</a:t>
                      </a:r>
                      <a:endParaRPr lang="ru-RU" sz="1000">
                        <a:effectLst/>
                        <a:latin typeface="Times New Roman"/>
                        <a:ea typeface="Times New Roman"/>
                      </a:endParaRPr>
                    </a:p>
                  </a:txBody>
                  <a:tcPr marL="47625" marR="47625" marT="0" marB="0"/>
                </a:tc>
                <a:tc>
                  <a:txBody>
                    <a:bodyPr/>
                    <a:lstStyle/>
                    <a:p>
                      <a:pPr algn="ctr">
                        <a:lnSpc>
                          <a:spcPct val="150000"/>
                        </a:lnSpc>
                        <a:spcAft>
                          <a:spcPts val="0"/>
                        </a:spcAft>
                        <a:tabLst>
                          <a:tab pos="630555" algn="l"/>
                        </a:tabLst>
                      </a:pPr>
                      <a:r>
                        <a:rPr lang="uz-Cyrl-UZ" sz="1400" dirty="0">
                          <a:effectLst/>
                        </a:rPr>
                        <a:t>Aniqlanmagan xato</a:t>
                      </a:r>
                      <a:endParaRPr lang="ru-RU" sz="1000" dirty="0">
                        <a:effectLst/>
                        <a:latin typeface="Times New Roman"/>
                        <a:ea typeface="Times New Roman"/>
                      </a:endParaRPr>
                    </a:p>
                  </a:txBody>
                  <a:tcPr marL="47625" marR="47625" marT="0" marB="0"/>
                </a:tc>
              </a:tr>
            </a:tbl>
          </a:graphicData>
        </a:graphic>
      </p:graphicFrame>
      <p:sp>
        <p:nvSpPr>
          <p:cNvPr id="5" name="Rectangle 1"/>
          <p:cNvSpPr>
            <a:spLocks noChangeArrowheads="1"/>
          </p:cNvSpPr>
          <p:nvPr/>
        </p:nvSpPr>
        <p:spPr bwMode="auto">
          <a:xfrm>
            <a:off x="3424159" y="-77012"/>
            <a:ext cx="561662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0850" algn="r" defTabSz="914400" rtl="0" eaLnBrk="1" fontAlgn="base" latinLnBrk="0" hangingPunct="1">
              <a:lnSpc>
                <a:spcPct val="100000"/>
              </a:lnSpc>
              <a:spcBef>
                <a:spcPct val="0"/>
              </a:spcBef>
              <a:spcAft>
                <a:spcPct val="0"/>
              </a:spcAft>
              <a:buClrTx/>
              <a:buSzTx/>
              <a:buFontTx/>
              <a:buNone/>
              <a:tabLst>
                <a:tab pos="630238" algn="l"/>
              </a:tabLst>
            </a:pP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Jadval 1.2.</a:t>
            </a:r>
            <a:endParaRPr kumimoji="0" lang="ru-RU"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450850" algn="l" defTabSz="914400" rtl="0" eaLnBrk="0" fontAlgn="base" latinLnBrk="0" hangingPunct="0">
              <a:lnSpc>
                <a:spcPct val="100000"/>
              </a:lnSpc>
              <a:spcBef>
                <a:spcPct val="0"/>
              </a:spcBef>
              <a:spcAft>
                <a:spcPct val="0"/>
              </a:spcAft>
              <a:buClrTx/>
              <a:buSzTx/>
              <a:buFontTx/>
              <a:buNone/>
              <a:tabLst>
                <a:tab pos="630238" algn="l"/>
              </a:tabLst>
            </a:pPr>
            <a:r>
              <a:rPr kumimoji="0" lang="uz-Cyrl-UZ"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SNMP xatosi statusi mazmuni</a:t>
            </a:r>
            <a:endParaRPr kumimoji="0" lang="ru-RU"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450850" algn="l" defTabSz="914400" rtl="0" eaLnBrk="0" fontAlgn="base" latinLnBrk="0" hangingPunct="0">
              <a:lnSpc>
                <a:spcPct val="100000"/>
              </a:lnSpc>
              <a:spcBef>
                <a:spcPct val="0"/>
              </a:spcBef>
              <a:spcAft>
                <a:spcPct val="0"/>
              </a:spcAft>
              <a:buClrTx/>
              <a:buSzTx/>
              <a:buFontTx/>
              <a:buNone/>
              <a:tabLst>
                <a:tab pos="630238" algn="l"/>
              </a:tabLst>
            </a:pPr>
            <a:endParaRPr kumimoji="0" lang="ru-RU"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6" name="Прямоугольник 5"/>
          <p:cNvSpPr/>
          <p:nvPr/>
        </p:nvSpPr>
        <p:spPr>
          <a:xfrm>
            <a:off x="107504" y="4005064"/>
            <a:ext cx="8933279" cy="2462213"/>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Xato </a:t>
            </a:r>
            <a:r>
              <a:rPr lang="uz-Cyrl-UZ" sz="2200" dirty="0">
                <a:latin typeface="Times New Roman" pitchFamily="18" charset="0"/>
                <a:cs typeface="Times New Roman" pitchFamily="18" charset="0"/>
              </a:rPr>
              <a:t>yuzaga chiqqanda, xatolar indeksi qaysi o‘zgaruvchan davriylikda xato sodir bo‘lganini ko‘rsatadigan to‘liq ishdan olinishdir. Bu miqdor agent tomonidan faqat noSuchName (bunday ism yo‘q), badValue (noto‘g‘ri miqdor) i readOnly (faqat o‘qish uchun)xatolari uchun o‘rnatiladi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O‘zgaruvchan davriylik nomlari ro‘yxati  get, get-next va set so‘rovlarida keltiriladi. Miqdorlar bo‘limi  get va get-next operatorlarida inkor qilinadi. trap (PDU type 4ga teng) operatori uchun xabarlar SNMP o‘zgartiriladi.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103193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116632"/>
            <a:ext cx="9144000" cy="6524863"/>
          </a:xfrm>
          <a:prstGeom prst="rect">
            <a:avLst/>
          </a:prstGeom>
        </p:spPr>
        <p:txBody>
          <a:bodyPr wrap="square">
            <a:spAutoFit/>
          </a:bodyPr>
          <a:lstStyle/>
          <a:p>
            <a:pPr algn="ctr"/>
            <a:r>
              <a:rPr lang="uz-Cyrl-UZ" sz="2200" b="1" dirty="0">
                <a:latin typeface="Times New Roman" pitchFamily="18" charset="0"/>
                <a:cs typeface="Times New Roman" pitchFamily="18" charset="0"/>
              </a:rPr>
              <a:t>SNMP protokoli kamchiliklari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SNMP </a:t>
            </a:r>
            <a:r>
              <a:rPr lang="uz-Cyrl-UZ" sz="2200" dirty="0">
                <a:latin typeface="Times New Roman" pitchFamily="18" charset="0"/>
                <a:cs typeface="Times New Roman" pitchFamily="18" charset="0"/>
              </a:rPr>
              <a:t>protokoli ko‘plab boshqaruv tizimlarida  asos vazifasini bajaradi, biroq bir qancha prinsipial kamchiliklarga ega bo‘lib, ular quyida sanalgan.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Agentlar va menedjerlar o‘zaro autentifikatsiyasi vositasi yo‘qligi.  autentifikatsiya vositaslariga kiritilishi mumkin bo‘lgan yagona vosita xabarlarda «hamjamiyat qatorlari» - «community string» ning qo‘llanilishidir.  Bu qator tarmoq bo‘ylab ochiq shaklda yuboriladi va agentlar va  menedjerlarning hamjamiyatlarga bo‘linishi asisi bo‘lib xizmat qiladi, shu sabab agent faqat community string maydonida agent omborida saqlanadigan qator kabi bir xil ramziy qatorni ko‘rsatadigan menedjerlar bilan o‘zaro ta’sirlashadi. Bu, albatta, autentifikatsiya usuli emas, balki agentlar va menedjerlar tuzilishi usulidir. SNMP v.2 versiyasi bu kamchilikni bartaraf qilishi kerak, lekin standart tadqiqotchilari o‘rtasidagi kelishmovchiliklar sabab yangi autentifikatsiyasi vositalari bu versiyada paydo bo‘lgan bo‘lsada, shartli bo‘lmagan deb belgilandi.  </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Ishonchsiz </a:t>
            </a:r>
            <a:r>
              <a:rPr lang="uz-Cyrl-UZ" sz="2200" dirty="0">
                <a:latin typeface="Times New Roman" pitchFamily="18" charset="0"/>
                <a:cs typeface="Times New Roman" pitchFamily="18" charset="0"/>
              </a:rPr>
              <a:t>UDP protokoli orqali ishlash (xususan, SNMP agentlari realizatsiyalari shunday ishlaydi) agentlardan menedjerlarga avariya yuborilgan xabarlar yo‘qolishiga, shu bilan sifatsiz boshqaruvga olib kelishi mumkin.</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44978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0943" y="75022"/>
            <a:ext cx="8993875" cy="3816429"/>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Qurilmaning </a:t>
            </a:r>
            <a:r>
              <a:rPr lang="uz-Cyrl-UZ" sz="2200" dirty="0">
                <a:latin typeface="Times New Roman" pitchFamily="18" charset="0"/>
                <a:cs typeface="Times New Roman" pitchFamily="18" charset="0"/>
              </a:rPr>
              <a:t>o‘rnatilgan tarmoqlarida mavjud ko‘p sonli o‘rnatilgan SNMP agentlari bilan birlashtirilgan bir birini  olib keluvchi yo‘qotishlar birlashmasini o‘rnatish orqali ishonchli transport protokoliga o‘tish yo‘li bilan to‘g‘irlash. Boshqaruv platformalarini ishlab chiquvchilar bu kamchiliklarni yengib o‘tishga harakat qidalilar. Masalan,   TMN va ISO standartlariga muvofiq ravishda ko‘p darajali boshqaruv sistemlarini ishlab chiqish uchun platforma hisoblanadigan HP OV Telecom DM TMN platformasida  agentlar va menedjerlar o‘rtasida SNMP xabarlari yo‘qolganda ularni mustaqil ravishda qayta yuborishni tashkil qiluvchi ishonchli xabar almashinuvini ta’milovchi yangi  SNMP realizatsiyasi </a:t>
            </a:r>
            <a:r>
              <a:rPr lang="uz-Cyrl-UZ" sz="2200" dirty="0" smtClean="0">
                <a:latin typeface="Times New Roman" pitchFamily="18" charset="0"/>
                <a:cs typeface="Times New Roman" pitchFamily="18" charset="0"/>
              </a:rPr>
              <a:t>ishlaydi</a:t>
            </a:r>
            <a:endParaRPr lang="en-US" sz="2200" dirty="0" smtClean="0">
              <a:latin typeface="Times New Roman" pitchFamily="18" charset="0"/>
              <a:cs typeface="Times New Roman" pitchFamily="18" charset="0"/>
            </a:endParaRPr>
          </a:p>
          <a:p>
            <a:pPr algn="just"/>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306363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16632"/>
            <a:ext cx="8784976" cy="1446550"/>
          </a:xfrm>
          <a:prstGeom prst="rect">
            <a:avLst/>
          </a:prstGeom>
        </p:spPr>
        <p:txBody>
          <a:bodyPr wrap="square">
            <a:spAutoFit/>
          </a:bodyPr>
          <a:lstStyle/>
          <a:p>
            <a:pPr algn="ctr" fontAlgn="base"/>
            <a:r>
              <a:rPr lang="uz-Cyrl-UZ" sz="2200" b="1" dirty="0" smtClean="0">
                <a:latin typeface="Times New Roman" pitchFamily="18" charset="0"/>
                <a:cs typeface="Times New Roman" pitchFamily="18" charset="0"/>
              </a:rPr>
              <a:t>NetFlow </a:t>
            </a:r>
            <a:r>
              <a:rPr lang="uz-Cyrl-UZ" sz="2200" b="1" dirty="0">
                <a:latin typeface="Times New Roman" pitchFamily="18" charset="0"/>
                <a:cs typeface="Times New Roman" pitchFamily="18" charset="0"/>
              </a:rPr>
              <a:t>protokoli tahlili</a:t>
            </a:r>
            <a:endParaRPr lang="ru-RU" sz="2200" dirty="0">
              <a:latin typeface="Times New Roman" pitchFamily="18" charset="0"/>
              <a:cs typeface="Times New Roman" pitchFamily="18" charset="0"/>
            </a:endParaRPr>
          </a:p>
          <a:p>
            <a:pPr fontAlgn="base"/>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NetFlow </a:t>
            </a:r>
            <a:r>
              <a:rPr lang="uz-Cyrl-UZ" sz="2200" dirty="0">
                <a:latin typeface="Times New Roman" pitchFamily="18" charset="0"/>
                <a:cs typeface="Times New Roman" pitchFamily="18" charset="0"/>
              </a:rPr>
              <a:t>- Cisco tomonidan tarmoqda trafik monitoringi uchun ishlab chiqilgan ochiq istiqbolli protokoldir. Netflow har bir TCP/IP tranzaksiya haqida yozib olib tarmoq trafigini tahlil qilish imkonini beradi.  </a:t>
            </a:r>
            <a:endParaRPr lang="ru-RU" sz="2200" dirty="0">
              <a:latin typeface="Times New Roman" pitchFamily="18" charset="0"/>
              <a:cs typeface="Times New Roman" pitchFamily="18" charset="0"/>
            </a:endParaRPr>
          </a:p>
        </p:txBody>
      </p:sp>
      <p:pic>
        <p:nvPicPr>
          <p:cNvPr id="5" name="Рисунок 4" descr="Описание: http://wiki.pandorafms.com/images/thumb/8/80/Netflow_architecture.png/700px-Netflow_architecture.png">
            <a:hlinkClick r:id="rId2" tooltip="&quot;Netflow architecture.png&quot; "/>
          </p:cNvPr>
          <p:cNvPicPr/>
          <p:nvPr/>
        </p:nvPicPr>
        <p:blipFill>
          <a:blip r:embed="rId3"/>
          <a:srcRect/>
          <a:stretch>
            <a:fillRect/>
          </a:stretch>
        </p:blipFill>
        <p:spPr bwMode="auto">
          <a:xfrm>
            <a:off x="719572" y="1563182"/>
            <a:ext cx="7704856" cy="3455540"/>
          </a:xfrm>
          <a:prstGeom prst="rect">
            <a:avLst/>
          </a:prstGeom>
          <a:noFill/>
          <a:ln w="9525">
            <a:noFill/>
            <a:miter lim="800000"/>
            <a:headEnd/>
            <a:tailEnd/>
          </a:ln>
        </p:spPr>
      </p:pic>
      <p:sp>
        <p:nvSpPr>
          <p:cNvPr id="6" name="Прямоугольник 5"/>
          <p:cNvSpPr/>
          <p:nvPr/>
        </p:nvSpPr>
        <p:spPr>
          <a:xfrm>
            <a:off x="1907705" y="5373216"/>
            <a:ext cx="4622876" cy="400110"/>
          </a:xfrm>
          <a:prstGeom prst="rect">
            <a:avLst/>
          </a:prstGeom>
        </p:spPr>
        <p:txBody>
          <a:bodyPr wrap="square">
            <a:spAutoFit/>
          </a:bodyPr>
          <a:lstStyle/>
          <a:p>
            <a:pPr algn="ctr" fontAlgn="base"/>
            <a:r>
              <a:rPr lang="uz-Cyrl-UZ" sz="2000" dirty="0">
                <a:latin typeface="Times New Roman" pitchFamily="18" charset="0"/>
                <a:cs typeface="Times New Roman" pitchFamily="18" charset="0"/>
              </a:rPr>
              <a:t>Rasm 1.3. NetFlow arxitekturasi tuzilishi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609519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647" y="42672"/>
            <a:ext cx="8966579" cy="6863417"/>
          </a:xfrm>
          <a:prstGeom prst="rect">
            <a:avLst/>
          </a:prstGeom>
        </p:spPr>
        <p:txBody>
          <a:bodyPr wrap="square">
            <a:spAutoFit/>
          </a:bodyPr>
          <a:lstStyle/>
          <a:p>
            <a:pPr algn="just" fontAlgn="base"/>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Tizimning  </a:t>
            </a:r>
            <a:r>
              <a:rPr lang="uz-Cyrl-UZ" sz="2200" dirty="0">
                <a:latin typeface="Times New Roman" pitchFamily="18" charset="0"/>
                <a:cs typeface="Times New Roman" pitchFamily="18" charset="0"/>
              </a:rPr>
              <a:t>arxitekturasi sensor, kollektor va analizatorga asoslanadi:</a:t>
            </a:r>
            <a:endParaRPr lang="ru-RU" sz="2200" dirty="0">
              <a:latin typeface="Times New Roman" pitchFamily="18" charset="0"/>
              <a:cs typeface="Times New Roman" pitchFamily="18" charset="0"/>
            </a:endParaRPr>
          </a:p>
          <a:p>
            <a:pPr algn="just" fontAlgn="base"/>
            <a:r>
              <a:rPr lang="uz-Cyrl-UZ" sz="2200" dirty="0">
                <a:latin typeface="Times New Roman" pitchFamily="18" charset="0"/>
                <a:cs typeface="Times New Roman" pitchFamily="18" charset="0"/>
              </a:rPr>
              <a:t>- Sensor o‘zi orqali o‘tgan trafik bo‘yicha statistika yig‘adi. Sensorlarni “uzel nuqtalari” da, masalan, tarmoq segmentlari marshrutizatorlari chegarasida qo‘yish samaralidir.</a:t>
            </a:r>
            <a:endParaRPr lang="ru-RU" sz="2200" dirty="0">
              <a:latin typeface="Times New Roman" pitchFamily="18" charset="0"/>
              <a:cs typeface="Times New Roman" pitchFamily="18" charset="0"/>
            </a:endParaRPr>
          </a:p>
          <a:p>
            <a:pPr algn="just" fontAlgn="base"/>
            <a:r>
              <a:rPr lang="uz-Cyrl-UZ" sz="2200" dirty="0">
                <a:latin typeface="Times New Roman" pitchFamily="18" charset="0"/>
                <a:cs typeface="Times New Roman" pitchFamily="18" charset="0"/>
              </a:rPr>
              <a:t>- Kollektor sensorlardan ma’lumotlarni yig‘adi. Qabul qilingan fayllarni u keyinchalik ishlov berish uchun faylga tashlaydi. Turli kollektorlar ma’lumotlarni turli formatlarda saqlaydi. </a:t>
            </a:r>
            <a:endParaRPr lang="ru-RU" sz="2200" dirty="0">
              <a:latin typeface="Times New Roman" pitchFamily="18" charset="0"/>
              <a:cs typeface="Times New Roman" pitchFamily="18" charset="0"/>
            </a:endParaRPr>
          </a:p>
          <a:p>
            <a:pPr algn="just" fontAlgn="base"/>
            <a:r>
              <a:rPr lang="uz-Cyrl-UZ" sz="2200" dirty="0">
                <a:latin typeface="Times New Roman" pitchFamily="18" charset="0"/>
                <a:cs typeface="Times New Roman" pitchFamily="18" charset="0"/>
              </a:rPr>
              <a:t>- Analizator, yoki qayta ishlash  tizimi  bu fayllarni hisoblaydi va hisobotlarni odamlarga qulay shaklda generirovka qiladi. Bu tizim kollektor taqdim qilgan ma’lumotlar bilan kirishishi kerak. Zamonaviy tizimlarda  kollektor va analizator bir sitemaga birlashtirilgan.  </a:t>
            </a:r>
            <a:endParaRPr lang="ru-RU" sz="2200" dirty="0">
              <a:latin typeface="Times New Roman" pitchFamily="18" charset="0"/>
              <a:cs typeface="Times New Roman" pitchFamily="18" charset="0"/>
            </a:endParaRPr>
          </a:p>
          <a:p>
            <a:pPr algn="just" fontAlgn="base"/>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Odatda </a:t>
            </a:r>
            <a:r>
              <a:rPr lang="uz-Cyrl-UZ" sz="2200" dirty="0">
                <a:latin typeface="Times New Roman" pitchFamily="18" charset="0"/>
                <a:cs typeface="Times New Roman" pitchFamily="18" charset="0"/>
              </a:rPr>
              <a:t>kollektor va analizator serverda ishlovchi bitta dastur kompleksi qismlari hisoblanadi.  PO kollektor/analizator turlari juda ko‘p - pulli va bepul, Windows va Unix-tizimlari ga asoslangan.</a:t>
            </a:r>
            <a:endParaRPr lang="ru-RU" sz="2200" dirty="0">
              <a:latin typeface="Times New Roman" pitchFamily="18" charset="0"/>
              <a:cs typeface="Times New Roman" pitchFamily="18" charset="0"/>
            </a:endParaRPr>
          </a:p>
          <a:p>
            <a:pPr algn="just" fontAlgn="base"/>
            <a:r>
              <a:rPr lang="uz-Cyrl-UZ" sz="2200" dirty="0">
                <a:latin typeface="Times New Roman" pitchFamily="18" charset="0"/>
                <a:cs typeface="Times New Roman" pitchFamily="18" charset="0"/>
              </a:rPr>
              <a:t>Ta’kidlash joizki, kollektor va uning orqasida joylashgan analizator tizimning  passiv elementlari hisoblanadi. Mohiyatan, server ko‘tarilgan bo‘lsa, monitoringga va serverga tushadigan qurilmalarni qo‘lda qo‘shishimiz shart emas. Sensor hisobotlarni yuboradi, kollektor ularni qabul qiladi, analizator ro‘yxatdan o‘tkazadi. Agar sensor o‘chirilgan bo‘lsa, u joriy onlayn-statistikadan yo‘qolib qoladi.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774397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1" y="21098"/>
            <a:ext cx="9037014" cy="6863417"/>
          </a:xfrm>
          <a:prstGeom prst="rect">
            <a:avLst/>
          </a:prstGeom>
        </p:spPr>
        <p:txBody>
          <a:bodyPr wrap="square">
            <a:spAutoFit/>
          </a:bodyPr>
          <a:lstStyle/>
          <a:p>
            <a:pPr algn="just" fontAlgn="base"/>
            <a:r>
              <a:rPr lang="uz-Cyrl-UZ" sz="2000" dirty="0">
                <a:latin typeface="Times New Roman" pitchFamily="18" charset="0"/>
                <a:cs typeface="Times New Roman" pitchFamily="18" charset="0"/>
              </a:rPr>
              <a:t>NetFlow trafik kollektori to‘g‘risidagi ma’lumotlarni yuborish uchun  UDP va SCTPdan foydalanadi. Odatda, kollektor 155, 9555 yoki 9995 (yoki siz kollektor va sensor qurilmasida ko‘rsatadigan) portlarini tinglaydi.  </a:t>
            </a:r>
            <a:br>
              <a:rPr lang="uz-Cyrl-UZ" sz="2000" dirty="0">
                <a:latin typeface="Times New Roman" pitchFamily="18" charset="0"/>
                <a:cs typeface="Times New Roman" pitchFamily="18" charset="0"/>
              </a:rPr>
            </a:br>
            <a:r>
              <a:rPr lang="uz-Cyrl-UZ" sz="2000" dirty="0">
                <a:latin typeface="Times New Roman" pitchFamily="18" charset="0"/>
                <a:cs typeface="Times New Roman" pitchFamily="18" charset="0"/>
              </a:rPr>
              <a:t>Sensor quyidagi parametrlar bilan xarakterlanadigan  trafikdan o‘tayotgan oqimlarni ajratadi:</a:t>
            </a:r>
            <a:endParaRPr lang="ru-RU" sz="2000" dirty="0">
              <a:latin typeface="Times New Roman" pitchFamily="18" charset="0"/>
              <a:cs typeface="Times New Roman" pitchFamily="18" charset="0"/>
            </a:endParaRPr>
          </a:p>
          <a:p>
            <a:pPr lvl="1" algn="just" fontAlgn="base"/>
            <a:r>
              <a:rPr lang="uz-Cyrl-UZ" sz="2000" dirty="0">
                <a:latin typeface="Times New Roman" pitchFamily="18" charset="0"/>
                <a:cs typeface="Times New Roman" pitchFamily="18" charset="0"/>
              </a:rPr>
              <a:t>Manba manzili;</a:t>
            </a:r>
            <a:endParaRPr lang="ru-RU" sz="2000" dirty="0">
              <a:latin typeface="Times New Roman" pitchFamily="18" charset="0"/>
              <a:cs typeface="Times New Roman" pitchFamily="18" charset="0"/>
            </a:endParaRPr>
          </a:p>
          <a:p>
            <a:pPr lvl="1" algn="just" fontAlgn="base"/>
            <a:r>
              <a:rPr lang="uz-Cyrl-UZ" sz="2000" dirty="0">
                <a:latin typeface="Times New Roman" pitchFamily="18" charset="0"/>
                <a:cs typeface="Times New Roman" pitchFamily="18" charset="0"/>
              </a:rPr>
              <a:t>Topshiriq manzili;</a:t>
            </a:r>
            <a:endParaRPr lang="ru-RU" sz="2000" dirty="0">
              <a:latin typeface="Times New Roman" pitchFamily="18" charset="0"/>
              <a:cs typeface="Times New Roman" pitchFamily="18" charset="0"/>
            </a:endParaRPr>
          </a:p>
          <a:p>
            <a:pPr lvl="1" algn="just" fontAlgn="base"/>
            <a:r>
              <a:rPr lang="uz-Cyrl-UZ" sz="2000" dirty="0">
                <a:latin typeface="Times New Roman" pitchFamily="18" charset="0"/>
                <a:cs typeface="Times New Roman" pitchFamily="18" charset="0"/>
              </a:rPr>
              <a:t>UDP va TCP manzil port;</a:t>
            </a:r>
            <a:endParaRPr lang="ru-RU" sz="2000" dirty="0">
              <a:latin typeface="Times New Roman" pitchFamily="18" charset="0"/>
              <a:cs typeface="Times New Roman" pitchFamily="18" charset="0"/>
            </a:endParaRPr>
          </a:p>
          <a:p>
            <a:pPr lvl="1" algn="just" fontAlgn="base"/>
            <a:r>
              <a:rPr lang="uz-Cyrl-UZ" sz="2000" dirty="0">
                <a:latin typeface="Times New Roman" pitchFamily="18" charset="0"/>
                <a:cs typeface="Times New Roman" pitchFamily="18" charset="0"/>
              </a:rPr>
              <a:t>UDP va TCP uchun port topshirig‘i;</a:t>
            </a:r>
            <a:endParaRPr lang="ru-RU" sz="2000" dirty="0">
              <a:latin typeface="Times New Roman" pitchFamily="18" charset="0"/>
              <a:cs typeface="Times New Roman" pitchFamily="18" charset="0"/>
            </a:endParaRPr>
          </a:p>
          <a:p>
            <a:pPr lvl="1" algn="just" fontAlgn="base"/>
            <a:r>
              <a:rPr lang="uz-Cyrl-UZ" sz="2000" dirty="0">
                <a:latin typeface="Times New Roman" pitchFamily="18" charset="0"/>
                <a:cs typeface="Times New Roman" pitchFamily="18" charset="0"/>
              </a:rPr>
              <a:t>ICMP uchun xabar kodi va turi;</a:t>
            </a:r>
            <a:endParaRPr lang="ru-RU" sz="2000" dirty="0">
              <a:latin typeface="Times New Roman" pitchFamily="18" charset="0"/>
              <a:cs typeface="Times New Roman" pitchFamily="18" charset="0"/>
            </a:endParaRPr>
          </a:p>
          <a:p>
            <a:pPr lvl="1" algn="just" fontAlgn="base"/>
            <a:r>
              <a:rPr lang="uz-Cyrl-UZ" sz="2000" dirty="0">
                <a:latin typeface="Times New Roman" pitchFamily="18" charset="0"/>
                <a:cs typeface="Times New Roman" pitchFamily="18" charset="0"/>
              </a:rPr>
              <a:t>IP protokol raqami;</a:t>
            </a:r>
            <a:endParaRPr lang="ru-RU" sz="2000" dirty="0">
              <a:latin typeface="Times New Roman" pitchFamily="18" charset="0"/>
              <a:cs typeface="Times New Roman" pitchFamily="18" charset="0"/>
            </a:endParaRPr>
          </a:p>
          <a:p>
            <a:pPr lvl="0" algn="just" fontAlgn="base"/>
            <a:r>
              <a:rPr lang="uz-Cyrl-UZ" sz="2000" dirty="0">
                <a:latin typeface="Times New Roman" pitchFamily="18" charset="0"/>
                <a:cs typeface="Times New Roman" pitchFamily="18" charset="0"/>
              </a:rPr>
              <a:t>Tarmoq interfeys (ifindex SNMP parametr);</a:t>
            </a:r>
            <a:endParaRPr lang="ru-RU" sz="2000" dirty="0">
              <a:latin typeface="Times New Roman" pitchFamily="18" charset="0"/>
              <a:cs typeface="Times New Roman" pitchFamily="18" charset="0"/>
            </a:endParaRPr>
          </a:p>
          <a:p>
            <a:pPr lvl="0" algn="just" fontAlgn="base"/>
            <a:r>
              <a:rPr lang="uz-Cyrl-UZ" sz="2000" dirty="0">
                <a:latin typeface="Times New Roman" pitchFamily="18" charset="0"/>
                <a:cs typeface="Times New Roman" pitchFamily="18" charset="0"/>
              </a:rPr>
              <a:t>IP Type of Service.</a:t>
            </a:r>
            <a:endParaRPr lang="ru-RU" sz="2000" dirty="0">
              <a:latin typeface="Times New Roman" pitchFamily="18" charset="0"/>
              <a:cs typeface="Times New Roman" pitchFamily="18" charset="0"/>
            </a:endParaRPr>
          </a:p>
          <a:p>
            <a:pPr algn="just" fontAlgn="base"/>
            <a:r>
              <a:rPr lang="uz-Cyrl-UZ" sz="2000" dirty="0">
                <a:latin typeface="Times New Roman" pitchFamily="18" charset="0"/>
                <a:cs typeface="Times New Roman" pitchFamily="18" charset="0"/>
              </a:rPr>
              <a:t>NetFlow - </a:t>
            </a:r>
            <a:r>
              <a:rPr lang="uz-Cyrl-UZ" sz="2000" dirty="0">
                <a:latin typeface="Times New Roman" pitchFamily="18" charset="0"/>
                <a:cs typeface="Times New Roman" pitchFamily="18" charset="0"/>
                <a:hlinkClick r:id="rId2" tooltip="Cisco Systems"/>
              </a:rPr>
              <a:t>CiscoSystems</a:t>
            </a:r>
            <a:r>
              <a:rPr lang="uz-Cyrl-UZ" sz="2000" dirty="0">
                <a:latin typeface="Times New Roman" pitchFamily="18" charset="0"/>
                <a:cs typeface="Times New Roman" pitchFamily="18" charset="0"/>
              </a:rPr>
              <a:t> kompaniyasi tomonidan ishlab chiqilgan tarmoq trafigini hisoblash uchun mo‘ljallangan tarmoq protokolidir. Asoslangan sanoat standarti hisoblanadi va nafaqat   Cisco qurilmasi tomonidan, balki boshqa ko‘plab qurilmalar tomonidan qo‘llab quvvatlanadi (xususan, </a:t>
            </a:r>
            <a:r>
              <a:rPr lang="uz-Cyrl-UZ" sz="2000" dirty="0">
                <a:latin typeface="Times New Roman" pitchFamily="18" charset="0"/>
                <a:cs typeface="Times New Roman" pitchFamily="18" charset="0"/>
                <a:hlinkClick r:id="rId3" tooltip="Juniper"/>
              </a:rPr>
              <a:t>Juniper</a:t>
            </a:r>
            <a:r>
              <a:rPr lang="uz-Cyrl-UZ" sz="2000" dirty="0">
                <a:latin typeface="Times New Roman" pitchFamily="18" charset="0"/>
                <a:cs typeface="Times New Roman" pitchFamily="18" charset="0"/>
              </a:rPr>
              <a:t>, </a:t>
            </a:r>
            <a:r>
              <a:rPr lang="uz-Cyrl-UZ" sz="2000" dirty="0">
                <a:latin typeface="Times New Roman" pitchFamily="18" charset="0"/>
                <a:cs typeface="Times New Roman" pitchFamily="18" charset="0"/>
                <a:hlinkClick r:id="rId4" tooltip="MikroTik"/>
              </a:rPr>
              <a:t>MikroTik</a:t>
            </a:r>
            <a:r>
              <a:rPr lang="uz-Cyrl-UZ" sz="2000" dirty="0">
                <a:latin typeface="Times New Roman" pitchFamily="18" charset="0"/>
                <a:cs typeface="Times New Roman" pitchFamily="18" charset="0"/>
              </a:rPr>
              <a:t> va </a:t>
            </a:r>
            <a:r>
              <a:rPr lang="uz-Cyrl-UZ" sz="2000" dirty="0">
                <a:latin typeface="Times New Roman" pitchFamily="18" charset="0"/>
                <a:cs typeface="Times New Roman" pitchFamily="18" charset="0"/>
                <a:hlinkClick r:id="rId5" tooltip="Enterasys (страница отсутствует)"/>
              </a:rPr>
              <a:t>Enterasys</a:t>
            </a:r>
            <a:r>
              <a:rPr lang="uz-Cyrl-UZ" sz="2000" dirty="0">
                <a:latin typeface="Times New Roman" pitchFamily="18" charset="0"/>
                <a:cs typeface="Times New Roman" pitchFamily="18" charset="0"/>
              </a:rPr>
              <a:t>). Shuningdek, . UNIX ga o‘xshagai tizimlar uchun mustaqil realizatsiyalar ham mavjud. Protokotning bir necha versiyalari mavjud bo‘lib, 111-yilda 5 va 9 versiyalari keng tarqaldi. 9 versiya asosida, shuningdek  </a:t>
            </a:r>
            <a:r>
              <a:rPr lang="uz-Cyrl-UZ" sz="2000" dirty="0">
                <a:latin typeface="Times New Roman" pitchFamily="18" charset="0"/>
                <a:cs typeface="Times New Roman" pitchFamily="18" charset="0"/>
                <a:hlinkClick r:id="rId6" tooltip="IPFIX (страница отсутствует)"/>
              </a:rPr>
              <a:t>IPFIX</a:t>
            </a:r>
            <a:r>
              <a:rPr lang="uz-Cyrl-UZ" sz="2000" dirty="0">
                <a:latin typeface="Times New Roman" pitchFamily="18" charset="0"/>
                <a:cs typeface="Times New Roman" pitchFamily="18" charset="0"/>
              </a:rPr>
              <a:t> (InternetProtocolFlowInformationeXport </a:t>
            </a:r>
            <a:r>
              <a:rPr lang="uz-Cyrl-UZ" sz="2000" dirty="0">
                <a:latin typeface="Times New Roman" pitchFamily="18" charset="0"/>
                <a:cs typeface="Times New Roman" pitchFamily="18" charset="0"/>
                <a:hlinkClick r:id="rId7" tooltip="IP"/>
              </a:rPr>
              <a:t>IP</a:t>
            </a:r>
            <a:r>
              <a:rPr lang="uz-Cyrl-UZ" sz="2000" dirty="0">
                <a:latin typeface="Times New Roman" pitchFamily="18" charset="0"/>
                <a:cs typeface="Times New Roman" pitchFamily="18" charset="0"/>
              </a:rPr>
              <a:t> oqimlari to‘g‘risida eksport informatsiyasi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289986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5533" y="3580"/>
            <a:ext cx="8966579" cy="6555641"/>
          </a:xfrm>
          <a:prstGeom prst="rect">
            <a:avLst/>
          </a:prstGeom>
        </p:spPr>
        <p:txBody>
          <a:bodyPr wrap="square">
            <a:spAutoFit/>
          </a:bodyPr>
          <a:lstStyle/>
          <a:p>
            <a:pPr algn="just"/>
            <a:r>
              <a:rPr lang="uz-Cyrl-UZ" sz="2000" dirty="0">
                <a:latin typeface="Times New Roman" pitchFamily="18" charset="0"/>
                <a:cs typeface="Times New Roman" pitchFamily="18" charset="0"/>
              </a:rPr>
              <a:t>Oqim deb - bir  yo‘nalishda o‘tadigan paketlar to‘plamiga aytiladi. Sensor oqim tugaganini aniqlaganda, (paket parametrlari o‘zgargani yoki  TCP - sessiya ishdan chiqishi bilan) u ma’lumotni kollektorga yuboradi. Qurilmalarga bog‘liq tarzda, u, shuningdek, kollektorga haliyam davom etayotgan oqimlar haqidagi ma’lumotni vaqti-vaqti bilan yuborishi mumkin. Bu juda muhimdir – sensor qqurilmasida biz qaysi parametrlar bo‘yicha yuborilgan ma’lumot hisobotlarda birlashtirilishini qaror qilamiz.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Protokol raqami versiyai;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Yozib olish raqami;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Kiruvchi va chiquvchi tarmoq interfeysi;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Oqim boshlanishi va tugashi vaqti;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Oqimda bayt va paketlar miqdori;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Manba va topshiriq manzili; </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Manba va topshiriq manzili; </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IP protokoli raqami;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Type of Service miqdori;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TCP-bog‘lanishlar uchun  — flaga bog‘lanishi davomidagi barcha kuzatuvlar;</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Shlyuza manzili;</a:t>
            </a:r>
            <a:endParaRPr lang="ru-RU" sz="2000" dirty="0">
              <a:latin typeface="Times New Roman" pitchFamily="18" charset="0"/>
              <a:cs typeface="Times New Roman" pitchFamily="18" charset="0"/>
            </a:endParaRPr>
          </a:p>
          <a:p>
            <a:pPr lvl="1" algn="just"/>
            <a:r>
              <a:rPr lang="uz-Cyrl-UZ" sz="2000" dirty="0">
                <a:latin typeface="Times New Roman" pitchFamily="18" charset="0"/>
                <a:cs typeface="Times New Roman" pitchFamily="18" charset="0"/>
              </a:rPr>
              <a:t>Manba va topshiriq manzili.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Agar sensor sifatida tarmoq qurilmasi kelsa, NetFlow resurslarini tejash maqsadida asosiy statistika yig‘ishni istalgan interfeyslar uchun qo‘shiladi</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358579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260648"/>
            <a:ext cx="8856984" cy="5170646"/>
          </a:xfrm>
          <a:prstGeom prst="rect">
            <a:avLst/>
          </a:prstGeom>
        </p:spPr>
        <p:txBody>
          <a:bodyPr wrap="square">
            <a:spAutoFit/>
          </a:bodyPr>
          <a:lstStyle/>
          <a:p>
            <a:pPr algn="ctr"/>
            <a:r>
              <a:rPr lang="uz-Cyrl-UZ" sz="2200" b="1" dirty="0">
                <a:latin typeface="Times New Roman" pitchFamily="18" charset="0"/>
                <a:cs typeface="Times New Roman" pitchFamily="18" charset="0"/>
              </a:rPr>
              <a:t>Nazorat </a:t>
            </a:r>
            <a:r>
              <a:rPr lang="uz-Cyrl-UZ" sz="2200" b="1" dirty="0" smtClean="0">
                <a:latin typeface="Times New Roman" pitchFamily="18" charset="0"/>
                <a:cs typeface="Times New Roman" pitchFamily="18" charset="0"/>
              </a:rPr>
              <a:t>savollari</a:t>
            </a:r>
            <a:endParaRPr lang="en-US" sz="2200" b="1" dirty="0" smtClean="0">
              <a:latin typeface="Times New Roman" pitchFamily="18" charset="0"/>
              <a:cs typeface="Times New Roman" pitchFamily="18" charset="0"/>
            </a:endParaRPr>
          </a:p>
          <a:p>
            <a:pPr algn="ct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SNMP protokoli rivojlanish tarixi.</a:t>
            </a: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SNMP boshqaruv asoslari.</a:t>
            </a: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SNMP protokoli kamchiliklari.</a:t>
            </a: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NetFlow protokoli tahlili.</a:t>
            </a: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Yuqori darajadagi boshqaruv ob’ektlari tizimi.</a:t>
            </a: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Oddiy router yordamida boshqarish protokoli.</a:t>
            </a: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Umumiy boshqaruv ma’lumot protokoli</a:t>
            </a:r>
            <a:endParaRPr lang="ru-RU" sz="2200" dirty="0">
              <a:latin typeface="Times New Roman" pitchFamily="18" charset="0"/>
              <a:cs typeface="Times New Roman" pitchFamily="18" charset="0"/>
            </a:endParaRPr>
          </a:p>
          <a:p>
            <a:pPr marL="457200" lvl="0" indent="-457200" algn="just">
              <a:buFont typeface="+mj-lt"/>
              <a:buAutoNum type="arabicPeriod"/>
            </a:pPr>
            <a:r>
              <a:rPr lang="uz-Cyrl-UZ" sz="2200" dirty="0">
                <a:latin typeface="Times New Roman" pitchFamily="18" charset="0"/>
                <a:cs typeface="Times New Roman" pitchFamily="18" charset="0"/>
              </a:rPr>
              <a:t>Kiruvchi va chiquvchi tarmoq interfeysi;</a:t>
            </a:r>
            <a:endParaRPr lang="ru-RU" sz="2200" dirty="0">
              <a:latin typeface="Times New Roman" pitchFamily="18" charset="0"/>
              <a:cs typeface="Times New Roman" pitchFamily="18" charset="0"/>
            </a:endParaRPr>
          </a:p>
          <a:p>
            <a:pPr marL="457200" indent="-457200" algn="just">
              <a:buFont typeface="+mj-lt"/>
              <a:buAutoNum type="arabicPeriod"/>
            </a:pPr>
            <a:r>
              <a:rPr lang="uz-Cyrl-UZ" sz="2200" dirty="0" smtClean="0">
                <a:latin typeface="Times New Roman" pitchFamily="18" charset="0"/>
                <a:cs typeface="Times New Roman" pitchFamily="18" charset="0"/>
              </a:rPr>
              <a:t>Oqim </a:t>
            </a:r>
            <a:r>
              <a:rPr lang="uz-Cyrl-UZ" sz="2200" dirty="0">
                <a:latin typeface="Times New Roman" pitchFamily="18" charset="0"/>
                <a:cs typeface="Times New Roman" pitchFamily="18" charset="0"/>
              </a:rPr>
              <a:t>boshlanishi va tugashi vaqti;</a:t>
            </a:r>
            <a:endParaRPr lang="ru-RU" sz="2200" dirty="0">
              <a:latin typeface="Times New Roman" pitchFamily="18" charset="0"/>
              <a:cs typeface="Times New Roman" pitchFamily="18" charset="0"/>
            </a:endParaRPr>
          </a:p>
          <a:p>
            <a:pPr marL="457200" indent="-457200" algn="just">
              <a:buFont typeface="+mj-lt"/>
              <a:buAutoNum type="arabicPeriod"/>
            </a:pPr>
            <a:r>
              <a:rPr lang="uz-Cyrl-UZ" sz="2200" dirty="0" smtClean="0">
                <a:latin typeface="Times New Roman" pitchFamily="18" charset="0"/>
                <a:cs typeface="Times New Roman" pitchFamily="18" charset="0"/>
              </a:rPr>
              <a:t>Oqimda </a:t>
            </a:r>
            <a:r>
              <a:rPr lang="uz-Cyrl-UZ" sz="2200" dirty="0">
                <a:latin typeface="Times New Roman" pitchFamily="18" charset="0"/>
                <a:cs typeface="Times New Roman" pitchFamily="18" charset="0"/>
              </a:rPr>
              <a:t>bayt va paketlar miqdori;</a:t>
            </a:r>
            <a:endParaRPr lang="ru-RU" sz="2200" dirty="0">
              <a:latin typeface="Times New Roman" pitchFamily="18" charset="0"/>
              <a:cs typeface="Times New Roman" pitchFamily="18" charset="0"/>
            </a:endParaRPr>
          </a:p>
          <a:p>
            <a:pPr marL="457200" indent="-457200" algn="just">
              <a:buFont typeface="+mj-lt"/>
              <a:buAutoNum type="arabicPeriod"/>
            </a:pPr>
            <a:r>
              <a:rPr lang="uz-Cyrl-UZ" sz="2200" dirty="0" smtClean="0">
                <a:latin typeface="Times New Roman" pitchFamily="18" charset="0"/>
                <a:cs typeface="Times New Roman" pitchFamily="18" charset="0"/>
              </a:rPr>
              <a:t>Manba </a:t>
            </a:r>
            <a:r>
              <a:rPr lang="uz-Cyrl-UZ" sz="2200" dirty="0">
                <a:latin typeface="Times New Roman" pitchFamily="18" charset="0"/>
                <a:cs typeface="Times New Roman" pitchFamily="18" charset="0"/>
              </a:rPr>
              <a:t>va topshiriq manzili; </a:t>
            </a:r>
            <a:endParaRPr lang="ru-RU" sz="2200" dirty="0">
              <a:latin typeface="Times New Roman" pitchFamily="18" charset="0"/>
              <a:cs typeface="Times New Roman" pitchFamily="18" charset="0"/>
            </a:endParaRPr>
          </a:p>
          <a:p>
            <a:pPr marL="457200" indent="-457200" algn="just">
              <a:buFont typeface="+mj-lt"/>
              <a:buAutoNum type="arabicPeriod"/>
            </a:pPr>
            <a:r>
              <a:rPr lang="uz-Cyrl-UZ" sz="2200" dirty="0" smtClean="0">
                <a:latin typeface="Times New Roman" pitchFamily="18" charset="0"/>
                <a:cs typeface="Times New Roman" pitchFamily="18" charset="0"/>
              </a:rPr>
              <a:t>Manba </a:t>
            </a:r>
            <a:r>
              <a:rPr lang="uz-Cyrl-UZ" sz="2200" dirty="0">
                <a:latin typeface="Times New Roman" pitchFamily="18" charset="0"/>
                <a:cs typeface="Times New Roman" pitchFamily="18" charset="0"/>
              </a:rPr>
              <a:t>va topshiriq manzili; </a:t>
            </a:r>
            <a:endParaRPr lang="ru-RU" sz="2200" dirty="0">
              <a:latin typeface="Times New Roman" pitchFamily="18" charset="0"/>
              <a:cs typeface="Times New Roman" pitchFamily="18" charset="0"/>
            </a:endParaRPr>
          </a:p>
          <a:p>
            <a:pPr marL="457200" indent="-457200" algn="just">
              <a:buFont typeface="+mj-lt"/>
              <a:buAutoNum type="arabicPeriod"/>
            </a:pPr>
            <a:r>
              <a:rPr lang="uz-Cyrl-UZ" sz="2200" dirty="0" smtClean="0">
                <a:latin typeface="Times New Roman" pitchFamily="18" charset="0"/>
                <a:cs typeface="Times New Roman" pitchFamily="18" charset="0"/>
              </a:rPr>
              <a:t>IP </a:t>
            </a:r>
            <a:r>
              <a:rPr lang="uz-Cyrl-UZ" sz="2200" dirty="0">
                <a:latin typeface="Times New Roman" pitchFamily="18" charset="0"/>
                <a:cs typeface="Times New Roman" pitchFamily="18" charset="0"/>
              </a:rPr>
              <a:t>protokoli raqami;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32357520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377</TotalTime>
  <Words>565</Words>
  <Application>Microsoft Office PowerPoint</Application>
  <PresentationFormat>Экран (4:3)</PresentationFormat>
  <Paragraphs>139</Paragraphs>
  <Slides>18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18</vt:i4>
      </vt:variant>
    </vt:vector>
  </HeadingPairs>
  <TitlesOfParts>
    <vt:vector size="19"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44</cp:revision>
  <dcterms:created xsi:type="dcterms:W3CDTF">2020-02-10T04:46:41Z</dcterms:created>
  <dcterms:modified xsi:type="dcterms:W3CDTF">2024-03-25T05:17:28Z</dcterms:modified>
</cp:coreProperties>
</file>