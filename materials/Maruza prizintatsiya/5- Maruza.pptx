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312" r:id="rId5"/>
    <p:sldId id="313" r:id="rId6"/>
    <p:sldId id="314" r:id="rId7"/>
    <p:sldId id="315" r:id="rId8"/>
    <p:sldId id="316" r:id="rId9"/>
    <p:sldId id="317" r:id="rId10"/>
    <p:sldId id="318" r:id="rId11"/>
    <p:sldId id="319" r:id="rId12"/>
    <p:sldId id="320" r:id="rId13"/>
    <p:sldId id="321" r:id="rId14"/>
    <p:sldId id="322" r:id="rId15"/>
    <p:sldId id="326" r:id="rId16"/>
    <p:sldId id="323" r:id="rId17"/>
    <p:sldId id="324" r:id="rId18"/>
    <p:sldId id="325" r:id="rId1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04.03.2024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04.03.2024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04.03.2024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04.03.2024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04.03.2024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04.03.2024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04.03.2024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04.03.2024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04.03.2024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04.03.2024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04.03.2024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04.03.2024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fayllar.org/ushbu-mutaxassislikni-tanlagan-talabalarga-quyidagi-konikmalar.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fayllar.org/1-variant-ozbekiston-tarixi-fan-sifatida-uning-predmeti-maqsad.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a:t>
            </a:r>
            <a:r>
              <a:rPr lang="en-US" sz="1800" b="1" smtClean="0">
                <a:latin typeface="Times New Roman" pitchFamily="18" charset="0"/>
                <a:cs typeface="Times New Roman" pitchFamily="18" charset="0"/>
              </a:rPr>
              <a:t>RESPUBLIKASI </a:t>
            </a:r>
            <a:r>
              <a:rPr lang="en-US" sz="1800" b="1" smtClean="0">
                <a:latin typeface="Times New Roman" pitchFamily="18" charset="0"/>
                <a:cs typeface="Times New Roman" pitchFamily="18" charset="0"/>
              </a:rPr>
              <a:t>RAQAMLI TEXNOLOGIYALAR </a:t>
            </a:r>
            <a:r>
              <a:rPr lang="en-US" sz="1800" b="1" dirty="0" smtClean="0">
                <a:latin typeface="Times New Roman" pitchFamily="18" charset="0"/>
                <a:cs typeface="Times New Roman" pitchFamily="18" charset="0"/>
              </a:rPr>
              <a:t>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dirty="0" smtClean="0">
                <a:latin typeface="Times New Roman" pitchFamily="18" charset="0"/>
                <a:cs typeface="Times New Roman" pitchFamily="18" charset="0"/>
              </a:rPr>
              <a:t> </a:t>
            </a:r>
            <a:r>
              <a:rPr lang="en-US" sz="2400" b="1" dirty="0">
                <a:latin typeface="Times New Roman" pitchFamily="18" charset="0"/>
                <a:cs typeface="Times New Roman" pitchFamily="18" charset="0"/>
              </a:rPr>
              <a:t>5</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648072"/>
          </a:xfrm>
          <a:prstGeom prst="rect">
            <a:avLst/>
          </a:prstGeom>
        </p:spPr>
        <p:txBody>
          <a:bodyPr vert="horz" lIns="91440" tIns="45720" rIns="91440" bIns="45720" rtlCol="0">
            <a:normAutofit fontScale="55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400" dirty="0" smtClean="0">
              <a:solidFill>
                <a:srgbClr val="FF66CC"/>
              </a:solidFill>
              <a:latin typeface="Times New Roman" pitchFamily="18" charset="0"/>
              <a:cs typeface="Times New Roman" pitchFamily="18" charset="0"/>
            </a:endParaRPr>
          </a:p>
          <a:p>
            <a:r>
              <a:rPr lang="en-US" b="1" dirty="0" err="1" smtClean="0">
                <a:solidFill>
                  <a:schemeClr val="tx1"/>
                </a:solidFill>
                <a:latin typeface="Times New Roman" pitchFamily="18" charset="0"/>
                <a:cs typeface="Times New Roman" pitchFamily="18" charset="0"/>
              </a:rPr>
              <a:t>Mavzu</a:t>
            </a:r>
            <a:r>
              <a:rPr lang="en-US" b="1" dirty="0" smtClean="0">
                <a:solidFill>
                  <a:schemeClr val="tx1"/>
                </a:solidFill>
                <a:latin typeface="Times New Roman" pitchFamily="18" charset="0"/>
                <a:cs typeface="Times New Roman" pitchFamily="18" charset="0"/>
              </a:rPr>
              <a:t>: </a:t>
            </a:r>
            <a:r>
              <a:rPr lang="en-US" b="1" dirty="0">
                <a:solidFill>
                  <a:schemeClr val="tx1"/>
                </a:solidFill>
                <a:latin typeface="Times New Roman" pitchFamily="18" charset="0"/>
                <a:cs typeface="Times New Roman" pitchFamily="18" charset="0"/>
              </a:rPr>
              <a:t>FTP PROTOKOLI, UNING MODELLARI. FTP PROTOKOLI KLASSLARI</a:t>
            </a:r>
            <a:endParaRPr lang="ru-RU" sz="2400" b="1"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dirty="0"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en-US" sz="2400" dirty="0"/>
              <a:t>FTP </a:t>
            </a:r>
            <a:r>
              <a:rPr lang="en-US" sz="2400" dirty="0" err="1"/>
              <a:t>protokoli</a:t>
            </a:r>
            <a:r>
              <a:rPr lang="en-US" sz="2400" dirty="0"/>
              <a:t>. FTP </a:t>
            </a:r>
            <a:r>
              <a:rPr lang="en-US" sz="2400" dirty="0" err="1"/>
              <a:t>protokoli</a:t>
            </a:r>
            <a:r>
              <a:rPr lang="en-US" sz="2400" dirty="0"/>
              <a:t> </a:t>
            </a:r>
            <a:r>
              <a:rPr lang="en-US" sz="2400" dirty="0" err="1"/>
              <a:t>tavsifi</a:t>
            </a:r>
            <a:r>
              <a:rPr lang="en-US" sz="2400" dirty="0"/>
              <a:t>.</a:t>
            </a:r>
            <a:endParaRPr lang="ru-RU" sz="2400" dirty="0"/>
          </a:p>
          <a:p>
            <a:pPr marL="457200" lvl="0" indent="-457200">
              <a:buFont typeface="+mj-lt"/>
              <a:buAutoNum type="arabicPeriod"/>
            </a:pPr>
            <a:r>
              <a:rPr lang="en-US" sz="2400" dirty="0"/>
              <a:t>FTP </a:t>
            </a:r>
            <a:r>
              <a:rPr lang="en-US" sz="2400" dirty="0" err="1"/>
              <a:t>ishining</a:t>
            </a:r>
            <a:r>
              <a:rPr lang="en-US" sz="2400" dirty="0"/>
              <a:t> </a:t>
            </a:r>
            <a:r>
              <a:rPr lang="en-US" sz="2400" dirty="0" err="1"/>
              <a:t>oddiy</a:t>
            </a:r>
            <a:r>
              <a:rPr lang="en-US" sz="2400" dirty="0"/>
              <a:t> </a:t>
            </a:r>
            <a:r>
              <a:rPr lang="en-US" sz="2400" dirty="0" err="1"/>
              <a:t>modeli</a:t>
            </a:r>
            <a:r>
              <a:rPr lang="en-US" sz="2400" dirty="0"/>
              <a:t>. FTP </a:t>
            </a:r>
            <a:r>
              <a:rPr lang="en-US" sz="2400" dirty="0" err="1"/>
              <a:t>ishining</a:t>
            </a:r>
            <a:r>
              <a:rPr lang="en-US" sz="2400" dirty="0"/>
              <a:t> </a:t>
            </a:r>
            <a:r>
              <a:rPr lang="en-US" sz="2400" dirty="0" err="1"/>
              <a:t>murakkab</a:t>
            </a:r>
            <a:r>
              <a:rPr lang="en-US" sz="2400" dirty="0"/>
              <a:t> </a:t>
            </a:r>
            <a:r>
              <a:rPr lang="en-US" sz="2400" dirty="0" err="1"/>
              <a:t>modeli</a:t>
            </a:r>
            <a:r>
              <a:rPr lang="en-US" sz="2400" dirty="0"/>
              <a:t>. </a:t>
            </a:r>
            <a:endParaRPr lang="ru-RU" sz="2400" dirty="0"/>
          </a:p>
          <a:p>
            <a:pPr marL="457200" lvl="0" indent="-457200">
              <a:buFont typeface="+mj-lt"/>
              <a:buAutoNum type="arabicPeriod"/>
            </a:pPr>
            <a:r>
              <a:rPr lang="ru-RU" sz="2400" dirty="0"/>
              <a:t>FTP </a:t>
            </a:r>
            <a:r>
              <a:rPr lang="ru-RU" sz="2400" dirty="0" err="1"/>
              <a:t>protokolining</a:t>
            </a:r>
            <a:r>
              <a:rPr lang="ru-RU" sz="2400" dirty="0"/>
              <a:t> </a:t>
            </a:r>
            <a:r>
              <a:rPr lang="ru-RU" sz="2400" dirty="0" err="1"/>
              <a:t>asosiy</a:t>
            </a:r>
            <a:r>
              <a:rPr lang="ru-RU" sz="2400" dirty="0"/>
              <a:t> </a:t>
            </a:r>
            <a:r>
              <a:rPr lang="ru-RU" sz="2400" dirty="0" err="1"/>
              <a:t>buyruqlari</a:t>
            </a:r>
            <a:r>
              <a:rPr lang="ru-RU" sz="2400" dirty="0"/>
              <a:t>. </a:t>
            </a:r>
          </a:p>
          <a:p>
            <a:pPr marL="457200" indent="-457200">
              <a:buFont typeface="+mj-lt"/>
              <a:buAutoNum type="arabicPeriod"/>
            </a:pPr>
            <a:r>
              <a:rPr lang="en-US" sz="2400" dirty="0"/>
              <a:t>FTP </a:t>
            </a:r>
            <a:r>
              <a:rPr lang="en-US" sz="2400" dirty="0" err="1"/>
              <a:t>protokoli</a:t>
            </a:r>
            <a:r>
              <a:rPr lang="en-US" sz="2400" dirty="0"/>
              <a:t> </a:t>
            </a:r>
            <a:r>
              <a:rPr lang="en-US" sz="2400" dirty="0" err="1"/>
              <a:t>bilan</a:t>
            </a:r>
            <a:r>
              <a:rPr lang="en-US" sz="2400" dirty="0"/>
              <a:t> </a:t>
            </a:r>
            <a:r>
              <a:rPr lang="en-US" sz="2400" dirty="0" err="1"/>
              <a:t>ishlash</a:t>
            </a:r>
            <a:r>
              <a:rPr lang="en-US" sz="2400" dirty="0"/>
              <a:t> </a:t>
            </a:r>
            <a:r>
              <a:rPr lang="en-US" sz="2400" dirty="0" err="1"/>
              <a:t>uchun</a:t>
            </a:r>
            <a:r>
              <a:rPr lang="en-US" sz="2400" dirty="0"/>
              <a:t> </a:t>
            </a:r>
            <a:r>
              <a:rPr lang="en-US" sz="2400" dirty="0" err="1"/>
              <a:t>klasslar</a:t>
            </a:r>
            <a:r>
              <a:rPr lang="en-US" sz="2400" dirty="0"/>
              <a:t>.</a:t>
            </a:r>
            <a:endParaRPr lang="ru-RU" sz="2400" dirty="0"/>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548680"/>
            <a:ext cx="8496943"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8914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404664"/>
            <a:ext cx="8208912"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5171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548680"/>
            <a:ext cx="8208912" cy="5112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1471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06"/>
          <a:stretch/>
        </p:blipFill>
        <p:spPr bwMode="auto">
          <a:xfrm>
            <a:off x="539552" y="476672"/>
            <a:ext cx="8261922"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4166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32656"/>
            <a:ext cx="8318295"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841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476672"/>
            <a:ext cx="8640959"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7317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404664"/>
            <a:ext cx="8640960" cy="5544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3380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Прямоугольник 6"/>
          <p:cNvSpPr/>
          <p:nvPr/>
        </p:nvSpPr>
        <p:spPr>
          <a:xfrm>
            <a:off x="179512" y="58847"/>
            <a:ext cx="8712968" cy="6555641"/>
          </a:xfrm>
          <a:prstGeom prst="rect">
            <a:avLst/>
          </a:prstGeom>
        </p:spPr>
        <p:txBody>
          <a:bodyPr wrap="square">
            <a:spAutoFit/>
          </a:bodyPr>
          <a:lstStyle/>
          <a:p>
            <a:pPr algn="ctr"/>
            <a:r>
              <a:rPr lang="en-US" sz="2000" b="1" dirty="0">
                <a:latin typeface="Times New Roman" pitchFamily="18" charset="0"/>
                <a:cs typeface="Times New Roman" pitchFamily="18" charset="0"/>
              </a:rPr>
              <a:t>FTP </a:t>
            </a:r>
            <a:r>
              <a:rPr lang="en-US" sz="2000" b="1" dirty="0" err="1">
                <a:latin typeface="Times New Roman" pitchFamily="18" charset="0"/>
                <a:cs typeface="Times New Roman" pitchFamily="18" charset="0"/>
              </a:rPr>
              <a:t>mijoziga</a:t>
            </a: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ulanish</a:t>
            </a: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rejimlari</a:t>
            </a:r>
            <a:endParaRPr lang="en-US" sz="2000" b="1"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FTP </a:t>
            </a:r>
            <a:r>
              <a:rPr lang="en-US" sz="2000" dirty="0" err="1">
                <a:latin typeface="Times New Roman" pitchFamily="18" charset="0"/>
                <a:cs typeface="Times New Roman" pitchFamily="18" charset="0"/>
              </a:rPr>
              <a:t>mijoziga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standart</a:t>
            </a:r>
            <a:r>
              <a:rPr lang="en-US" sz="2000" dirty="0">
                <a:latin typeface="Times New Roman" pitchFamily="18" charset="0"/>
                <a:cs typeface="Times New Roman" pitchFamily="18" charset="0"/>
              </a:rPr>
              <a:t> deb </a:t>
            </a:r>
            <a:r>
              <a:rPr lang="en-US" sz="2000" dirty="0" err="1">
                <a:latin typeface="Times New Roman" pitchFamily="18" charset="0"/>
                <a:cs typeface="Times New Roman" pitchFamily="18" charset="0"/>
              </a:rPr>
              <a:t>ataladi</a:t>
            </a:r>
            <a:r>
              <a:rPr lang="en-US" sz="2000" dirty="0">
                <a:latin typeface="Times New Roman" pitchFamily="18" charset="0"/>
                <a:cs typeface="Times New Roman" pitchFamily="18" charset="0"/>
              </a:rPr>
              <a:t>, u PORT, </a:t>
            </a:r>
            <a:r>
              <a:rPr lang="en-US" sz="2000" dirty="0" err="1">
                <a:latin typeface="Times New Roman" pitchFamily="18" charset="0"/>
                <a:cs typeface="Times New Roman" pitchFamily="18" charset="0"/>
              </a:rPr>
              <a:t>passiv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PASV </a:t>
            </a:r>
            <a:r>
              <a:rPr lang="en-US" sz="2000" dirty="0" err="1">
                <a:latin typeface="Times New Roman" pitchFamily="18" charset="0"/>
                <a:cs typeface="Times New Roman" pitchFamily="18" charset="0"/>
              </a:rPr>
              <a:t>sifatida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belgilanadi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ikkala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usuldan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mijoz</a:t>
            </a:r>
            <a:r>
              <a:rPr lang="en-US" sz="2000" dirty="0">
                <a:latin typeface="Times New Roman" pitchFamily="18" charset="0"/>
                <a:cs typeface="Times New Roman" pitchFamily="18" charset="0"/>
              </a:rPr>
              <a:t> 21-port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o'rnatishi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kerak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nazorat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bo'lish</a:t>
            </a:r>
            <a:r>
              <a:rPr lang="en-US" sz="2000" dirty="0">
                <a:latin typeface="Times New Roman" pitchFamily="18" charset="0"/>
                <a:cs typeface="Times New Roman" pitchFamily="18" charset="0"/>
              </a:rPr>
              <a:t>.</a:t>
            </a:r>
          </a:p>
          <a:p>
            <a:pPr algn="just"/>
            <a:r>
              <a:rPr lang="en-US" sz="2000" b="1"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Faol</a:t>
            </a:r>
            <a:r>
              <a:rPr lang="en-US" sz="2000" b="1" dirty="0" smtClean="0">
                <a:latin typeface="Times New Roman" pitchFamily="18" charset="0"/>
                <a:cs typeface="Times New Roman" pitchFamily="18" charset="0"/>
              </a:rPr>
              <a:t> </a:t>
            </a:r>
            <a:r>
              <a:rPr lang="en-US" sz="2000" b="1" dirty="0" err="1">
                <a:latin typeface="Times New Roman" pitchFamily="18" charset="0"/>
                <a:cs typeface="Times New Roman" pitchFamily="18" charset="0"/>
              </a:rPr>
              <a:t>rejim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kanali</a:t>
            </a:r>
            <a:r>
              <a:rPr lang="en-US" sz="2000" dirty="0">
                <a:latin typeface="Times New Roman" pitchFamily="18" charset="0"/>
                <a:cs typeface="Times New Roman" pitchFamily="18" charset="0"/>
              </a:rPr>
              <a:t> 20-portda </a:t>
            </a:r>
            <a:r>
              <a:rPr lang="en-US" sz="2000" dirty="0" err="1">
                <a:latin typeface="Times New Roman" pitchFamily="18" charset="0"/>
                <a:cs typeface="Times New Roman" pitchFamily="18" charset="0"/>
              </a:rPr>
              <a:t>yaratilgan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mijoz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turdagi</a:t>
            </a:r>
            <a:r>
              <a:rPr lang="en-US" sz="2000" dirty="0">
                <a:latin typeface="Times New Roman" pitchFamily="18" charset="0"/>
                <a:cs typeface="Times New Roman" pitchFamily="18" charset="0"/>
              </a:rPr>
              <a:t> port (1024)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bo'lsa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mijoz</a:t>
            </a:r>
            <a:r>
              <a:rPr lang="en-US" sz="2000" dirty="0">
                <a:latin typeface="Times New Roman" pitchFamily="18" charset="0"/>
                <a:cs typeface="Times New Roman" pitchFamily="18" charset="0"/>
              </a:rPr>
              <a:t> port </a:t>
            </a:r>
            <a:r>
              <a:rPr lang="en-US" sz="2000" dirty="0" err="1">
                <a:latin typeface="Times New Roman" pitchFamily="18" charset="0"/>
                <a:cs typeface="Times New Roman" pitchFamily="18" charset="0"/>
              </a:rPr>
              <a:t>raqamini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tariqa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so'rash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boshqaruv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serverga</a:t>
            </a:r>
            <a:r>
              <a:rPr lang="en-US" sz="2000" dirty="0">
                <a:latin typeface="Times New Roman" pitchFamily="18" charset="0"/>
                <a:cs typeface="Times New Roman" pitchFamily="18" charset="0"/>
              </a:rPr>
              <a:t> PORT </a:t>
            </a:r>
            <a:r>
              <a:rPr lang="en-US" sz="2000" dirty="0" err="1">
                <a:latin typeface="Times New Roman" pitchFamily="18" charset="0"/>
                <a:cs typeface="Times New Roman" pitchFamily="18" charset="0"/>
              </a:rPr>
              <a:t>buyrug'ini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yuborishi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kerak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fayllar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ro'yxatlarni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ko'rsatilgan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portga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o'tkazish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ochishi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a:t>
            </a:r>
          </a:p>
          <a:p>
            <a:pPr algn="just"/>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turdagi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rejim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xavfsizlik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muammolarini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keltirib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chiqaradi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mijozning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kompyuteri</a:t>
            </a:r>
            <a:r>
              <a:rPr lang="en-US" sz="2000" dirty="0">
                <a:latin typeface="Times New Roman" pitchFamily="18" charset="0"/>
                <a:cs typeface="Times New Roman" pitchFamily="18" charset="0"/>
              </a:rPr>
              <a:t> 1024 </a:t>
            </a:r>
            <a:r>
              <a:rPr lang="en-US" sz="2000" dirty="0" err="1">
                <a:latin typeface="Times New Roman" pitchFamily="18" charset="0"/>
                <a:cs typeface="Times New Roman" pitchFamily="18" charset="0"/>
              </a:rPr>
              <a:t>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katta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portdagi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qanday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tayyor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kerak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agar </a:t>
            </a:r>
            <a:r>
              <a:rPr lang="en-US" sz="2000" dirty="0" err="1">
                <a:latin typeface="Times New Roman" pitchFamily="18" charset="0"/>
                <a:cs typeface="Times New Roman" pitchFamily="18" charset="0"/>
              </a:rPr>
              <a:t>kompyuter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xavfsiz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bo'lmagan</a:t>
            </a:r>
            <a:r>
              <a:rPr lang="en-US" sz="2000" dirty="0">
                <a:latin typeface="Times New Roman" pitchFamily="18" charset="0"/>
                <a:cs typeface="Times New Roman" pitchFamily="18" charset="0"/>
              </a:rPr>
              <a:t> internet </a:t>
            </a:r>
            <a:r>
              <a:rPr lang="en-US" sz="2000" dirty="0" err="1">
                <a:latin typeface="Times New Roman" pitchFamily="18" charset="0"/>
                <a:cs typeface="Times New Roman" pitchFamily="18" charset="0"/>
              </a:rPr>
              <a:t>tarmog'iga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bo'lsa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ko'proq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muammolar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paydo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bo'ladi</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Ehtimol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kompyuterning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xavfsizlik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devorlari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ulanishlarni</a:t>
            </a:r>
            <a:r>
              <a:rPr lang="en-US" sz="2000" dirty="0">
                <a:latin typeface="Times New Roman" pitchFamily="18" charset="0"/>
                <a:cs typeface="Times New Roman" pitchFamily="18" charset="0"/>
              </a:rPr>
              <a:t> rad </a:t>
            </a:r>
            <a:r>
              <a:rPr lang="en-US" sz="2000" dirty="0" err="1">
                <a:latin typeface="Times New Roman" pitchFamily="18" charset="0"/>
                <a:cs typeface="Times New Roman" pitchFamily="18" charset="0"/>
              </a:rPr>
              <a:t>etadi</a:t>
            </a:r>
            <a:r>
              <a:rPr lang="en-US" sz="2000" dirty="0" smtClean="0">
                <a:latin typeface="Times New Roman" pitchFamily="18" charset="0"/>
                <a:cs typeface="Times New Roman" pitchFamily="18" charset="0"/>
              </a:rPr>
              <a:t>.</a:t>
            </a:r>
          </a:p>
          <a:p>
            <a:pPr algn="just"/>
            <a:r>
              <a:rPr lang="en-US" sz="2000" b="1"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Passiv</a:t>
            </a:r>
            <a:r>
              <a:rPr lang="en-US" sz="2000" b="1" dirty="0" smtClean="0">
                <a:latin typeface="Times New Roman" pitchFamily="18" charset="0"/>
                <a:cs typeface="Times New Roman" pitchFamily="18" charset="0"/>
              </a:rPr>
              <a:t> </a:t>
            </a:r>
            <a:r>
              <a:rPr lang="en-US" sz="2000" b="1" dirty="0" err="1">
                <a:latin typeface="Times New Roman" pitchFamily="18" charset="0"/>
                <a:cs typeface="Times New Roman" pitchFamily="18" charset="0"/>
              </a:rPr>
              <a:t>rejim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boshqaruv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kanaliga</a:t>
            </a:r>
            <a:r>
              <a:rPr lang="en-US" sz="2000" dirty="0">
                <a:latin typeface="Times New Roman" pitchFamily="18" charset="0"/>
                <a:cs typeface="Times New Roman" pitchFamily="18" charset="0"/>
              </a:rPr>
              <a:t> PASV </a:t>
            </a:r>
            <a:r>
              <a:rPr lang="en-US" sz="2000" dirty="0" err="1">
                <a:latin typeface="Times New Roman" pitchFamily="18" charset="0"/>
                <a:cs typeface="Times New Roman" pitchFamily="18" charset="0"/>
              </a:rPr>
              <a:t>tipidagi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buyruq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yuborilganda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xuddi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FTP </a:t>
            </a:r>
            <a:r>
              <a:rPr lang="en-US" sz="2000" dirty="0" err="1">
                <a:latin typeface="Times New Roman" pitchFamily="18" charset="0"/>
                <a:cs typeface="Times New Roman" pitchFamily="18" charset="0"/>
              </a:rPr>
              <a:t>serveri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mijoz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kerak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katta</a:t>
            </a:r>
            <a:r>
              <a:rPr lang="en-US" sz="2000" dirty="0">
                <a:latin typeface="Times New Roman" pitchFamily="18" charset="0"/>
                <a:cs typeface="Times New Roman" pitchFamily="18" charset="0"/>
              </a:rPr>
              <a:t> port </a:t>
            </a:r>
            <a:r>
              <a:rPr lang="en-US" sz="2000" dirty="0" err="1">
                <a:latin typeface="Times New Roman" pitchFamily="18" charset="0"/>
                <a:cs typeface="Times New Roman" pitchFamily="18" charset="0"/>
              </a:rPr>
              <a:t>ekanligini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ko'rsatadi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so'ngra</a:t>
            </a:r>
            <a:r>
              <a:rPr lang="en-US" sz="2000" dirty="0">
                <a:latin typeface="Times New Roman" pitchFamily="18" charset="0"/>
                <a:cs typeface="Times New Roman" pitchFamily="18" charset="0"/>
              </a:rPr>
              <a:t> u </a:t>
            </a:r>
            <a:r>
              <a:rPr lang="en-US" sz="2000" dirty="0" err="1">
                <a:latin typeface="Times New Roman" pitchFamily="18" charset="0"/>
                <a:cs typeface="Times New Roman" pitchFamily="18" charset="0"/>
              </a:rPr>
              <a:t>boshqaruvdan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keyingi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portdan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boshlashi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kerak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belgilangan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Mijozdan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amalga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uzatishda</a:t>
            </a:r>
            <a:r>
              <a:rPr lang="en-US" sz="2000" dirty="0">
                <a:latin typeface="Times New Roman" pitchFamily="18" charset="0"/>
                <a:cs typeface="Times New Roman" pitchFamily="18" charset="0"/>
              </a:rPr>
              <a:t> u </a:t>
            </a:r>
            <a:r>
              <a:rPr lang="en-US" sz="2000" dirty="0" err="1">
                <a:latin typeface="Times New Roman" pitchFamily="18" charset="0"/>
                <a:cs typeface="Times New Roman" pitchFamily="18" charset="0"/>
              </a:rPr>
              <a:t>ulanish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PORT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PASV </a:t>
            </a:r>
            <a:r>
              <a:rPr lang="en-US" sz="2000" dirty="0" err="1">
                <a:latin typeface="Times New Roman" pitchFamily="18" charset="0"/>
                <a:cs typeface="Times New Roman" pitchFamily="18" charset="0"/>
              </a:rPr>
              <a:t>boshqaruv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buyruqlarini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yuborishi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kerak</a:t>
            </a:r>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41700806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07504" y="0"/>
            <a:ext cx="8856984" cy="6669360"/>
          </a:xfrm>
        </p:spPr>
        <p:txBody>
          <a:bodyPr>
            <a:noAutofit/>
          </a:bodyPr>
          <a:lstStyle/>
          <a:p>
            <a:pPr marL="0" indent="0" algn="just">
              <a:buNone/>
            </a:pPr>
            <a:r>
              <a:rPr lang="en-US" sz="2200" dirty="0" smtClean="0">
                <a:latin typeface="Times New Roman" pitchFamily="18" charset="0"/>
                <a:cs typeface="Times New Roman" pitchFamily="18" charset="0"/>
              </a:rPr>
              <a:t>FTP </a:t>
            </a:r>
            <a:r>
              <a:rPr lang="en-US" sz="2200" dirty="0" err="1">
                <a:latin typeface="Times New Roman" pitchFamily="18" charset="0"/>
                <a:cs typeface="Times New Roman" pitchFamily="18" charset="0"/>
              </a:rPr>
              <a:t>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asosiy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maqsadi</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jo’natish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nusxa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olish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uzatish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uzoqlashtirilgan</a:t>
            </a:r>
            <a:r>
              <a:rPr lang="en-US" sz="2200" dirty="0">
                <a:latin typeface="Times New Roman" pitchFamily="18" charset="0"/>
                <a:cs typeface="Times New Roman" pitchFamily="18" charset="0"/>
              </a:rPr>
              <a:t> (</a:t>
            </a:r>
            <a:r>
              <a:rPr lang="ru-RU" sz="2200" dirty="0">
                <a:latin typeface="Times New Roman" pitchFamily="18" charset="0"/>
                <a:cs typeface="Times New Roman" pitchFamily="18" charset="0"/>
              </a:rPr>
              <a:t>удалённый) </a:t>
            </a:r>
            <a:r>
              <a:rPr lang="en-US" sz="2200" dirty="0" err="1">
                <a:latin typeface="Times New Roman" pitchFamily="18" charset="0"/>
                <a:cs typeface="Times New Roman" pitchFamily="18" charset="0"/>
              </a:rPr>
              <a:t>kompyuterdan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lokal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tarmoqiga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lokal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kompyuterdan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uzoqlashtirilgan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fayllarni</a:t>
            </a:r>
            <a:r>
              <a:rPr lang="en-US" sz="2200" dirty="0">
                <a:latin typeface="Times New Roman" pitchFamily="18" charset="0"/>
                <a:cs typeface="Times New Roman" pitchFamily="18" charset="0"/>
              </a:rPr>
              <a:t> Internet </a:t>
            </a:r>
            <a:r>
              <a:rPr lang="en-US" sz="2200" dirty="0" err="1">
                <a:latin typeface="Times New Roman" pitchFamily="18" charset="0"/>
                <a:cs typeface="Times New Roman" pitchFamily="18" charset="0"/>
              </a:rPr>
              <a:t>orqali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jo’natish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nusxalash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uzatish</a:t>
            </a:r>
            <a:r>
              <a:rPr lang="en-US" sz="2200" dirty="0">
                <a:latin typeface="Times New Roman" pitchFamily="18" charset="0"/>
                <a:cs typeface="Times New Roman" pitchFamily="18" charset="0"/>
              </a:rPr>
              <a:t>) dir. FTP </a:t>
            </a:r>
            <a:r>
              <a:rPr lang="en-US" sz="2200" dirty="0" err="1">
                <a:latin typeface="Times New Roman" pitchFamily="18" charset="0"/>
                <a:cs typeface="Times New Roman" pitchFamily="18" charset="0"/>
              </a:rPr>
              <a:t>protokoli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orqali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uzoqlashtirilgan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kompyuterdan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fayllarni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yo’qotish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yangi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fayllarni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nomini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o’zgartirish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mumkin</a:t>
            </a:r>
            <a:r>
              <a:rPr lang="en-US" sz="2200" dirty="0">
                <a:latin typeface="Times New Roman" pitchFamily="18" charset="0"/>
                <a:cs typeface="Times New Roman" pitchFamily="18" charset="0"/>
              </a:rPr>
              <a:t>.</a:t>
            </a:r>
          </a:p>
          <a:p>
            <a:pPr marL="0" indent="0" algn="just">
              <a:buNone/>
            </a:pPr>
            <a:r>
              <a:rPr lang="en-US" sz="2200" dirty="0" err="1">
                <a:latin typeface="Times New Roman" pitchFamily="18" charset="0"/>
                <a:cs typeface="Times New Roman" pitchFamily="18" charset="0"/>
              </a:rPr>
              <a:t>Serverga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uchun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avtorizatsiya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formasini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to'ldirishingiz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boshqacha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aytganda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autentifikatsiya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foydalanuvchi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parol</a:t>
            </a:r>
            <a:r>
              <a:rPr lang="en-US" sz="2200" dirty="0">
                <a:latin typeface="Times New Roman" pitchFamily="18" charset="0"/>
                <a:cs typeface="Times New Roman" pitchFamily="18" charset="0"/>
              </a:rPr>
              <a:t> (pass) </a:t>
            </a:r>
            <a:r>
              <a:rPr lang="en-US" sz="2200" dirty="0" err="1">
                <a:latin typeface="Times New Roman" pitchFamily="18" charset="0"/>
                <a:cs typeface="Times New Roman" pitchFamily="18" charset="0"/>
              </a:rPr>
              <a:t>kiritilgandan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so'ng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ushbu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tizimga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o'tkaziladi</a:t>
            </a:r>
            <a:r>
              <a:rPr lang="en-US" sz="2200" dirty="0">
                <a:latin typeface="Times New Roman" pitchFamily="18" charset="0"/>
                <a:cs typeface="Times New Roman" pitchFamily="18" charset="0"/>
              </a:rPr>
              <a:t>. Agar </a:t>
            </a:r>
            <a:r>
              <a:rPr lang="en-US" sz="2200" dirty="0" err="1">
                <a:latin typeface="Times New Roman" pitchFamily="18" charset="0"/>
                <a:cs typeface="Times New Roman" pitchFamily="18" charset="0"/>
              </a:rPr>
              <a:t>qabul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bo'lsa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mijoz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taklifnoma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oladi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ishchi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sessiya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ochiladi</a:t>
            </a:r>
            <a:r>
              <a:rPr lang="en-US" sz="2200" dirty="0">
                <a:latin typeface="Times New Roman" pitchFamily="18" charset="0"/>
                <a:cs typeface="Times New Roman" pitchFamily="18" charset="0"/>
              </a:rPr>
              <a:t>.</a:t>
            </a:r>
          </a:p>
          <a:p>
            <a:pPr marL="0" indent="0" algn="just">
              <a:buNone/>
            </a:pPr>
            <a:r>
              <a:rPr lang="en-US" sz="2200" dirty="0" err="1">
                <a:latin typeface="Times New Roman" pitchFamily="18" charset="0"/>
                <a:cs typeface="Times New Roman" pitchFamily="18" charset="0"/>
              </a:rPr>
              <a:t>Ro'yxatga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olish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ma'lumotlarini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ko'rsatmasdan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variantlari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mavjud</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hlinkClick r:id="rId2"/>
              </a:rPr>
              <a:t>Bunday</a:t>
            </a:r>
            <a:r>
              <a:rPr lang="en-US" sz="2200" dirty="0">
                <a:latin typeface="Times New Roman" pitchFamily="18" charset="0"/>
                <a:cs typeface="Times New Roman" pitchFamily="18" charset="0"/>
                <a:hlinkClick r:id="rId2"/>
              </a:rPr>
              <a:t> </a:t>
            </a:r>
            <a:r>
              <a:rPr lang="en-US" sz="2200" dirty="0" err="1">
                <a:latin typeface="Times New Roman" pitchFamily="18" charset="0"/>
                <a:cs typeface="Times New Roman" pitchFamily="18" charset="0"/>
                <a:hlinkClick r:id="rId2"/>
              </a:rPr>
              <a:t>holda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tashrif</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buyuruvchiga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mavjud</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variantlar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cheklangan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bo'ladi</a:t>
            </a:r>
            <a:r>
              <a:rPr lang="en-US" sz="2200" dirty="0">
                <a:latin typeface="Times New Roman" pitchFamily="18" charset="0"/>
                <a:cs typeface="Times New Roman" pitchFamily="18" charset="0"/>
              </a:rPr>
              <a:t>.</a:t>
            </a:r>
          </a:p>
          <a:p>
            <a:pPr marL="0" indent="0" algn="just">
              <a:buNone/>
            </a:pPr>
            <a:r>
              <a:rPr lang="en-US" sz="2200" dirty="0">
                <a:latin typeface="Times New Roman" pitchFamily="18" charset="0"/>
                <a:cs typeface="Times New Roman" pitchFamily="18" charset="0"/>
              </a:rPr>
              <a:t>FTP </a:t>
            </a:r>
            <a:r>
              <a:rPr lang="en-US" sz="2200" dirty="0" err="1">
                <a:latin typeface="Times New Roman" pitchFamily="18" charset="0"/>
                <a:cs typeface="Times New Roman" pitchFamily="18" charset="0"/>
              </a:rPr>
              <a:t>serveriga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qanday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mumkinligi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haqida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yana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a:t>
            </a:r>
            <a:r>
              <a:rPr lang="en-US" sz="2200" dirty="0">
                <a:latin typeface="Times New Roman" pitchFamily="18" charset="0"/>
                <a:cs typeface="Times New Roman" pitchFamily="18" charset="0"/>
              </a:rPr>
              <a:t> variant </a:t>
            </a:r>
            <a:r>
              <a:rPr lang="en-US" sz="2200" dirty="0" err="1">
                <a:latin typeface="Times New Roman" pitchFamily="18" charset="0"/>
                <a:cs typeface="Times New Roman" pitchFamily="18" charset="0"/>
              </a:rPr>
              <a:t>bor</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anonim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Odatiy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kirish</a:t>
            </a:r>
            <a:r>
              <a:rPr lang="en-US" sz="2200" dirty="0">
                <a:latin typeface="Times New Roman" pitchFamily="18" charset="0"/>
                <a:cs typeface="Times New Roman" pitchFamily="18" charset="0"/>
              </a:rPr>
              <a:t> "anonymous" </a:t>
            </a:r>
            <a:r>
              <a:rPr lang="en-US" sz="2200" dirty="0" err="1">
                <a:latin typeface="Times New Roman" pitchFamily="18" charset="0"/>
                <a:cs typeface="Times New Roman" pitchFamily="18" charset="0"/>
              </a:rPr>
              <a:t>loginiga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kirganda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paydo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yozuv</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harflarning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registrida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farq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mumkin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Biroq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elektron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pochta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orqali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kirishni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taklif</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qilishning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tarqalgan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usuli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Ushbu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opsiyasi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dasturiy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yangilanishlarni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yuboradigan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ko'plab</a:t>
            </a:r>
            <a:r>
              <a:rPr lang="en-US" sz="2200" dirty="0">
                <a:latin typeface="Times New Roman" pitchFamily="18" charset="0"/>
                <a:cs typeface="Times New Roman" pitchFamily="18" charset="0"/>
              </a:rPr>
              <a:t> FTP </a:t>
            </a:r>
            <a:r>
              <a:rPr lang="en-US" sz="2200" dirty="0" err="1">
                <a:latin typeface="Times New Roman" pitchFamily="18" charset="0"/>
                <a:cs typeface="Times New Roman" pitchFamily="18" charset="0"/>
              </a:rPr>
              <a:t>hostlaridan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foydalanadi</a:t>
            </a:r>
            <a:r>
              <a:rPr lang="en-US" sz="2200" dirty="0">
                <a:latin typeface="Times New Roman" pitchFamily="18" charset="0"/>
                <a:cs typeface="Times New Roman" pitchFamily="18" charset="0"/>
              </a:rPr>
              <a:t>.</a:t>
            </a:r>
          </a:p>
          <a:p>
            <a:pPr algn="just"/>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2890669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9036496" cy="2554545"/>
          </a:xfrm>
          <a:prstGeom prst="rect">
            <a:avLst/>
          </a:prstGeom>
        </p:spPr>
        <p:txBody>
          <a:bodyPr wrap="square">
            <a:spAutoFit/>
          </a:bodyPr>
          <a:lstStyle/>
          <a:p>
            <a:r>
              <a:rPr lang="en-US" sz="2000" dirty="0" err="1">
                <a:latin typeface="Times New Roman" pitchFamily="18" charset="0"/>
                <a:cs typeface="Times New Roman" pitchFamily="18" charset="0"/>
              </a:rPr>
              <a:t>Ulanish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Total Commander, </a:t>
            </a:r>
            <a:r>
              <a:rPr lang="en-US" sz="2000" dirty="0" err="1">
                <a:latin typeface="Times New Roman" pitchFamily="18" charset="0"/>
                <a:cs typeface="Times New Roman" pitchFamily="18" charset="0"/>
              </a:rPr>
              <a:t>FileZilla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kabi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veb-brauzer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fayl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menejerlaridan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foydalanishingiz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Brauzer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fayllarni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ko'rishingiz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yuklab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olishingiz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o'zgarishlar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olmaysiz</a:t>
            </a:r>
            <a:r>
              <a:rPr lang="en-US" sz="2000" dirty="0">
                <a:latin typeface="Times New Roman" pitchFamily="18" charset="0"/>
                <a:cs typeface="Times New Roman" pitchFamily="18" charset="0"/>
              </a:rPr>
              <a:t>.</a:t>
            </a:r>
          </a:p>
          <a:p>
            <a:r>
              <a:rPr lang="en-US" sz="2000" dirty="0" err="1">
                <a:latin typeface="Times New Roman" pitchFamily="18" charset="0"/>
                <a:cs typeface="Times New Roman" pitchFamily="18" charset="0"/>
              </a:rPr>
              <a:t>Dastur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qulayroq-mijoz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FileZilla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bepul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yuklab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olishingiz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a:t>
            </a:r>
          </a:p>
          <a:p>
            <a:r>
              <a:rPr lang="en-US" sz="2000" dirty="0" smtClean="0">
                <a:latin typeface="Times New Roman" pitchFamily="18" charset="0"/>
                <a:cs typeface="Times New Roman" pitchFamily="18" charset="0"/>
              </a:rPr>
              <a:t>Biz </a:t>
            </a:r>
            <a:r>
              <a:rPr lang="en-US" sz="2000" dirty="0" err="1">
                <a:latin typeface="Times New Roman" pitchFamily="18" charset="0"/>
                <a:cs typeface="Times New Roman" pitchFamily="18" charset="0"/>
              </a:rPr>
              <a:t>yangi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quyidagicha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yaratamiz</a:t>
            </a:r>
            <a:r>
              <a:rPr lang="en-US" sz="2000" dirty="0">
                <a:latin typeface="Times New Roman" pitchFamily="18" charset="0"/>
                <a:cs typeface="Times New Roman" pitchFamily="18" charset="0"/>
              </a:rPr>
              <a:t>:</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Host" </a:t>
            </a:r>
            <a:r>
              <a:rPr lang="en-US" sz="2000" dirty="0" err="1">
                <a:latin typeface="Times New Roman" pitchFamily="18" charset="0"/>
                <a:cs typeface="Times New Roman" pitchFamily="18" charset="0"/>
              </a:rPr>
              <a:t>maydoniga</a:t>
            </a:r>
            <a:r>
              <a:rPr lang="en-US" sz="2000" dirty="0">
                <a:latin typeface="Times New Roman" pitchFamily="18" charset="0"/>
                <a:cs typeface="Times New Roman" pitchFamily="18" charset="0"/>
              </a:rPr>
              <a:t> ftp-server </a:t>
            </a:r>
            <a:r>
              <a:rPr lang="en-US" sz="2000" dirty="0" err="1">
                <a:latin typeface="Times New Roman" pitchFamily="18" charset="0"/>
                <a:cs typeface="Times New Roman" pitchFamily="18" charset="0"/>
              </a:rPr>
              <a:t>manzilini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kiriting</a:t>
            </a:r>
            <a:r>
              <a:rPr lang="en-US" sz="2000" dirty="0">
                <a:latin typeface="Times New Roman" pitchFamily="18" charset="0"/>
                <a:cs typeface="Times New Roman" pitchFamily="18" charset="0"/>
              </a:rPr>
              <a:t>.</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nomi</a:t>
            </a:r>
            <a:r>
              <a:rPr lang="en-US" sz="2000" dirty="0">
                <a:latin typeface="Times New Roman" pitchFamily="18" charset="0"/>
                <a:cs typeface="Times New Roman" pitchFamily="18" charset="0"/>
              </a:rPr>
              <a:t> (Login)", "</a:t>
            </a:r>
            <a:r>
              <a:rPr lang="en-US" sz="2000" dirty="0" err="1">
                <a:latin typeface="Times New Roman" pitchFamily="18" charset="0"/>
                <a:cs typeface="Times New Roman" pitchFamily="18" charset="0"/>
              </a:rPr>
              <a:t>Parol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kerak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bo'lganda</a:t>
            </a:r>
            <a:r>
              <a:rPr lang="en-US" sz="2000" dirty="0">
                <a:latin typeface="Times New Roman" pitchFamily="18" charset="0"/>
                <a:cs typeface="Times New Roman" pitchFamily="18" charset="0"/>
              </a:rPr>
              <a:t> "Port" </a:t>
            </a:r>
            <a:r>
              <a:rPr lang="en-US" sz="2000" dirty="0" err="1">
                <a:latin typeface="Times New Roman" pitchFamily="18" charset="0"/>
                <a:cs typeface="Times New Roman" pitchFamily="18" charset="0"/>
              </a:rPr>
              <a:t>maydonlarini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to'ldiring</a:t>
            </a:r>
            <a:r>
              <a:rPr lang="en-US" sz="2000" dirty="0">
                <a:latin typeface="Times New Roman" pitchFamily="18" charset="0"/>
                <a:cs typeface="Times New Roman" pitchFamily="18" charset="0"/>
              </a:rPr>
              <a:t>.</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2649240"/>
            <a:ext cx="8856983" cy="409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5220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12925" y="670286"/>
            <a:ext cx="891814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450850" algn="l" defTabSz="914400" rtl="0" eaLnBrk="1" fontAlgn="base" latinLnBrk="0" hangingPunct="1">
              <a:lnSpc>
                <a:spcPct val="100000"/>
              </a:lnSpc>
              <a:spcBef>
                <a:spcPct val="0"/>
              </a:spcBef>
              <a:spcAft>
                <a:spcPct val="0"/>
              </a:spcAft>
              <a:buClrTx/>
              <a:buSzTx/>
              <a:buFontTx/>
              <a:buNone/>
              <a:tabLst>
                <a:tab pos="630238" algn="l"/>
              </a:tabLst>
            </a:pPr>
            <a:r>
              <a:rPr kumimoji="0" lang="en-US" sz="2000" b="0" i="1" u="sng"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FTP </a:t>
            </a:r>
            <a:r>
              <a:rPr kumimoji="0" lang="uz-Cyrl-UZ" sz="2000" b="0" i="1" u="sng"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ning ishlash modeli.</a:t>
            </a:r>
            <a:r>
              <a:rPr kumimoji="0" lang="uz-Cyrl-UZ" sz="2000" b="0" i="1"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 </a:t>
            </a: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FTP </a:t>
            </a:r>
            <a:r>
              <a:rPr kumimoji="0" lang="uz-Cyrl-UZ"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protokolning eng sodda ishlash modeli keltirilgan</a:t>
            </a:r>
            <a:r>
              <a:rPr kumimoji="0" lang="uz-Cyrl-UZ" sz="1400" b="0" i="0" u="none" strike="noStrike" cap="none" normalizeH="0" baseline="0" dirty="0" smtClean="0">
                <a:ln>
                  <a:noFill/>
                </a:ln>
                <a:solidFill>
                  <a:srgbClr val="000000"/>
                </a:solidFill>
                <a:effectLst/>
                <a:latin typeface="Arial" pitchFamily="34" charset="0"/>
                <a:ea typeface="Times New Roman" pitchFamily="18" charset="0"/>
                <a:cs typeface="Times New Roman" pitchFamily="18" charset="0"/>
              </a:rPr>
              <a:t>.</a:t>
            </a:r>
            <a:endParaRPr kumimoji="0" lang="ru-RU" sz="800" b="0" i="0" u="none" strike="noStrike" cap="none" normalizeH="0" baseline="0" dirty="0" smtClean="0">
              <a:ln>
                <a:noFill/>
              </a:ln>
              <a:solidFill>
                <a:schemeClr val="tx1"/>
              </a:solidFill>
              <a:effectLst/>
              <a:latin typeface="Arial" pitchFamily="34" charset="0"/>
              <a:cs typeface="Arial" pitchFamily="34" charset="0"/>
            </a:endParaRPr>
          </a:p>
          <a:p>
            <a:pPr marL="0" marR="0" lvl="0" indent="450850" algn="l" defTabSz="914400" rtl="0" eaLnBrk="0" fontAlgn="base" latinLnBrk="0" hangingPunct="0">
              <a:lnSpc>
                <a:spcPct val="100000"/>
              </a:lnSpc>
              <a:spcBef>
                <a:spcPct val="0"/>
              </a:spcBef>
              <a:spcAft>
                <a:spcPct val="0"/>
              </a:spcAft>
              <a:buClrTx/>
              <a:buSzTx/>
              <a:buFontTx/>
              <a:buNone/>
              <a:tabLst>
                <a:tab pos="630238" algn="l"/>
              </a:tabLst>
            </a:pPr>
            <a:endParaRPr kumimoji="0" lang="ru-RU"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024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7" y="1628800"/>
            <a:ext cx="7560840" cy="262530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2211418" y="5013176"/>
            <a:ext cx="464915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630238" algn="l"/>
              </a:tabLst>
            </a:pPr>
            <a:r>
              <a:rPr kumimoji="0" lang="en-US"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FTP </a:t>
            </a:r>
            <a:r>
              <a:rPr kumimoji="0" lang="uz-Cyrl-UZ" sz="2000" b="0" i="0" u="none" strike="noStrike" cap="none" normalizeH="0" baseline="0" dirty="0" smtClean="0">
                <a:ln>
                  <a:noFill/>
                </a:ln>
                <a:solidFill>
                  <a:srgbClr val="000000"/>
                </a:solidFill>
                <a:effectLst/>
                <a:latin typeface="Times New Roman" pitchFamily="18" charset="0"/>
                <a:ea typeface="Times New Roman" pitchFamily="18" charset="0"/>
                <a:cs typeface="Times New Roman" pitchFamily="18" charset="0"/>
              </a:rPr>
              <a:t>protokolning eng sodda ishlash modeli</a:t>
            </a:r>
            <a:endParaRPr kumimoji="0" lang="uz-Cyrl-UZ"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1836067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260648"/>
            <a:ext cx="8640960" cy="6264696"/>
          </a:xfrm>
        </p:spPr>
        <p:txBody>
          <a:bodyPr>
            <a:noAutofit/>
          </a:bodyPr>
          <a:lstStyle/>
          <a:p>
            <a:pPr marL="0" indent="0" algn="ctr">
              <a:buNone/>
            </a:pPr>
            <a:r>
              <a:rPr lang="en-US" sz="2400" b="1" dirty="0" err="1">
                <a:latin typeface="Times New Roman" pitchFamily="18" charset="0"/>
                <a:cs typeface="Times New Roman" pitchFamily="18" charset="0"/>
              </a:rPr>
              <a:t>Siz</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savol</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berishingiz</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mumkin</a:t>
            </a:r>
            <a:r>
              <a:rPr lang="en-US" sz="2400" b="1" dirty="0">
                <a:latin typeface="Times New Roman" pitchFamily="18" charset="0"/>
                <a:cs typeface="Times New Roman" pitchFamily="18" charset="0"/>
              </a:rPr>
              <a:t>:</a:t>
            </a:r>
          </a:p>
          <a:p>
            <a:pPr marL="0" indent="0">
              <a:buNone/>
            </a:pPr>
            <a:r>
              <a:rPr lang="en-US" sz="2400" dirty="0" err="1" smtClean="0">
                <a:latin typeface="Times New Roman" pitchFamily="18" charset="0"/>
                <a:cs typeface="Times New Roman" pitchFamily="18" charset="0"/>
              </a:rPr>
              <a:t>Qayerdan</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“Host”, “</a:t>
            </a:r>
            <a:r>
              <a:rPr lang="en-US" sz="2400" dirty="0" err="1">
                <a:latin typeface="Times New Roman" pitchFamily="18" charset="0"/>
                <a:cs typeface="Times New Roman" pitchFamily="18" charset="0"/>
              </a:rPr>
              <a:t>Foydalanuvchi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nomi</a:t>
            </a:r>
            <a:r>
              <a:rPr lang="en-US" sz="2400" dirty="0">
                <a:latin typeface="Times New Roman" pitchFamily="18" charset="0"/>
                <a:cs typeface="Times New Roman" pitchFamily="18" charset="0"/>
              </a:rPr>
              <a:t> (Login)”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Parol</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olaman</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smtClean="0">
                <a:latin typeface="Times New Roman" pitchFamily="18" charset="0"/>
                <a:cs typeface="Times New Roman" pitchFamily="18" charset="0"/>
              </a:rPr>
              <a:t>Bu </a:t>
            </a:r>
            <a:r>
              <a:rPr lang="en-US" sz="2400" dirty="0" err="1">
                <a:latin typeface="Times New Roman" pitchFamily="18" charset="0"/>
                <a:cs typeface="Times New Roman" pitchFamily="18" charset="0"/>
              </a:rPr>
              <a:t>savolga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javob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oddiy</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smtClean="0">
                <a:latin typeface="Times New Roman" pitchFamily="18" charset="0"/>
                <a:cs typeface="Times New Roman" pitchFamily="18" charset="0"/>
              </a:rPr>
              <a:t>Agar </a:t>
            </a:r>
            <a:r>
              <a:rPr lang="en-US" sz="2400" dirty="0" err="1">
                <a:latin typeface="Times New Roman" pitchFamily="18" charset="0"/>
                <a:cs typeface="Times New Roman" pitchFamily="18" charset="0"/>
              </a:rPr>
              <a:t>siz</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hostda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joylashgan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serverga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ulansangiz</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sayt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egasi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barcha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kirish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huquqiga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provayder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tomonidan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taqdim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etilgan</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err="1" smtClean="0">
                <a:latin typeface="Times New Roman" pitchFamily="18" charset="0"/>
                <a:cs typeface="Times New Roman" pitchFamily="18" charset="0"/>
              </a:rPr>
              <a:t>Veb-sayt</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fayllari</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bu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keng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tarqalgan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foydalanish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holati</a:t>
            </a:r>
            <a:r>
              <a:rPr lang="en-US" sz="2400" dirty="0">
                <a:latin typeface="Times New Roman" pitchFamily="18" charset="0"/>
                <a:cs typeface="Times New Roman" pitchFamily="18" charset="0"/>
              </a:rPr>
              <a:t>, ammo </a:t>
            </a:r>
            <a:r>
              <a:rPr lang="en-US" sz="2400" dirty="0" err="1">
                <a:latin typeface="Times New Roman" pitchFamily="18" charset="0"/>
                <a:cs typeface="Times New Roman" pitchFamily="18" charset="0"/>
              </a:rPr>
              <a:t>ular</a:t>
            </a:r>
            <a:r>
              <a:rPr lang="en-US" sz="2400" dirty="0">
                <a:latin typeface="Times New Roman" pitchFamily="18" charset="0"/>
                <a:cs typeface="Times New Roman" pitchFamily="18" charset="0"/>
              </a:rPr>
              <a:t> FTP-</a:t>
            </a:r>
            <a:r>
              <a:rPr lang="en-US" sz="2400" dirty="0" err="1">
                <a:latin typeface="Times New Roman" pitchFamily="18" charset="0"/>
                <a:cs typeface="Times New Roman" pitchFamily="18" charset="0"/>
              </a:rPr>
              <a:t>serverlarda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joylashgan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narsalardan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uzoqdir.U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yerda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siz</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qanday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ish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yoki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shaxsiy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hajmdagi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katta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hajmdagi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ma'lumotlarni</a:t>
            </a:r>
            <a:r>
              <a:rPr lang="en-US" sz="2400" dirty="0">
                <a:latin typeface="Times New Roman" pitchFamily="18" charset="0"/>
                <a:cs typeface="Times New Roman" pitchFamily="18" charset="0"/>
              </a:rPr>
              <a:t>, </a:t>
            </a:r>
            <a:r>
              <a:rPr lang="en-US" sz="2400" dirty="0">
                <a:latin typeface="Times New Roman" pitchFamily="18" charset="0"/>
                <a:cs typeface="Times New Roman" pitchFamily="18" charset="0"/>
                <a:hlinkClick r:id="rId2"/>
              </a:rPr>
              <a:t>variant </a:t>
            </a:r>
            <a:r>
              <a:rPr lang="en-US" sz="2400" dirty="0" err="1">
                <a:latin typeface="Times New Roman" pitchFamily="18" charset="0"/>
                <a:cs typeface="Times New Roman" pitchFamily="18" charset="0"/>
                <a:hlinkClick r:id="rId2"/>
              </a:rPr>
              <a:t>sifatida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fotosuratlar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videofilmlarni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saqlashingiz</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mumkin</a:t>
            </a:r>
            <a:r>
              <a:rPr lang="en-US" sz="2400" dirty="0">
                <a:latin typeface="Times New Roman" pitchFamily="18" charset="0"/>
                <a:cs typeface="Times New Roman" pitchFamily="18" charset="0"/>
              </a:rPr>
              <a:t>.</a:t>
            </a:r>
          </a:p>
          <a:p>
            <a:pPr marL="0" indent="0">
              <a:buNone/>
            </a:pPr>
            <a:r>
              <a:rPr lang="en-US" sz="2400" dirty="0" err="1">
                <a:latin typeface="Times New Roman" pitchFamily="18" charset="0"/>
                <a:cs typeface="Times New Roman" pitchFamily="18" charset="0"/>
              </a:rPr>
              <a:t>Har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kuni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millionlab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odamlar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foydalanadigan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deyarli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qanday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ma'lumot</a:t>
            </a:r>
            <a:r>
              <a:rPr lang="en-US" sz="2400" dirty="0">
                <a:latin typeface="Times New Roman" pitchFamily="18" charset="0"/>
                <a:cs typeface="Times New Roman" pitchFamily="18" charset="0"/>
              </a:rPr>
              <a:t> FTP </a:t>
            </a:r>
            <a:r>
              <a:rPr lang="en-US" sz="2400" dirty="0" err="1">
                <a:latin typeface="Times New Roman" pitchFamily="18" charset="0"/>
                <a:cs typeface="Times New Roman" pitchFamily="18" charset="0"/>
              </a:rPr>
              <a:t>omborlarida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joylashgan</a:t>
            </a:r>
            <a:r>
              <a:rPr lang="en-US" sz="2400" dirty="0">
                <a:latin typeface="Times New Roman" pitchFamily="18" charset="0"/>
                <a:cs typeface="Times New Roman" pitchFamily="18" charset="0"/>
              </a:rPr>
              <a:t>. Bu </a:t>
            </a:r>
            <a:r>
              <a:rPr lang="en-US" sz="2400" dirty="0" err="1">
                <a:latin typeface="Times New Roman" pitchFamily="18" charset="0"/>
                <a:cs typeface="Times New Roman" pitchFamily="18" charset="0"/>
              </a:rPr>
              <a:t>dasturiy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ta'minot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elektron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kitoblar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qonunchilik</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maqolalar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filmlar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musiqa</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fayl</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formatida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ko’rsatilishi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mumkin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bo'lgan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barcha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narsalar</a:t>
            </a:r>
            <a:r>
              <a:rPr lang="en-US" sz="2400" dirty="0">
                <a:latin typeface="Times New Roman" pitchFamily="18" charset="0"/>
                <a:cs typeface="Times New Roman" pitchFamily="18" charset="0"/>
              </a:rPr>
              <a:t>.</a:t>
            </a:r>
          </a:p>
          <a:p>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2249553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474345"/>
            <a:ext cx="8784976" cy="5632311"/>
          </a:xfrm>
          <a:prstGeom prst="rect">
            <a:avLst/>
          </a:prstGeom>
        </p:spPr>
        <p:txBody>
          <a:bodyPr wrap="square">
            <a:spAutoFit/>
          </a:bodyPr>
          <a:lstStyle/>
          <a:p>
            <a:pPr algn="ctr"/>
            <a:r>
              <a:rPr lang="uz-Cyrl-UZ" sz="2400" b="1" dirty="0">
                <a:latin typeface="Times New Roman" pitchFamily="18" charset="0"/>
                <a:cs typeface="Times New Roman" pitchFamily="18" charset="0"/>
              </a:rPr>
              <a:t>FTP protokolining ishlash algoritmi quyidagilardan iborat:</a:t>
            </a:r>
            <a:endParaRPr lang="ru-RU" sz="2400" b="1" dirty="0">
              <a:latin typeface="Times New Roman" pitchFamily="18" charset="0"/>
              <a:cs typeface="Times New Roman" pitchFamily="18" charset="0"/>
            </a:endParaRPr>
          </a:p>
          <a:p>
            <a:pPr lvl="0" algn="just"/>
            <a:r>
              <a:rPr lang="en-US" sz="2400" dirty="0" smtClean="0">
                <a:latin typeface="Times New Roman" pitchFamily="18" charset="0"/>
                <a:cs typeface="Times New Roman" pitchFamily="18" charset="0"/>
              </a:rPr>
              <a:t>1. </a:t>
            </a:r>
            <a:r>
              <a:rPr lang="uz-Cyrl-UZ" sz="2400" dirty="0" smtClean="0">
                <a:latin typeface="Times New Roman" pitchFamily="18" charset="0"/>
                <a:cs typeface="Times New Roman" pitchFamily="18" charset="0"/>
              </a:rPr>
              <a:t>FTP </a:t>
            </a:r>
            <a:r>
              <a:rPr lang="uz-Cyrl-UZ" sz="2400" dirty="0">
                <a:latin typeface="Times New Roman" pitchFamily="18" charset="0"/>
                <a:cs typeface="Times New Roman" pitchFamily="18" charset="0"/>
              </a:rPr>
              <a:t>serveri boshqaruv sifatida TCP da 21 portni ishlatadi va u har doim FTP foydalanuvchisi tomonidan ulanishni kutish holatida bo‘ladi.</a:t>
            </a:r>
            <a:endParaRPr lang="ru-RU" sz="2400" dirty="0">
              <a:latin typeface="Times New Roman" pitchFamily="18" charset="0"/>
              <a:cs typeface="Times New Roman" pitchFamily="18" charset="0"/>
            </a:endParaRPr>
          </a:p>
          <a:p>
            <a:pPr lvl="0" algn="just"/>
            <a:r>
              <a:rPr lang="en-US" sz="2400" dirty="0" smtClean="0">
                <a:latin typeface="Times New Roman" pitchFamily="18" charset="0"/>
                <a:cs typeface="Times New Roman" pitchFamily="18" charset="0"/>
              </a:rPr>
              <a:t>2. </a:t>
            </a:r>
            <a:r>
              <a:rPr lang="uz-Cyrl-UZ" sz="2400" dirty="0" smtClean="0">
                <a:latin typeface="Times New Roman" pitchFamily="18" charset="0"/>
                <a:cs typeface="Times New Roman" pitchFamily="18" charset="0"/>
              </a:rPr>
              <a:t>“Foydalanuvchi </a:t>
            </a:r>
            <a:r>
              <a:rPr lang="uz-Cyrl-UZ" sz="2400" dirty="0">
                <a:latin typeface="Times New Roman" pitchFamily="18" charset="0"/>
                <a:cs typeface="Times New Roman" pitchFamily="18" charset="0"/>
              </a:rPr>
              <a:t>protokoli interpretatori” moduli bilan “Server protokoli interpretatori” serveri moduli o‘rtasida boshqaruv ulanish o‘rnatilishi bilan foydalanuvchi (kliyent) serverga komandalarni yuborishi mumkin. FTP-komandalar ma’lumotlarni uzatish ulanishi parametrlarini aniqlaydi: ulanish ishtirokchilari roli (aktiv yoki passiv), ulanish porti (“Foydalanuvchi ma’lumotlarni uzatish dasturi” va “Server ma’lumotlarini uzatish dasturi” modullari uchun), uzatish turi, uzatilayotgan ma’lumotlar turi, ma’lumotlar strukturasi va boshqaruv direktivalari, foydalanuvchi bajaradigan belgili amallar (masalan, saqlash, o‘qish, ma’lumotlar yoki fayllarni qo‘shish yoki o‘chirish va boshqalar).</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1124625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404664"/>
            <a:ext cx="8856984" cy="4893647"/>
          </a:xfrm>
          <a:prstGeom prst="rect">
            <a:avLst/>
          </a:prstGeom>
        </p:spPr>
        <p:txBody>
          <a:bodyPr wrap="square">
            <a:spAutoFit/>
          </a:bodyPr>
          <a:lstStyle/>
          <a:p>
            <a:pPr lvl="0" algn="just"/>
            <a:r>
              <a:rPr lang="en-US" sz="2400" dirty="0" smtClean="0">
                <a:latin typeface="Times New Roman" pitchFamily="18" charset="0"/>
                <a:cs typeface="Times New Roman" pitchFamily="18" charset="0"/>
              </a:rPr>
              <a:t>	3.</a:t>
            </a:r>
            <a:r>
              <a:rPr lang="uz-Cyrl-UZ" sz="2400" dirty="0" smtClean="0">
                <a:latin typeface="Times New Roman" pitchFamily="18" charset="0"/>
                <a:cs typeface="Times New Roman" pitchFamily="18" charset="0"/>
              </a:rPr>
              <a:t>Ma’lumotlar </a:t>
            </a:r>
            <a:r>
              <a:rPr lang="uz-Cyrl-UZ" sz="2400" dirty="0">
                <a:latin typeface="Times New Roman" pitchFamily="18" charset="0"/>
                <a:cs typeface="Times New Roman" pitchFamily="18" charset="0"/>
              </a:rPr>
              <a:t>uzatish kanalining barcha parametrlari moslashtirilganidan keyin, ulanishning passiv bo‘lgan ishtirokchilaridan biri (masalan, “Foydalanuvchi ma’lumotlarini uzatish dasturi”) ma’lumotlarni berilgan portga uzatish uchun ulanishning ochilishini kutish rejimiga kiradi. So‘ngra aktiv modul (masalan, “Server ma’lumotlarini uzatish dasturi”) ulanishni ochadi va ma’lumotlarni uzatishni boshlaydi.</a:t>
            </a:r>
            <a:endParaRPr lang="ru-RU" sz="2400" dirty="0">
              <a:latin typeface="Times New Roman" pitchFamily="18" charset="0"/>
              <a:cs typeface="Times New Roman" pitchFamily="18" charset="0"/>
            </a:endParaRPr>
          </a:p>
          <a:p>
            <a:pPr lvl="0" algn="just"/>
            <a:r>
              <a:rPr lang="en-US" sz="2400" dirty="0" smtClean="0">
                <a:latin typeface="Times New Roman" pitchFamily="18" charset="0"/>
                <a:cs typeface="Times New Roman" pitchFamily="18" charset="0"/>
              </a:rPr>
              <a:t>	4.</a:t>
            </a:r>
            <a:r>
              <a:rPr lang="uz-Cyrl-UZ" sz="2400" dirty="0" smtClean="0">
                <a:latin typeface="Times New Roman" pitchFamily="18" charset="0"/>
                <a:cs typeface="Times New Roman" pitchFamily="18" charset="0"/>
              </a:rPr>
              <a:t>Ma’lumotlarni </a:t>
            </a:r>
            <a:r>
              <a:rPr lang="uz-Cyrl-UZ" sz="2400" dirty="0">
                <a:latin typeface="Times New Roman" pitchFamily="18" charset="0"/>
                <a:cs typeface="Times New Roman" pitchFamily="18" charset="0"/>
              </a:rPr>
              <a:t>uzatish tugallanganidan keyin, “Server ma’lumotlarini uzatish dasturi” va “Foydalanuvchi ma’lumotlarini uzatish dasturi” o‘rtasidagi ulanish yopiladi, ammo “Server protokoli interpretatori” va “Foydalanuvchi protokoli interpretatori” boshqaruv ulanishi ochiq qoladi. Foydalanuvchi FTP sessiyalarini yopmasdan ma’lumotlarni uzatish kanalini yana bir marta ochishi mumkin.</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1629344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67544" y="404664"/>
            <a:ext cx="8208912" cy="2677656"/>
          </a:xfrm>
          <a:prstGeom prst="rect">
            <a:avLst/>
          </a:prstGeom>
        </p:spPr>
        <p:txBody>
          <a:bodyPr wrap="square">
            <a:spAutoFit/>
          </a:bodyPr>
          <a:lstStyle/>
          <a:p>
            <a:pPr algn="ctr"/>
            <a:r>
              <a:rPr lang="en-US" sz="2400" b="1" dirty="0" err="1">
                <a:latin typeface="Times New Roman" pitchFamily="18" charset="0"/>
                <a:cs typeface="Times New Roman" pitchFamily="18" charset="0"/>
              </a:rPr>
              <a:t>Nazorat</a:t>
            </a:r>
            <a:r>
              <a:rPr lang="en-US" sz="2400" b="1" dirty="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savollari</a:t>
            </a:r>
            <a:endParaRPr lang="en-US" sz="2400" b="1" dirty="0" smtClean="0">
              <a:latin typeface="Times New Roman" pitchFamily="18" charset="0"/>
              <a:cs typeface="Times New Roman" pitchFamily="18" charset="0"/>
            </a:endParaRPr>
          </a:p>
          <a:p>
            <a:endParaRPr lang="ru-RU"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1. File Transfer Protocol. </a:t>
            </a:r>
            <a:endParaRPr lang="ru-RU"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2. FTP-server. </a:t>
            </a:r>
            <a:endParaRPr lang="ru-RU"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3. FTP-</a:t>
            </a:r>
            <a:r>
              <a:rPr lang="en-US" sz="2400" dirty="0" err="1">
                <a:latin typeface="Times New Roman" pitchFamily="18" charset="0"/>
                <a:cs typeface="Times New Roman" pitchFamily="18" charset="0"/>
              </a:rPr>
              <a:t>klient</a:t>
            </a:r>
            <a:r>
              <a:rPr lang="en-US" sz="2400"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4. FTP </a:t>
            </a:r>
            <a:r>
              <a:rPr lang="en-US" sz="2400" dirty="0" err="1">
                <a:latin typeface="Times New Roman" pitchFamily="18" charset="0"/>
                <a:cs typeface="Times New Roman" pitchFamily="18" charset="0"/>
              </a:rPr>
              <a:t>arxiv</a:t>
            </a:r>
            <a:r>
              <a:rPr lang="en-US" sz="2400"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5. FTP </a:t>
            </a:r>
            <a:r>
              <a:rPr lang="en-US" sz="2400" dirty="0" err="1">
                <a:latin typeface="Times New Roman" pitchFamily="18" charset="0"/>
                <a:cs typeface="Times New Roman" pitchFamily="18" charset="0"/>
              </a:rPr>
              <a:t>buyruqlari</a:t>
            </a:r>
            <a:r>
              <a:rPr lang="en-US" sz="2400"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47588963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TotalTime>
  <Words>404</Words>
  <Application>Microsoft Office PowerPoint</Application>
  <PresentationFormat>Экран (4:3)</PresentationFormat>
  <Paragraphs>40</Paragraphs>
  <Slides>18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18</vt:i4>
      </vt:variant>
    </vt:vector>
  </HeadingPairs>
  <TitlesOfParts>
    <vt:vector size="19"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35</cp:revision>
  <dcterms:created xsi:type="dcterms:W3CDTF">2020-02-10T04:46:41Z</dcterms:created>
  <dcterms:modified xsi:type="dcterms:W3CDTF">2024-03-04T05:25:29Z</dcterms:modified>
</cp:coreProperties>
</file>