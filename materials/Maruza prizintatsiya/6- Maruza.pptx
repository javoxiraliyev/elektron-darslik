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28.02.2025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28.02.2025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28.02.2025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28.02.2025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28.02.2025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28.02.2025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28.02.2025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t-RU" sz="1800" b="1" dirty="0" smtClean="0">
                <a:latin typeface="Times New Roman" pitchFamily="18" charset="0"/>
                <a:cs typeface="Times New Roman" pitchFamily="18" charset="0"/>
              </a:rPr>
              <a:t>MUXAMMAD </a:t>
            </a:r>
            <a:r>
              <a:rPr lang="tt-RU" sz="1800" b="1" dirty="0" smtClean="0">
                <a:latin typeface="Times New Roman" pitchFamily="18" charset="0"/>
                <a:cs typeface="Times New Roman" pitchFamily="18" charset="0"/>
              </a:rPr>
              <a:t>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a:t>
            </a:r>
            <a:r>
              <a:rPr lang="en-US" sz="2400" b="1">
                <a:latin typeface="Times New Roman" pitchFamily="18" charset="0"/>
                <a:cs typeface="Times New Roman" pitchFamily="18" charset="0"/>
              </a:rPr>
              <a:t>6</a:t>
            </a:r>
            <a:r>
              <a:rPr lang="en-US" sz="2400" b="1"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dirty="0" err="1" smtClean="0">
                <a:solidFill>
                  <a:schemeClr val="tx1"/>
                </a:solidFill>
                <a:latin typeface="Times New Roman" pitchFamily="18" charset="0"/>
                <a:cs typeface="Times New Roman" pitchFamily="18" charset="0"/>
              </a:rPr>
              <a:t>Mavzu</a:t>
            </a:r>
            <a:r>
              <a:rPr lang="en-US" dirty="0" smtClean="0">
                <a:solidFill>
                  <a:schemeClr val="tx1"/>
                </a:solidFill>
                <a:latin typeface="Times New Roman" pitchFamily="18" charset="0"/>
                <a:cs typeface="Times New Roman" pitchFamily="18" charset="0"/>
              </a:rPr>
              <a:t>: </a:t>
            </a:r>
            <a:r>
              <a:rPr lang="uz-Cyrl-UZ" dirty="0">
                <a:solidFill>
                  <a:schemeClr val="tx1"/>
                </a:solidFill>
                <a:latin typeface="Times New Roman" pitchFamily="18" charset="0"/>
                <a:cs typeface="Times New Roman" pitchFamily="18" charset="0"/>
              </a:rPr>
              <a:t>Tarmoqda kommutatsiyani dasturlash</a:t>
            </a:r>
            <a:endParaRPr lang="ru-RU" dirty="0">
              <a:solidFill>
                <a:schemeClr val="tx1"/>
              </a:solidFill>
              <a:latin typeface="Times New Roman" pitchFamily="18" charset="0"/>
              <a:cs typeface="Times New Roman" pitchFamily="18" charset="0"/>
            </a:endParaRPr>
          </a:p>
          <a:p>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t>Kanallar kommutatsiyasi</a:t>
            </a:r>
            <a:r>
              <a:rPr lang="en-US" sz="2400" dirty="0"/>
              <a:t>.</a:t>
            </a:r>
            <a:endParaRPr lang="ru-RU" sz="2400" dirty="0"/>
          </a:p>
          <a:p>
            <a:pPr marL="457200" lvl="0" indent="-457200">
              <a:buFont typeface="+mj-lt"/>
              <a:buAutoNum type="arabicPeriod"/>
            </a:pPr>
            <a:r>
              <a:rPr lang="uz-Cyrl-UZ" sz="2400" dirty="0"/>
              <a:t>Paketlar kommutatsiyasi</a:t>
            </a:r>
            <a:r>
              <a:rPr lang="en-US" sz="2400" dirty="0"/>
              <a:t>.</a:t>
            </a:r>
            <a:endParaRPr lang="ru-RU" sz="2400" dirty="0"/>
          </a:p>
          <a:p>
            <a:pPr marL="457200" lvl="0" indent="-457200">
              <a:buFont typeface="+mj-lt"/>
              <a:buAutoNum type="arabicPeriod"/>
            </a:pPr>
            <a:r>
              <a:rPr lang="uz-Cyrl-UZ" sz="2400" dirty="0"/>
              <a:t>Xabarlar kommutatsiyasi</a:t>
            </a:r>
            <a:r>
              <a:rPr lang="en-US" sz="2400" dirty="0"/>
              <a:t>.</a:t>
            </a: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07504" y="42284"/>
            <a:ext cx="8856984" cy="2677656"/>
          </a:xfrm>
          <a:prstGeom prst="rect">
            <a:avLst/>
          </a:prstGeom>
        </p:spPr>
        <p:txBody>
          <a:bodyPr wrap="square">
            <a:spAutoFit/>
          </a:bodyPr>
          <a:lstStyle/>
          <a:p>
            <a:pPr algn="ctr"/>
            <a:r>
              <a:rPr lang="en-US" sz="2400" dirty="0" err="1" smtClean="0">
                <a:latin typeface="Times New Roman" pitchFamily="18" charset="0"/>
                <a:cs typeface="Times New Roman" pitchFamily="18" charset="0"/>
              </a:rPr>
              <a:t>Kirish</a:t>
            </a:r>
            <a:r>
              <a:rPr lang="en-US" sz="2400" dirty="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Tarmoqlarda </a:t>
            </a:r>
            <a:r>
              <a:rPr lang="uz-Cyrl-UZ" sz="2000" dirty="0">
                <a:latin typeface="Times New Roman" pitchFamily="18" charset="0"/>
                <a:cs typeface="Times New Roman" pitchFamily="18" charset="0"/>
              </a:rPr>
              <a:t>ikki foydalanuvchi bir - biri bilan bog‘lanish jarayonida quyidagi asosiy kommutatsiya usullari mavjud:</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Kanallar kommutatsiyasi </a:t>
            </a:r>
            <a:r>
              <a:rPr lang="uz-Cyrl-UZ" sz="2000" i="1" dirty="0">
                <a:latin typeface="Times New Roman" pitchFamily="18" charset="0"/>
                <a:cs typeface="Times New Roman" pitchFamily="18" charset="0"/>
              </a:rPr>
              <a:t>(circuit switching);</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Paketlar kommutatsiyasi </a:t>
            </a:r>
            <a:r>
              <a:rPr lang="uz-Cyrl-UZ" sz="2000" i="1" dirty="0">
                <a:latin typeface="Times New Roman" pitchFamily="18" charset="0"/>
                <a:cs typeface="Times New Roman" pitchFamily="18" charset="0"/>
              </a:rPr>
              <a:t>[packet switching);</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Xabarlar kommutatsiyasi </a:t>
            </a:r>
            <a:r>
              <a:rPr lang="uz-Cyrl-UZ" sz="2000" i="1" dirty="0">
                <a:latin typeface="Times New Roman" pitchFamily="18" charset="0"/>
                <a:cs typeface="Times New Roman" pitchFamily="18" charset="0"/>
              </a:rPr>
              <a:t>(message switching).</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Umumiy </a:t>
            </a:r>
            <a:r>
              <a:rPr lang="uz-Cyrl-UZ" sz="2000" dirty="0">
                <a:latin typeface="Times New Roman" pitchFamily="18" charset="0"/>
                <a:cs typeface="Times New Roman" pitchFamily="18" charset="0"/>
              </a:rPr>
              <a:t>holda foydalanuvchilarning bog‘lanishi 1.1 - rasmda keltirilganday bo‘ladi va kommutatsiya usuliga ko‘ra bajariladigan vazifalari bilan farqlanadi.</a:t>
            </a:r>
            <a:endParaRPr lang="ru-RU" sz="2000" dirty="0">
              <a:latin typeface="Times New Roman" pitchFamily="18" charset="0"/>
              <a:cs typeface="Times New Roman" pitchFamily="18" charset="0"/>
            </a:endParaRPr>
          </a:p>
        </p:txBody>
      </p:sp>
      <p:grpSp>
        <p:nvGrpSpPr>
          <p:cNvPr id="6" name="Группа 5"/>
          <p:cNvGrpSpPr>
            <a:grpSpLocks/>
          </p:cNvGrpSpPr>
          <p:nvPr/>
        </p:nvGrpSpPr>
        <p:grpSpPr bwMode="auto">
          <a:xfrm>
            <a:off x="1571667" y="2769959"/>
            <a:ext cx="6048672" cy="2001892"/>
            <a:chOff x="3141" y="5454"/>
            <a:chExt cx="6615" cy="3615"/>
          </a:xfrm>
        </p:grpSpPr>
        <p:sp>
          <p:nvSpPr>
            <p:cNvPr id="7" name="Oval 3"/>
            <p:cNvSpPr>
              <a:spLocks noChangeArrowheads="1"/>
            </p:cNvSpPr>
            <p:nvPr/>
          </p:nvSpPr>
          <p:spPr bwMode="auto">
            <a:xfrm>
              <a:off x="4237" y="5454"/>
              <a:ext cx="539" cy="54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8" name="Oval 4"/>
            <p:cNvSpPr>
              <a:spLocks noChangeArrowheads="1"/>
            </p:cNvSpPr>
            <p:nvPr/>
          </p:nvSpPr>
          <p:spPr bwMode="auto">
            <a:xfrm>
              <a:off x="4251" y="6879"/>
              <a:ext cx="540" cy="539"/>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9" name="Oval 5"/>
            <p:cNvSpPr>
              <a:spLocks noChangeArrowheads="1"/>
            </p:cNvSpPr>
            <p:nvPr/>
          </p:nvSpPr>
          <p:spPr bwMode="auto">
            <a:xfrm>
              <a:off x="5317" y="7794"/>
              <a:ext cx="539" cy="54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10" name="Oval 6"/>
            <p:cNvSpPr>
              <a:spLocks noChangeArrowheads="1"/>
            </p:cNvSpPr>
            <p:nvPr/>
          </p:nvSpPr>
          <p:spPr bwMode="auto">
            <a:xfrm>
              <a:off x="8166" y="7269"/>
              <a:ext cx="539" cy="54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11" name="Oval 7"/>
            <p:cNvSpPr>
              <a:spLocks noChangeArrowheads="1"/>
            </p:cNvSpPr>
            <p:nvPr/>
          </p:nvSpPr>
          <p:spPr bwMode="auto">
            <a:xfrm>
              <a:off x="6231" y="6894"/>
              <a:ext cx="538" cy="54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12" name="Oval 8"/>
            <p:cNvSpPr>
              <a:spLocks noChangeArrowheads="1"/>
            </p:cNvSpPr>
            <p:nvPr/>
          </p:nvSpPr>
          <p:spPr bwMode="auto">
            <a:xfrm>
              <a:off x="8196" y="5454"/>
              <a:ext cx="541" cy="539"/>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sp>
          <p:nvSpPr>
            <p:cNvPr id="13" name="Oval 9"/>
            <p:cNvSpPr>
              <a:spLocks noChangeArrowheads="1"/>
            </p:cNvSpPr>
            <p:nvPr/>
          </p:nvSpPr>
          <p:spPr bwMode="auto">
            <a:xfrm>
              <a:off x="6218" y="5454"/>
              <a:ext cx="538" cy="540"/>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endParaRPr lang="ru-RU"/>
            </a:p>
          </p:txBody>
        </p:sp>
        <p:cxnSp>
          <p:nvCxnSpPr>
            <p:cNvPr id="14" name="Line 10"/>
            <p:cNvCxnSpPr>
              <a:cxnSpLocks noChangeShapeType="1"/>
            </p:cNvCxnSpPr>
            <p:nvPr/>
          </p:nvCxnSpPr>
          <p:spPr bwMode="auto">
            <a:xfrm>
              <a:off x="4385" y="5994"/>
              <a:ext cx="1"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5" name="Line 11"/>
            <p:cNvCxnSpPr>
              <a:cxnSpLocks noChangeShapeType="1"/>
            </p:cNvCxnSpPr>
            <p:nvPr/>
          </p:nvCxnSpPr>
          <p:spPr bwMode="auto">
            <a:xfrm>
              <a:off x="4625" y="5994"/>
              <a:ext cx="1"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6" name="Line 12"/>
            <p:cNvCxnSpPr>
              <a:cxnSpLocks noChangeShapeType="1"/>
            </p:cNvCxnSpPr>
            <p:nvPr/>
          </p:nvCxnSpPr>
          <p:spPr bwMode="auto">
            <a:xfrm>
              <a:off x="6381" y="5994"/>
              <a:ext cx="1"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7" name="Line 13"/>
            <p:cNvCxnSpPr>
              <a:cxnSpLocks noChangeShapeType="1"/>
            </p:cNvCxnSpPr>
            <p:nvPr/>
          </p:nvCxnSpPr>
          <p:spPr bwMode="auto">
            <a:xfrm>
              <a:off x="6606" y="5994"/>
              <a:ext cx="1"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 name="Line 14"/>
            <p:cNvCxnSpPr>
              <a:cxnSpLocks noChangeShapeType="1"/>
            </p:cNvCxnSpPr>
            <p:nvPr/>
          </p:nvCxnSpPr>
          <p:spPr bwMode="auto">
            <a:xfrm>
              <a:off x="4776" y="5634"/>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 name="Line 15"/>
            <p:cNvCxnSpPr>
              <a:cxnSpLocks noChangeShapeType="1"/>
            </p:cNvCxnSpPr>
            <p:nvPr/>
          </p:nvCxnSpPr>
          <p:spPr bwMode="auto">
            <a:xfrm>
              <a:off x="4776" y="5829"/>
              <a:ext cx="144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0" name="Line 16"/>
            <p:cNvCxnSpPr>
              <a:cxnSpLocks noChangeShapeType="1"/>
            </p:cNvCxnSpPr>
            <p:nvPr/>
          </p:nvCxnSpPr>
          <p:spPr bwMode="auto">
            <a:xfrm>
              <a:off x="6756" y="5634"/>
              <a:ext cx="144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1" name="Line 17"/>
            <p:cNvCxnSpPr>
              <a:cxnSpLocks noChangeShapeType="1"/>
            </p:cNvCxnSpPr>
            <p:nvPr/>
          </p:nvCxnSpPr>
          <p:spPr bwMode="auto">
            <a:xfrm>
              <a:off x="6756" y="5814"/>
              <a:ext cx="144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2" name="Line 18"/>
            <p:cNvCxnSpPr>
              <a:cxnSpLocks noChangeShapeType="1"/>
            </p:cNvCxnSpPr>
            <p:nvPr/>
          </p:nvCxnSpPr>
          <p:spPr bwMode="auto">
            <a:xfrm>
              <a:off x="4776" y="7254"/>
              <a:ext cx="72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3" name="Line 19"/>
            <p:cNvCxnSpPr>
              <a:cxnSpLocks noChangeShapeType="1"/>
            </p:cNvCxnSpPr>
            <p:nvPr/>
          </p:nvCxnSpPr>
          <p:spPr bwMode="auto">
            <a:xfrm>
              <a:off x="4596" y="7434"/>
              <a:ext cx="72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4" name="Line 20"/>
            <p:cNvCxnSpPr>
              <a:cxnSpLocks noChangeShapeType="1"/>
            </p:cNvCxnSpPr>
            <p:nvPr/>
          </p:nvCxnSpPr>
          <p:spPr bwMode="auto">
            <a:xfrm flipV="1">
              <a:off x="5676" y="7254"/>
              <a:ext cx="54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5" name="Line 21"/>
            <p:cNvCxnSpPr>
              <a:cxnSpLocks noChangeShapeType="1"/>
            </p:cNvCxnSpPr>
            <p:nvPr/>
          </p:nvCxnSpPr>
          <p:spPr bwMode="auto">
            <a:xfrm flipV="1">
              <a:off x="5856" y="7434"/>
              <a:ext cx="54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6" name="Line 22"/>
            <p:cNvCxnSpPr>
              <a:cxnSpLocks noChangeShapeType="1"/>
            </p:cNvCxnSpPr>
            <p:nvPr/>
          </p:nvCxnSpPr>
          <p:spPr bwMode="auto">
            <a:xfrm flipV="1">
              <a:off x="5841" y="7479"/>
              <a:ext cx="234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 name="Line 23"/>
            <p:cNvCxnSpPr>
              <a:cxnSpLocks noChangeShapeType="1"/>
            </p:cNvCxnSpPr>
            <p:nvPr/>
          </p:nvCxnSpPr>
          <p:spPr bwMode="auto">
            <a:xfrm flipV="1">
              <a:off x="5811" y="7644"/>
              <a:ext cx="2370" cy="5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8" name="Line 24"/>
            <p:cNvCxnSpPr>
              <a:cxnSpLocks noChangeShapeType="1"/>
            </p:cNvCxnSpPr>
            <p:nvPr/>
          </p:nvCxnSpPr>
          <p:spPr bwMode="auto">
            <a:xfrm>
              <a:off x="6756" y="7254"/>
              <a:ext cx="14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9" name="Line 25"/>
            <p:cNvCxnSpPr>
              <a:cxnSpLocks noChangeShapeType="1"/>
            </p:cNvCxnSpPr>
            <p:nvPr/>
          </p:nvCxnSpPr>
          <p:spPr bwMode="auto">
            <a:xfrm>
              <a:off x="6756" y="7074"/>
              <a:ext cx="162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0" name="Text Box 26"/>
            <p:cNvSpPr txBox="1">
              <a:spLocks noChangeArrowheads="1"/>
            </p:cNvSpPr>
            <p:nvPr/>
          </p:nvSpPr>
          <p:spPr bwMode="auto">
            <a:xfrm>
              <a:off x="9186" y="782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6</a:t>
              </a:r>
              <a:endParaRPr lang="ru-RU" sz="1000">
                <a:effectLst/>
                <a:latin typeface="Times New Roman"/>
                <a:ea typeface="Times New Roman"/>
              </a:endParaRPr>
            </a:p>
          </p:txBody>
        </p:sp>
        <p:sp>
          <p:nvSpPr>
            <p:cNvPr id="31" name="Text Box 27"/>
            <p:cNvSpPr txBox="1">
              <a:spLocks noChangeArrowheads="1"/>
            </p:cNvSpPr>
            <p:nvPr/>
          </p:nvSpPr>
          <p:spPr bwMode="auto">
            <a:xfrm>
              <a:off x="3156" y="545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3</a:t>
              </a:r>
              <a:endParaRPr lang="ru-RU" sz="1000">
                <a:effectLst/>
                <a:latin typeface="Times New Roman"/>
                <a:ea typeface="Times New Roman"/>
              </a:endParaRPr>
            </a:p>
          </p:txBody>
        </p:sp>
        <p:sp>
          <p:nvSpPr>
            <p:cNvPr id="32" name="Text Box 28"/>
            <p:cNvSpPr txBox="1">
              <a:spLocks noChangeArrowheads="1"/>
            </p:cNvSpPr>
            <p:nvPr/>
          </p:nvSpPr>
          <p:spPr bwMode="auto">
            <a:xfrm>
              <a:off x="4776" y="848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4</a:t>
              </a:r>
              <a:endParaRPr lang="ru-RU" sz="1000">
                <a:effectLst/>
                <a:latin typeface="Times New Roman"/>
                <a:ea typeface="Times New Roman"/>
              </a:endParaRPr>
            </a:p>
          </p:txBody>
        </p:sp>
        <p:sp>
          <p:nvSpPr>
            <p:cNvPr id="33" name="Text Box 29"/>
            <p:cNvSpPr txBox="1">
              <a:spLocks noChangeArrowheads="1"/>
            </p:cNvSpPr>
            <p:nvPr/>
          </p:nvSpPr>
          <p:spPr bwMode="auto">
            <a:xfrm>
              <a:off x="5796" y="8529"/>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5</a:t>
              </a:r>
              <a:endParaRPr lang="ru-RU" sz="1000">
                <a:effectLst/>
                <a:latin typeface="Times New Roman"/>
                <a:ea typeface="Times New Roman"/>
              </a:endParaRPr>
            </a:p>
          </p:txBody>
        </p:sp>
        <p:sp>
          <p:nvSpPr>
            <p:cNvPr id="34" name="Text Box 30"/>
            <p:cNvSpPr txBox="1">
              <a:spLocks noChangeArrowheads="1"/>
            </p:cNvSpPr>
            <p:nvPr/>
          </p:nvSpPr>
          <p:spPr bwMode="auto">
            <a:xfrm>
              <a:off x="9096" y="545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8</a:t>
              </a:r>
              <a:endParaRPr lang="ru-RU" sz="1000">
                <a:effectLst/>
                <a:latin typeface="Times New Roman"/>
                <a:ea typeface="Times New Roman"/>
              </a:endParaRPr>
            </a:p>
          </p:txBody>
        </p:sp>
        <p:sp>
          <p:nvSpPr>
            <p:cNvPr id="35" name="Text Box 31"/>
            <p:cNvSpPr txBox="1">
              <a:spLocks noChangeArrowheads="1"/>
            </p:cNvSpPr>
            <p:nvPr/>
          </p:nvSpPr>
          <p:spPr bwMode="auto">
            <a:xfrm>
              <a:off x="3141" y="653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2</a:t>
              </a:r>
              <a:endParaRPr lang="ru-RU" sz="1000">
                <a:effectLst/>
                <a:latin typeface="Times New Roman"/>
                <a:ea typeface="Times New Roman"/>
              </a:endParaRPr>
            </a:p>
          </p:txBody>
        </p:sp>
        <p:sp>
          <p:nvSpPr>
            <p:cNvPr id="36" name="Text Box 32"/>
            <p:cNvSpPr txBox="1">
              <a:spLocks noChangeArrowheads="1"/>
            </p:cNvSpPr>
            <p:nvPr/>
          </p:nvSpPr>
          <p:spPr bwMode="auto">
            <a:xfrm>
              <a:off x="9216" y="698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7</a:t>
              </a:r>
              <a:endParaRPr lang="ru-RU" sz="1000">
                <a:effectLst/>
                <a:latin typeface="Times New Roman"/>
                <a:ea typeface="Times New Roman"/>
              </a:endParaRPr>
            </a:p>
          </p:txBody>
        </p:sp>
        <p:sp>
          <p:nvSpPr>
            <p:cNvPr id="37" name="Text Box 33"/>
            <p:cNvSpPr txBox="1">
              <a:spLocks noChangeArrowheads="1"/>
            </p:cNvSpPr>
            <p:nvPr/>
          </p:nvSpPr>
          <p:spPr bwMode="auto">
            <a:xfrm>
              <a:off x="3156" y="7344"/>
              <a:ext cx="540" cy="5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spcAft>
                  <a:spcPts val="0"/>
                </a:spcAft>
              </a:pPr>
              <a:r>
                <a:rPr lang="uz-Cyrl-UZ" sz="1400">
                  <a:effectLst/>
                  <a:latin typeface="Times New Roman"/>
                  <a:ea typeface="Times New Roman"/>
                </a:rPr>
                <a:t>1</a:t>
              </a:r>
              <a:endParaRPr lang="ru-RU" sz="1000">
                <a:effectLst/>
                <a:latin typeface="Times New Roman"/>
                <a:ea typeface="Times New Roman"/>
              </a:endParaRPr>
            </a:p>
          </p:txBody>
        </p:sp>
        <p:cxnSp>
          <p:nvCxnSpPr>
            <p:cNvPr id="38" name="Line 34"/>
            <p:cNvCxnSpPr>
              <a:cxnSpLocks noChangeShapeType="1"/>
            </p:cNvCxnSpPr>
            <p:nvPr/>
          </p:nvCxnSpPr>
          <p:spPr bwMode="auto">
            <a:xfrm flipH="1">
              <a:off x="5061" y="8244"/>
              <a:ext cx="315"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9" name="Line 35"/>
            <p:cNvCxnSpPr>
              <a:cxnSpLocks noChangeShapeType="1"/>
            </p:cNvCxnSpPr>
            <p:nvPr/>
          </p:nvCxnSpPr>
          <p:spPr bwMode="auto">
            <a:xfrm>
              <a:off x="5736" y="8319"/>
              <a:ext cx="300" cy="1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40" name="Line 36"/>
            <p:cNvCxnSpPr>
              <a:cxnSpLocks noChangeShapeType="1"/>
            </p:cNvCxnSpPr>
            <p:nvPr/>
          </p:nvCxnSpPr>
          <p:spPr bwMode="auto">
            <a:xfrm flipV="1">
              <a:off x="3696" y="7119"/>
              <a:ext cx="720" cy="540"/>
            </a:xfrm>
            <a:prstGeom prst="line">
              <a:avLst/>
            </a:prstGeom>
            <a:noFill/>
            <a:ln w="12700">
              <a:solidFill>
                <a:srgbClr val="000000"/>
              </a:solidFill>
              <a:prstDash val="lgDash"/>
              <a:round/>
              <a:headEnd/>
              <a:tailEnd type="triangle" w="med" len="med"/>
            </a:ln>
            <a:extLst>
              <a:ext uri="{909E8E84-426E-40DD-AFC4-6F175D3DCCD1}">
                <a14:hiddenFill xmlns:a14="http://schemas.microsoft.com/office/drawing/2010/main">
                  <a:noFill/>
                </a14:hiddenFill>
              </a:ext>
            </a:extLst>
          </p:spPr>
        </p:cxnSp>
        <p:cxnSp>
          <p:nvCxnSpPr>
            <p:cNvPr id="41" name="Line 37"/>
            <p:cNvCxnSpPr>
              <a:cxnSpLocks noChangeShapeType="1"/>
            </p:cNvCxnSpPr>
            <p:nvPr/>
          </p:nvCxnSpPr>
          <p:spPr bwMode="auto">
            <a:xfrm flipH="1" flipV="1">
              <a:off x="3696" y="6894"/>
              <a:ext cx="5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42" name="Line 38"/>
            <p:cNvCxnSpPr>
              <a:cxnSpLocks noChangeShapeType="1"/>
            </p:cNvCxnSpPr>
            <p:nvPr/>
          </p:nvCxnSpPr>
          <p:spPr bwMode="auto">
            <a:xfrm flipH="1">
              <a:off x="3696" y="5709"/>
              <a:ext cx="54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43" name="Line 39"/>
            <p:cNvCxnSpPr>
              <a:cxnSpLocks noChangeShapeType="1"/>
            </p:cNvCxnSpPr>
            <p:nvPr/>
          </p:nvCxnSpPr>
          <p:spPr bwMode="auto">
            <a:xfrm flipV="1">
              <a:off x="8676" y="7329"/>
              <a:ext cx="5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44" name="Line 40"/>
            <p:cNvCxnSpPr>
              <a:cxnSpLocks noChangeShapeType="1"/>
            </p:cNvCxnSpPr>
            <p:nvPr/>
          </p:nvCxnSpPr>
          <p:spPr bwMode="auto">
            <a:xfrm>
              <a:off x="8631" y="7719"/>
              <a:ext cx="54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45" name="Text Box 41"/>
            <p:cNvSpPr txBox="1">
              <a:spLocks noChangeArrowheads="1"/>
            </p:cNvSpPr>
            <p:nvPr/>
          </p:nvSpPr>
          <p:spPr bwMode="auto">
            <a:xfrm>
              <a:off x="5316" y="7089"/>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a:effectLst/>
                  <a:latin typeface="Times New Roman"/>
                  <a:ea typeface="Times New Roman"/>
                </a:rPr>
                <a:t>E</a:t>
              </a:r>
              <a:endParaRPr lang="ru-RU" sz="1000">
                <a:effectLst/>
                <a:latin typeface="Times New Roman"/>
                <a:ea typeface="Times New Roman"/>
              </a:endParaRPr>
            </a:p>
          </p:txBody>
        </p:sp>
        <p:sp>
          <p:nvSpPr>
            <p:cNvPr id="46" name="Text Box 42"/>
            <p:cNvSpPr txBox="1">
              <a:spLocks noChangeArrowheads="1"/>
            </p:cNvSpPr>
            <p:nvPr/>
          </p:nvSpPr>
          <p:spPr bwMode="auto">
            <a:xfrm>
              <a:off x="4056" y="7434"/>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a:effectLst/>
                  <a:latin typeface="Times New Roman"/>
                  <a:ea typeface="Times New Roman"/>
                </a:rPr>
                <a:t>A</a:t>
              </a:r>
              <a:endParaRPr lang="ru-RU" sz="1000">
                <a:effectLst/>
                <a:latin typeface="Times New Roman"/>
                <a:ea typeface="Times New Roman"/>
              </a:endParaRPr>
            </a:p>
          </p:txBody>
        </p:sp>
        <p:sp>
          <p:nvSpPr>
            <p:cNvPr id="47" name="Text Box 43"/>
            <p:cNvSpPr txBox="1">
              <a:spLocks noChangeArrowheads="1"/>
            </p:cNvSpPr>
            <p:nvPr/>
          </p:nvSpPr>
          <p:spPr bwMode="auto">
            <a:xfrm>
              <a:off x="7611" y="5889"/>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a:effectLst/>
                  <a:latin typeface="Times New Roman"/>
                  <a:ea typeface="Times New Roman"/>
                </a:rPr>
                <a:t>G</a:t>
              </a:r>
              <a:endParaRPr lang="ru-RU" sz="1000">
                <a:effectLst/>
                <a:latin typeface="Times New Roman"/>
                <a:ea typeface="Times New Roman"/>
              </a:endParaRPr>
            </a:p>
          </p:txBody>
        </p:sp>
        <p:sp>
          <p:nvSpPr>
            <p:cNvPr id="48" name="Text Box 44"/>
            <p:cNvSpPr txBox="1">
              <a:spLocks noChangeArrowheads="1"/>
            </p:cNvSpPr>
            <p:nvPr/>
          </p:nvSpPr>
          <p:spPr bwMode="auto">
            <a:xfrm>
              <a:off x="5721" y="5874"/>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uz-Cyrl-UZ" sz="1800">
                  <a:effectLst/>
                  <a:latin typeface="Times New Roman"/>
                  <a:ea typeface="Times New Roman"/>
                </a:rPr>
                <a:t>С</a:t>
              </a:r>
              <a:endParaRPr lang="ru-RU" sz="1000">
                <a:effectLst/>
                <a:latin typeface="Times New Roman"/>
                <a:ea typeface="Times New Roman"/>
              </a:endParaRPr>
            </a:p>
          </p:txBody>
        </p:sp>
        <p:sp>
          <p:nvSpPr>
            <p:cNvPr id="49" name="Text Box 45"/>
            <p:cNvSpPr txBox="1">
              <a:spLocks noChangeArrowheads="1"/>
            </p:cNvSpPr>
            <p:nvPr/>
          </p:nvSpPr>
          <p:spPr bwMode="auto">
            <a:xfrm>
              <a:off x="3726" y="5814"/>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uz-Cyrl-UZ" sz="1800">
                  <a:effectLst/>
                  <a:latin typeface="Times New Roman"/>
                  <a:ea typeface="Times New Roman"/>
                </a:rPr>
                <a:t>В</a:t>
              </a:r>
              <a:endParaRPr lang="ru-RU" sz="1000">
                <a:effectLst/>
                <a:latin typeface="Times New Roman"/>
                <a:ea typeface="Times New Roman"/>
              </a:endParaRPr>
            </a:p>
          </p:txBody>
        </p:sp>
        <p:sp>
          <p:nvSpPr>
            <p:cNvPr id="50" name="Text Box 46"/>
            <p:cNvSpPr txBox="1">
              <a:spLocks noChangeArrowheads="1"/>
            </p:cNvSpPr>
            <p:nvPr/>
          </p:nvSpPr>
          <p:spPr bwMode="auto">
            <a:xfrm>
              <a:off x="6741" y="6474"/>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a:effectLst/>
                  <a:latin typeface="Times New Roman"/>
                  <a:ea typeface="Times New Roman"/>
                </a:rPr>
                <a:t>D</a:t>
              </a:r>
              <a:endParaRPr lang="ru-RU" sz="1000">
                <a:effectLst/>
                <a:latin typeface="Times New Roman"/>
                <a:ea typeface="Times New Roman"/>
              </a:endParaRPr>
            </a:p>
          </p:txBody>
        </p:sp>
        <p:sp>
          <p:nvSpPr>
            <p:cNvPr id="51" name="Text Box 47"/>
            <p:cNvSpPr txBox="1">
              <a:spLocks noChangeArrowheads="1"/>
            </p:cNvSpPr>
            <p:nvPr/>
          </p:nvSpPr>
          <p:spPr bwMode="auto">
            <a:xfrm>
              <a:off x="8196" y="7839"/>
              <a:ext cx="54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a:effectLst/>
                  <a:latin typeface="Times New Roman"/>
                  <a:ea typeface="Times New Roman"/>
                </a:rPr>
                <a:t>F</a:t>
              </a:r>
              <a:endParaRPr lang="ru-RU" sz="1000">
                <a:effectLst/>
                <a:latin typeface="Times New Roman"/>
                <a:ea typeface="Times New Roman"/>
              </a:endParaRPr>
            </a:p>
          </p:txBody>
        </p:sp>
        <p:cxnSp>
          <p:nvCxnSpPr>
            <p:cNvPr id="52" name="Line 48"/>
            <p:cNvCxnSpPr>
              <a:cxnSpLocks noChangeShapeType="1"/>
            </p:cNvCxnSpPr>
            <p:nvPr/>
          </p:nvCxnSpPr>
          <p:spPr bwMode="auto">
            <a:xfrm>
              <a:off x="8736" y="5694"/>
              <a:ext cx="3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3" name="Line 49"/>
            <p:cNvCxnSpPr>
              <a:cxnSpLocks noChangeShapeType="1"/>
            </p:cNvCxnSpPr>
            <p:nvPr/>
          </p:nvCxnSpPr>
          <p:spPr bwMode="auto">
            <a:xfrm>
              <a:off x="4386" y="7104"/>
              <a:ext cx="1290" cy="1050"/>
            </a:xfrm>
            <a:prstGeom prst="line">
              <a:avLst/>
            </a:prstGeom>
            <a:noFill/>
            <a:ln w="12700">
              <a:solidFill>
                <a:srgbClr val="000000"/>
              </a:solidFill>
              <a:prstDash val="lgDash"/>
              <a:round/>
              <a:headEnd/>
              <a:tailEnd type="triangle" w="med" len="med"/>
            </a:ln>
            <a:extLst>
              <a:ext uri="{909E8E84-426E-40DD-AFC4-6F175D3DCCD1}">
                <a14:hiddenFill xmlns:a14="http://schemas.microsoft.com/office/drawing/2010/main">
                  <a:noFill/>
                </a14:hiddenFill>
              </a:ext>
            </a:extLst>
          </p:spPr>
        </p:cxnSp>
        <p:cxnSp>
          <p:nvCxnSpPr>
            <p:cNvPr id="54" name="Line 50"/>
            <p:cNvCxnSpPr>
              <a:cxnSpLocks noChangeShapeType="1"/>
            </p:cNvCxnSpPr>
            <p:nvPr/>
          </p:nvCxnSpPr>
          <p:spPr bwMode="auto">
            <a:xfrm flipV="1">
              <a:off x="5706" y="7434"/>
              <a:ext cx="2850" cy="705"/>
            </a:xfrm>
            <a:prstGeom prst="line">
              <a:avLst/>
            </a:prstGeom>
            <a:noFill/>
            <a:ln w="19050">
              <a:solidFill>
                <a:srgbClr val="000000"/>
              </a:solidFill>
              <a:prstDash val="lgDash"/>
              <a:round/>
              <a:headEnd/>
              <a:tailEnd type="triangle" w="med" len="med"/>
            </a:ln>
            <a:extLst>
              <a:ext uri="{909E8E84-426E-40DD-AFC4-6F175D3DCCD1}">
                <a14:hiddenFill xmlns:a14="http://schemas.microsoft.com/office/drawing/2010/main">
                  <a:noFill/>
                </a14:hiddenFill>
              </a:ext>
            </a:extLst>
          </p:spPr>
        </p:cxnSp>
        <p:cxnSp>
          <p:nvCxnSpPr>
            <p:cNvPr id="55" name="Line 51"/>
            <p:cNvCxnSpPr>
              <a:cxnSpLocks noChangeShapeType="1"/>
            </p:cNvCxnSpPr>
            <p:nvPr/>
          </p:nvCxnSpPr>
          <p:spPr bwMode="auto">
            <a:xfrm flipV="1">
              <a:off x="8496" y="7254"/>
              <a:ext cx="720" cy="180"/>
            </a:xfrm>
            <a:prstGeom prst="line">
              <a:avLst/>
            </a:prstGeom>
            <a:noFill/>
            <a:ln w="19050">
              <a:solidFill>
                <a:srgbClr val="000000"/>
              </a:solidFill>
              <a:prstDash val="lgDash"/>
              <a:round/>
              <a:headEnd/>
              <a:tailEnd type="triangle" w="med" len="med"/>
            </a:ln>
            <a:extLst>
              <a:ext uri="{909E8E84-426E-40DD-AFC4-6F175D3DCCD1}">
                <a14:hiddenFill xmlns:a14="http://schemas.microsoft.com/office/drawing/2010/main">
                  <a:noFill/>
                </a14:hiddenFill>
              </a:ext>
            </a:extLst>
          </p:spPr>
        </p:cxnSp>
        <p:cxnSp>
          <p:nvCxnSpPr>
            <p:cNvPr id="56" name="Line 52"/>
            <p:cNvCxnSpPr>
              <a:cxnSpLocks noChangeShapeType="1"/>
            </p:cNvCxnSpPr>
            <p:nvPr/>
          </p:nvCxnSpPr>
          <p:spPr bwMode="auto">
            <a:xfrm flipV="1">
              <a:off x="5196" y="7224"/>
              <a:ext cx="1260" cy="126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7" name="Line 53"/>
            <p:cNvCxnSpPr>
              <a:cxnSpLocks noChangeShapeType="1"/>
            </p:cNvCxnSpPr>
            <p:nvPr/>
          </p:nvCxnSpPr>
          <p:spPr bwMode="auto">
            <a:xfrm flipV="1">
              <a:off x="6456" y="5664"/>
              <a:ext cx="1" cy="162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8" name="Line 54"/>
            <p:cNvCxnSpPr>
              <a:cxnSpLocks noChangeShapeType="1"/>
            </p:cNvCxnSpPr>
            <p:nvPr/>
          </p:nvCxnSpPr>
          <p:spPr bwMode="auto">
            <a:xfrm>
              <a:off x="6531" y="5739"/>
              <a:ext cx="2520" cy="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59" name="Прямоугольник 58"/>
          <p:cNvSpPr/>
          <p:nvPr/>
        </p:nvSpPr>
        <p:spPr>
          <a:xfrm>
            <a:off x="1489372" y="4858756"/>
            <a:ext cx="6089819" cy="369332"/>
          </a:xfrm>
          <a:prstGeom prst="rect">
            <a:avLst/>
          </a:prstGeom>
        </p:spPr>
        <p:txBody>
          <a:bodyPr wrap="square">
            <a:spAutoFit/>
          </a:bodyPr>
          <a:lstStyle/>
          <a:p>
            <a:pPr algn="ctr"/>
            <a:r>
              <a:rPr lang="uz-Cyrl-UZ" dirty="0">
                <a:latin typeface="Times New Roman" pitchFamily="18" charset="0"/>
                <a:cs typeface="Times New Roman" pitchFamily="18" charset="0"/>
              </a:rPr>
              <a:t>1.1. </a:t>
            </a:r>
            <a:r>
              <a:rPr lang="uz-Cyrl-UZ" dirty="0" smtClean="0">
                <a:latin typeface="Times New Roman" pitchFamily="18" charset="0"/>
                <a:cs typeface="Times New Roman" pitchFamily="18" charset="0"/>
              </a:rPr>
              <a:t>Rasm Tarmoqda </a:t>
            </a:r>
            <a:r>
              <a:rPr lang="uz-Cyrl-UZ" dirty="0">
                <a:latin typeface="Times New Roman" pitchFamily="18" charset="0"/>
                <a:cs typeface="Times New Roman" pitchFamily="18" charset="0"/>
              </a:rPr>
              <a:t>foydalanuvchilar kommutatsiyasi</a:t>
            </a:r>
            <a:endParaRPr lang="ru-RU" dirty="0">
              <a:latin typeface="Times New Roman" pitchFamily="18" charset="0"/>
              <a:cs typeface="Times New Roman" pitchFamily="18" charset="0"/>
            </a:endParaRPr>
          </a:p>
        </p:txBody>
      </p:sp>
      <p:sp>
        <p:nvSpPr>
          <p:cNvPr id="60" name="Прямоугольник 59"/>
          <p:cNvSpPr/>
          <p:nvPr/>
        </p:nvSpPr>
        <p:spPr>
          <a:xfrm>
            <a:off x="107504" y="5226784"/>
            <a:ext cx="8923849" cy="1631216"/>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Kanallar </a:t>
            </a:r>
            <a:r>
              <a:rPr lang="uz-Cyrl-UZ" sz="2000" dirty="0">
                <a:latin typeface="Times New Roman" pitchFamily="18" charset="0"/>
                <a:cs typeface="Times New Roman" pitchFamily="18" charset="0"/>
              </a:rPr>
              <a:t>kommutatsiyasi tarixi dastlabki telefon tarmoqlaridan boshlanadi. Paketlar kommutatsiyasi 60 - yillar ohirida barpo etilib, birinchi kompyuter tarmoqlarida qo‘llanilgan. Kommutatsiya usullarining har biri afzalliklarga va kamchiliklarga ega: mutaxassislar fikriga ko‘ra, paketlar kommutatsiyasiga asoslangan tarmoq texnologiyalari  asosiy o‘rinni egallaydi.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249712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79653"/>
            <a:ext cx="8928992" cy="6740307"/>
          </a:xfrm>
          <a:prstGeom prst="rect">
            <a:avLst/>
          </a:prstGeom>
        </p:spPr>
        <p:txBody>
          <a:bodyPr wrap="square">
            <a:spAutoFit/>
          </a:bodyPr>
          <a:lstStyle/>
          <a:p>
            <a:pPr lvl="0" algn="ctr"/>
            <a:r>
              <a:rPr lang="uz-Cyrl-UZ" sz="2400" b="1" dirty="0">
                <a:latin typeface="Times New Roman" pitchFamily="18" charset="0"/>
                <a:cs typeface="Times New Roman" pitchFamily="18" charset="0"/>
              </a:rPr>
              <a:t>Kanallar kommutatsiyasi</a:t>
            </a:r>
            <a:endParaRPr lang="ru-RU" sz="2400" dirty="0">
              <a:latin typeface="Times New Roman" pitchFamily="18" charset="0"/>
              <a:cs typeface="Times New Roman" pitchFamily="18" charset="0"/>
            </a:endParaRPr>
          </a:p>
          <a:p>
            <a:pPr algn="just"/>
            <a:r>
              <a:rPr lang="en-US" sz="2400" i="1" dirty="0" smtClean="0">
                <a:latin typeface="Times New Roman" pitchFamily="18" charset="0"/>
                <a:cs typeface="Times New Roman" pitchFamily="18" charset="0"/>
              </a:rPr>
              <a:t>	</a:t>
            </a:r>
            <a:r>
              <a:rPr lang="uz-Cyrl-UZ" sz="2400" i="1" dirty="0" smtClean="0">
                <a:latin typeface="Times New Roman" pitchFamily="18" charset="0"/>
                <a:cs typeface="Times New Roman" pitchFamily="18" charset="0"/>
              </a:rPr>
              <a:t>Kanallar </a:t>
            </a:r>
            <a:r>
              <a:rPr lang="uz-Cyrl-UZ" sz="2400" i="1" dirty="0">
                <a:latin typeface="Times New Roman" pitchFamily="18" charset="0"/>
                <a:cs typeface="Times New Roman" pitchFamily="18" charset="0"/>
              </a:rPr>
              <a:t>kommutatsiyasi </a:t>
            </a:r>
            <a:r>
              <a:rPr lang="uz-Cyrl-UZ" sz="2400" dirty="0">
                <a:latin typeface="Times New Roman" pitchFamily="18" charset="0"/>
                <a:cs typeface="Times New Roman" pitchFamily="18" charset="0"/>
              </a:rPr>
              <a:t>usulida tugunlar o‘rtasida uzluksiz fizikaviy kanallar hosil bo‘lib, kommutatorlar yordamida alohida kanal qismlari ketma - ket ulangan bo‘ladi, bir nechta fizikaviy kanallar yagona fizikaviy kanalni tashkil etadi va har - bir kanalda uzatish tezligi bir - xil bo‘lish sharti asoslangan. Bunday yagona kanal ma’lumot uzatish jarayonidan avval o‘rnatilishi kerak bo‘ladi va bu kanal ulash o‘rnatish jarayonida faqat ushbu bog‘lanishga xizmat qiladi. </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Misol </a:t>
            </a:r>
            <a:r>
              <a:rPr lang="uz-Cyrl-UZ" sz="2400" dirty="0">
                <a:latin typeface="Times New Roman" pitchFamily="18" charset="0"/>
                <a:cs typeface="Times New Roman" pitchFamily="18" charset="0"/>
              </a:rPr>
              <a:t>uchun, 1.1 - rasmdagi 1 - tugundan 7 - tugunga ma’lumot uzatish uchun avval 1 - tugun A kommutatoriga ulash o‘rnatish uchun 7-tugun manzilini belgilagan holda maxsus so‘rov signalini yuboradi. </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A </a:t>
            </a:r>
            <a:r>
              <a:rPr lang="uz-Cyrl-UZ" sz="2400" dirty="0">
                <a:latin typeface="Times New Roman" pitchFamily="18" charset="0"/>
                <a:cs typeface="Times New Roman" pitchFamily="18" charset="0"/>
              </a:rPr>
              <a:t>kommutatori yagona kanal hosil qilish uchun marshrutni aniqlab, so‘rov signalini keyingi kommutatorga yuboradi va h.k. 7 - tugun so‘rov belgisini olganligi to‘g‘risida 1 - tugunga javob signalini qaytaradi va yagona kanal hosil bo‘lganligi (kommutatsiyalanganligi) belgilanadi, shundan so‘ng 1-tugun  7 - tugun bilan ma’lumot almashishi mumkin.</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4049738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856984" cy="5632311"/>
          </a:xfrm>
          <a:prstGeom prst="rect">
            <a:avLst/>
          </a:prstGeom>
        </p:spPr>
        <p:txBody>
          <a:bodyPr wrap="square">
            <a:spAutoFit/>
          </a:bodyPr>
          <a:lstStyle/>
          <a:p>
            <a:pPr algn="just"/>
            <a:r>
              <a:rPr lang="uz-Cyrl-UZ" sz="2400" dirty="0">
                <a:latin typeface="Times New Roman" pitchFamily="18" charset="0"/>
                <a:cs typeface="Times New Roman" pitchFamily="18" charset="0"/>
              </a:rPr>
              <a:t>Kanallar kommutatsiyasining  afzalliklari: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foydalanuvchilararo o‘rnatilgan kanalda ma’lumot uzatish tezligi     doimiy va ma’lum bo‘ladi (foydalanuvchi sifatli uzatishga  mo‘ljallangan kanalning o‘tkazish qobiliyatiga moslab kerakli tezlikni belgilash imkoniyatiga ega);</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tarmoq orqali ma’lumot uzatishda to‘xtalishlar darajasi past va doimiy bo‘lishi (to‘xtalishlarga sezgir real vaqtli  trafik (ovoz, video)ning sifatli uzatilish imkoniyatiga ega).</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Kanallar kommutatsiyasining kamchiliklari: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kanal bandligida foydalanuvchiga rad javobi berilishi;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fizik kanallarning o‘tkazish qobiliyati samarasiz ishlatilishi            (kanal ulash o‘rnatish jarayoni mobaynida band bo‘ladi);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 avvaldan ulash o‘rnatilishi tufayli ma’lumot uzatish jarayonidan oldin shartli to‘xtalish mavjudligi.</a:t>
            </a:r>
            <a:endParaRPr lang="ru-RU" sz="2400" dirty="0">
              <a:latin typeface="Times New Roman" pitchFamily="18" charset="0"/>
              <a:cs typeface="Times New Roman" pitchFamily="18" charset="0"/>
            </a:endParaRPr>
          </a:p>
          <a:p>
            <a:pPr algn="just"/>
            <a:r>
              <a:rPr lang="uz-Cyrl-UZ" sz="2400" dirty="0">
                <a:latin typeface="Times New Roman" pitchFamily="18" charset="0"/>
                <a:cs typeface="Times New Roman" pitchFamily="18" charset="0"/>
              </a:rPr>
              <a:t>Bu kommutatsiya usuli telefon so‘zlashuvlarni uzatishda qo‘llaniladi.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4093269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5417"/>
            <a:ext cx="9144000" cy="6863417"/>
          </a:xfrm>
          <a:prstGeom prst="rect">
            <a:avLst/>
          </a:prstGeom>
        </p:spPr>
        <p:txBody>
          <a:bodyPr wrap="square">
            <a:spAutoFit/>
          </a:bodyPr>
          <a:lstStyle/>
          <a:p>
            <a:pPr lvl="0" algn="ctr"/>
            <a:r>
              <a:rPr lang="uz-Cyrl-UZ" sz="2200" b="1" dirty="0">
                <a:latin typeface="Times New Roman" pitchFamily="18" charset="0"/>
                <a:cs typeface="Times New Roman" pitchFamily="18" charset="0"/>
              </a:rPr>
              <a:t>Paketlar kommutatsiyasi</a:t>
            </a:r>
            <a:endParaRPr lang="ru-RU" sz="2200" dirty="0">
              <a:latin typeface="Times New Roman" pitchFamily="18" charset="0"/>
              <a:cs typeface="Times New Roman" pitchFamily="18" charset="0"/>
            </a:endParaRPr>
          </a:p>
          <a:p>
            <a:pPr algn="just"/>
            <a:r>
              <a:rPr lang="en-US" sz="2200" i="1" dirty="0" smtClean="0">
                <a:latin typeface="Times New Roman" pitchFamily="18" charset="0"/>
                <a:cs typeface="Times New Roman" pitchFamily="18" charset="0"/>
              </a:rPr>
              <a:t>	</a:t>
            </a:r>
            <a:r>
              <a:rPr lang="uz-Cyrl-UZ" sz="2200" i="1" dirty="0" smtClean="0">
                <a:latin typeface="Times New Roman" pitchFamily="18" charset="0"/>
                <a:cs typeface="Times New Roman" pitchFamily="18" charset="0"/>
              </a:rPr>
              <a:t>Paketlar </a:t>
            </a:r>
            <a:r>
              <a:rPr lang="uz-Cyrl-UZ" sz="2200" i="1" dirty="0">
                <a:latin typeface="Times New Roman" pitchFamily="18" charset="0"/>
                <a:cs typeface="Times New Roman" pitchFamily="18" charset="0"/>
              </a:rPr>
              <a:t>kommutatsiyasi, </a:t>
            </a:r>
            <a:r>
              <a:rPr lang="uz-Cyrl-UZ" sz="2200" dirty="0">
                <a:latin typeface="Times New Roman" pitchFamily="18" charset="0"/>
                <a:cs typeface="Times New Roman" pitchFamily="18" charset="0"/>
              </a:rPr>
              <a:t>asosan, kompyuter trafigini uzatishga mo‘ljallangan bo‘lib, ma’lumot almashuvini samarali ravishda tashkil etishga imkon beradi</a:t>
            </a:r>
            <a:r>
              <a:rPr lang="uz-Cyrl-UZ" sz="2200"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Paketlar </a:t>
            </a:r>
            <a:r>
              <a:rPr lang="uz-Cyrl-UZ" sz="2200" dirty="0">
                <a:latin typeface="Times New Roman" pitchFamily="18" charset="0"/>
                <a:cs typeface="Times New Roman" pitchFamily="18" charset="0"/>
              </a:rPr>
              <a:t>kommutatsiyasida foydalanuvchilararo uzatilayotgan xabarlar kichik qismlarga - paketlarga bo‘linadi. Ma’lumot uzatish tarmoqlarida paket asosiy uzatish birligi hisoblanadi. Katta hajmdagi xabarlar kichik paketlarga bo‘linishi tarmoqda ma’lumot uzatish tezligining keskin oshishiga olib keladi. Xabarlar turli uzunlikga ega bo‘lishi mumkin - bir necha baytdan o‘nlab megabaytgacha, paketlar esa o‘zgaruvchan uzunlikka ega bo‘lishlari mumkin</a:t>
            </a:r>
            <a:r>
              <a:rPr lang="uz-Cyrl-UZ" sz="2200"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Har </a:t>
            </a:r>
            <a:r>
              <a:rPr lang="uz-Cyrl-UZ" sz="2200" dirty="0">
                <a:latin typeface="Times New Roman" pitchFamily="18" charset="0"/>
                <a:cs typeface="Times New Roman" pitchFamily="18" charset="0"/>
              </a:rPr>
              <a:t>- bir paket kerakli tugunga yetib borishi uchun manzil axboroti belgilangan sarlavha qismi bilan boshlanadi. Paket turli qismlardan iborat bo‘lishi mumkin va quyidagilarni o‘z tarkibiga olishi shart:</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uzatuvchini (source) ifodalaydigan manba manzili;</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uzatilayotgan ma’lumotlar;</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qabul qiluvchining (destination) manzili;</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tarmoq vositalariga ma’lumot  uzatilishi lozim bo‘lgan marshrut axboroti;</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xabarni dastlabki ko‘rinishda taqdim etuvchi axborot;</a:t>
            </a:r>
            <a:endParaRPr lang="ru-RU" sz="2200" dirty="0">
              <a:latin typeface="Times New Roman" pitchFamily="18" charset="0"/>
              <a:cs typeface="Times New Roman" pitchFamily="18" charset="0"/>
            </a:endParaRPr>
          </a:p>
          <a:p>
            <a:pPr lvl="0" algn="just"/>
            <a:r>
              <a:rPr lang="uz-Cyrl-UZ" sz="2200" dirty="0">
                <a:latin typeface="Times New Roman" pitchFamily="18" charset="0"/>
                <a:cs typeface="Times New Roman" pitchFamily="18" charset="0"/>
              </a:rPr>
              <a:t>uzatish aniqligini ta’minlovchi xatoliklarni tekshirish axboroti.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Bu </a:t>
            </a:r>
            <a:r>
              <a:rPr lang="uz-Cyrl-UZ" sz="2200" dirty="0">
                <a:latin typeface="Times New Roman" pitchFamily="18" charset="0"/>
                <a:cs typeface="Times New Roman" pitchFamily="18" charset="0"/>
              </a:rPr>
              <a:t>qismlar uchta guruxga bo‘linib, paketning sarlavha, ma’lumot va treyler qismlarini shakllantiradi.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041506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6783"/>
            <a:ext cx="9036496" cy="2862322"/>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Sarlavha </a:t>
            </a:r>
            <a:r>
              <a:rPr lang="uz-Cyrl-UZ" sz="2000" dirty="0">
                <a:latin typeface="Times New Roman" pitchFamily="18" charset="0"/>
                <a:cs typeface="Times New Roman" pitchFamily="18" charset="0"/>
              </a:rPr>
              <a:t>qismi paketning uzatilish signali, manba manzili, makon manzili, uzatishni sinxronlash kabilarni o‘z ichiga olgan.</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Ma’lumot qismi xabar tarkibidagi uzatishga mo‘ljallangan ma’lumotlardan iborat.  Tarmoq turiga nisbatan bu qism 0,5- 4 Kb bo‘lishi mumkin.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Treyler </a:t>
            </a:r>
            <a:r>
              <a:rPr lang="uz-Cyrl-UZ" sz="2000" dirty="0">
                <a:latin typeface="Times New Roman" pitchFamily="18" charset="0"/>
                <a:cs typeface="Times New Roman" pitchFamily="18" charset="0"/>
              </a:rPr>
              <a:t>qismi ko‘p hollarda xatoliklarni tekshirishga mo‘ljallangan (misol uchun, Cyclic Redundancy Check - siklik kod yordamida tekshiruv). Paket shakllanishi OSI modelining qo‘llanish pog‘onasida boshlanadi. Uzatishga mo‘ljallangan axborot yuqori (qo‘llanish pog‘onasi)dan quyi pog‘onaga yetkaziladi va har bir pog‘onani ma’lumot qismiga tegishli axborotni qo‘shadi (1.2 - rasm)</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t="1166"/>
          <a:stretch>
            <a:fillRect/>
          </a:stretch>
        </p:blipFill>
        <p:spPr bwMode="auto">
          <a:xfrm>
            <a:off x="1331640" y="2862121"/>
            <a:ext cx="6192688" cy="3634213"/>
          </a:xfrm>
          <a:prstGeom prst="rect">
            <a:avLst/>
          </a:prstGeom>
          <a:noFill/>
          <a:ln w="9525">
            <a:noFill/>
            <a:miter lim="800000"/>
            <a:headEnd/>
            <a:tailEnd/>
          </a:ln>
        </p:spPr>
      </p:pic>
      <p:sp>
        <p:nvSpPr>
          <p:cNvPr id="6" name="Прямоугольник 5"/>
          <p:cNvSpPr/>
          <p:nvPr/>
        </p:nvSpPr>
        <p:spPr>
          <a:xfrm>
            <a:off x="1921352" y="6432929"/>
            <a:ext cx="4548158" cy="400110"/>
          </a:xfrm>
          <a:prstGeom prst="rect">
            <a:avLst/>
          </a:prstGeom>
        </p:spPr>
        <p:txBody>
          <a:bodyPr wrap="square">
            <a:spAutoFit/>
          </a:bodyPr>
          <a:lstStyle/>
          <a:p>
            <a:r>
              <a:rPr lang="uz-Cyrl-UZ" sz="2000" dirty="0">
                <a:latin typeface="Times New Roman" pitchFamily="18" charset="0"/>
                <a:cs typeface="Times New Roman" pitchFamily="18" charset="0"/>
              </a:rPr>
              <a:t>Rasm 1.2.  Paketli uzatishni tashkil etish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267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1887" y="23674"/>
            <a:ext cx="9007522" cy="1938992"/>
          </a:xfrm>
          <a:prstGeom prst="rect">
            <a:avLst/>
          </a:prstGeom>
        </p:spPr>
        <p:txBody>
          <a:bodyPr wrap="square">
            <a:spAutoFit/>
          </a:bodyPr>
          <a:lstStyle/>
          <a:p>
            <a:pPr algn="just"/>
            <a:r>
              <a:rPr lang="en-US" dirty="0" smtClean="0"/>
              <a:t>	</a:t>
            </a:r>
            <a:r>
              <a:rPr lang="uz-Cyrl-UZ" sz="2400" dirty="0" smtClean="0">
                <a:latin typeface="Times New Roman" pitchFamily="18" charset="0"/>
                <a:cs typeface="Times New Roman" pitchFamily="18" charset="0"/>
              </a:rPr>
              <a:t>Paketlar </a:t>
            </a:r>
            <a:r>
              <a:rPr lang="uz-Cyrl-UZ" sz="2400" dirty="0">
                <a:latin typeface="Times New Roman" pitchFamily="18" charset="0"/>
                <a:cs typeface="Times New Roman" pitchFamily="18" charset="0"/>
              </a:rPr>
              <a:t>tarmoq orqali mustaqil axborot bloklari sifatida uzatiladi. Paketli kommutatsiya asosidagi tarmoqda kommutatorlar ichki bufer xotirasiga ega bo‘lib, unda paketlar vaqtincha saqlanadi. Kommutatorning chiqish porti band bo‘lgan holatda, paket biror vaqt navbat kutadi va keyingi kommutatorga uzatiladi (1.3 - rasm).</a:t>
            </a:r>
            <a:endParaRPr lang="ru-RU" sz="24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1259632" y="2348880"/>
            <a:ext cx="6408712" cy="3312368"/>
          </a:xfrm>
          <a:prstGeom prst="rect">
            <a:avLst/>
          </a:prstGeom>
          <a:noFill/>
          <a:ln w="9525">
            <a:noFill/>
            <a:miter lim="800000"/>
            <a:headEnd/>
            <a:tailEnd/>
          </a:ln>
        </p:spPr>
      </p:pic>
      <p:sp>
        <p:nvSpPr>
          <p:cNvPr id="6" name="Прямоугольник 5"/>
          <p:cNvSpPr/>
          <p:nvPr/>
        </p:nvSpPr>
        <p:spPr>
          <a:xfrm>
            <a:off x="867098" y="5949280"/>
            <a:ext cx="7560840" cy="400110"/>
          </a:xfrm>
          <a:prstGeom prst="rect">
            <a:avLst/>
          </a:prstGeom>
        </p:spPr>
        <p:txBody>
          <a:bodyPr wrap="square">
            <a:spAutoFit/>
          </a:bodyPr>
          <a:lstStyle/>
          <a:p>
            <a:pPr algn="just"/>
            <a:r>
              <a:rPr lang="uz-Cyrl-UZ" sz="2000" dirty="0">
                <a:latin typeface="Times New Roman" pitchFamily="18" charset="0"/>
                <a:cs typeface="Times New Roman" pitchFamily="18" charset="0"/>
              </a:rPr>
              <a:t>Rasm 1.3. Paketlar kommutatsiyasida trafik uzatilishini tashkil etish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36094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0"/>
            <a:ext cx="8640960"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Paketlar </a:t>
            </a:r>
            <a:r>
              <a:rPr lang="uz-Cyrl-UZ" sz="2000" dirty="0">
                <a:latin typeface="Times New Roman" pitchFamily="18" charset="0"/>
                <a:cs typeface="Times New Roman" pitchFamily="18" charset="0"/>
              </a:rPr>
              <a:t>uzatishni shunday yo‘sinda tashkil etish trafik pulsatsiyasini bartaraf etishga va tarmoqning umumiy o‘tkazish qobiliyatini oshirishga imkon beradi.</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Paketlar </a:t>
            </a:r>
            <a:r>
              <a:rPr lang="uz-Cyrl-UZ" sz="2000" dirty="0">
                <a:latin typeface="Times New Roman" pitchFamily="18" charset="0"/>
                <a:cs typeface="Times New Roman" pitchFamily="18" charset="0"/>
              </a:rPr>
              <a:t>kommutatsiyasida bir vaqtda uzatilayotgan ma’lumotlar hajmi nisbatan yuqori bo‘ladi va uzatish tezligi oshadi.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Sarlavhalar </a:t>
            </a:r>
            <a:r>
              <a:rPr lang="uz-Cyrl-UZ" sz="2000" dirty="0">
                <a:latin typeface="Times New Roman" pitchFamily="18" charset="0"/>
                <a:cs typeface="Times New Roman" pitchFamily="18" charset="0"/>
              </a:rPr>
              <a:t>uzatilishiga </a:t>
            </a:r>
            <a:r>
              <a:rPr lang="uz-Cyrl-UZ" sz="2000" i="1" dirty="0">
                <a:latin typeface="Times New Roman" pitchFamily="18" charset="0"/>
                <a:cs typeface="Times New Roman" pitchFamily="18" charset="0"/>
              </a:rPr>
              <a:t>vaqt </a:t>
            </a:r>
            <a:r>
              <a:rPr lang="uz-Cyrl-UZ" sz="2000" dirty="0">
                <a:latin typeface="Times New Roman" pitchFamily="18" charset="0"/>
                <a:cs typeface="Times New Roman" pitchFamily="18" charset="0"/>
              </a:rPr>
              <a:t>sarflanishi, hap bir keyingi paketni  uzatishga   zarur  bo‘lgan  vaqt,   paket buferizatsiyasi  va kommutatsiyasiga   sarflangan   vaqt   tarmoqdan   paketni   umumiy uzatish vaqtiga ta’sir ko‘rsatadi va shovqinliklar manbai bo‘ladi.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Paketli kommutatsiyaning afzalliklari: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pulsatsiyali     trafikni     uzatishda     tarmoqning     o‘tkazish</a:t>
            </a:r>
            <a:br>
              <a:rPr lang="uz-Cyrl-UZ" sz="2000" dirty="0">
                <a:latin typeface="Times New Roman" pitchFamily="18" charset="0"/>
                <a:cs typeface="Times New Roman" pitchFamily="18" charset="0"/>
              </a:rPr>
            </a:br>
            <a:r>
              <a:rPr lang="uz-Cyrl-UZ" sz="2000" dirty="0">
                <a:latin typeface="Times New Roman" pitchFamily="18" charset="0"/>
                <a:cs typeface="Times New Roman" pitchFamily="18" charset="0"/>
              </a:rPr>
              <a:t>qobiliyatini oshirish imkoniyatini beradi;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foydalanuvchilararo trafik  holatini inobatga olgan holda, tarmoq  sharoitiga     nisbatan     fizikaviy     kanallarning o‘tkazish qobiliyatini taqsimlash imkoniyatini beradi.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Paketli kommutatsiyaning kamchiliklari:</a:t>
            </a:r>
            <a:endParaRPr lang="ru-RU" sz="2000" dirty="0">
              <a:latin typeface="Times New Roman" pitchFamily="18" charset="0"/>
              <a:cs typeface="Times New Roman" pitchFamily="18" charset="0"/>
            </a:endParaRPr>
          </a:p>
          <a:p>
            <a:pPr lvl="0" algn="just"/>
            <a:r>
              <a:rPr lang="uz-Cyrl-UZ" sz="2000" i="1" dirty="0">
                <a:latin typeface="Times New Roman" pitchFamily="18" charset="0"/>
                <a:cs typeface="Times New Roman" pitchFamily="18" charset="0"/>
              </a:rPr>
              <a:t>kommutatorlarning </a:t>
            </a:r>
            <a:r>
              <a:rPr lang="uz-Cyrl-UZ" sz="2000" b="1" i="1" dirty="0">
                <a:latin typeface="Times New Roman" pitchFamily="18" charset="0"/>
                <a:cs typeface="Times New Roman" pitchFamily="18" charset="0"/>
              </a:rPr>
              <a:t> </a:t>
            </a:r>
            <a:r>
              <a:rPr lang="uz-Cyrl-UZ" sz="2000" dirty="0">
                <a:latin typeface="Times New Roman" pitchFamily="18" charset="0"/>
                <a:cs typeface="Times New Roman" pitchFamily="18" charset="0"/>
              </a:rPr>
              <a:t>buferlaridagi  xalaqit  tarmoq  holatiga bog‘liq   bo‘lganligi sababli foydalanuvchilararo  uzatish tezligining noaniqligi;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ma’lumot paketlarining  o‘zgaruvchanligi;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buferlarda navbatlar ortib ketganligi sababli ma’lumot</a:t>
            </a:r>
            <a:br>
              <a:rPr lang="uz-Cyrl-UZ" sz="2000" dirty="0">
                <a:latin typeface="Times New Roman" pitchFamily="18" charset="0"/>
                <a:cs typeface="Times New Roman" pitchFamily="18" charset="0"/>
              </a:rPr>
            </a:br>
            <a:r>
              <a:rPr lang="uz-Cyrl-UZ" sz="2000" dirty="0">
                <a:latin typeface="Times New Roman" pitchFamily="18" charset="0"/>
                <a:cs typeface="Times New Roman" pitchFamily="18" charset="0"/>
              </a:rPr>
              <a:t>(paketlar) yo‘qolishi.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20907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16632"/>
            <a:ext cx="8640960" cy="6217087"/>
          </a:xfrm>
          <a:prstGeom prst="rect">
            <a:avLst/>
          </a:prstGeom>
        </p:spPr>
        <p:txBody>
          <a:bodyPr wrap="square">
            <a:spAutoFit/>
          </a:bodyPr>
          <a:lstStyle/>
          <a:p>
            <a:pPr algn="just"/>
            <a:r>
              <a:rPr lang="en-US" sz="24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Bu   </a:t>
            </a:r>
            <a:r>
              <a:rPr lang="uz-Cyrl-UZ" sz="2200" dirty="0">
                <a:latin typeface="Times New Roman" pitchFamily="18" charset="0"/>
                <a:cs typeface="Times New Roman" pitchFamily="18" charset="0"/>
              </a:rPr>
              <a:t>kamchiliklarni   bartaraf    etish   maqsadida    turli   usullar qo‘llaniladi (QoS - Quality   of    Service       kabi).    Bunday    usullar qo‘llanilishi sababli paketlar kommutatsiyasi hozirgi kunda yuqori tezlikli tarmoqlarni tashkil etishda eng samarali  deb tan olingan.</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Paketli kommutatsiya tarmoqlari ikki hil ishlash tartibiga ega: virtual kanallar tartibi (ulanish orqali aloqa) va deytagrammali tartib (ulanishsiz aloqa). </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Virtual kanallar tartibi</a:t>
            </a:r>
            <a:r>
              <a:rPr lang="uz-Cyrl-UZ" sz="2200" dirty="0">
                <a:latin typeface="Times New Roman" pitchFamily="18" charset="0"/>
                <a:cs typeface="Times New Roman" pitchFamily="18" charset="0"/>
              </a:rPr>
              <a:t>. Virtual kanallar tartibida bitta axborot paketlari belgilangan tartibda va yo‘nalishda uzatiladi. 1.4 -rasmda ikkita virtual kanal ishlash tartibi keltirilgan.  Birinchi N1, A1 oxirgi tugun manziliga borish uchun  N2, A2 oraliq kommutator tarmoqlari R1, R3, R4 lardan o‘tadi. Ikkinchisi esa N3, A3 - R5 - R7 - R4 - N2, A2 yo‘llardan o‘tadi. Bunda kanallar kommutatsiyasidan farq qilgan holda aloqa liniyalari kanallar orqali turli xil axborotlar paketlari (bu vaqtinchalik multipleksorlash tartibi yoki bo‘lmasa boshqacha qilib aytganda TDM-Time Division Method) navbatma - navbat uzatilayotgan paytda ko‘plab axborotlar bilan taqsimlanishi yoki oraliqdagi buferlarda to‘xtalishi (ushlanishi) mumkin.</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4123666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a:stretch>
            <a:fillRect/>
          </a:stretch>
        </p:blipFill>
        <p:spPr bwMode="auto">
          <a:xfrm>
            <a:off x="1115616" y="260648"/>
            <a:ext cx="6984776" cy="3168352"/>
          </a:xfrm>
          <a:prstGeom prst="rect">
            <a:avLst/>
          </a:prstGeom>
          <a:noFill/>
          <a:ln w="9525">
            <a:noFill/>
            <a:miter lim="800000"/>
            <a:headEnd/>
            <a:tailEnd/>
          </a:ln>
        </p:spPr>
      </p:pic>
      <p:sp>
        <p:nvSpPr>
          <p:cNvPr id="5" name="Прямоугольник 4"/>
          <p:cNvSpPr/>
          <p:nvPr/>
        </p:nvSpPr>
        <p:spPr>
          <a:xfrm>
            <a:off x="2675567" y="3604694"/>
            <a:ext cx="3864874" cy="369332"/>
          </a:xfrm>
          <a:prstGeom prst="rect">
            <a:avLst/>
          </a:prstGeom>
        </p:spPr>
        <p:txBody>
          <a:bodyPr wrap="square">
            <a:spAutoFit/>
          </a:bodyPr>
          <a:lstStyle/>
          <a:p>
            <a:pPr algn="ctr"/>
            <a:r>
              <a:rPr lang="uz-Cyrl-UZ" dirty="0">
                <a:latin typeface="Times New Roman" pitchFamily="18" charset="0"/>
                <a:cs typeface="Times New Roman" pitchFamily="18" charset="0"/>
              </a:rPr>
              <a:t>Rasm 1.4. Virtual kanal ish tartibi</a:t>
            </a:r>
            <a:endParaRPr lang="ru-RU" dirty="0">
              <a:latin typeface="Times New Roman" pitchFamily="18" charset="0"/>
              <a:cs typeface="Times New Roman" pitchFamily="18" charset="0"/>
            </a:endParaRPr>
          </a:p>
        </p:txBody>
      </p:sp>
      <p:sp>
        <p:nvSpPr>
          <p:cNvPr id="6" name="Прямоугольник 5"/>
          <p:cNvSpPr/>
          <p:nvPr/>
        </p:nvSpPr>
        <p:spPr>
          <a:xfrm>
            <a:off x="338605" y="4077072"/>
            <a:ext cx="8352928" cy="1785104"/>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Qabul </a:t>
            </a:r>
            <a:r>
              <a:rPr lang="uz-Cyrl-UZ" sz="2200" dirty="0">
                <a:latin typeface="Times New Roman" pitchFamily="18" charset="0"/>
                <a:cs typeface="Times New Roman" pitchFamily="18" charset="0"/>
              </a:rPr>
              <a:t>qiluvchi tomonidan yuboruvchiga axborot olinganligi to‘g‘risidagi tasdiqni yuborish orqali ma’lumotlarni to‘g‘ri uzatish nazorati nazarda tutiladi. Bu nazorat yo‘nalish barcha oraliq tugunlardagi kabi so‘nggi tugunda ham bo‘lishi mumkin. Virtual kanallar tartibi odatda ko‘p miqdorda ma’lumot uzatilganda ishlatiladi.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437771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16632"/>
            <a:ext cx="8712968" cy="2862322"/>
          </a:xfrm>
          <a:prstGeom prst="rect">
            <a:avLst/>
          </a:prstGeom>
        </p:spPr>
        <p:txBody>
          <a:bodyPr wrap="square">
            <a:spAutoFit/>
          </a:bodyPr>
          <a:lstStyle/>
          <a:p>
            <a:pPr algn="jus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Deytagrammali </a:t>
            </a:r>
            <a:r>
              <a:rPr lang="uz-Cyrl-UZ" sz="2000" i="1" dirty="0">
                <a:latin typeface="Times New Roman" pitchFamily="18" charset="0"/>
                <a:cs typeface="Times New Roman" pitchFamily="18" charset="0"/>
              </a:rPr>
              <a:t>tartib</a:t>
            </a:r>
            <a:r>
              <a:rPr lang="uz-Cyrl-UZ" sz="2000" dirty="0">
                <a:latin typeface="Times New Roman" pitchFamily="18" charset="0"/>
                <a:cs typeface="Times New Roman" pitchFamily="18" charset="0"/>
              </a:rPr>
              <a:t>. Deytagrammali tartibda axborotlar deytagrammalarga bo‘linadi. Deytagramma - kommutatsiya paketlari bilan hisoblash tarmoqlaridagi bir xil axborotning boshqa qismlariga bog‘liq bo‘lmagan holda uzatiladigan ma’lumot qismidir. Ma’lumotlarni deytagrammali tartibda uzatish tezroq amalga oshiriladi, chunki virtual ulanishni o‘rnatish jarayoniga vaqt sarflanmaydi. 1.5 - rasmda paketli uzatishning deytagrammali tamoyili keltirilgan. Bunda 1.5 - rasmdan ko‘rinib turibdiki R1 marshrutizatoriga kelib tushgan paketlar oxirgi tugun N2, A2 manziliga uzatilganda ikkita yo‘nalish orqali, ya’ni R1 va R3 marshrutizatorlari orqali har bir yo‘nalish bo‘yicha yuklamani kamaytiradi.</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1691680" y="2998354"/>
            <a:ext cx="5904656" cy="3337570"/>
          </a:xfrm>
          <a:prstGeom prst="rect">
            <a:avLst/>
          </a:prstGeom>
          <a:noFill/>
          <a:ln w="9525">
            <a:noFill/>
            <a:miter lim="800000"/>
            <a:headEnd/>
            <a:tailEnd/>
          </a:ln>
        </p:spPr>
      </p:pic>
      <p:sp>
        <p:nvSpPr>
          <p:cNvPr id="6" name="Прямоугольник 5"/>
          <p:cNvSpPr/>
          <p:nvPr/>
        </p:nvSpPr>
        <p:spPr>
          <a:xfrm>
            <a:off x="1691680" y="6357365"/>
            <a:ext cx="5400600" cy="369332"/>
          </a:xfrm>
          <a:prstGeom prst="rect">
            <a:avLst/>
          </a:prstGeom>
        </p:spPr>
        <p:txBody>
          <a:bodyPr wrap="square">
            <a:spAutoFit/>
          </a:bodyPr>
          <a:lstStyle/>
          <a:p>
            <a:pPr algn="ctr"/>
            <a:r>
              <a:rPr lang="uz-Cyrl-UZ" dirty="0">
                <a:latin typeface="Times New Roman" pitchFamily="18" charset="0"/>
                <a:cs typeface="Times New Roman" pitchFamily="18" charset="0"/>
              </a:rPr>
              <a:t>Rasm 1.5. Paketli uzatishning deytagrammali tamoyili</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159894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4739" y="34745"/>
            <a:ext cx="8784976" cy="2862322"/>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Bir </a:t>
            </a:r>
            <a:r>
              <a:rPr lang="uz-Cyrl-UZ" sz="2000" dirty="0">
                <a:latin typeface="Times New Roman" pitchFamily="18" charset="0"/>
                <a:cs typeface="Times New Roman" pitchFamily="18" charset="0"/>
              </a:rPr>
              <a:t>xil axborotning deytagrammalari tarmoqlarga har xil yo‘nalishlar orqali uzatilishi va manzilga erkin ketma - ketlikda kelib tushishi mumkin, bu esa tarmoq blokirovka qilinishini keltirib chiqarishi mumkin. Yo‘nalishning ichki bo‘limlarida ma’lumotlarni to‘g‘ri uzatish nazorati nazarda tutilmagan. Bu faqat ishonchli aloqa tugallangandan keyin tugundagi nazorat orqaligina ta’minlanadi. Deytagrammali tartibda tarmoq blokirovkasi deb, hisoblash tarmog‘ining bufer xotira tuguniga xotirani butunlay to‘ldiradigan (band qiladigan) turli axborotlar paketlari kelib tushishiga aytiladi. Shuning uchun deytagrammali tartib ko‘p hollarda kam miqdordagi ma’lumotlar uzatilganda (yuborilganda) ishlatiladi. </a:t>
            </a:r>
            <a:endParaRPr lang="ru-RU" sz="2000" dirty="0">
              <a:latin typeface="Times New Roman" pitchFamily="18" charset="0"/>
              <a:cs typeface="Times New Roman" pitchFamily="18" charset="0"/>
            </a:endParaRPr>
          </a:p>
        </p:txBody>
      </p:sp>
      <p:sp>
        <p:nvSpPr>
          <p:cNvPr id="5" name="Прямоугольник 4"/>
          <p:cNvSpPr/>
          <p:nvPr/>
        </p:nvSpPr>
        <p:spPr>
          <a:xfrm>
            <a:off x="35227" y="2768314"/>
            <a:ext cx="9144000" cy="4093428"/>
          </a:xfrm>
          <a:prstGeom prst="rect">
            <a:avLst/>
          </a:prstGeom>
        </p:spPr>
        <p:txBody>
          <a:bodyPr wrap="square">
            <a:spAutoFit/>
          </a:bodyPr>
          <a:lstStyle/>
          <a:p>
            <a:pPr lvl="0" algn="ctr"/>
            <a:r>
              <a:rPr lang="uz-Cyrl-UZ" sz="2000" b="1" dirty="0">
                <a:latin typeface="Times New Roman" pitchFamily="18" charset="0"/>
                <a:cs typeface="Times New Roman" pitchFamily="18" charset="0"/>
              </a:rPr>
              <a:t>Xabarlar kommutatsiyasi</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Xabarlar </a:t>
            </a:r>
            <a:r>
              <a:rPr lang="uz-Cyrl-UZ" sz="2000" i="1" dirty="0">
                <a:latin typeface="Times New Roman" pitchFamily="18" charset="0"/>
                <a:cs typeface="Times New Roman" pitchFamily="18" charset="0"/>
              </a:rPr>
              <a:t>kommutatsiyasi </a:t>
            </a:r>
            <a:r>
              <a:rPr lang="uz-Cyrl-UZ" sz="2000" dirty="0">
                <a:latin typeface="Times New Roman" pitchFamily="18" charset="0"/>
                <a:cs typeface="Times New Roman" pitchFamily="18" charset="0"/>
              </a:rPr>
              <a:t>usuli o‘z vazifalari bo‘yicha paketlar kommutatsiyasiga yaqin. Bu usulda ma’lumotlarning to‘liq bloki tarmoqning oraliq tugunlarida vaqtincha saqlanib, tranzit tugunlariaro uzatiladi. Habar tarkibidagi axborot uning uzunligini belgilaydi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Tranzit </a:t>
            </a:r>
            <a:r>
              <a:rPr lang="uz-Cyrl-UZ" sz="2000" dirty="0">
                <a:latin typeface="Times New Roman" pitchFamily="18" charset="0"/>
                <a:cs typeface="Times New Roman" pitchFamily="18" charset="0"/>
              </a:rPr>
              <a:t>tugunlar o‘zaro bog‘lanishda nafaqat paketli, balki kanallar kommutatsiyasi asosidagi tarmoqdan foydalanishlari mumkin. Xabar oraliq tugunda biror vaqt saqlanishi mumkin va tarmoq bo‘shashi bilan kerakli foydalanuvchiga yetkaziladi (1.6 - rasm). Bunday ishlash zaruriyati yuqori bo‘lmagan xabarlar yetkazilishida qo‘llaniladi (misol uchun, elektron xat, matnli xujjat, fayl) va oraliq «saqlash bilan uzatish» (store- and-forward) usuli nomini olgan. Xozirgi kunda xabarlar kommutatsiyasi, asosan, paketli kommutatsiya tarmoqlarida qo‘llanish pog‘onasi xizmati sifatida faqat ba’zi tezkor bo‘lmagan xizmatlar tashkil etishda qo‘llaniladi.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893600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t="6557"/>
          <a:stretch>
            <a:fillRect/>
          </a:stretch>
        </p:blipFill>
        <p:spPr bwMode="auto">
          <a:xfrm>
            <a:off x="827584" y="116632"/>
            <a:ext cx="7560840" cy="2808312"/>
          </a:xfrm>
          <a:prstGeom prst="rect">
            <a:avLst/>
          </a:prstGeom>
          <a:noFill/>
          <a:ln w="9525">
            <a:noFill/>
            <a:miter lim="800000"/>
            <a:headEnd/>
            <a:tailEnd/>
          </a:ln>
        </p:spPr>
      </p:pic>
      <p:sp>
        <p:nvSpPr>
          <p:cNvPr id="5" name="Прямоугольник 4"/>
          <p:cNvSpPr/>
          <p:nvPr/>
        </p:nvSpPr>
        <p:spPr>
          <a:xfrm>
            <a:off x="2051720" y="3244334"/>
            <a:ext cx="5616624" cy="400110"/>
          </a:xfrm>
          <a:prstGeom prst="rect">
            <a:avLst/>
          </a:prstGeom>
        </p:spPr>
        <p:txBody>
          <a:bodyPr wrap="square">
            <a:spAutoFit/>
          </a:bodyPr>
          <a:lstStyle/>
          <a:p>
            <a:pPr algn="ctr"/>
            <a:r>
              <a:rPr lang="uz-Cyrl-UZ" sz="2000" dirty="0">
                <a:latin typeface="Times New Roman" pitchFamily="18" charset="0"/>
                <a:cs typeface="Times New Roman" pitchFamily="18" charset="0"/>
              </a:rPr>
              <a:t>Rasm 1.6. Xabarlar kommutatsiyasi tuzilishi</a:t>
            </a:r>
            <a:endParaRPr lang="ru-RU" sz="2000" dirty="0">
              <a:latin typeface="Times New Roman" pitchFamily="18" charset="0"/>
              <a:cs typeface="Times New Roman" pitchFamily="18" charset="0"/>
            </a:endParaRPr>
          </a:p>
        </p:txBody>
      </p:sp>
      <p:sp>
        <p:nvSpPr>
          <p:cNvPr id="6" name="Прямоугольник 5"/>
          <p:cNvSpPr/>
          <p:nvPr/>
        </p:nvSpPr>
        <p:spPr>
          <a:xfrm>
            <a:off x="179512" y="3663358"/>
            <a:ext cx="8784976" cy="313932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Kommutatsiya </a:t>
            </a:r>
            <a:r>
              <a:rPr lang="uz-Cyrl-UZ" sz="2000" dirty="0">
                <a:latin typeface="Times New Roman" pitchFamily="18" charset="0"/>
                <a:cs typeface="Times New Roman" pitchFamily="18" charset="0"/>
              </a:rPr>
              <a:t>jarayonining vazifalaridan bo‘lgan oqimlar va kerakli marshrutlarni aniqlash, maxsus jadvallarda marshrutlarni belgilash, oqimlarni multiplekslash, uzatish muhitini taqsimlash – texnikaviy masalalar barcha tarmoq texnologiyalari asosi sifatida uning funksional xususiyatlarini belgilaydi. Tarmoqlarda ikki foydalanuvchi bir-biri bilan bog‘lanish jarayonida quyidagi asosiy kommutatsiya usullari mavjud</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marL="342900" lvl="0" indent="-342900" algn="just">
              <a:buFont typeface="Arial" pitchFamily="34" charset="0"/>
              <a:buChar char="•"/>
            </a:pPr>
            <a:r>
              <a:rPr lang="ru-RU" sz="2000" dirty="0" err="1">
                <a:latin typeface="Times New Roman" pitchFamily="18" charset="0"/>
                <a:cs typeface="Times New Roman" pitchFamily="18" charset="0"/>
              </a:rPr>
              <a:t>Kanallar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kommutatsiyasi</a:t>
            </a:r>
            <a:r>
              <a:rPr lang="ru-RU"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(circuit switching);</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ru-RU" sz="2000" dirty="0" err="1">
                <a:latin typeface="Times New Roman" pitchFamily="18" charset="0"/>
                <a:cs typeface="Times New Roman" pitchFamily="18" charset="0"/>
              </a:rPr>
              <a:t>Paketlar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kommutatsiyasi</a:t>
            </a:r>
            <a:r>
              <a:rPr lang="ru-RU" sz="2000" dirty="0">
                <a:latin typeface="Times New Roman" pitchFamily="18" charset="0"/>
                <a:cs typeface="Times New Roman" pitchFamily="18" charset="0"/>
              </a:rPr>
              <a:t> </a:t>
            </a:r>
            <a:r>
              <a:rPr lang="uz-Cyrl-UZ" sz="2000" i="1" dirty="0">
                <a:latin typeface="Times New Roman" pitchFamily="18" charset="0"/>
                <a:cs typeface="Times New Roman" pitchFamily="18" charset="0"/>
              </a:rPr>
              <a:t>(</a:t>
            </a:r>
            <a:r>
              <a:rPr lang="en-US" sz="2000" i="1" dirty="0">
                <a:latin typeface="Times New Roman" pitchFamily="18" charset="0"/>
                <a:cs typeface="Times New Roman" pitchFamily="18" charset="0"/>
              </a:rPr>
              <a:t>packet switching);</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ru-RU" sz="2000" dirty="0" err="1">
                <a:latin typeface="Times New Roman" pitchFamily="18" charset="0"/>
                <a:cs typeface="Times New Roman" pitchFamily="18" charset="0"/>
              </a:rPr>
              <a:t>Xabarlar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kommutatsiyasi</a:t>
            </a:r>
            <a:r>
              <a:rPr lang="ru-RU"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(message switching).</a:t>
            </a:r>
            <a:endParaRPr lang="ru-RU" sz="2000" dirty="0">
              <a:latin typeface="Times New Roman" pitchFamily="18" charset="0"/>
              <a:cs typeface="Times New Roman" pitchFamily="18" charset="0"/>
            </a:endParaRPr>
          </a:p>
          <a:p>
            <a:endParaRPr lang="ru-RU" dirty="0"/>
          </a:p>
        </p:txBody>
      </p:sp>
    </p:spTree>
    <p:extLst>
      <p:ext uri="{BB962C8B-B14F-4D97-AF65-F5344CB8AC3E}">
        <p14:creationId xmlns:p14="http://schemas.microsoft.com/office/powerpoint/2010/main" val="1094656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37479" y="116632"/>
            <a:ext cx="8712968"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Kanallar</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tarixi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dastlabki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telefon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laridan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boshlanadi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Paketlar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a:t>
            </a:r>
            <a:r>
              <a:rPr lang="en-US" sz="2200" dirty="0">
                <a:latin typeface="Times New Roman" pitchFamily="18" charset="0"/>
                <a:cs typeface="Times New Roman" pitchFamily="18" charset="0"/>
              </a:rPr>
              <a:t> 60 — </a:t>
            </a:r>
            <a:r>
              <a:rPr lang="en-US" sz="2200" dirty="0" err="1">
                <a:latin typeface="Times New Roman" pitchFamily="18" charset="0"/>
                <a:cs typeface="Times New Roman" pitchFamily="18" charset="0"/>
              </a:rPr>
              <a:t>yillar</a:t>
            </a:r>
            <a:r>
              <a:rPr lang="en-US" sz="2200" dirty="0">
                <a:latin typeface="Times New Roman" pitchFamily="18" charset="0"/>
                <a:cs typeface="Times New Roman" pitchFamily="18" charset="0"/>
              </a:rPr>
              <a:t> o</a:t>
            </a:r>
            <a:r>
              <a:rPr lang="uz-Cyrl-UZ" sz="2200" dirty="0">
                <a:latin typeface="Times New Roman" pitchFamily="18" charset="0"/>
                <a:cs typeface="Times New Roman" pitchFamily="18" charset="0"/>
              </a:rPr>
              <a:t>h</a:t>
            </a:r>
            <a:r>
              <a:rPr lang="en-US" sz="2200" dirty="0" err="1">
                <a:latin typeface="Times New Roman" pitchFamily="18" charset="0"/>
                <a:cs typeface="Times New Roman" pitchFamily="18" charset="0"/>
              </a:rPr>
              <a:t>irida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barpo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birinchi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larida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o‘llanilgan</a:t>
            </a:r>
            <a:r>
              <a:rPr lang="en-US" sz="2200" dirty="0">
                <a:latin typeface="Times New Roman" pitchFamily="18" charset="0"/>
                <a:cs typeface="Times New Roman" pitchFamily="18" charset="0"/>
              </a:rPr>
              <a:t>.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Kommutatsiya usullarining har biri afzalliklarga va kamchiliklarga ega: mutaxassislar fikriga ko‘ra, paketlar kommutatsiyasiga asoslangan tarmoq texnologiyalari  asosiy o‘rinni </a:t>
            </a:r>
            <a:r>
              <a:rPr lang="uz-Cyrl-UZ" sz="2200" dirty="0" smtClean="0">
                <a:latin typeface="Times New Roman" pitchFamily="18" charset="0"/>
                <a:cs typeface="Times New Roman" pitchFamily="18" charset="0"/>
              </a:rPr>
              <a:t>egallaydi</a:t>
            </a:r>
            <a:r>
              <a:rPr lang="en-US" sz="2200" dirty="0" smtClean="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Kanallar</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tarixi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dastlabki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telefon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laridan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boshlanadi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Paketlar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a:t>
            </a:r>
            <a:r>
              <a:rPr lang="en-US" sz="2200" dirty="0">
                <a:latin typeface="Times New Roman" pitchFamily="18" charset="0"/>
                <a:cs typeface="Times New Roman" pitchFamily="18" charset="0"/>
              </a:rPr>
              <a:t> 60 — </a:t>
            </a:r>
            <a:r>
              <a:rPr lang="en-US" sz="2200" dirty="0" err="1">
                <a:latin typeface="Times New Roman" pitchFamily="18" charset="0"/>
                <a:cs typeface="Times New Roman" pitchFamily="18" charset="0"/>
              </a:rPr>
              <a:t>yillar</a:t>
            </a:r>
            <a:r>
              <a:rPr lang="en-US" sz="2200" dirty="0">
                <a:latin typeface="Times New Roman" pitchFamily="18" charset="0"/>
                <a:cs typeface="Times New Roman" pitchFamily="18" charset="0"/>
              </a:rPr>
              <a:t> o</a:t>
            </a:r>
            <a:r>
              <a:rPr lang="uz-Cyrl-UZ" sz="2200" dirty="0">
                <a:latin typeface="Times New Roman" pitchFamily="18" charset="0"/>
                <a:cs typeface="Times New Roman" pitchFamily="18" charset="0"/>
              </a:rPr>
              <a:t>h</a:t>
            </a:r>
            <a:r>
              <a:rPr lang="en-US" sz="2200" dirty="0" err="1">
                <a:latin typeface="Times New Roman" pitchFamily="18" charset="0"/>
                <a:cs typeface="Times New Roman" pitchFamily="18" charset="0"/>
              </a:rPr>
              <a:t>irida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barpo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birinchi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kompyuter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larida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o‘llanilgan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usullar</a:t>
            </a:r>
            <a:r>
              <a:rPr lang="uz-Cyrl-UZ" sz="2200" dirty="0">
                <a:latin typeface="Times New Roman" pitchFamily="18" charset="0"/>
                <a:cs typeface="Times New Roman" pitchFamily="18" charset="0"/>
              </a:rPr>
              <a:t>i</a:t>
            </a:r>
            <a:r>
              <a:rPr lang="en-US" sz="2200" dirty="0" err="1">
                <a:latin typeface="Times New Roman" pitchFamily="18" charset="0"/>
                <a:cs typeface="Times New Roman" pitchFamily="18" charset="0"/>
              </a:rPr>
              <a:t>ning</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h</a:t>
            </a:r>
            <a:r>
              <a:rPr lang="en-US" sz="2200" dirty="0" err="1">
                <a:latin typeface="Times New Roman" pitchFamily="18" charset="0"/>
                <a:cs typeface="Times New Roman" pitchFamily="18" charset="0"/>
              </a:rPr>
              <a:t>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afzallik</a:t>
            </a:r>
            <a:r>
              <a:rPr lang="uz-Cyrl-UZ" sz="2200" dirty="0">
                <a:latin typeface="Times New Roman" pitchFamily="18" charset="0"/>
                <a:cs typeface="Times New Roman" pitchFamily="18" charset="0"/>
              </a:rPr>
              <a:t>larga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kamchiliklarga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a:t>
            </a:r>
            <a:r>
              <a:rPr lang="uz-Cyrl-UZ"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mutaxassislar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fikriga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paketlar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asoslangan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texnologiyalari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asosiy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o‘rin</a:t>
            </a:r>
            <a:r>
              <a:rPr lang="uz-Cyrl-UZ" sz="2200" dirty="0">
                <a:latin typeface="Times New Roman" pitchFamily="18" charset="0"/>
                <a:cs typeface="Times New Roman" pitchFamily="18" charset="0"/>
              </a:rPr>
              <a:t>ni </a:t>
            </a:r>
            <a:r>
              <a:rPr lang="en-US" sz="2200" dirty="0" err="1">
                <a:latin typeface="Times New Roman" pitchFamily="18" charset="0"/>
                <a:cs typeface="Times New Roman" pitchFamily="18" charset="0"/>
              </a:rPr>
              <a:t>egallaydi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Kanallar</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kommutatsiyasi</a:t>
            </a:r>
            <a:r>
              <a:rPr lang="en-US" sz="2200" i="1" dirty="0">
                <a:latin typeface="Times New Roman" pitchFamily="18" charset="0"/>
                <a:cs typeface="Times New Roman" pitchFamily="18" charset="0"/>
              </a:rPr>
              <a:t> </a:t>
            </a:r>
            <a:r>
              <a:rPr lang="en-US" sz="2200" dirty="0" err="1">
                <a:latin typeface="Times New Roman" pitchFamily="18" charset="0"/>
                <a:cs typeface="Times New Roman" pitchFamily="18" charset="0"/>
              </a:rPr>
              <a:t>usulida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tugunlar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o‘rtasida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uzluksiz</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fizikaviy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a:t>
            </a:r>
            <a:r>
              <a:rPr lang="uz-Cyrl-UZ" sz="2200" dirty="0">
                <a:latin typeface="Times New Roman" pitchFamily="18" charset="0"/>
                <a:cs typeface="Times New Roman" pitchFamily="18" charset="0"/>
              </a:rPr>
              <a:t>lar h</a:t>
            </a:r>
            <a:r>
              <a:rPr lang="en-US" sz="2200" dirty="0" err="1">
                <a:latin typeface="Times New Roman" pitchFamily="18" charset="0"/>
                <a:cs typeface="Times New Roman" pitchFamily="18" charset="0"/>
              </a:rPr>
              <a:t>osil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kommutatorlar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yordamida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alo</a:t>
            </a:r>
            <a:r>
              <a:rPr lang="uz-Cyrl-UZ" sz="2200" dirty="0">
                <a:latin typeface="Times New Roman" pitchFamily="18" charset="0"/>
                <a:cs typeface="Times New Roman" pitchFamily="18" charset="0"/>
              </a:rPr>
              <a:t>h</a:t>
            </a:r>
            <a:r>
              <a:rPr lang="en-US" sz="2200" dirty="0" err="1">
                <a:latin typeface="Times New Roman" pitchFamily="18" charset="0"/>
                <a:cs typeface="Times New Roman" pitchFamily="18" charset="0"/>
              </a:rPr>
              <a:t>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ismlari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ketma</a:t>
            </a:r>
            <a:r>
              <a:rPr lang="uz-Cyrl-UZ" sz="2200" dirty="0">
                <a:latin typeface="Times New Roman" pitchFamily="18" charset="0"/>
                <a:cs typeface="Times New Roman" pitchFamily="18" charset="0"/>
              </a:rPr>
              <a:t>-</a:t>
            </a:r>
            <a:r>
              <a:rPr lang="en-US" sz="2200" dirty="0" err="1">
                <a:latin typeface="Times New Roman" pitchFamily="18" charset="0"/>
                <a:cs typeface="Times New Roman" pitchFamily="18" charset="0"/>
              </a:rPr>
              <a:t>ket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bo‘ladi</a:t>
            </a:r>
            <a:r>
              <a:rPr lang="uz-Cyrl-UZ"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nechta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fizikaviy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yagona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fizikaviy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tashkil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h</a:t>
            </a:r>
            <a:r>
              <a:rPr lang="en-US" sz="2200" dirty="0" err="1">
                <a:latin typeface="Times New Roman" pitchFamily="18" charset="0"/>
                <a:cs typeface="Times New Roman" pitchFamily="18" charset="0"/>
              </a:rPr>
              <a:t>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tezligi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xil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sharti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asoslangan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Bunday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yagona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jarayonidan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avval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o‘rnatilishi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kerak</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kanal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o‘rnatish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jarayonida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fa</a:t>
            </a:r>
            <a:r>
              <a:rPr lang="uz-Cyrl-UZ" sz="2200" dirty="0">
                <a:latin typeface="Times New Roman" pitchFamily="18" charset="0"/>
                <a:cs typeface="Times New Roman" pitchFamily="18" charset="0"/>
              </a:rPr>
              <a:t>q</a:t>
            </a:r>
            <a:r>
              <a:rPr lang="en-US" sz="2200" dirty="0">
                <a:latin typeface="Times New Roman" pitchFamily="18" charset="0"/>
                <a:cs typeface="Times New Roman" pitchFamily="18" charset="0"/>
              </a:rPr>
              <a:t>at </a:t>
            </a:r>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a:t>
            </a:r>
            <a:r>
              <a:rPr lang="uz-Cyrl-UZ" sz="2200" dirty="0">
                <a:latin typeface="Times New Roman" pitchFamily="18" charset="0"/>
                <a:cs typeface="Times New Roman" pitchFamily="18" charset="0"/>
              </a:rPr>
              <a:t>g‘</a:t>
            </a:r>
            <a:r>
              <a:rPr lang="en-US" sz="2200" dirty="0" err="1">
                <a:latin typeface="Times New Roman" pitchFamily="18" charset="0"/>
                <a:cs typeface="Times New Roman" pitchFamily="18" charset="0"/>
              </a:rPr>
              <a:t>lanishga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xizmat</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iladi</a:t>
            </a:r>
            <a:r>
              <a:rPr lang="en-US" sz="2200" dirty="0">
                <a:latin typeface="Times New Roman" pitchFamily="18" charset="0"/>
                <a:cs typeface="Times New Roman" pitchFamily="18" charset="0"/>
              </a:rPr>
              <a:t>.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269681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96287" y="16722"/>
            <a:ext cx="8928992" cy="6524863"/>
          </a:xfrm>
          <a:prstGeom prst="rect">
            <a:avLst/>
          </a:prstGeom>
        </p:spPr>
        <p:txBody>
          <a:bodyPr wrap="square">
            <a:spAutoFit/>
          </a:bodyPr>
          <a:lstStyle/>
          <a:p>
            <a:r>
              <a:rPr lang="uz-Cyrl-UZ" sz="2200" b="1" dirty="0">
                <a:latin typeface="Times New Roman" pitchFamily="18" charset="0"/>
                <a:cs typeface="Times New Roman" pitchFamily="18" charset="0"/>
              </a:rPr>
              <a:t>Paketlar kommutatsiyasi</a:t>
            </a:r>
            <a:r>
              <a:rPr lang="uz-Cyrl-UZ" sz="2200" i="1" dirty="0">
                <a:latin typeface="Times New Roman" pitchFamily="18" charset="0"/>
                <a:cs typeface="Times New Roman" pitchFamily="18" charset="0"/>
              </a:rPr>
              <a:t> </a:t>
            </a:r>
            <a:r>
              <a:rPr lang="uz-Cyrl-UZ" sz="2200" dirty="0">
                <a:latin typeface="Times New Roman" pitchFamily="18" charset="0"/>
                <a:cs typeface="Times New Roman" pitchFamily="18" charset="0"/>
              </a:rPr>
              <a:t>asosan, kompyuter trafigini uzatishga mo‘ljallangan bo‘lib, ma’lumot almashuvini samarali ravishda tashkil etishga imkon beradi.</a:t>
            </a:r>
            <a:endParaRPr lang="ru-RU" sz="2200" dirty="0">
              <a:latin typeface="Times New Roman" pitchFamily="18" charset="0"/>
              <a:cs typeface="Times New Roman" pitchFamily="18" charset="0"/>
            </a:endParaRPr>
          </a:p>
          <a:p>
            <a:r>
              <a:rPr lang="uz-Cyrl-UZ" sz="2200" dirty="0">
                <a:latin typeface="Times New Roman" pitchFamily="18" charset="0"/>
                <a:cs typeface="Times New Roman" pitchFamily="18" charset="0"/>
              </a:rPr>
              <a:t>	Paketlar kommutatsiyasida foydalanuvchilararo uzatilayotgan xabarlar kichik qismlarga — paketlarga bo‘linadi. Ma’lumot uzatish tarmoqlarida paket asosiy uzatish birligi hisoblanadi. Katta hajmdagi habarlar kichik paketlarga bo‘linishi tarmoqda ma’lumot uzatish tezligining keskin oshishiga olib keladi. Xabarlar turli uzunlikga ega bo‘lishi mumkin — bir necha baytdan o‘nlab megabaytgacha, paketlar esa o‘zgaruvchan uzunlikka ega bo‘lishlari mumkin.</a:t>
            </a:r>
            <a:endParaRPr lang="ru-RU" sz="2200" dirty="0">
              <a:latin typeface="Times New Roman" pitchFamily="18" charset="0"/>
              <a:cs typeface="Times New Roman" pitchFamily="18" charset="0"/>
            </a:endParaRPr>
          </a:p>
          <a:p>
            <a:r>
              <a:rPr lang="uz-Cyrl-UZ" sz="2200" dirty="0">
                <a:latin typeface="Times New Roman" pitchFamily="18" charset="0"/>
                <a:cs typeface="Times New Roman" pitchFamily="18" charset="0"/>
              </a:rPr>
              <a:t>	Har bir paket kerakli tugunga yetib borishi uchun adres axboroti belgilangan sarlavha qismi bilan boshlanadi. Paket turli qismlardan iborat bo‘lishi mumkin va quyidagilarni o‘z tarkibiga olishi shart:</a:t>
            </a:r>
            <a:endParaRPr lang="ru-RU" sz="2200" dirty="0">
              <a:latin typeface="Times New Roman" pitchFamily="18" charset="0"/>
              <a:cs typeface="Times New Roman" pitchFamily="18" charset="0"/>
            </a:endParaRPr>
          </a:p>
          <a:p>
            <a:pPr lvl="0"/>
            <a:r>
              <a:rPr lang="uz-Cyrl-UZ" sz="2200" dirty="0">
                <a:latin typeface="Times New Roman" pitchFamily="18" charset="0"/>
                <a:cs typeface="Times New Roman" pitchFamily="18" charset="0"/>
              </a:rPr>
              <a:t>uzatuvchini (source) ifodalaydigan manba manzili;</a:t>
            </a:r>
            <a:endParaRPr lang="ru-RU" sz="2200" dirty="0">
              <a:latin typeface="Times New Roman" pitchFamily="18" charset="0"/>
              <a:cs typeface="Times New Roman" pitchFamily="18" charset="0"/>
            </a:endParaRPr>
          </a:p>
          <a:p>
            <a:pPr lvl="0"/>
            <a:r>
              <a:rPr lang="ru-RU" sz="2200" dirty="0" err="1">
                <a:latin typeface="Times New Roman" pitchFamily="18" charset="0"/>
                <a:cs typeface="Times New Roman" pitchFamily="18" charset="0"/>
              </a:rPr>
              <a:t>uzatilayotgan</a:t>
            </a:r>
            <a:r>
              <a:rPr lang="ru-RU" sz="2200" dirty="0">
                <a:latin typeface="Times New Roman" pitchFamily="18" charset="0"/>
                <a:cs typeface="Times New Roman" pitchFamily="18" charset="0"/>
              </a:rPr>
              <a:t> </a:t>
            </a:r>
            <a:r>
              <a:rPr lang="ru-RU" sz="2200" dirty="0" err="1">
                <a:latin typeface="Times New Roman" pitchFamily="18" charset="0"/>
                <a:cs typeface="Times New Roman" pitchFamily="18" charset="0"/>
              </a:rPr>
              <a:t>ma’lumotlar</a:t>
            </a:r>
            <a:r>
              <a:rPr lang="ru-RU" sz="2200" dirty="0">
                <a:latin typeface="Times New Roman" pitchFamily="18" charset="0"/>
                <a:cs typeface="Times New Roman" pitchFamily="18" charset="0"/>
              </a:rPr>
              <a:t>;</a:t>
            </a:r>
          </a:p>
          <a:p>
            <a:pPr lvl="0"/>
            <a:r>
              <a:rPr lang="uz-Cyrl-UZ" sz="2200" dirty="0">
                <a:latin typeface="Times New Roman" pitchFamily="18" charset="0"/>
                <a:cs typeface="Times New Roman" pitchFamily="18" charset="0"/>
              </a:rPr>
              <a:t>q</a:t>
            </a:r>
            <a:r>
              <a:rPr lang="ru-RU" sz="2200" dirty="0" err="1">
                <a:latin typeface="Times New Roman" pitchFamily="18" charset="0"/>
                <a:cs typeface="Times New Roman" pitchFamily="18" charset="0"/>
              </a:rPr>
              <a:t>abul</a:t>
            </a:r>
            <a:r>
              <a:rPr lang="ru-RU"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a:t>
            </a:r>
            <a:r>
              <a:rPr lang="ru-RU" sz="2200" dirty="0" err="1">
                <a:latin typeface="Times New Roman" pitchFamily="18" charset="0"/>
                <a:cs typeface="Times New Roman" pitchFamily="18" charset="0"/>
              </a:rPr>
              <a:t>iluvchining</a:t>
            </a:r>
            <a:r>
              <a:rPr lang="ru-RU" sz="2200" dirty="0">
                <a:latin typeface="Times New Roman" pitchFamily="18" charset="0"/>
                <a:cs typeface="Times New Roman" pitchFamily="18" charset="0"/>
              </a:rPr>
              <a:t> </a:t>
            </a:r>
            <a:r>
              <a:rPr lang="en-US" sz="2200" dirty="0">
                <a:latin typeface="Times New Roman" pitchFamily="18" charset="0"/>
                <a:cs typeface="Times New Roman" pitchFamily="18" charset="0"/>
              </a:rPr>
              <a:t>(destination) </a:t>
            </a:r>
            <a:r>
              <a:rPr lang="uz-Cyrl-UZ" sz="2200" dirty="0">
                <a:latin typeface="Times New Roman" pitchFamily="18" charset="0"/>
                <a:cs typeface="Times New Roman" pitchFamily="18" charset="0"/>
              </a:rPr>
              <a:t>manzil</a:t>
            </a:r>
            <a:r>
              <a:rPr lang="ru-RU" sz="2200" dirty="0">
                <a:latin typeface="Times New Roman" pitchFamily="18" charset="0"/>
                <a:cs typeface="Times New Roman" pitchFamily="18" charset="0"/>
              </a:rPr>
              <a:t>i;</a:t>
            </a:r>
          </a:p>
          <a:p>
            <a:pPr lvl="0"/>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vositalariga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a:t>
            </a:r>
            <a:r>
              <a:rPr lang="uz-Cyrl-UZ"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uzatilishi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lozim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marshrut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lvl="0"/>
            <a:r>
              <a:rPr lang="en-US" sz="2200" dirty="0" err="1">
                <a:latin typeface="Times New Roman" pitchFamily="18" charset="0"/>
                <a:cs typeface="Times New Roman" pitchFamily="18" charset="0"/>
              </a:rPr>
              <a:t>xabarni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dastlabki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ko‘rinishda</a:t>
            </a:r>
            <a:r>
              <a:rPr lang="en-US" sz="2200" dirty="0">
                <a:latin typeface="Times New Roman" pitchFamily="18" charset="0"/>
                <a:cs typeface="Times New Roman" pitchFamily="18" charset="0"/>
              </a:rPr>
              <a:t> ta</a:t>
            </a:r>
            <a:r>
              <a:rPr lang="uz-Cyrl-UZ" sz="2200" dirty="0">
                <a:latin typeface="Times New Roman" pitchFamily="18" charset="0"/>
                <a:cs typeface="Times New Roman" pitchFamily="18" charset="0"/>
              </a:rPr>
              <a:t>q</a:t>
            </a:r>
            <a:r>
              <a:rPr lang="en-US" sz="2200" dirty="0">
                <a:latin typeface="Times New Roman" pitchFamily="18" charset="0"/>
                <a:cs typeface="Times New Roman" pitchFamily="18" charset="0"/>
              </a:rPr>
              <a:t>dim et</a:t>
            </a:r>
            <a:r>
              <a:rPr lang="uz-Cyrl-UZ" sz="2200" dirty="0">
                <a:latin typeface="Times New Roman" pitchFamily="18" charset="0"/>
                <a:cs typeface="Times New Roman" pitchFamily="18" charset="0"/>
              </a:rPr>
              <a:t>uvchi </a:t>
            </a:r>
            <a:r>
              <a:rPr lang="en-US" sz="2200" dirty="0" err="1">
                <a:latin typeface="Times New Roman" pitchFamily="18" charset="0"/>
                <a:cs typeface="Times New Roman" pitchFamily="18" charset="0"/>
              </a:rPr>
              <a:t>axborot</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lvl="0"/>
            <a:r>
              <a:rPr lang="en-US" sz="2200" dirty="0" err="1">
                <a:latin typeface="Times New Roman" pitchFamily="18" charset="0"/>
                <a:cs typeface="Times New Roman" pitchFamily="18" charset="0"/>
              </a:rPr>
              <a:t>uzatish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ani</a:t>
            </a:r>
            <a:r>
              <a:rPr lang="uz-Cyrl-UZ" sz="2200" dirty="0">
                <a:latin typeface="Times New Roman" pitchFamily="18" charset="0"/>
                <a:cs typeface="Times New Roman" pitchFamily="18" charset="0"/>
              </a:rPr>
              <a:t>q</a:t>
            </a:r>
            <a:r>
              <a:rPr lang="en-US" sz="2200" dirty="0" err="1">
                <a:latin typeface="Times New Roman" pitchFamily="18" charset="0"/>
                <a:cs typeface="Times New Roman" pitchFamily="18" charset="0"/>
              </a:rPr>
              <a:t>ligini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ta’minlovchi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xatoliklar</a:t>
            </a:r>
            <a:r>
              <a:rPr lang="uz-Cyrl-UZ" sz="2200" dirty="0">
                <a:latin typeface="Times New Roman" pitchFamily="18" charset="0"/>
                <a:cs typeface="Times New Roman" pitchFamily="18" charset="0"/>
              </a:rPr>
              <a:t>ni </a:t>
            </a:r>
            <a:r>
              <a:rPr lang="en-US" sz="2200" dirty="0" err="1">
                <a:latin typeface="Times New Roman" pitchFamily="18" charset="0"/>
                <a:cs typeface="Times New Roman" pitchFamily="18" charset="0"/>
              </a:rPr>
              <a:t>tekshirish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axboroti</a:t>
            </a:r>
            <a:r>
              <a:rPr lang="uz-Cyrl-UZ"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417437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384" y="116632"/>
            <a:ext cx="9010112"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Paketlar </a:t>
            </a:r>
            <a:r>
              <a:rPr lang="uz-Cyrl-UZ" sz="2000" dirty="0">
                <a:latin typeface="Times New Roman" pitchFamily="18" charset="0"/>
                <a:cs typeface="Times New Roman" pitchFamily="18" charset="0"/>
              </a:rPr>
              <a:t>kommutatsiyasida bir vaqtda uzatilayotgan ma’lumotlar hajmi nisbatan yuqori bo‘ladi va uzatish tezligi oshadi. </a:t>
            </a:r>
            <a:r>
              <a:rPr lang="uz-Cyrl-UZ" sz="2000" dirty="0" smtClean="0">
                <a:latin typeface="Times New Roman" pitchFamily="18" charset="0"/>
                <a:cs typeface="Times New Roman" pitchFamily="18" charset="0"/>
              </a:rPr>
              <a:t> Sarlavhalar </a:t>
            </a:r>
            <a:r>
              <a:rPr lang="uz-Cyrl-UZ" sz="2000" dirty="0">
                <a:latin typeface="Times New Roman" pitchFamily="18" charset="0"/>
                <a:cs typeface="Times New Roman" pitchFamily="18" charset="0"/>
              </a:rPr>
              <a:t>uzatilishiga vaqt</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sarflanishi, hap bir keyingi paketni  uzatishga   zarur  bo‘lgan  vaqt,   paket buferizatsiyasi  va kommutatsiyasiga   sarflangan   vaqt   tarmoqdan   paketni   umumiy uzatish vaqtiga ta’sir ko‘rsatadi va to‘sqinliklar manbai bo‘ladi.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Paketli kommutatsiyaning afzalliklari: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pulsatsiyali     trafikni     uzatishda     tarmoqning     o‘tkazish</a:t>
            </a:r>
            <a:br>
              <a:rPr lang="uz-Cyrl-UZ" sz="2000" dirty="0">
                <a:latin typeface="Times New Roman" pitchFamily="18" charset="0"/>
                <a:cs typeface="Times New Roman" pitchFamily="18" charset="0"/>
              </a:rPr>
            </a:br>
            <a:r>
              <a:rPr lang="uz-Cyrl-UZ" sz="2000" dirty="0">
                <a:latin typeface="Times New Roman" pitchFamily="18" charset="0"/>
                <a:cs typeface="Times New Roman" pitchFamily="18" charset="0"/>
              </a:rPr>
              <a:t>qobiliyatini oshirish imkoniyatini beradi;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foydalanuvchilararo trafik  holatini inobatga olgan holda, tarmoq  sharoitiga     nisbatan     fizikaviy     kanallarning o‘tkazish qobiliyatini taqsimlash imkoniyatini beradi.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Paketli kommutatsiyaning kamchiliklari: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kommutatorlarning</a:t>
            </a:r>
            <a:r>
              <a:rPr lang="uz-Cyrl-UZ" sz="2000" i="1" dirty="0">
                <a:latin typeface="Times New Roman" pitchFamily="18" charset="0"/>
                <a:cs typeface="Times New Roman" pitchFamily="18" charset="0"/>
              </a:rPr>
              <a:t> </a:t>
            </a:r>
            <a:r>
              <a:rPr lang="uz-Cyrl-UZ" sz="2000" b="1" i="1" dirty="0">
                <a:latin typeface="Times New Roman" pitchFamily="18" charset="0"/>
                <a:cs typeface="Times New Roman" pitchFamily="18" charset="0"/>
              </a:rPr>
              <a:t> </a:t>
            </a:r>
            <a:r>
              <a:rPr lang="uz-Cyrl-UZ" sz="2000" dirty="0">
                <a:latin typeface="Times New Roman" pitchFamily="18" charset="0"/>
                <a:cs typeface="Times New Roman" pitchFamily="18" charset="0"/>
              </a:rPr>
              <a:t>buferlaridagi  xalaqit  tarmoq  holatiga bog‘liq    bo‘lganligi   sababli  foydalanuvchilararo   uzatish tezligining noaniqligi;</a:t>
            </a:r>
            <a:endParaRPr lang="ru-RU" sz="2000" dirty="0">
              <a:latin typeface="Times New Roman" pitchFamily="18" charset="0"/>
              <a:cs typeface="Times New Roman" pitchFamily="18" charset="0"/>
            </a:endParaRPr>
          </a:p>
          <a:p>
            <a:pPr lvl="0" algn="just"/>
            <a:r>
              <a:rPr lang="ru-RU" sz="2000" dirty="0" err="1">
                <a:latin typeface="Times New Roman" pitchFamily="18" charset="0"/>
                <a:cs typeface="Times New Roman" pitchFamily="18" charset="0"/>
              </a:rPr>
              <a:t>ma’lumot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paketlarining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o‘zgaruvchanligi</a:t>
            </a:r>
            <a:r>
              <a:rPr lang="ru-RU" sz="2000" dirty="0">
                <a:latin typeface="Times New Roman" pitchFamily="18" charset="0"/>
                <a:cs typeface="Times New Roman" pitchFamily="18" charset="0"/>
              </a:rPr>
              <a:t>;</a:t>
            </a:r>
          </a:p>
          <a:p>
            <a:pPr lvl="0" algn="just"/>
            <a:r>
              <a:rPr lang="en-US" sz="2000" dirty="0" err="1">
                <a:latin typeface="Times New Roman" pitchFamily="18" charset="0"/>
                <a:cs typeface="Times New Roman" pitchFamily="18" charset="0"/>
              </a:rPr>
              <a:t>buferlarda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navbatlar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ketganligi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paketlar</a:t>
            </a:r>
            <a:r>
              <a:rPr lang="en-US" sz="2000" dirty="0">
                <a:latin typeface="Times New Roman" pitchFamily="18" charset="0"/>
                <a:cs typeface="Times New Roman" pitchFamily="18" charset="0"/>
              </a:rPr>
              <a:t>) y</a:t>
            </a:r>
            <a:r>
              <a:rPr lang="uz-Cyrl-UZ" sz="2000" dirty="0">
                <a:latin typeface="Times New Roman" pitchFamily="18" charset="0"/>
                <a:cs typeface="Times New Roman" pitchFamily="18" charset="0"/>
              </a:rPr>
              <a:t>o‘q</a:t>
            </a:r>
            <a:r>
              <a:rPr lang="en-US" sz="2000" dirty="0" err="1">
                <a:latin typeface="Times New Roman" pitchFamily="18" charset="0"/>
                <a:cs typeface="Times New Roman" pitchFamily="18" charset="0"/>
              </a:rPr>
              <a:t>olishi</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Bu   kamchiliklarni   bartaraf    etish   maqsadida    turli   usullar qo‘llaniladi (Quality   of    Service    QoS    kabi).    Bunday    usullar qo‘llanilishi sababli paketlar kommutatsiyasi hozirgi kunda yuqori tezlikli tarmoqlarni tashkil etishda eng samarali  deb tan olingan</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Paketli </a:t>
            </a:r>
            <a:r>
              <a:rPr lang="uz-Cyrl-UZ" sz="2000" dirty="0">
                <a:latin typeface="Times New Roman" pitchFamily="18" charset="0"/>
                <a:cs typeface="Times New Roman" pitchFamily="18" charset="0"/>
              </a:rPr>
              <a:t>kommutatsiya tarmoqlari ikki xil ishlash tartibiga ega: virtual kanallar tartibi (ulanish orqali aloqa) va deytagrammali tartib (ulanishsiz aloqa).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111282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35846"/>
            <a:ext cx="8856984" cy="5632311"/>
          </a:xfrm>
          <a:prstGeom prst="rect">
            <a:avLst/>
          </a:prstGeom>
        </p:spPr>
        <p:txBody>
          <a:bodyPr wrap="square">
            <a:spAutoFit/>
          </a:bodyPr>
          <a:lstStyle/>
          <a:p>
            <a:pPr algn="just"/>
            <a:r>
              <a:rPr lang="en-US" sz="2400" b="1" dirty="0" smtClean="0">
                <a:latin typeface="Times New Roman" pitchFamily="18" charset="0"/>
                <a:cs typeface="Times New Roman" pitchFamily="18" charset="0"/>
              </a:rPr>
              <a:t>	</a:t>
            </a:r>
            <a:r>
              <a:rPr lang="uz-Cyrl-UZ" sz="2400" b="1" dirty="0" smtClean="0">
                <a:latin typeface="Times New Roman" pitchFamily="18" charset="0"/>
                <a:cs typeface="Times New Roman" pitchFamily="18" charset="0"/>
              </a:rPr>
              <a:t>Xabarlar </a:t>
            </a:r>
            <a:r>
              <a:rPr lang="uz-Cyrl-UZ" sz="2400" b="1" dirty="0">
                <a:latin typeface="Times New Roman" pitchFamily="18" charset="0"/>
                <a:cs typeface="Times New Roman" pitchFamily="18" charset="0"/>
              </a:rPr>
              <a:t>kommutatsiyasi</a:t>
            </a:r>
            <a:r>
              <a:rPr lang="uz-Cyrl-UZ" sz="2400" i="1" dirty="0">
                <a:latin typeface="Times New Roman" pitchFamily="18" charset="0"/>
                <a:cs typeface="Times New Roman" pitchFamily="18" charset="0"/>
              </a:rPr>
              <a:t> </a:t>
            </a:r>
            <a:r>
              <a:rPr lang="uz-Cyrl-UZ" sz="2400" dirty="0">
                <a:latin typeface="Times New Roman" pitchFamily="18" charset="0"/>
                <a:cs typeface="Times New Roman" pitchFamily="18" charset="0"/>
              </a:rPr>
              <a:t>usuli o‘z vazifalari bo‘yicha paketlar kommutatsiyasiga yaqin. </a:t>
            </a:r>
            <a:r>
              <a:rPr lang="en-US" sz="2400" dirty="0">
                <a:latin typeface="Times New Roman" pitchFamily="18" charset="0"/>
                <a:cs typeface="Times New Roman" pitchFamily="18" charset="0"/>
              </a:rPr>
              <a:t>Bu </a:t>
            </a:r>
            <a:r>
              <a:rPr lang="en-US" sz="2400" dirty="0" err="1">
                <a:latin typeface="Times New Roman" pitchFamily="18" charset="0"/>
                <a:cs typeface="Times New Roman" pitchFamily="18" charset="0"/>
              </a:rPr>
              <a:t>usulda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ma’lumotlarning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to‘li</a:t>
            </a:r>
            <a:r>
              <a:rPr lang="uz-Cyrl-UZ" sz="2400" dirty="0">
                <a:latin typeface="Times New Roman" pitchFamily="18" charset="0"/>
                <a:cs typeface="Times New Roman" pitchFamily="18" charset="0"/>
              </a:rPr>
              <a:t>q </a:t>
            </a:r>
            <a:r>
              <a:rPr lang="en-US" sz="2400" dirty="0" err="1">
                <a:latin typeface="Times New Roman" pitchFamily="18" charset="0"/>
                <a:cs typeface="Times New Roman" pitchFamily="18" charset="0"/>
              </a:rPr>
              <a:t>bloki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tarmo</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orali</a:t>
            </a:r>
            <a:r>
              <a:rPr lang="uz-Cyrl-UZ" sz="2400" dirty="0">
                <a:latin typeface="Times New Roman" pitchFamily="18" charset="0"/>
                <a:cs typeface="Times New Roman" pitchFamily="18" charset="0"/>
              </a:rPr>
              <a:t>q </a:t>
            </a:r>
            <a:r>
              <a:rPr lang="en-US" sz="2400" dirty="0" err="1">
                <a:latin typeface="Times New Roman" pitchFamily="18" charset="0"/>
                <a:cs typeface="Times New Roman" pitchFamily="18" charset="0"/>
              </a:rPr>
              <a:t>tugunlarida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tincha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sa</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lanib</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tranzit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tugunlariaro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uzatiladi</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X</a:t>
            </a:r>
            <a:r>
              <a:rPr lang="en-US" sz="2400" dirty="0" err="1">
                <a:latin typeface="Times New Roman" pitchFamily="18" charset="0"/>
                <a:cs typeface="Times New Roman" pitchFamily="18" charset="0"/>
              </a:rPr>
              <a:t>abar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tarkibidagi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axborot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uning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uzunligini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belgilaydi</a:t>
            </a:r>
            <a:r>
              <a:rPr lang="en-US"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Tranzit</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tugunlar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o‘zaro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bo</a:t>
            </a:r>
            <a:r>
              <a:rPr lang="uz-Cyrl-UZ" sz="2400" dirty="0">
                <a:latin typeface="Times New Roman" pitchFamily="18" charset="0"/>
                <a:cs typeface="Times New Roman" pitchFamily="18" charset="0"/>
              </a:rPr>
              <a:t>g‘</a:t>
            </a:r>
            <a:r>
              <a:rPr lang="en-US" sz="2400" dirty="0" err="1">
                <a:latin typeface="Times New Roman" pitchFamily="18" charset="0"/>
                <a:cs typeface="Times New Roman" pitchFamily="18" charset="0"/>
              </a:rPr>
              <a:t>lanishda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nafaqat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paketli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balki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kanallar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kommutatsiyasi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asosidagi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tarmo</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dan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foydalanishlari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mumkin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Xabar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orali</a:t>
            </a:r>
            <a:r>
              <a:rPr lang="uz-Cyrl-UZ" sz="2400" dirty="0">
                <a:latin typeface="Times New Roman" pitchFamily="18" charset="0"/>
                <a:cs typeface="Times New Roman" pitchFamily="18" charset="0"/>
              </a:rPr>
              <a:t>q </a:t>
            </a:r>
            <a:r>
              <a:rPr lang="en-US" sz="2400" dirty="0" err="1">
                <a:latin typeface="Times New Roman" pitchFamily="18" charset="0"/>
                <a:cs typeface="Times New Roman" pitchFamily="18" charset="0"/>
              </a:rPr>
              <a:t>tugunda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biror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uz-Cyrl-UZ" sz="2400" dirty="0">
                <a:latin typeface="Times New Roman" pitchFamily="18" charset="0"/>
                <a:cs typeface="Times New Roman" pitchFamily="18" charset="0"/>
              </a:rPr>
              <a:t>q</a:t>
            </a:r>
            <a:r>
              <a:rPr lang="en-US" sz="2400" dirty="0">
                <a:latin typeface="Times New Roman" pitchFamily="18" charset="0"/>
                <a:cs typeface="Times New Roman" pitchFamily="18" charset="0"/>
              </a:rPr>
              <a:t>t </a:t>
            </a:r>
            <a:r>
              <a:rPr lang="en-US" sz="2400" dirty="0" err="1">
                <a:latin typeface="Times New Roman" pitchFamily="18" charset="0"/>
                <a:cs typeface="Times New Roman" pitchFamily="18" charset="0"/>
              </a:rPr>
              <a:t>sa</a:t>
            </a:r>
            <a:r>
              <a:rPr lang="uz-Cyrl-UZ" sz="2400" dirty="0">
                <a:latin typeface="Times New Roman" pitchFamily="18" charset="0"/>
                <a:cs typeface="Times New Roman" pitchFamily="18" charset="0"/>
              </a:rPr>
              <a:t>q</a:t>
            </a:r>
            <a:r>
              <a:rPr lang="en-US" sz="2400" dirty="0" err="1">
                <a:latin typeface="Times New Roman" pitchFamily="18" charset="0"/>
                <a:cs typeface="Times New Roman" pitchFamily="18" charset="0"/>
              </a:rPr>
              <a:t>lanishi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mumkin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tarmo</a:t>
            </a:r>
            <a:r>
              <a:rPr lang="uz-Cyrl-UZ" sz="2400" dirty="0">
                <a:latin typeface="Times New Roman" pitchFamily="18" charset="0"/>
                <a:cs typeface="Times New Roman" pitchFamily="18" charset="0"/>
              </a:rPr>
              <a:t>q </a:t>
            </a:r>
            <a:r>
              <a:rPr lang="en-US" sz="2400" dirty="0" err="1">
                <a:latin typeface="Times New Roman" pitchFamily="18" charset="0"/>
                <a:cs typeface="Times New Roman" pitchFamily="18" charset="0"/>
              </a:rPr>
              <a:t>bo‘shashi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bilan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kerakli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foydalanuvchiga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yetkaziladi</a:t>
            </a:r>
            <a:r>
              <a:rPr lang="en-US" sz="2400"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	</a:t>
            </a:r>
            <a:r>
              <a:rPr lang="uz-Cyrl-UZ" sz="2400" dirty="0" smtClean="0">
                <a:latin typeface="Times New Roman" pitchFamily="18" charset="0"/>
                <a:cs typeface="Times New Roman" pitchFamily="18" charset="0"/>
              </a:rPr>
              <a:t>Bunday </a:t>
            </a:r>
            <a:r>
              <a:rPr lang="uz-Cyrl-UZ" sz="2400" dirty="0">
                <a:latin typeface="Times New Roman" pitchFamily="18" charset="0"/>
                <a:cs typeface="Times New Roman" pitchFamily="18" charset="0"/>
              </a:rPr>
              <a:t>ishlash zaruriyati yuqori bo‘lmagan xabarlar yetkazilishida qo‘llaniladi (misol uchun, elektron xat, matnli xujjat, fayl) va oraliq «saqlash bilan uzatish» (store— and-forward) usuli nomini olgan. Hozirgi kunda xabarlar kommutatsiyasi, asosan, paketli kommutatsiya tarmoqlarida qo‘llanish pog‘onasi xizmati sifatida faqat ba’zi tezkor bo‘lmagan xizmatlar tashkil etishda qo‘llaniladi.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3214287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067" y="188640"/>
            <a:ext cx="8928992" cy="3477875"/>
          </a:xfrm>
          <a:prstGeom prst="rect">
            <a:avLst/>
          </a:prstGeom>
        </p:spPr>
        <p:txBody>
          <a:bodyPr wrap="square">
            <a:spAutoFit/>
          </a:bodyPr>
          <a:lstStyle/>
          <a:p>
            <a:pPr algn="ctr"/>
            <a:r>
              <a:rPr lang="uz-Cyrl-UZ" sz="2000" b="1" dirty="0">
                <a:latin typeface="Times New Roman" pitchFamily="18" charset="0"/>
                <a:cs typeface="Times New Roman" pitchFamily="18" charset="0"/>
              </a:rPr>
              <a:t>Nazorat savollari</a:t>
            </a:r>
            <a:endParaRPr lang="ru-RU" sz="2000" dirty="0">
              <a:latin typeface="Times New Roman" pitchFamily="18" charset="0"/>
              <a:cs typeface="Times New Roman" pitchFamily="18" charset="0"/>
            </a:endParaRPr>
          </a:p>
          <a:p>
            <a:pPr algn="just"/>
            <a:r>
              <a:rPr lang="uz-Cyrl-UZ" sz="2000" b="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Kompyuter tarmoqlarida kommutatsiyalashning qanday xillaridan foy­dalaniladi?</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Kanallarni kommutatsiyalash va paketlarni kommutatsiyalash kabi kommu­tatsiyalashning xillari qanday sinflarga bo‘linadi?</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Kanallarni kommutatsiyalashning mohiyati va xususiyatlarini aytib be­ring.</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Paketlarni kommutatsiyalashning mohiyati va xususiyatlarini aytib be­ring.</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Kommunikatsiyalarni tushuntiring</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Kanallar kommutatsiyasi </a:t>
            </a:r>
            <a:r>
              <a:rPr lang="uz-Cyrl-UZ" sz="2000" i="1" dirty="0">
                <a:latin typeface="Times New Roman" pitchFamily="18" charset="0"/>
                <a:cs typeface="Times New Roman" pitchFamily="18" charset="0"/>
              </a:rPr>
              <a:t>(circuit switching) </a:t>
            </a:r>
            <a:r>
              <a:rPr lang="uz-Cyrl-UZ" sz="2000" dirty="0">
                <a:latin typeface="Times New Roman" pitchFamily="18" charset="0"/>
                <a:cs typeface="Times New Roman" pitchFamily="18" charset="0"/>
              </a:rPr>
              <a:t>tushuntiring</a:t>
            </a:r>
            <a:r>
              <a:rPr lang="uz-Cyrl-UZ"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Paketlar kommutatsiyasi </a:t>
            </a:r>
            <a:r>
              <a:rPr lang="uz-Cyrl-UZ" sz="2000" i="1" dirty="0">
                <a:latin typeface="Times New Roman" pitchFamily="18" charset="0"/>
                <a:cs typeface="Times New Roman" pitchFamily="18" charset="0"/>
              </a:rPr>
              <a:t>(packet switching)</a:t>
            </a:r>
            <a:r>
              <a:rPr lang="uz-Cyrl-UZ" sz="2000" dirty="0">
                <a:latin typeface="Times New Roman" pitchFamily="18" charset="0"/>
                <a:cs typeface="Times New Roman" pitchFamily="18" charset="0"/>
              </a:rPr>
              <a:t> tushuntiring</a:t>
            </a:r>
            <a:r>
              <a:rPr lang="uz-Cyrl-UZ"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457200" lvl="0" indent="-457200" algn="just">
              <a:buFont typeface="+mj-lt"/>
              <a:buAutoNum type="arabicPeriod"/>
            </a:pPr>
            <a:r>
              <a:rPr lang="uz-Cyrl-UZ" sz="2000" dirty="0">
                <a:latin typeface="Times New Roman" pitchFamily="18" charset="0"/>
                <a:cs typeface="Times New Roman" pitchFamily="18" charset="0"/>
              </a:rPr>
              <a:t>Xabarlar kommutatsiyasi </a:t>
            </a:r>
            <a:r>
              <a:rPr lang="uz-Cyrl-UZ" sz="2000" i="1" dirty="0">
                <a:latin typeface="Times New Roman" pitchFamily="18" charset="0"/>
                <a:cs typeface="Times New Roman" pitchFamily="18" charset="0"/>
              </a:rPr>
              <a:t>(message switching)</a:t>
            </a:r>
            <a:r>
              <a:rPr lang="uz-Cyrl-UZ" sz="2000" dirty="0">
                <a:latin typeface="Times New Roman" pitchFamily="18" charset="0"/>
                <a:cs typeface="Times New Roman" pitchFamily="18" charset="0"/>
              </a:rPr>
              <a:t> tushuntiring</a:t>
            </a:r>
            <a:r>
              <a:rPr lang="uz-Cyrl-UZ"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81891491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2231</Words>
  <Application>Microsoft Office PowerPoint</Application>
  <PresentationFormat>Экран (4:3)</PresentationFormat>
  <Paragraphs>120</Paragraphs>
  <Slides>20</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20</vt:i4>
      </vt:variant>
    </vt:vector>
  </HeadingPairs>
  <TitlesOfParts>
    <vt:vector size="24" baseType="lpstr">
      <vt:lpstr>Arial</vt:lpstr>
      <vt:lpstr>Calibri</vt:lpstr>
      <vt:lpstr>Times New Roman</vt: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29</cp:revision>
  <dcterms:created xsi:type="dcterms:W3CDTF">2020-02-10T04:46:41Z</dcterms:created>
  <dcterms:modified xsi:type="dcterms:W3CDTF">2025-02-28T12:05:08Z</dcterms:modified>
</cp:coreProperties>
</file>